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6"/>
  </p:notesMasterIdLst>
  <p:handoutMasterIdLst>
    <p:handoutMasterId r:id="rId17"/>
  </p:handoutMasterIdLst>
  <p:sldIdLst>
    <p:sldId id="317" r:id="rId5"/>
    <p:sldId id="328" r:id="rId6"/>
    <p:sldId id="330" r:id="rId7"/>
    <p:sldId id="329" r:id="rId8"/>
    <p:sldId id="334" r:id="rId9"/>
    <p:sldId id="335" r:id="rId10"/>
    <p:sldId id="336" r:id="rId11"/>
    <p:sldId id="337" r:id="rId12"/>
    <p:sldId id="338" r:id="rId13"/>
    <p:sldId id="339" r:id="rId14"/>
    <p:sldId id="34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0" autoAdjust="0"/>
    <p:restoredTop sz="95405" autoAdjust="0"/>
  </p:normalViewPr>
  <p:slideViewPr>
    <p:cSldViewPr snapToGrid="0">
      <p:cViewPr varScale="1">
        <p:scale>
          <a:sx n="88" d="100"/>
          <a:sy n="88" d="100"/>
        </p:scale>
        <p:origin x="451" y="5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4/26/2026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4/26/2026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a:alphaModFix/>
            <a:extLst>
              <a:ext uri="{96DAC541-7B7A-43D3-8B79-37D633B846F1}">
                <asvg:svgBlip xmlns:asvg="http://schemas.microsoft.com/office/drawing/2016/SVG/main" r:embed="rId2"/>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hyperlink" Target="https://www.ccn.com/news/technology/depin-decentralized-ai-blockchains/" TargetMode="External"/><Relationship Id="rId2" Type="http://schemas.openxmlformats.org/officeDocument/2006/relationships/hyperlink" Target="https://www.ccn.com/education/glossary/blockchain/" TargetMode="External"/><Relationship Id="rId1" Type="http://schemas.openxmlformats.org/officeDocument/2006/relationships/slideLayout" Target="../slideLayouts/slideLayout5.xml"/><Relationship Id="rId4" Type="http://schemas.openxmlformats.org/officeDocument/2006/relationships/hyperlink" Target="https://www.ccn.com/education/glossary/interoperability/"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ccn.com/education/glossary/wallet/" TargetMode="External"/><Relationship Id="rId2" Type="http://schemas.openxmlformats.org/officeDocument/2006/relationships/hyperlink" Target="https://www.ccn.com/education/glossary/initial-coin-offering-ico/" TargetMode="External"/><Relationship Id="rId1" Type="http://schemas.openxmlformats.org/officeDocument/2006/relationships/slideLayout" Target="../slideLayouts/slideLayout5.xml"/><Relationship Id="rId4" Type="http://schemas.openxmlformats.org/officeDocument/2006/relationships/hyperlink" Target="https://www.ccn.com/education/glossary/mainn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www.ccn.com/analysis/crypto/polkadot-dot-price-prediction/"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hyperlink" Target="https://www.theblock.co/data/scaling-solutions/non-evm-chains-stats/transactions-on-polkadot-daily-7dma"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Emerging Blockchain Systems:</a:t>
            </a:r>
            <a:br>
              <a:rPr lang="en-US" dirty="0"/>
            </a:br>
            <a:r>
              <a:rPr lang="en-US" b="1" dirty="0"/>
              <a:t>Polkadot and How it Works:</a:t>
            </a:r>
            <a:br>
              <a:rPr lang="en-US" b="1" dirty="0"/>
            </a:br>
            <a:r>
              <a:rPr lang="en-US" b="1" dirty="0"/>
              <a:t>Blockchain of Blockchains (</a:t>
            </a:r>
            <a:r>
              <a:rPr lang="en-US" b="1"/>
              <a:t>Par Chains)</a:t>
            </a:r>
            <a:endParaRPr lang="en-US"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D620-36AD-6BC2-8D47-DF40A499608A}"/>
              </a:ext>
            </a:extLst>
          </p:cNvPr>
          <p:cNvSpPr>
            <a:spLocks noGrp="1"/>
          </p:cNvSpPr>
          <p:nvPr>
            <p:ph type="title"/>
          </p:nvPr>
        </p:nvSpPr>
        <p:spPr/>
        <p:txBody>
          <a:bodyPr/>
          <a:lstStyle/>
          <a:p>
            <a:r>
              <a:rPr lang="en-US" dirty="0"/>
              <a:t>In  a nutshell</a:t>
            </a:r>
          </a:p>
        </p:txBody>
      </p:sp>
      <p:sp>
        <p:nvSpPr>
          <p:cNvPr id="3" name="Content Placeholder 2">
            <a:extLst>
              <a:ext uri="{FF2B5EF4-FFF2-40B4-BE49-F238E27FC236}">
                <a16:creationId xmlns:a16="http://schemas.microsoft.com/office/drawing/2014/main" id="{A1DC4636-482C-8879-4DEA-600E74DD622D}"/>
              </a:ext>
            </a:extLst>
          </p:cNvPr>
          <p:cNvSpPr>
            <a:spLocks noGrp="1"/>
          </p:cNvSpPr>
          <p:nvPr>
            <p:ph sz="quarter" idx="10"/>
          </p:nvPr>
        </p:nvSpPr>
        <p:spPr>
          <a:xfrm>
            <a:off x="914399" y="2039112"/>
            <a:ext cx="8842549" cy="3356576"/>
          </a:xfrm>
        </p:spPr>
        <p:txBody>
          <a:bodyPr>
            <a:normAutofit fontScale="92500" lnSpcReduction="20000"/>
          </a:bodyPr>
          <a:lstStyle/>
          <a:p>
            <a:r>
              <a:rPr lang="en-US" sz="2400" dirty="0">
                <a:latin typeface="Abadi" panose="020B0604020104020204" pitchFamily="34" charset="0"/>
              </a:rPr>
              <a:t>Polkadot is a decentralized, scalable, and interoperable blockchain network.</a:t>
            </a:r>
          </a:p>
          <a:p>
            <a:r>
              <a:rPr lang="en-US" sz="2400" dirty="0">
                <a:latin typeface="Abadi" panose="020B0604020104020204" pitchFamily="34" charset="0"/>
              </a:rPr>
              <a:t>It is built on a central Relay Chain and connected </a:t>
            </a:r>
            <a:r>
              <a:rPr lang="en-US" sz="2400" dirty="0" err="1">
                <a:latin typeface="Abadi" panose="020B0604020104020204" pitchFamily="34" charset="0"/>
              </a:rPr>
              <a:t>Parachains</a:t>
            </a:r>
            <a:r>
              <a:rPr lang="en-US" sz="2400" dirty="0">
                <a:latin typeface="Abadi" panose="020B0604020104020204" pitchFamily="34" charset="0"/>
              </a:rPr>
              <a:t>.</a:t>
            </a:r>
          </a:p>
          <a:p>
            <a:r>
              <a:rPr lang="en-US" sz="2400" dirty="0">
                <a:latin typeface="Abadi" panose="020B0604020104020204" pitchFamily="34" charset="0"/>
              </a:rPr>
              <a:t>Polkadot’s architecture allows for the development of custom blockchains while maintaining security and interoperability.</a:t>
            </a:r>
          </a:p>
          <a:p>
            <a:r>
              <a:rPr lang="en-US" sz="2400" dirty="0">
                <a:latin typeface="Abadi" panose="020B0604020104020204" pitchFamily="34" charset="0"/>
              </a:rPr>
              <a:t>DOT token is used for governance, staking, and network security.</a:t>
            </a:r>
          </a:p>
          <a:p>
            <a:r>
              <a:rPr lang="en-US" sz="2400" dirty="0">
                <a:latin typeface="Abadi" panose="020B0604020104020204" pitchFamily="34" charset="0"/>
              </a:rPr>
              <a:t>Upgrades can be applied without the need to fork</a:t>
            </a:r>
          </a:p>
          <a:p>
            <a:r>
              <a:rPr lang="en-US" sz="2400" dirty="0">
                <a:latin typeface="Abadi" panose="020B0604020104020204" pitchFamily="34" charset="0"/>
              </a:rPr>
              <a:t>It adopts an autonomous democratic governance approach to vote on big decisions and changes</a:t>
            </a:r>
          </a:p>
          <a:p>
            <a:r>
              <a:rPr lang="en-US" sz="2400" dirty="0">
                <a:latin typeface="Abadi" panose="020B0604020104020204" pitchFamily="34" charset="0"/>
              </a:rPr>
              <a:t>Adopts a Nominated Proof of Stake </a:t>
            </a:r>
            <a:r>
              <a:rPr lang="en-US" sz="2400" dirty="0" err="1">
                <a:latin typeface="Abadi" panose="020B0604020104020204" pitchFamily="34" charset="0"/>
              </a:rPr>
              <a:t>Approch</a:t>
            </a:r>
            <a:r>
              <a:rPr lang="en-US" sz="2400" dirty="0">
                <a:latin typeface="Abadi" panose="020B0604020104020204" pitchFamily="34" charset="0"/>
              </a:rPr>
              <a:t> (</a:t>
            </a:r>
            <a:r>
              <a:rPr lang="en-US" sz="2400" dirty="0" err="1">
                <a:latin typeface="Abadi" panose="020B0604020104020204" pitchFamily="34" charset="0"/>
              </a:rPr>
              <a:t>Npos</a:t>
            </a:r>
            <a:r>
              <a:rPr lang="en-US" sz="2400" dirty="0">
                <a:latin typeface="Abadi" panose="020B0604020104020204" pitchFamily="34" charset="0"/>
              </a:rPr>
              <a:t>)</a:t>
            </a:r>
          </a:p>
          <a:p>
            <a:pPr marL="0" indent="0">
              <a:buNone/>
            </a:pPr>
            <a:endParaRPr lang="en-US" sz="2400" dirty="0">
              <a:latin typeface="Abadi" panose="020B0604020104020204" pitchFamily="34" charset="0"/>
            </a:endParaRPr>
          </a:p>
          <a:p>
            <a:endParaRPr lang="en-US" dirty="0"/>
          </a:p>
        </p:txBody>
      </p:sp>
      <p:sp>
        <p:nvSpPr>
          <p:cNvPr id="4" name="Slide Number Placeholder 3">
            <a:extLst>
              <a:ext uri="{FF2B5EF4-FFF2-40B4-BE49-F238E27FC236}">
                <a16:creationId xmlns:a16="http://schemas.microsoft.com/office/drawing/2014/main" id="{51473D65-2355-8387-CD1D-F1A72A4F2E55}"/>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4117806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E1C42-0004-E8E5-4E4D-87F729A35FA5}"/>
              </a:ext>
            </a:extLst>
          </p:cNvPr>
          <p:cNvSpPr>
            <a:spLocks noGrp="1"/>
          </p:cNvSpPr>
          <p:nvPr>
            <p:ph type="title"/>
          </p:nvPr>
        </p:nvSpPr>
        <p:spPr>
          <a:xfrm>
            <a:off x="813917" y="130628"/>
            <a:ext cx="7534656" cy="914400"/>
          </a:xfrm>
        </p:spPr>
        <p:txBody>
          <a:bodyPr/>
          <a:lstStyle/>
          <a:p>
            <a:r>
              <a:rPr lang="en-US" dirty="0"/>
              <a:t>What is Polkadot</a:t>
            </a:r>
          </a:p>
        </p:txBody>
      </p:sp>
      <p:sp>
        <p:nvSpPr>
          <p:cNvPr id="3" name="Content Placeholder 2">
            <a:extLst>
              <a:ext uri="{FF2B5EF4-FFF2-40B4-BE49-F238E27FC236}">
                <a16:creationId xmlns:a16="http://schemas.microsoft.com/office/drawing/2014/main" id="{F7B01B3C-A294-27F7-3768-BA0E7E93A23C}"/>
              </a:ext>
            </a:extLst>
          </p:cNvPr>
          <p:cNvSpPr>
            <a:spLocks noGrp="1"/>
          </p:cNvSpPr>
          <p:nvPr>
            <p:ph sz="quarter" idx="10"/>
          </p:nvPr>
        </p:nvSpPr>
        <p:spPr>
          <a:xfrm>
            <a:off x="176784" y="1045029"/>
            <a:ext cx="11838431" cy="5812972"/>
          </a:xfrm>
        </p:spPr>
        <p:txBody>
          <a:bodyPr>
            <a:normAutofit/>
          </a:bodyPr>
          <a:lstStyle/>
          <a:p>
            <a:pPr marL="0" indent="0">
              <a:buNone/>
            </a:pPr>
            <a:r>
              <a:rPr lang="en-US" sz="2400" dirty="0">
                <a:latin typeface="Abadi" panose="020B0604020104020204" pitchFamily="34" charset="0"/>
              </a:rPr>
              <a:t>Polkadot is a </a:t>
            </a:r>
            <a:r>
              <a:rPr lang="en-US" sz="2400" dirty="0">
                <a:latin typeface="Abadi" panose="020B0604020104020204" pitchFamily="34" charset="0"/>
                <a:hlinkClick r:id="rId2"/>
              </a:rPr>
              <a:t>blockchain</a:t>
            </a:r>
            <a:r>
              <a:rPr lang="en-US" sz="2400" dirty="0">
                <a:latin typeface="Abadi" panose="020B0604020104020204" pitchFamily="34" charset="0"/>
              </a:rPr>
              <a:t> platform that enables different blockchains to communicate and share information with each other, creating an interconnected network. It is actually often described as a “blockchain of blockchains.”</a:t>
            </a:r>
          </a:p>
          <a:p>
            <a:r>
              <a:rPr lang="en-US" sz="2400" dirty="0">
                <a:latin typeface="Abadi" panose="020B0604020104020204" pitchFamily="34" charset="0"/>
              </a:rPr>
              <a:t>Polkadot is a </a:t>
            </a:r>
            <a:r>
              <a:rPr lang="en-US" sz="2400" dirty="0">
                <a:latin typeface="Abadi" panose="020B0604020104020204" pitchFamily="34" charset="0"/>
                <a:hlinkClick r:id="rId3"/>
              </a:rPr>
              <a:t>decentralized network</a:t>
            </a:r>
            <a:r>
              <a:rPr lang="en-US" sz="2400" dirty="0">
                <a:latin typeface="Abadi" panose="020B0604020104020204" pitchFamily="34" charset="0"/>
              </a:rPr>
              <a:t> that aims to connect and secure different blockchains. It provides a framework for developers to build their custom blockchains while benefiting from the security and</a:t>
            </a:r>
            <a:r>
              <a:rPr lang="en-US" sz="2400" dirty="0">
                <a:latin typeface="Abadi" panose="020B0604020104020204" pitchFamily="34" charset="0"/>
                <a:hlinkClick r:id="rId4"/>
              </a:rPr>
              <a:t> interoperability </a:t>
            </a:r>
            <a:r>
              <a:rPr lang="en-US" sz="2400" dirty="0">
                <a:latin typeface="Abadi" panose="020B0604020104020204" pitchFamily="34" charset="0"/>
              </a:rPr>
              <a:t>of the underlying network. As a result is often described as a “blockchain of blockchains”.</a:t>
            </a:r>
          </a:p>
          <a:p>
            <a:r>
              <a:rPr lang="en-US" sz="2400" dirty="0">
                <a:latin typeface="Abadi" panose="020B0604020104020204" pitchFamily="34" charset="0"/>
              </a:rPr>
              <a:t>As of 2026, Polkadot is highly relevant in the blockchain ecosystem due to its modular framework.</a:t>
            </a:r>
          </a:p>
          <a:p>
            <a:pPr marL="0" indent="0">
              <a:buNone/>
            </a:pPr>
            <a:endParaRPr lang="en-US" sz="28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9982AA25-892E-E009-3A4C-B12A85869D9C}"/>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1572222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8CCE1-E1C9-74CB-34BE-FB3681C1EFD2}"/>
              </a:ext>
            </a:extLst>
          </p:cNvPr>
          <p:cNvSpPr>
            <a:spLocks noGrp="1"/>
          </p:cNvSpPr>
          <p:nvPr>
            <p:ph type="title"/>
          </p:nvPr>
        </p:nvSpPr>
        <p:spPr>
          <a:xfrm>
            <a:off x="813916" y="82298"/>
            <a:ext cx="7534656" cy="914400"/>
          </a:xfrm>
        </p:spPr>
        <p:txBody>
          <a:bodyPr/>
          <a:lstStyle/>
          <a:p>
            <a:r>
              <a:rPr lang="en-US" dirty="0"/>
              <a:t>The Story</a:t>
            </a:r>
          </a:p>
        </p:txBody>
      </p:sp>
      <p:sp>
        <p:nvSpPr>
          <p:cNvPr id="3" name="Content Placeholder 2">
            <a:extLst>
              <a:ext uri="{FF2B5EF4-FFF2-40B4-BE49-F238E27FC236}">
                <a16:creationId xmlns:a16="http://schemas.microsoft.com/office/drawing/2014/main" id="{6C6E20C9-4B21-F238-699C-807715826DEB}"/>
              </a:ext>
            </a:extLst>
          </p:cNvPr>
          <p:cNvSpPr>
            <a:spLocks noGrp="1"/>
          </p:cNvSpPr>
          <p:nvPr>
            <p:ph sz="quarter" idx="10"/>
          </p:nvPr>
        </p:nvSpPr>
        <p:spPr>
          <a:xfrm>
            <a:off x="371475" y="1205803"/>
            <a:ext cx="11475532" cy="5569900"/>
          </a:xfrm>
        </p:spPr>
        <p:txBody>
          <a:bodyPr>
            <a:noAutofit/>
          </a:bodyPr>
          <a:lstStyle/>
          <a:p>
            <a:r>
              <a:rPr lang="en-US" dirty="0"/>
              <a:t>I</a:t>
            </a:r>
            <a:r>
              <a:rPr lang="en-US" sz="2400" dirty="0">
                <a:latin typeface="Abadi" panose="020B0604020104020204" pitchFamily="34" charset="0"/>
              </a:rPr>
              <a:t>n 2017, the Web3 Foundation, co-founded by Wood, held an</a:t>
            </a:r>
            <a:r>
              <a:rPr lang="en-US" sz="2400" dirty="0">
                <a:latin typeface="Abadi" panose="020B0604020104020204" pitchFamily="34" charset="0"/>
                <a:hlinkClick r:id="rId2"/>
              </a:rPr>
              <a:t> initial coin offering (ICO)</a:t>
            </a:r>
            <a:r>
              <a:rPr lang="en-US" sz="2400" dirty="0">
                <a:latin typeface="Abadi" panose="020B0604020104020204" pitchFamily="34" charset="0"/>
              </a:rPr>
              <a:t> that raised approximately $144 million to fund the development of Polkadot’s project.</a:t>
            </a:r>
          </a:p>
          <a:p>
            <a:r>
              <a:rPr lang="en-US" sz="2400" dirty="0">
                <a:latin typeface="Abadi" panose="020B0604020104020204" pitchFamily="34" charset="0"/>
              </a:rPr>
              <a:t>Despite a setback when $90 million worth of funds were frozen due to a Parity</a:t>
            </a:r>
            <a:r>
              <a:rPr lang="en-US" sz="2400" dirty="0">
                <a:latin typeface="Abadi" panose="020B0604020104020204" pitchFamily="34" charset="0"/>
                <a:hlinkClick r:id="rId3"/>
              </a:rPr>
              <a:t> wallet</a:t>
            </a:r>
            <a:r>
              <a:rPr lang="en-US" sz="2400" dirty="0">
                <a:latin typeface="Abadi" panose="020B0604020104020204" pitchFamily="34" charset="0"/>
              </a:rPr>
              <a:t> vulnerability, the project continued with the remaining resources and later held another funding round. Polkadot had its initial block, the genesis block, in 2020.</a:t>
            </a:r>
          </a:p>
          <a:p>
            <a:r>
              <a:rPr lang="en-US" sz="2400" dirty="0">
                <a:latin typeface="Abadi" panose="020B0604020104020204" pitchFamily="34" charset="0"/>
              </a:rPr>
              <a:t>Polkadot</a:t>
            </a:r>
            <a:r>
              <a:rPr lang="en-US" sz="2400" dirty="0">
                <a:latin typeface="Abadi" panose="020B0604020104020204" pitchFamily="34" charset="0"/>
                <a:hlinkClick r:id="rId4"/>
              </a:rPr>
              <a:t> </a:t>
            </a:r>
            <a:r>
              <a:rPr lang="en-US" sz="2400" dirty="0" err="1">
                <a:latin typeface="Abadi" panose="020B0604020104020204" pitchFamily="34" charset="0"/>
                <a:hlinkClick r:id="rId4"/>
              </a:rPr>
              <a:t>mainnet</a:t>
            </a:r>
            <a:r>
              <a:rPr lang="en-US" sz="2400" dirty="0">
                <a:latin typeface="Abadi" panose="020B0604020104020204" pitchFamily="34" charset="0"/>
              </a:rPr>
              <a:t> version is referred to as Polkadotv1 and was focused on the main architecture of the project. Polkadot 2.0 results from many upgrades and a more mature network stage. </a:t>
            </a:r>
          </a:p>
          <a:p>
            <a:r>
              <a:rPr lang="en-US" sz="2400" dirty="0">
                <a:latin typeface="Abadi" panose="020B0604020104020204" pitchFamily="34" charset="0"/>
              </a:rPr>
              <a:t>Polkadot allows a wide range of blockchains to interoperate because it works on a blockchain protocol that facilitates the cross-chain transfer of any data or asset type, not just tokens. This allows for the creation of specialized blockchains (</a:t>
            </a:r>
            <a:r>
              <a:rPr lang="en-US" sz="2400" dirty="0" err="1">
                <a:latin typeface="Abadi" panose="020B0604020104020204" pitchFamily="34" charset="0"/>
              </a:rPr>
              <a:t>parachains</a:t>
            </a:r>
            <a:r>
              <a:rPr lang="en-US" sz="2400" dirty="0">
                <a:latin typeface="Abadi" panose="020B0604020104020204" pitchFamily="34" charset="0"/>
              </a:rPr>
              <a:t>) that connect to a universal network (the Relay Chain).</a:t>
            </a:r>
          </a:p>
          <a:p>
            <a:endParaRPr lang="en-US" dirty="0"/>
          </a:p>
        </p:txBody>
      </p:sp>
      <p:sp>
        <p:nvSpPr>
          <p:cNvPr id="4" name="Slide Number Placeholder 3">
            <a:extLst>
              <a:ext uri="{FF2B5EF4-FFF2-40B4-BE49-F238E27FC236}">
                <a16:creationId xmlns:a16="http://schemas.microsoft.com/office/drawing/2014/main" id="{104253A5-68D1-7AF3-50CA-4A4B22E44030}"/>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247468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64161-9F8F-B9BE-66F8-AA7F64A4E285}"/>
              </a:ext>
            </a:extLst>
          </p:cNvPr>
          <p:cNvSpPr>
            <a:spLocks noGrp="1"/>
          </p:cNvSpPr>
          <p:nvPr>
            <p:ph type="title"/>
          </p:nvPr>
        </p:nvSpPr>
        <p:spPr>
          <a:xfrm>
            <a:off x="850390" y="138684"/>
            <a:ext cx="9893809" cy="665988"/>
          </a:xfrm>
        </p:spPr>
        <p:txBody>
          <a:bodyPr/>
          <a:lstStyle/>
          <a:p>
            <a:r>
              <a:rPr lang="en-US" dirty="0"/>
              <a:t>Main Components of Polkadot </a:t>
            </a:r>
          </a:p>
        </p:txBody>
      </p:sp>
      <p:sp>
        <p:nvSpPr>
          <p:cNvPr id="3" name="Content Placeholder 2">
            <a:extLst>
              <a:ext uri="{FF2B5EF4-FFF2-40B4-BE49-F238E27FC236}">
                <a16:creationId xmlns:a16="http://schemas.microsoft.com/office/drawing/2014/main" id="{995442ED-A226-B44F-F15A-2A005F694530}"/>
              </a:ext>
            </a:extLst>
          </p:cNvPr>
          <p:cNvSpPr>
            <a:spLocks noGrp="1"/>
          </p:cNvSpPr>
          <p:nvPr>
            <p:ph sz="quarter" idx="10"/>
          </p:nvPr>
        </p:nvSpPr>
        <p:spPr>
          <a:xfrm>
            <a:off x="176784" y="896113"/>
            <a:ext cx="11838432" cy="5879590"/>
          </a:xfrm>
        </p:spPr>
        <p:txBody>
          <a:bodyPr>
            <a:normAutofit lnSpcReduction="10000"/>
          </a:bodyPr>
          <a:lstStyle/>
          <a:p>
            <a:pPr marL="0" indent="0">
              <a:buNone/>
            </a:pPr>
            <a:r>
              <a:rPr lang="en-US" dirty="0">
                <a:latin typeface="Abadi" panose="020B0604020104020204" pitchFamily="34" charset="0"/>
              </a:rPr>
              <a:t>Polkadot works with three specific components that make it unique: the relay chain, </a:t>
            </a:r>
            <a:r>
              <a:rPr lang="en-US" dirty="0" err="1">
                <a:latin typeface="Abadi" panose="020B0604020104020204" pitchFamily="34" charset="0"/>
              </a:rPr>
              <a:t>parachains</a:t>
            </a:r>
            <a:r>
              <a:rPr lang="en-US" dirty="0">
                <a:latin typeface="Abadi" panose="020B0604020104020204" pitchFamily="34" charset="0"/>
              </a:rPr>
              <a:t>, and bridges. </a:t>
            </a:r>
          </a:p>
          <a:p>
            <a:r>
              <a:rPr lang="en-US" dirty="0">
                <a:latin typeface="Abadi" panose="020B0604020104020204" pitchFamily="34" charset="0"/>
              </a:rPr>
              <a:t>Relay Chain</a:t>
            </a:r>
            <a:endParaRPr lang="en-US" b="1" dirty="0">
              <a:latin typeface="Abadi" panose="020B0604020104020204" pitchFamily="34" charset="0"/>
            </a:endParaRPr>
          </a:p>
          <a:p>
            <a:pPr lvl="1"/>
            <a:r>
              <a:rPr lang="en-US" sz="1900" dirty="0">
                <a:latin typeface="Abadi" panose="020B0604020104020204" pitchFamily="34" charset="0"/>
              </a:rPr>
              <a:t>This is Polkadot’s main blockchain that coordinates the system, handles interoperability, and provides shared security. </a:t>
            </a:r>
          </a:p>
          <a:p>
            <a:pPr lvl="1"/>
            <a:r>
              <a:rPr lang="en-US" sz="1900" dirty="0">
                <a:latin typeface="Abadi" panose="020B0604020104020204" pitchFamily="34" charset="0"/>
              </a:rPr>
              <a:t>Polkadot uses a consensus mechanism called nominated proof-of-stake (</a:t>
            </a:r>
            <a:r>
              <a:rPr lang="en-US" sz="1900" dirty="0" err="1">
                <a:latin typeface="Abadi" panose="020B0604020104020204" pitchFamily="34" charset="0"/>
              </a:rPr>
              <a:t>NPoS</a:t>
            </a:r>
            <a:r>
              <a:rPr lang="en-US" sz="1900" dirty="0">
                <a:latin typeface="Abadi" panose="020B0604020104020204" pitchFamily="34" charset="0"/>
              </a:rPr>
              <a:t>) </a:t>
            </a:r>
          </a:p>
          <a:p>
            <a:pPr lvl="1"/>
            <a:r>
              <a:rPr lang="en-US" sz="1900" dirty="0" err="1">
                <a:latin typeface="Abadi" panose="020B0604020104020204" pitchFamily="34" charset="0"/>
              </a:rPr>
              <a:t>NPoS</a:t>
            </a:r>
            <a:r>
              <a:rPr lang="en-US" sz="1900" dirty="0">
                <a:latin typeface="Abadi" panose="020B0604020104020204" pitchFamily="34" charset="0"/>
              </a:rPr>
              <a:t> ensures the integrity of the blockchain. It also provides a decentralized governance system and validates transactions.</a:t>
            </a:r>
          </a:p>
          <a:p>
            <a:r>
              <a:rPr lang="en-US" dirty="0" err="1">
                <a:latin typeface="Abadi" panose="020B0604020104020204" pitchFamily="34" charset="0"/>
              </a:rPr>
              <a:t>Parachains</a:t>
            </a:r>
            <a:endParaRPr lang="en-US" b="1" dirty="0">
              <a:latin typeface="Abadi" panose="020B0604020104020204" pitchFamily="34" charset="0"/>
            </a:endParaRPr>
          </a:p>
          <a:p>
            <a:pPr lvl="1"/>
            <a:r>
              <a:rPr lang="en-US" sz="1900" dirty="0">
                <a:latin typeface="Abadi" panose="020B0604020104020204" pitchFamily="34" charset="0"/>
              </a:rPr>
              <a:t>These are independent blockchains connected to the relay chain, and each of them can have their own tokens. </a:t>
            </a:r>
          </a:p>
          <a:p>
            <a:pPr lvl="1"/>
            <a:r>
              <a:rPr lang="en-US" sz="1900" dirty="0">
                <a:latin typeface="Abadi" panose="020B0604020104020204" pitchFamily="34" charset="0"/>
              </a:rPr>
              <a:t>Polkadot’s </a:t>
            </a:r>
            <a:r>
              <a:rPr lang="en-US" sz="1900" dirty="0" err="1">
                <a:latin typeface="Abadi" panose="020B0604020104020204" pitchFamily="34" charset="0"/>
              </a:rPr>
              <a:t>parachains</a:t>
            </a:r>
            <a:r>
              <a:rPr lang="en-US" sz="1900" dirty="0">
                <a:latin typeface="Abadi" panose="020B0604020104020204" pitchFamily="34" charset="0"/>
              </a:rPr>
              <a:t> provide customizability and scalability. </a:t>
            </a:r>
          </a:p>
          <a:p>
            <a:pPr lvl="1"/>
            <a:r>
              <a:rPr lang="en-US" sz="1900" dirty="0">
                <a:latin typeface="Abadi" panose="020B0604020104020204" pitchFamily="34" charset="0"/>
              </a:rPr>
              <a:t>For example, a </a:t>
            </a:r>
            <a:r>
              <a:rPr lang="en-US" sz="1900" dirty="0" err="1">
                <a:latin typeface="Abadi" panose="020B0604020104020204" pitchFamily="34" charset="0"/>
              </a:rPr>
              <a:t>parachain</a:t>
            </a:r>
            <a:r>
              <a:rPr lang="en-US" sz="1900" dirty="0">
                <a:latin typeface="Abadi" panose="020B0604020104020204" pitchFamily="34" charset="0"/>
              </a:rPr>
              <a:t> can specialize in identity verification while another one specializes in real estate transactions. </a:t>
            </a:r>
          </a:p>
          <a:p>
            <a:r>
              <a:rPr lang="en-US" dirty="0">
                <a:latin typeface="Abadi" panose="020B0604020104020204" pitchFamily="34" charset="0"/>
              </a:rPr>
              <a:t>Bridges</a:t>
            </a:r>
            <a:endParaRPr lang="en-US" b="1" dirty="0">
              <a:latin typeface="Abadi" panose="020B0604020104020204" pitchFamily="34" charset="0"/>
            </a:endParaRPr>
          </a:p>
          <a:p>
            <a:pPr lvl="1"/>
            <a:r>
              <a:rPr lang="en-US" dirty="0">
                <a:latin typeface="Abadi" panose="020B0604020104020204" pitchFamily="34" charset="0"/>
              </a:rPr>
              <a:t>Bridges are special </a:t>
            </a:r>
            <a:r>
              <a:rPr lang="en-US" dirty="0" err="1">
                <a:latin typeface="Abadi" panose="020B0604020104020204" pitchFamily="34" charset="0"/>
              </a:rPr>
              <a:t>parachains</a:t>
            </a:r>
            <a:r>
              <a:rPr lang="en-US" dirty="0">
                <a:latin typeface="Abadi" panose="020B0604020104020204" pitchFamily="34" charset="0"/>
              </a:rPr>
              <a:t> that allow Polkadot to connect and communicate with other blockchains like Ethereum. </a:t>
            </a:r>
          </a:p>
          <a:p>
            <a:pPr lvl="1"/>
            <a:r>
              <a:rPr lang="en-US" dirty="0">
                <a:latin typeface="Abadi" panose="020B0604020104020204" pitchFamily="34" charset="0"/>
              </a:rPr>
              <a:t>As a result, they facilitate interoperability and expand the network’s capabilities, like cross-chain communication and asset transfer.</a:t>
            </a:r>
          </a:p>
          <a:p>
            <a:endParaRPr lang="en-US" dirty="0"/>
          </a:p>
        </p:txBody>
      </p:sp>
      <p:sp>
        <p:nvSpPr>
          <p:cNvPr id="4" name="Slide Number Placeholder 3">
            <a:extLst>
              <a:ext uri="{FF2B5EF4-FFF2-40B4-BE49-F238E27FC236}">
                <a16:creationId xmlns:a16="http://schemas.microsoft.com/office/drawing/2014/main" id="{3BBCCF97-8793-144E-7A27-2B500504A491}"/>
              </a:ext>
            </a:extLst>
          </p:cNvPr>
          <p:cNvSpPr>
            <a:spLocks noGrp="1"/>
          </p:cNvSpPr>
          <p:nvPr>
            <p:ph type="sldNum" sz="quarter" idx="4"/>
          </p:nvPr>
        </p:nvSpPr>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557085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154EE-08D8-AEC0-CA8A-E80523F0C451}"/>
              </a:ext>
            </a:extLst>
          </p:cNvPr>
          <p:cNvSpPr>
            <a:spLocks noGrp="1"/>
          </p:cNvSpPr>
          <p:nvPr>
            <p:ph type="title"/>
          </p:nvPr>
        </p:nvSpPr>
        <p:spPr>
          <a:xfrm>
            <a:off x="857250" y="333375"/>
            <a:ext cx="7534656" cy="914400"/>
          </a:xfrm>
        </p:spPr>
        <p:txBody>
          <a:bodyPr/>
          <a:lstStyle/>
          <a:p>
            <a:r>
              <a:rPr lang="en-US" dirty="0"/>
              <a:t>How it Works?</a:t>
            </a:r>
          </a:p>
        </p:txBody>
      </p:sp>
      <p:sp>
        <p:nvSpPr>
          <p:cNvPr id="3" name="Content Placeholder 2">
            <a:extLst>
              <a:ext uri="{FF2B5EF4-FFF2-40B4-BE49-F238E27FC236}">
                <a16:creationId xmlns:a16="http://schemas.microsoft.com/office/drawing/2014/main" id="{E7A40A65-C540-9916-A93A-274D88BF8AD7}"/>
              </a:ext>
            </a:extLst>
          </p:cNvPr>
          <p:cNvSpPr>
            <a:spLocks noGrp="1"/>
          </p:cNvSpPr>
          <p:nvPr>
            <p:ph sz="quarter" idx="10"/>
          </p:nvPr>
        </p:nvSpPr>
        <p:spPr>
          <a:xfrm>
            <a:off x="333375" y="1362075"/>
            <a:ext cx="10839450" cy="5295899"/>
          </a:xfrm>
        </p:spPr>
        <p:txBody>
          <a:bodyPr>
            <a:normAutofit lnSpcReduction="10000"/>
          </a:bodyPr>
          <a:lstStyle/>
          <a:p>
            <a:r>
              <a:rPr lang="en-US" sz="2400" dirty="0">
                <a:latin typeface="Abadi" panose="020B0604020104020204" pitchFamily="34" charset="0"/>
              </a:rPr>
              <a:t>According to its official website,  Polkadot is “a network governed by a rebelliously innovative community.” Its native token</a:t>
            </a:r>
            <a:r>
              <a:rPr lang="en-US" sz="2400" dirty="0">
                <a:latin typeface="Abadi" panose="020B0604020104020204" pitchFamily="34" charset="0"/>
                <a:hlinkClick r:id="rId2"/>
              </a:rPr>
              <a:t> DOT</a:t>
            </a:r>
            <a:r>
              <a:rPr lang="en-US" sz="2400" dirty="0">
                <a:latin typeface="Abadi" panose="020B0604020104020204" pitchFamily="34" charset="0"/>
              </a:rPr>
              <a:t> plays a crucial role in the development and implementation of the network, and it has multiple functions:</a:t>
            </a:r>
          </a:p>
          <a:p>
            <a:r>
              <a:rPr lang="en-US" sz="2400" b="1" dirty="0">
                <a:latin typeface="Abadi" panose="020B0604020104020204" pitchFamily="34" charset="0"/>
              </a:rPr>
              <a:t>Governance:</a:t>
            </a:r>
            <a:r>
              <a:rPr lang="en-US" sz="2400" dirty="0">
                <a:latin typeface="Abadi" panose="020B0604020104020204" pitchFamily="34" charset="0"/>
              </a:rPr>
              <a:t> DOT holders can participate in governance decisions, including determining network fees, auction dynamics, the addition or removal of </a:t>
            </a:r>
            <a:r>
              <a:rPr lang="en-US" sz="2400" dirty="0" err="1">
                <a:latin typeface="Abadi" panose="020B0604020104020204" pitchFamily="34" charset="0"/>
              </a:rPr>
              <a:t>parachains</a:t>
            </a:r>
            <a:r>
              <a:rPr lang="en-US" sz="2400" dirty="0">
                <a:latin typeface="Abadi" panose="020B0604020104020204" pitchFamily="34" charset="0"/>
              </a:rPr>
              <a:t>, and changes to the protocol.</a:t>
            </a:r>
          </a:p>
          <a:p>
            <a:r>
              <a:rPr lang="en-US" sz="2400" b="1" dirty="0">
                <a:latin typeface="Abadi" panose="020B0604020104020204" pitchFamily="34" charset="0"/>
              </a:rPr>
              <a:t>Staking:</a:t>
            </a:r>
            <a:r>
              <a:rPr lang="en-US" sz="2400" dirty="0">
                <a:latin typeface="Abadi" panose="020B0604020104020204" pitchFamily="34" charset="0"/>
              </a:rPr>
              <a:t> Involves locking up DOT tokens to support network operations and integrity. Validators and nominators are selected based on the amount of DOT they stake. Stakes also help secure the network and earn rewards.</a:t>
            </a:r>
          </a:p>
          <a:p>
            <a:r>
              <a:rPr lang="en-US" sz="2400" b="1" dirty="0">
                <a:latin typeface="Abadi" panose="020B0604020104020204" pitchFamily="34" charset="0"/>
              </a:rPr>
              <a:t>Bonding and </a:t>
            </a:r>
            <a:r>
              <a:rPr lang="en-US" sz="2400" b="1" dirty="0" err="1">
                <a:latin typeface="Abadi" panose="020B0604020104020204" pitchFamily="34" charset="0"/>
              </a:rPr>
              <a:t>parachain</a:t>
            </a:r>
            <a:r>
              <a:rPr lang="en-US" sz="2400" b="1" dirty="0">
                <a:latin typeface="Abadi" panose="020B0604020104020204" pitchFamily="34" charset="0"/>
              </a:rPr>
              <a:t> auctions: </a:t>
            </a:r>
            <a:r>
              <a:rPr lang="en-US" sz="2400" dirty="0">
                <a:latin typeface="Abadi" panose="020B0604020104020204" pitchFamily="34" charset="0"/>
              </a:rPr>
              <a:t>In Polkadot, new </a:t>
            </a:r>
            <a:r>
              <a:rPr lang="en-US" sz="2400" dirty="0" err="1">
                <a:latin typeface="Abadi" panose="020B0604020104020204" pitchFamily="34" charset="0"/>
              </a:rPr>
              <a:t>parachains</a:t>
            </a:r>
            <a:r>
              <a:rPr lang="en-US" sz="2400" dirty="0">
                <a:latin typeface="Abadi" panose="020B0604020104020204" pitchFamily="34" charset="0"/>
              </a:rPr>
              <a:t> join the network through a process called </a:t>
            </a:r>
            <a:r>
              <a:rPr lang="en-US" sz="2400" dirty="0" err="1">
                <a:latin typeface="Abadi" panose="020B0604020104020204" pitchFamily="34" charset="0"/>
              </a:rPr>
              <a:t>parachain</a:t>
            </a:r>
            <a:r>
              <a:rPr lang="en-US" sz="2400" dirty="0">
                <a:latin typeface="Abadi" panose="020B0604020104020204" pitchFamily="34" charset="0"/>
              </a:rPr>
              <a:t> auctions. To secure a slot, projects compete in these auctions by bonding (locking up) DOT tokens. The project that commits the most DOT during the auction wins the slot, granting it the right to operate as a </a:t>
            </a:r>
            <a:r>
              <a:rPr lang="en-US" sz="2400" dirty="0" err="1">
                <a:latin typeface="Abadi" panose="020B0604020104020204" pitchFamily="34" charset="0"/>
              </a:rPr>
              <a:t>parachain</a:t>
            </a:r>
            <a:r>
              <a:rPr lang="en-US" sz="2400" dirty="0">
                <a:latin typeface="Abadi" panose="020B0604020104020204" pitchFamily="34" charset="0"/>
              </a:rPr>
              <a:t> for a fixed period, usually up to two years.</a:t>
            </a:r>
          </a:p>
          <a:p>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9934BB01-071B-988E-5A21-3B41656CF417}"/>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99269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2FC77-9234-6157-121B-FD096998E978}"/>
              </a:ext>
            </a:extLst>
          </p:cNvPr>
          <p:cNvSpPr>
            <a:spLocks noGrp="1"/>
          </p:cNvSpPr>
          <p:nvPr>
            <p:ph type="title"/>
          </p:nvPr>
        </p:nvSpPr>
        <p:spPr>
          <a:xfrm>
            <a:off x="666750" y="95250"/>
            <a:ext cx="7534656" cy="914400"/>
          </a:xfrm>
        </p:spPr>
        <p:txBody>
          <a:bodyPr/>
          <a:lstStyle/>
          <a:p>
            <a:r>
              <a:rPr lang="en-US" dirty="0"/>
              <a:t>How it Works?</a:t>
            </a:r>
          </a:p>
        </p:txBody>
      </p:sp>
      <p:sp>
        <p:nvSpPr>
          <p:cNvPr id="3" name="Content Placeholder 2">
            <a:extLst>
              <a:ext uri="{FF2B5EF4-FFF2-40B4-BE49-F238E27FC236}">
                <a16:creationId xmlns:a16="http://schemas.microsoft.com/office/drawing/2014/main" id="{97E3C67E-9050-3714-077D-96E9D0C3CB70}"/>
              </a:ext>
            </a:extLst>
          </p:cNvPr>
          <p:cNvSpPr>
            <a:spLocks noGrp="1"/>
          </p:cNvSpPr>
          <p:nvPr>
            <p:ph sz="quarter" idx="10"/>
          </p:nvPr>
        </p:nvSpPr>
        <p:spPr>
          <a:xfrm>
            <a:off x="381000" y="1009650"/>
            <a:ext cx="10496550" cy="5676900"/>
          </a:xfrm>
        </p:spPr>
        <p:txBody>
          <a:bodyPr>
            <a:normAutofit/>
          </a:bodyPr>
          <a:lstStyle/>
          <a:p>
            <a:r>
              <a:rPr lang="en-US" sz="2400" b="1" dirty="0">
                <a:latin typeface="Abadi" panose="020B0604020104020204" pitchFamily="34" charset="0"/>
              </a:rPr>
              <a:t>Transaction processing and finality</a:t>
            </a:r>
            <a:r>
              <a:rPr lang="en-US" sz="2400" dirty="0">
                <a:latin typeface="Abadi" panose="020B0604020104020204" pitchFamily="34" charset="0"/>
              </a:rPr>
              <a:t>: Polkadot uses advanced mechanisms to ensure quick transaction processing and finality, helping to improve the security of the Relay Chain.</a:t>
            </a:r>
          </a:p>
          <a:p>
            <a:r>
              <a:rPr lang="en-US" sz="2400" b="1" dirty="0">
                <a:latin typeface="Abadi" panose="020B0604020104020204" pitchFamily="34" charset="0"/>
              </a:rPr>
              <a:t>Scalability and performance advantages:</a:t>
            </a:r>
            <a:r>
              <a:rPr lang="en-US" sz="2400" dirty="0">
                <a:latin typeface="Abadi" panose="020B0604020104020204" pitchFamily="34" charset="0"/>
              </a:rPr>
              <a:t> Polkadot achieves scalability by enabling parallel transaction processing across multiple </a:t>
            </a:r>
            <a:r>
              <a:rPr lang="en-US" sz="2400" dirty="0" err="1">
                <a:latin typeface="Abadi" panose="020B0604020104020204" pitchFamily="34" charset="0"/>
              </a:rPr>
              <a:t>parachains</a:t>
            </a:r>
            <a:r>
              <a:rPr lang="en-US" sz="2400" dirty="0">
                <a:latin typeface="Abadi" panose="020B0604020104020204" pitchFamily="34" charset="0"/>
              </a:rPr>
              <a:t>. Each </a:t>
            </a:r>
            <a:r>
              <a:rPr lang="en-US" sz="2400" dirty="0" err="1">
                <a:latin typeface="Abadi" panose="020B0604020104020204" pitchFamily="34" charset="0"/>
              </a:rPr>
              <a:t>parachain</a:t>
            </a:r>
            <a:r>
              <a:rPr lang="en-US" sz="2400" dirty="0">
                <a:latin typeface="Abadi" panose="020B0604020104020204" pitchFamily="34" charset="0"/>
              </a:rPr>
              <a:t> operates independently and can process transactions simultaneously, rather than all transactions being handled sequentially on a single chain (as is the case with traditional blockchains like Bitcoin or Ethereum).</a:t>
            </a:r>
          </a:p>
          <a:p>
            <a:endParaRPr lang="en-US" dirty="0">
              <a:latin typeface="Abadi" panose="020B0604020104020204" pitchFamily="34" charset="0"/>
            </a:endParaRPr>
          </a:p>
        </p:txBody>
      </p:sp>
      <p:sp>
        <p:nvSpPr>
          <p:cNvPr id="4" name="Slide Number Placeholder 3">
            <a:extLst>
              <a:ext uri="{FF2B5EF4-FFF2-40B4-BE49-F238E27FC236}">
                <a16:creationId xmlns:a16="http://schemas.microsoft.com/office/drawing/2014/main" id="{A3B32D62-DA24-DD94-D64B-9DE39A9AD482}"/>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5134609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7FE81-7FFA-AAD6-07C3-FD3F85783424}"/>
              </a:ext>
            </a:extLst>
          </p:cNvPr>
          <p:cNvSpPr>
            <a:spLocks noGrp="1"/>
          </p:cNvSpPr>
          <p:nvPr>
            <p:ph type="title"/>
          </p:nvPr>
        </p:nvSpPr>
        <p:spPr>
          <a:xfrm>
            <a:off x="781050" y="228600"/>
            <a:ext cx="7534656" cy="914400"/>
          </a:xfrm>
        </p:spPr>
        <p:txBody>
          <a:bodyPr/>
          <a:lstStyle/>
          <a:p>
            <a:r>
              <a:rPr lang="en-US" dirty="0"/>
              <a:t>Proof of History</a:t>
            </a:r>
          </a:p>
        </p:txBody>
      </p:sp>
      <p:sp>
        <p:nvSpPr>
          <p:cNvPr id="3" name="Content Placeholder 2">
            <a:extLst>
              <a:ext uri="{FF2B5EF4-FFF2-40B4-BE49-F238E27FC236}">
                <a16:creationId xmlns:a16="http://schemas.microsoft.com/office/drawing/2014/main" id="{9ECE5F91-9668-4B49-9889-47C9A30D41F6}"/>
              </a:ext>
            </a:extLst>
          </p:cNvPr>
          <p:cNvSpPr>
            <a:spLocks noGrp="1"/>
          </p:cNvSpPr>
          <p:nvPr>
            <p:ph sz="quarter" idx="10"/>
          </p:nvPr>
        </p:nvSpPr>
        <p:spPr>
          <a:xfrm>
            <a:off x="495300" y="1143000"/>
            <a:ext cx="10648950" cy="5295900"/>
          </a:xfrm>
        </p:spPr>
        <p:txBody>
          <a:bodyPr>
            <a:normAutofit/>
          </a:bodyPr>
          <a:lstStyle/>
          <a:p>
            <a:pPr marL="0" indent="0">
              <a:buNone/>
            </a:pPr>
            <a:r>
              <a:rPr lang="en-US" sz="2400" dirty="0">
                <a:latin typeface="Abadi" panose="020B0604020104020204" pitchFamily="34" charset="0"/>
              </a:rPr>
              <a:t>Polkadot’s design offers several benefits that address some of the primary challenges faced by earlier blockchain technologies.</a:t>
            </a:r>
          </a:p>
          <a:p>
            <a:r>
              <a:rPr lang="en-US" sz="2400" b="1" dirty="0">
                <a:latin typeface="Abadi" panose="020B0604020104020204" pitchFamily="34" charset="0"/>
              </a:rPr>
              <a:t>Interoperability:</a:t>
            </a:r>
            <a:r>
              <a:rPr lang="en-US" sz="2400" dirty="0">
                <a:latin typeface="Abadi" panose="020B0604020104020204" pitchFamily="34" charset="0"/>
              </a:rPr>
              <a:t> Enables different blockchains to interact and share information.</a:t>
            </a:r>
          </a:p>
          <a:p>
            <a:r>
              <a:rPr lang="en-US" sz="2400" b="1" dirty="0">
                <a:latin typeface="Abadi" panose="020B0604020104020204" pitchFamily="34" charset="0"/>
              </a:rPr>
              <a:t>Scalability:</a:t>
            </a:r>
            <a:r>
              <a:rPr lang="en-US" sz="2400" dirty="0">
                <a:latin typeface="Abadi" panose="020B0604020104020204" pitchFamily="34" charset="0"/>
              </a:rPr>
              <a:t> Multiple </a:t>
            </a:r>
            <a:r>
              <a:rPr lang="en-US" sz="2400" dirty="0" err="1">
                <a:latin typeface="Abadi" panose="020B0604020104020204" pitchFamily="34" charset="0"/>
              </a:rPr>
              <a:t>parachains</a:t>
            </a:r>
            <a:r>
              <a:rPr lang="en-US" sz="2400" dirty="0">
                <a:latin typeface="Abadi" panose="020B0604020104020204" pitchFamily="34" charset="0"/>
              </a:rPr>
              <a:t> process transactions in parallel, significantly increasing throughput.</a:t>
            </a:r>
          </a:p>
          <a:p>
            <a:r>
              <a:rPr lang="en-US" sz="2400" b="1" dirty="0">
                <a:latin typeface="Abadi" panose="020B0604020104020204" pitchFamily="34" charset="0"/>
              </a:rPr>
              <a:t>Security: </a:t>
            </a:r>
            <a:r>
              <a:rPr lang="en-US" sz="2400" dirty="0">
                <a:latin typeface="Abadi" panose="020B0604020104020204" pitchFamily="34" charset="0"/>
              </a:rPr>
              <a:t>Shared security model where all </a:t>
            </a:r>
            <a:r>
              <a:rPr lang="en-US" sz="2400" dirty="0" err="1">
                <a:latin typeface="Abadi" panose="020B0604020104020204" pitchFamily="34" charset="0"/>
              </a:rPr>
              <a:t>parachains</a:t>
            </a:r>
            <a:r>
              <a:rPr lang="en-US" sz="2400" dirty="0">
                <a:latin typeface="Abadi" panose="020B0604020104020204" pitchFamily="34" charset="0"/>
              </a:rPr>
              <a:t> benefit from the robust security of the Relay Chain.</a:t>
            </a:r>
          </a:p>
          <a:p>
            <a:r>
              <a:rPr lang="en-US" sz="2400" b="1" dirty="0">
                <a:latin typeface="Abadi" panose="020B0604020104020204" pitchFamily="34" charset="0"/>
              </a:rPr>
              <a:t>Customizability:</a:t>
            </a:r>
            <a:r>
              <a:rPr lang="en-US" sz="2400" dirty="0">
                <a:latin typeface="Abadi" panose="020B0604020104020204" pitchFamily="34" charset="0"/>
              </a:rPr>
              <a:t> Developers can create customized blockchains that are tailored to specific needs.</a:t>
            </a:r>
          </a:p>
          <a:p>
            <a:r>
              <a:rPr lang="en-US" sz="2400" b="1" dirty="0">
                <a:latin typeface="Abadi" panose="020B0604020104020204" pitchFamily="34" charset="0"/>
              </a:rPr>
              <a:t>Ecosystem development: </a:t>
            </a:r>
            <a:r>
              <a:rPr lang="en-US" sz="2400" dirty="0">
                <a:latin typeface="Abadi" panose="020B0604020104020204" pitchFamily="34" charset="0"/>
              </a:rPr>
              <a:t>Encourages a collaborative environment for developers, fostering innovation.</a:t>
            </a:r>
          </a:p>
          <a:p>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C522FA0A-E8B9-2DAA-01C5-3B53BC387C1B}"/>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1273606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F1838-87BF-7372-C435-BB27C99FFE5B}"/>
              </a:ext>
            </a:extLst>
          </p:cNvPr>
          <p:cNvSpPr>
            <a:spLocks noGrp="1"/>
          </p:cNvSpPr>
          <p:nvPr>
            <p:ph type="title"/>
          </p:nvPr>
        </p:nvSpPr>
        <p:spPr>
          <a:xfrm>
            <a:off x="877824" y="100584"/>
            <a:ext cx="7534656" cy="914400"/>
          </a:xfrm>
        </p:spPr>
        <p:txBody>
          <a:bodyPr/>
          <a:lstStyle/>
          <a:p>
            <a:r>
              <a:rPr lang="en-US" dirty="0"/>
              <a:t>Polkadot New Features and Advantages</a:t>
            </a:r>
          </a:p>
        </p:txBody>
      </p:sp>
      <p:sp>
        <p:nvSpPr>
          <p:cNvPr id="3" name="Content Placeholder 2">
            <a:extLst>
              <a:ext uri="{FF2B5EF4-FFF2-40B4-BE49-F238E27FC236}">
                <a16:creationId xmlns:a16="http://schemas.microsoft.com/office/drawing/2014/main" id="{7BD964E6-6F83-8C67-C905-42A881DB6E9A}"/>
              </a:ext>
            </a:extLst>
          </p:cNvPr>
          <p:cNvSpPr>
            <a:spLocks noGrp="1"/>
          </p:cNvSpPr>
          <p:nvPr>
            <p:ph sz="quarter" idx="10"/>
          </p:nvPr>
        </p:nvSpPr>
        <p:spPr>
          <a:xfrm>
            <a:off x="176784" y="1234440"/>
            <a:ext cx="11838432" cy="5623560"/>
          </a:xfrm>
        </p:spPr>
        <p:txBody>
          <a:bodyPr>
            <a:normAutofit lnSpcReduction="10000"/>
          </a:bodyPr>
          <a:lstStyle/>
          <a:p>
            <a:pPr marL="0" indent="0">
              <a:buNone/>
            </a:pPr>
            <a:r>
              <a:rPr lang="en-US" sz="2400" b="1" dirty="0">
                <a:latin typeface="Abadi" panose="020B0604020104020204" pitchFamily="34" charset="0"/>
              </a:rPr>
              <a:t>Sharded multichain network</a:t>
            </a:r>
          </a:p>
          <a:p>
            <a:r>
              <a:rPr lang="en-US" sz="2400" dirty="0">
                <a:latin typeface="Abadi" panose="020B0604020104020204" pitchFamily="34" charset="0"/>
              </a:rPr>
              <a:t>Polkadot has a distinct advantage compared to traditional blockchains in that it uses a sharded multichain approach. This allows many transactions to be processed on multiple chains simultaneously. This makes it much more scalable, opening the door to wider use cases and development. </a:t>
            </a:r>
            <a:r>
              <a:rPr lang="en-US" sz="2400" dirty="0" err="1">
                <a:latin typeface="Abadi" panose="020B0604020104020204" pitchFamily="34" charset="0"/>
              </a:rPr>
              <a:t>Parachains</a:t>
            </a:r>
            <a:r>
              <a:rPr lang="en-US" sz="2400" dirty="0">
                <a:latin typeface="Abadi" panose="020B0604020104020204" pitchFamily="34" charset="0"/>
              </a:rPr>
              <a:t>, which are interconnected blockchains, are run in parallel within the Polkadot system.</a:t>
            </a:r>
          </a:p>
          <a:p>
            <a:pPr marL="0" indent="0">
              <a:buNone/>
            </a:pPr>
            <a:r>
              <a:rPr lang="en-US" sz="2400" b="1" dirty="0">
                <a:latin typeface="Abadi" panose="020B0604020104020204" pitchFamily="34" charset="0"/>
              </a:rPr>
              <a:t>Customizable blockchain architecture</a:t>
            </a:r>
          </a:p>
          <a:p>
            <a:r>
              <a:rPr lang="en-US" sz="2400" dirty="0">
                <a:latin typeface="Abadi" panose="020B0604020104020204" pitchFamily="34" charset="0"/>
              </a:rPr>
              <a:t>Polkadot knows that a single set of parameters is unsuitable for all blockchain designs. Its adaptability lets each blockchain be customized to suit the purpose for which it's intended. This versatility results in greater efficiency, security, and better services, as blockchains can eliminate redundant code and concentrate on their primary functions.</a:t>
            </a:r>
          </a:p>
          <a:p>
            <a:pPr marL="0" indent="0">
              <a:buNone/>
            </a:pPr>
            <a:r>
              <a:rPr lang="en-US" sz="2400" b="1" dirty="0">
                <a:latin typeface="Abadi" panose="020B0604020104020204" pitchFamily="34" charset="0"/>
              </a:rPr>
              <a:t>Interoperability and cross-chain communication</a:t>
            </a:r>
          </a:p>
          <a:p>
            <a:r>
              <a:rPr lang="en-US" sz="2400" dirty="0">
                <a:latin typeface="Abadi" panose="020B0604020104020204" pitchFamily="34" charset="0"/>
              </a:rPr>
              <a:t>Polkadot allows networks and applications to cooperate in an effortless manner, similar to how apps on a mobile phone interact with each other. This is a major change from the isolated nature of earlier networks. This opens up the possibility of developing cutting-edge services and transmitting information between blockchains.</a:t>
            </a:r>
          </a:p>
          <a:p>
            <a:pPr marL="0" indent="0">
              <a:buNone/>
            </a:pPr>
            <a:endParaRPr lang="en-US" dirty="0"/>
          </a:p>
        </p:txBody>
      </p:sp>
      <p:sp>
        <p:nvSpPr>
          <p:cNvPr id="4" name="Slide Number Placeholder 3">
            <a:extLst>
              <a:ext uri="{FF2B5EF4-FFF2-40B4-BE49-F238E27FC236}">
                <a16:creationId xmlns:a16="http://schemas.microsoft.com/office/drawing/2014/main" id="{74C99897-8448-CCBF-4767-D0EF2E224469}"/>
              </a:ext>
            </a:extLst>
          </p:cNvPr>
          <p:cNvSpPr>
            <a:spLocks noGrp="1"/>
          </p:cNvSpPr>
          <p:nvPr>
            <p:ph type="sldNum" sz="quarter" idx="4"/>
          </p:nvPr>
        </p:nvSpPr>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3698275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D266-95BF-8730-26FE-846A254F1868}"/>
              </a:ext>
            </a:extLst>
          </p:cNvPr>
          <p:cNvSpPr>
            <a:spLocks noGrp="1"/>
          </p:cNvSpPr>
          <p:nvPr>
            <p:ph type="title"/>
          </p:nvPr>
        </p:nvSpPr>
        <p:spPr>
          <a:xfrm>
            <a:off x="914399" y="104775"/>
            <a:ext cx="7534656" cy="914400"/>
          </a:xfrm>
        </p:spPr>
        <p:txBody>
          <a:bodyPr/>
          <a:lstStyle/>
          <a:p>
            <a:r>
              <a:rPr lang="en-US" dirty="0"/>
              <a:t>Polkadot New Features &amp; Advantages</a:t>
            </a:r>
          </a:p>
        </p:txBody>
      </p:sp>
      <p:sp>
        <p:nvSpPr>
          <p:cNvPr id="3" name="Content Placeholder 2">
            <a:extLst>
              <a:ext uri="{FF2B5EF4-FFF2-40B4-BE49-F238E27FC236}">
                <a16:creationId xmlns:a16="http://schemas.microsoft.com/office/drawing/2014/main" id="{501AB949-6A75-A1C3-DF74-D5EF2729ED5E}"/>
              </a:ext>
            </a:extLst>
          </p:cNvPr>
          <p:cNvSpPr>
            <a:spLocks noGrp="1"/>
          </p:cNvSpPr>
          <p:nvPr>
            <p:ph sz="quarter" idx="10"/>
          </p:nvPr>
        </p:nvSpPr>
        <p:spPr>
          <a:xfrm>
            <a:off x="758951" y="1000126"/>
            <a:ext cx="10277476" cy="5495924"/>
          </a:xfrm>
        </p:spPr>
        <p:txBody>
          <a:bodyPr>
            <a:normAutofit/>
          </a:bodyPr>
          <a:lstStyle/>
          <a:p>
            <a:pPr marL="0" indent="0">
              <a:buNone/>
            </a:pPr>
            <a:r>
              <a:rPr lang="en-US" sz="2400" b="1" dirty="0">
                <a:latin typeface="Abadi" panose="020B0604020104020204" pitchFamily="34" charset="0"/>
              </a:rPr>
              <a:t>Democratic network governance</a:t>
            </a:r>
          </a:p>
          <a:p>
            <a:r>
              <a:rPr lang="en-US" sz="2400" dirty="0">
                <a:latin typeface="Abadi" panose="020B0604020104020204" pitchFamily="34" charset="0"/>
              </a:rPr>
              <a:t>Polkadot's networks allow communities to administer their networks in a clear and democratic manner autonomously. This flexibility also applies to their governance structures, which can be modified or improved as needed.</a:t>
            </a:r>
          </a:p>
          <a:p>
            <a:pPr marL="0" indent="0">
              <a:buNone/>
            </a:pPr>
            <a:r>
              <a:rPr lang="en-US" sz="2400" b="1" dirty="0">
                <a:latin typeface="Abadi" panose="020B0604020104020204" pitchFamily="34" charset="0"/>
              </a:rPr>
              <a:t>Forkless upgrades</a:t>
            </a:r>
          </a:p>
          <a:p>
            <a:r>
              <a:rPr lang="en-US" sz="2400" dirty="0">
                <a:latin typeface="Abadi" panose="020B0604020104020204" pitchFamily="34" charset="0"/>
              </a:rPr>
              <a:t>Polkadot removes the need for hard forks, which can cause divisions among users. Hard forks also require a lot of effort to address a widespread issue in blockchain technology — the requirement for upgrades. This allows blockchains within the Polkadot network to advance and adjust more fluidly as technology progresses.</a:t>
            </a:r>
          </a:p>
          <a:p>
            <a:r>
              <a:rPr lang="en-US" sz="2400" dirty="0">
                <a:latin typeface="Abadi" panose="020B0604020104020204" pitchFamily="34" charset="0"/>
              </a:rPr>
              <a:t>Polkadot's scalable, customizable, interoperable architecture, combined with its democratic governance and efficient upgrade abilities, puts it ahead of the pack in the blockchain industry. This pioneering combination makes Polkadot a leader in the advancement of blockchain technology.</a:t>
            </a:r>
          </a:p>
          <a:p>
            <a:endParaRPr lang="en-US" sz="2400" dirty="0">
              <a:latin typeface="Abadi" panose="020B0604020104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8D2658E9-C882-ED67-ABDC-3DDDCA29DEE7}"/>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1715458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9F08-EBA6-B076-9338-DA18F0F035D1}"/>
              </a:ext>
            </a:extLst>
          </p:cNvPr>
          <p:cNvSpPr>
            <a:spLocks noGrp="1"/>
          </p:cNvSpPr>
          <p:nvPr>
            <p:ph type="title"/>
          </p:nvPr>
        </p:nvSpPr>
        <p:spPr>
          <a:xfrm>
            <a:off x="850392" y="155448"/>
            <a:ext cx="7534656" cy="740664"/>
          </a:xfrm>
        </p:spPr>
        <p:txBody>
          <a:bodyPr/>
          <a:lstStyle/>
          <a:p>
            <a:r>
              <a:rPr lang="en-US" dirty="0"/>
              <a:t>Nominated Proof of Stake (</a:t>
            </a:r>
            <a:r>
              <a:rPr lang="en-US" dirty="0" err="1"/>
              <a:t>Npos</a:t>
            </a:r>
            <a:r>
              <a:rPr lang="en-US" dirty="0"/>
              <a:t>)</a:t>
            </a:r>
          </a:p>
        </p:txBody>
      </p:sp>
      <p:sp>
        <p:nvSpPr>
          <p:cNvPr id="3" name="Content Placeholder 2">
            <a:extLst>
              <a:ext uri="{FF2B5EF4-FFF2-40B4-BE49-F238E27FC236}">
                <a16:creationId xmlns:a16="http://schemas.microsoft.com/office/drawing/2014/main" id="{BF6D17DC-7268-D76E-06D1-52564AFB6DC6}"/>
              </a:ext>
            </a:extLst>
          </p:cNvPr>
          <p:cNvSpPr>
            <a:spLocks noGrp="1"/>
          </p:cNvSpPr>
          <p:nvPr>
            <p:ph sz="quarter" idx="10"/>
          </p:nvPr>
        </p:nvSpPr>
        <p:spPr>
          <a:xfrm>
            <a:off x="274320" y="1143000"/>
            <a:ext cx="10872216" cy="5495544"/>
          </a:xfrm>
        </p:spPr>
        <p:txBody>
          <a:bodyPr>
            <a:normAutofit/>
          </a:bodyPr>
          <a:lstStyle/>
          <a:p>
            <a:r>
              <a:rPr lang="en-US" sz="2400" dirty="0">
                <a:latin typeface="Abadi" panose="020B0604020104020204" pitchFamily="34" charset="0"/>
              </a:rPr>
              <a:t>Polkadot utilizes a nominated proof-of-stake (</a:t>
            </a:r>
            <a:r>
              <a:rPr lang="en-US" sz="2400" dirty="0" err="1">
                <a:latin typeface="Abadi" panose="020B0604020104020204" pitchFamily="34" charset="0"/>
              </a:rPr>
              <a:t>NPoS</a:t>
            </a:r>
            <a:r>
              <a:rPr lang="en-US" sz="2400" dirty="0">
                <a:latin typeface="Abadi" panose="020B0604020104020204" pitchFamily="34" charset="0"/>
              </a:rPr>
              <a:t>) consensus mechanism involving validators and nominators. </a:t>
            </a:r>
          </a:p>
          <a:p>
            <a:r>
              <a:rPr lang="en-US" sz="2400" dirty="0">
                <a:latin typeface="Abadi" panose="020B0604020104020204" pitchFamily="34" charset="0"/>
              </a:rPr>
              <a:t>Validators secure the Relay Chain by staking DOT, validating </a:t>
            </a:r>
            <a:r>
              <a:rPr lang="en-US" sz="2400" u="sng" dirty="0">
                <a:latin typeface="Abadi" panose="020B0604020104020204" pitchFamily="34" charset="0"/>
                <a:hlinkClick r:id="rId2"/>
              </a:rPr>
              <a:t>transactions on the </a:t>
            </a:r>
            <a:r>
              <a:rPr lang="en-US" sz="2400" u="sng" dirty="0" err="1">
                <a:latin typeface="Abadi" panose="020B0604020104020204" pitchFamily="34" charset="0"/>
                <a:hlinkClick r:id="rId2"/>
              </a:rPr>
              <a:t>parachains</a:t>
            </a:r>
            <a:r>
              <a:rPr lang="en-US" sz="2400" dirty="0">
                <a:latin typeface="Abadi" panose="020B0604020104020204" pitchFamily="34" charset="0"/>
              </a:rPr>
              <a:t>, participating in consensus with other validators and producing blocks on the Relay Chain. </a:t>
            </a:r>
          </a:p>
          <a:p>
            <a:r>
              <a:rPr lang="en-US" sz="2400" dirty="0">
                <a:latin typeface="Abadi" panose="020B0604020104020204" pitchFamily="34" charset="0"/>
              </a:rPr>
              <a:t>Nominators, on the other hand, contribute to the network's security by staking their DOT to back trustworthy validators. This system enhances the network's security while enabling cross-chain communication and interoperability.</a:t>
            </a:r>
          </a:p>
          <a:p>
            <a:r>
              <a:rPr lang="en-US" sz="2400" dirty="0">
                <a:latin typeface="Abadi" panose="020B0604020104020204" pitchFamily="34" charset="0"/>
              </a:rPr>
              <a:t>Polkadot also includes two specialized roles: Collators, who manage and submit valid </a:t>
            </a:r>
            <a:r>
              <a:rPr lang="en-US" sz="2400" dirty="0" err="1">
                <a:latin typeface="Abadi" panose="020B0604020104020204" pitchFamily="34" charset="0"/>
              </a:rPr>
              <a:t>parachain</a:t>
            </a:r>
            <a:r>
              <a:rPr lang="en-US" sz="2400" dirty="0">
                <a:latin typeface="Abadi" panose="020B0604020104020204" pitchFamily="34" charset="0"/>
              </a:rPr>
              <a:t> transactions to Relay Chain validators, and Fishermen, who monitor and report network misconduct. </a:t>
            </a:r>
          </a:p>
          <a:p>
            <a:r>
              <a:rPr lang="en-US" sz="2400" dirty="0">
                <a:latin typeface="Abadi" panose="020B0604020104020204" pitchFamily="34" charset="0"/>
              </a:rPr>
              <a:t>These roles require more technical skill than nominators but less commitment than full validators, playing a vital role in maintaining the network.</a:t>
            </a:r>
          </a:p>
          <a:p>
            <a:endParaRPr lang="en-US" sz="2400" dirty="0">
              <a:latin typeface="Abadi" panose="020B0604020104020204" pitchFamily="34" charset="0"/>
            </a:endParaRPr>
          </a:p>
        </p:txBody>
      </p:sp>
      <p:sp>
        <p:nvSpPr>
          <p:cNvPr id="4" name="Slide Number Placeholder 3">
            <a:extLst>
              <a:ext uri="{FF2B5EF4-FFF2-40B4-BE49-F238E27FC236}">
                <a16:creationId xmlns:a16="http://schemas.microsoft.com/office/drawing/2014/main" id="{BDD972CD-76F4-AEA6-DAB3-4B712B7554DD}"/>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2478847351"/>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{302681B8-793D-43D7-9054-F1B9BC554FF7}tf11964407_win32</Template>
  <TotalTime>14991</TotalTime>
  <Words>1378</Words>
  <Application>Microsoft Office PowerPoint</Application>
  <PresentationFormat>Widescreen</PresentationFormat>
  <Paragraphs>76</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Abadi</vt:lpstr>
      <vt:lpstr>Arial</vt:lpstr>
      <vt:lpstr>Calibri</vt:lpstr>
      <vt:lpstr>Courier New</vt:lpstr>
      <vt:lpstr>Gill Sans Nova Light</vt:lpstr>
      <vt:lpstr>Sagona Book</vt:lpstr>
      <vt:lpstr>Custom</vt:lpstr>
      <vt:lpstr>Emerging Blockchain Systems: Polkadot and How it Works: Blockchain of Blockchains (Par Chains)</vt:lpstr>
      <vt:lpstr>In  a nutshell</vt:lpstr>
      <vt:lpstr>What is Polkadot</vt:lpstr>
      <vt:lpstr>The Story</vt:lpstr>
      <vt:lpstr>Main Components of Polkadot </vt:lpstr>
      <vt:lpstr>How it Works?</vt:lpstr>
      <vt:lpstr>How it Works?</vt:lpstr>
      <vt:lpstr>Proof of History</vt:lpstr>
      <vt:lpstr>Polkadot New Features and Advantages</vt:lpstr>
      <vt:lpstr>Polkadot New Features &amp; Advantages</vt:lpstr>
      <vt:lpstr>Nominated Proof of Stake (Npos)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Prof Mohammed ELAffendi</dc:creator>
  <cp:lastModifiedBy>Prof Mohammed ELAffendi</cp:lastModifiedBy>
  <cp:revision>16</cp:revision>
  <dcterms:created xsi:type="dcterms:W3CDTF">2025-04-20T08:20:21Z</dcterms:created>
  <dcterms:modified xsi:type="dcterms:W3CDTF">2026-04-26T08:33:01Z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