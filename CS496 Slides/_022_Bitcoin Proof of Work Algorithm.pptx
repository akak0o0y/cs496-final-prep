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391" y="2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CE72F-B0F1-4044-9AD3-222D39CBB8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Bitcoin Proof of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9B256A-AD51-4667-8151-42DB524115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44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D066E-36AD-493C-BC96-652185A94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“Proof of Work”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CA2E8-4E54-4D14-B0AA-014DAD53C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9827" y="685800"/>
            <a:ext cx="6216555" cy="5626289"/>
          </a:xfrm>
        </p:spPr>
        <p:txBody>
          <a:bodyPr/>
          <a:lstStyle/>
          <a:p>
            <a:r>
              <a:rPr lang="en-US" dirty="0"/>
              <a:t>Simply, evidence that a node (miner) exerted considerable effort  to reach the result</a:t>
            </a:r>
          </a:p>
          <a:p>
            <a:r>
              <a:rPr lang="en-US" dirty="0"/>
              <a:t>In Bitcoin, it is a carefully designed  computational challenge to compute a hash that satisfies a condition</a:t>
            </a:r>
          </a:p>
          <a:p>
            <a:r>
              <a:rPr lang="en-US" dirty="0"/>
              <a:t>The difficulty of the challenge is “adaptive” and is a function of the state of the network and the time taken to solve the challenge problem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1B9BB-86C3-4B67-A6A5-EC7FAFD1C9D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8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3198-D223-4D87-BF11-86494169C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75843-61BB-46A3-BB11-9029D5DED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Bitcoin the Challenge is:</a:t>
            </a:r>
          </a:p>
          <a:p>
            <a:r>
              <a:rPr lang="en-US" dirty="0"/>
              <a:t>produce a hash that is </a:t>
            </a:r>
            <a:r>
              <a:rPr lang="en-US" i="1" dirty="0"/>
              <a:t>less than</a:t>
            </a:r>
            <a:r>
              <a:rPr lang="en-US" dirty="0"/>
              <a:t> a prespecified  target. </a:t>
            </a:r>
          </a:p>
          <a:p>
            <a:r>
              <a:rPr lang="en-US" dirty="0"/>
              <a:t>A higher target means it is less difficult to find a hash that is below the target. </a:t>
            </a:r>
          </a:p>
          <a:p>
            <a:r>
              <a:rPr lang="en-US" dirty="0"/>
              <a:t>A lower target means it is more difficult to find a hash below the target. </a:t>
            </a:r>
          </a:p>
          <a:p>
            <a:r>
              <a:rPr lang="en-US" dirty="0"/>
              <a:t>The target and difficulty are inversely related.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67B0E6-4A83-4CD3-8D61-A4CCF4238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11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1E335-0715-452D-933A-CF1C77822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The Target:</a:t>
            </a:r>
            <a:br>
              <a:rPr lang="en-US" sz="3600" dirty="0"/>
            </a:br>
            <a:r>
              <a:rPr lang="en-US" sz="3600" dirty="0"/>
              <a:t>Better Explained through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027E9-744E-4D13-A449-2AA3D9A15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B7B1B-D551-42F8-A6EB-4503B9712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CCEDAD-8C70-4F1D-950B-E17E3FDE2E8B}"/>
              </a:ext>
            </a:extLst>
          </p:cNvPr>
          <p:cNvSpPr/>
          <p:nvPr/>
        </p:nvSpPr>
        <p:spPr>
          <a:xfrm>
            <a:off x="5814060" y="1133621"/>
            <a:ext cx="6096000" cy="523220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6699"/>
                </a:solidFill>
                <a:latin typeface="&amp;quot"/>
              </a:rPr>
              <a:t>def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CC00FF"/>
                </a:solidFill>
                <a:latin typeface="&amp;quot"/>
              </a:rPr>
              <a:t>proof_of_work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(</a:t>
            </a:r>
            <a:r>
              <a:rPr lang="en-US" dirty="0">
                <a:solidFill>
                  <a:srgbClr val="000088"/>
                </a:solidFill>
                <a:latin typeface="&amp;quot"/>
              </a:rPr>
              <a:t>header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,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88"/>
                </a:solidFill>
                <a:latin typeface="&amp;quot"/>
              </a:rPr>
              <a:t>difficulty_bits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):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   </a:t>
            </a:r>
            <a:r>
              <a:rPr lang="en-US" i="1" dirty="0">
                <a:solidFill>
                  <a:srgbClr val="35586C"/>
                </a:solidFill>
                <a:latin typeface="&amp;quot"/>
              </a:rPr>
              <a:t># calculate the difficulty target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000088"/>
                </a:solidFill>
                <a:latin typeface="&amp;quot"/>
              </a:rPr>
              <a:t>target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555555"/>
                </a:solidFill>
                <a:latin typeface="&amp;quot"/>
              </a:rPr>
              <a:t>=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6600"/>
                </a:solidFill>
                <a:latin typeface="&amp;quot"/>
              </a:rPr>
              <a:t>2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555555"/>
                </a:solidFill>
                <a:latin typeface="&amp;quot"/>
              </a:rPr>
              <a:t>**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(</a:t>
            </a:r>
            <a:r>
              <a:rPr lang="en-US" dirty="0">
                <a:solidFill>
                  <a:srgbClr val="FF6600"/>
                </a:solidFill>
                <a:latin typeface="&amp;quot"/>
              </a:rPr>
              <a:t>256</a:t>
            </a:r>
            <a:r>
              <a:rPr lang="en-US" dirty="0">
                <a:solidFill>
                  <a:srgbClr val="555555"/>
                </a:solidFill>
                <a:latin typeface="&amp;quot"/>
              </a:rPr>
              <a:t>-</a:t>
            </a:r>
            <a:r>
              <a:rPr lang="en-US" dirty="0">
                <a:solidFill>
                  <a:srgbClr val="000088"/>
                </a:solidFill>
                <a:latin typeface="&amp;quot"/>
              </a:rPr>
              <a:t>difficulty_bits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)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6699"/>
                </a:solidFill>
                <a:latin typeface="&amp;quot"/>
              </a:rPr>
              <a:t>for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88"/>
                </a:solidFill>
                <a:latin typeface="&amp;quot"/>
              </a:rPr>
              <a:t>nonce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&amp;quot"/>
              </a:rPr>
              <a:t>in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336666"/>
                </a:solidFill>
                <a:latin typeface="&amp;quot"/>
              </a:rPr>
              <a:t>xrange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(</a:t>
            </a:r>
            <a:r>
              <a:rPr lang="en-US" dirty="0" err="1">
                <a:solidFill>
                  <a:srgbClr val="000088"/>
                </a:solidFill>
                <a:latin typeface="&amp;quot"/>
              </a:rPr>
              <a:t>max_nonce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):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       </a:t>
            </a:r>
            <a:r>
              <a:rPr lang="en-US" dirty="0">
                <a:solidFill>
                  <a:srgbClr val="000088"/>
                </a:solidFill>
                <a:latin typeface="&amp;quot"/>
              </a:rPr>
              <a:t>hash_result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555555"/>
                </a:solidFill>
                <a:latin typeface="&amp;quot"/>
              </a:rPr>
              <a:t>=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88"/>
                </a:solidFill>
                <a:latin typeface="&amp;quot"/>
              </a:rPr>
              <a:t>hashlib</a:t>
            </a:r>
            <a:r>
              <a:rPr lang="en-US" dirty="0">
                <a:solidFill>
                  <a:srgbClr val="555555"/>
                </a:solidFill>
                <a:latin typeface="&amp;quot"/>
              </a:rPr>
              <a:t>.</a:t>
            </a:r>
            <a:r>
              <a:rPr lang="en-US" dirty="0">
                <a:solidFill>
                  <a:srgbClr val="000088"/>
                </a:solidFill>
                <a:latin typeface="&amp;quot"/>
              </a:rPr>
              <a:t>sha256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(</a:t>
            </a:r>
            <a:r>
              <a:rPr lang="en-US" dirty="0" err="1">
                <a:solidFill>
                  <a:srgbClr val="336666"/>
                </a:solidFill>
                <a:latin typeface="&amp;quot"/>
              </a:rPr>
              <a:t>str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(</a:t>
            </a:r>
            <a:r>
              <a:rPr lang="en-US" dirty="0">
                <a:solidFill>
                  <a:srgbClr val="000088"/>
                </a:solidFill>
                <a:latin typeface="&amp;quot"/>
              </a:rPr>
              <a:t>header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)</a:t>
            </a:r>
            <a:r>
              <a:rPr lang="en-US" dirty="0">
                <a:solidFill>
                  <a:srgbClr val="555555"/>
                </a:solidFill>
                <a:latin typeface="&amp;quot"/>
              </a:rPr>
              <a:t>+</a:t>
            </a:r>
            <a:r>
              <a:rPr lang="en-US" dirty="0" err="1">
                <a:solidFill>
                  <a:srgbClr val="336666"/>
                </a:solidFill>
                <a:latin typeface="&amp;quot"/>
              </a:rPr>
              <a:t>str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(</a:t>
            </a:r>
            <a:r>
              <a:rPr lang="en-US" dirty="0">
                <a:solidFill>
                  <a:srgbClr val="000088"/>
                </a:solidFill>
                <a:latin typeface="&amp;quot"/>
              </a:rPr>
              <a:t>nonce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))</a:t>
            </a:r>
            <a:r>
              <a:rPr lang="en-US" dirty="0">
                <a:solidFill>
                  <a:srgbClr val="555555"/>
                </a:solidFill>
                <a:latin typeface="&amp;quot"/>
              </a:rPr>
              <a:t>.</a:t>
            </a:r>
            <a:r>
              <a:rPr lang="en-US" dirty="0" err="1">
                <a:solidFill>
                  <a:srgbClr val="000088"/>
                </a:solidFill>
                <a:latin typeface="&amp;quot"/>
              </a:rPr>
              <a:t>hexdigest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()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       </a:t>
            </a:r>
            <a:r>
              <a:rPr lang="en-US" i="1" dirty="0">
                <a:solidFill>
                  <a:srgbClr val="35586C"/>
                </a:solidFill>
                <a:latin typeface="&amp;quot"/>
              </a:rPr>
              <a:t># check if this is a valid result, below the target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6699"/>
                </a:solidFill>
                <a:latin typeface="&amp;quot"/>
              </a:rPr>
              <a:t>if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336666"/>
                </a:solidFill>
                <a:latin typeface="&amp;quot"/>
              </a:rPr>
              <a:t>long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(</a:t>
            </a:r>
            <a:r>
              <a:rPr lang="en-US" dirty="0" err="1">
                <a:solidFill>
                  <a:srgbClr val="000088"/>
                </a:solidFill>
                <a:latin typeface="&amp;quot"/>
              </a:rPr>
              <a:t>hash_result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,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6600"/>
                </a:solidFill>
                <a:latin typeface="&amp;quot"/>
              </a:rPr>
              <a:t>16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)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555555"/>
                </a:solidFill>
                <a:latin typeface="&amp;quot"/>
              </a:rPr>
              <a:t>&lt;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88"/>
                </a:solidFill>
                <a:latin typeface="&amp;quot"/>
              </a:rPr>
              <a:t>target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: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           </a:t>
            </a:r>
            <a:r>
              <a:rPr lang="en-US" b="1" dirty="0">
                <a:solidFill>
                  <a:srgbClr val="006699"/>
                </a:solidFill>
                <a:latin typeface="&amp;quot"/>
              </a:rPr>
              <a:t>print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C3300"/>
                </a:solidFill>
                <a:latin typeface="&amp;quot"/>
              </a:rPr>
              <a:t>"Success with nonce </a:t>
            </a:r>
            <a:r>
              <a:rPr lang="en-US" dirty="0">
                <a:solidFill>
                  <a:srgbClr val="AA0000"/>
                </a:solidFill>
                <a:latin typeface="&amp;quot"/>
              </a:rPr>
              <a:t>%d</a:t>
            </a:r>
            <a:r>
              <a:rPr lang="en-US" dirty="0">
                <a:solidFill>
                  <a:srgbClr val="CC3300"/>
                </a:solidFill>
                <a:latin typeface="&amp;quot"/>
              </a:rPr>
              <a:t>"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555555"/>
                </a:solidFill>
                <a:latin typeface="&amp;quot"/>
              </a:rPr>
              <a:t>%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88"/>
                </a:solidFill>
                <a:latin typeface="&amp;quot"/>
              </a:rPr>
              <a:t>nonce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           </a:t>
            </a:r>
            <a:r>
              <a:rPr lang="en-US" b="1" dirty="0">
                <a:solidFill>
                  <a:srgbClr val="006699"/>
                </a:solidFill>
                <a:latin typeface="&amp;quot"/>
              </a:rPr>
              <a:t>print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C3300"/>
                </a:solidFill>
                <a:latin typeface="&amp;quot"/>
              </a:rPr>
              <a:t>"Hash is </a:t>
            </a:r>
            <a:r>
              <a:rPr lang="en-US" dirty="0">
                <a:solidFill>
                  <a:srgbClr val="AA0000"/>
                </a:solidFill>
                <a:latin typeface="&amp;quot"/>
              </a:rPr>
              <a:t>%s</a:t>
            </a:r>
            <a:r>
              <a:rPr lang="en-US" dirty="0">
                <a:solidFill>
                  <a:srgbClr val="CC3300"/>
                </a:solidFill>
                <a:latin typeface="&amp;quot"/>
              </a:rPr>
              <a:t>"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555555"/>
                </a:solidFill>
                <a:latin typeface="&amp;quot"/>
              </a:rPr>
              <a:t>%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88"/>
                </a:solidFill>
                <a:latin typeface="&amp;quot"/>
              </a:rPr>
              <a:t>hash_result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           </a:t>
            </a:r>
            <a:r>
              <a:rPr lang="en-US" b="1" dirty="0">
                <a:solidFill>
                  <a:srgbClr val="006699"/>
                </a:solidFill>
                <a:latin typeface="&amp;quot"/>
              </a:rPr>
              <a:t>return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(</a:t>
            </a:r>
            <a:r>
              <a:rPr lang="en-US" dirty="0" err="1">
                <a:solidFill>
                  <a:srgbClr val="000088"/>
                </a:solidFill>
                <a:latin typeface="&amp;quot"/>
              </a:rPr>
              <a:t>hash_result</a:t>
            </a:r>
            <a:r>
              <a:rPr lang="en-US" dirty="0" err="1">
                <a:solidFill>
                  <a:srgbClr val="000000"/>
                </a:solidFill>
                <a:latin typeface="&amp;quot"/>
              </a:rPr>
              <a:t>,</a:t>
            </a:r>
            <a:r>
              <a:rPr lang="en-US" dirty="0" err="1">
                <a:solidFill>
                  <a:srgbClr val="000088"/>
                </a:solidFill>
                <a:latin typeface="&amp;quot"/>
              </a:rPr>
              <a:t>nonce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)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6699"/>
                </a:solidFill>
                <a:latin typeface="&amp;quot"/>
              </a:rPr>
              <a:t>print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C3300"/>
                </a:solidFill>
                <a:latin typeface="&amp;quot"/>
              </a:rPr>
              <a:t>"Failed after </a:t>
            </a:r>
            <a:r>
              <a:rPr lang="en-US" dirty="0">
                <a:solidFill>
                  <a:srgbClr val="AA0000"/>
                </a:solidFill>
                <a:latin typeface="&amp;quot"/>
              </a:rPr>
              <a:t>%d</a:t>
            </a:r>
            <a:r>
              <a:rPr lang="en-US" dirty="0">
                <a:solidFill>
                  <a:srgbClr val="CC3300"/>
                </a:solidFill>
                <a:latin typeface="&amp;quot"/>
              </a:rPr>
              <a:t> (</a:t>
            </a:r>
            <a:r>
              <a:rPr lang="en-US" dirty="0" err="1">
                <a:solidFill>
                  <a:srgbClr val="CC3300"/>
                </a:solidFill>
                <a:latin typeface="&amp;quot"/>
              </a:rPr>
              <a:t>max_nonce</a:t>
            </a:r>
            <a:r>
              <a:rPr lang="en-US" dirty="0">
                <a:solidFill>
                  <a:srgbClr val="CC3300"/>
                </a:solidFill>
                <a:latin typeface="&amp;quot"/>
              </a:rPr>
              <a:t>) tries"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555555"/>
                </a:solidFill>
                <a:latin typeface="&amp;quot"/>
              </a:rPr>
              <a:t>%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88"/>
                </a:solidFill>
                <a:latin typeface="&amp;quot"/>
              </a:rPr>
              <a:t>nonce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6699"/>
                </a:solidFill>
                <a:latin typeface="&amp;quot"/>
              </a:rPr>
              <a:t>return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88"/>
                </a:solidFill>
                <a:latin typeface="&amp;quot"/>
              </a:rPr>
              <a:t>nonce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endParaRPr 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863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EA2F5-FE12-4088-89E5-DC72DE90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Target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9092A-710B-487F-8F46-CFA08691F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can be seen from the above code, the target is computed using “difficulty bits”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>
                <a:solidFill>
                  <a:srgbClr val="000088"/>
                </a:solidFill>
                <a:latin typeface="&amp;quot"/>
              </a:rPr>
              <a:t>target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555555"/>
                </a:solidFill>
                <a:latin typeface="&amp;quot"/>
              </a:rPr>
              <a:t>=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6600"/>
                </a:solidFill>
                <a:latin typeface="&amp;quot"/>
              </a:rPr>
              <a:t>2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555555"/>
                </a:solidFill>
                <a:latin typeface="&amp;quot"/>
              </a:rPr>
              <a:t>**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(</a:t>
            </a:r>
            <a:r>
              <a:rPr lang="en-US" dirty="0">
                <a:solidFill>
                  <a:srgbClr val="FF6600"/>
                </a:solidFill>
                <a:latin typeface="&amp;quot"/>
              </a:rPr>
              <a:t>256</a:t>
            </a:r>
            <a:r>
              <a:rPr lang="en-US" dirty="0">
                <a:solidFill>
                  <a:srgbClr val="555555"/>
                </a:solidFill>
                <a:latin typeface="&amp;quot"/>
              </a:rPr>
              <a:t>-</a:t>
            </a:r>
            <a:r>
              <a:rPr lang="en-US" dirty="0">
                <a:solidFill>
                  <a:srgbClr val="000088"/>
                </a:solidFill>
                <a:latin typeface="&amp;quot"/>
              </a:rPr>
              <a:t>difficulty_bits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)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/>
              <a:t>These are usually leading bits in the resulting hash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FAA6B-6415-43AA-8804-94F28F793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53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9D69A-1B80-4AC3-A952-085BA3728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Hash?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1A0B-8C96-4BE1-BE5A-5D76BF836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3821" y="685801"/>
            <a:ext cx="6428095" cy="5558050"/>
          </a:xfrm>
        </p:spPr>
        <p:txBody>
          <a:bodyPr/>
          <a:lstStyle/>
          <a:p>
            <a:r>
              <a:rPr lang="en-US" dirty="0"/>
              <a:t>The string to be hashed is a combination of the Block Header + A Nonce</a:t>
            </a:r>
          </a:p>
          <a:p>
            <a:r>
              <a:rPr lang="en-US" dirty="0"/>
              <a:t>The Nonce (Number Once) is a random integer variable  generated for the purpose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>
                <a:solidFill>
                  <a:srgbClr val="000088"/>
                </a:solidFill>
              </a:rPr>
              <a:t>hash_result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88"/>
                </a:solidFill>
                <a:latin typeface="Courier New" panose="02070309020205020404" pitchFamily="49" charset="0"/>
              </a:rPr>
              <a:t>hashlib</a:t>
            </a:r>
            <a:r>
              <a:rPr lang="en-US" dirty="0">
                <a:solidFill>
                  <a:srgbClr val="555555"/>
                </a:solidFill>
                <a:latin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88"/>
                </a:solidFill>
                <a:latin typeface="Courier New" panose="02070309020205020404" pitchFamily="49" charset="0"/>
              </a:rPr>
              <a:t>sha256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336666"/>
                </a:solidFill>
                <a:latin typeface="Courier New" panose="02070309020205020404" pitchFamily="49" charset="0"/>
              </a:rPr>
              <a:t>str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88"/>
                </a:solidFill>
                <a:latin typeface="Courier New" panose="02070309020205020404" pitchFamily="49" charset="0"/>
              </a:rPr>
              <a:t>header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</a:t>
            </a:r>
            <a:r>
              <a:rPr lang="en-US" dirty="0">
                <a:solidFill>
                  <a:srgbClr val="555555"/>
                </a:solidFill>
                <a:latin typeface="Courier New" panose="02070309020205020404" pitchFamily="49" charset="0"/>
              </a:rPr>
              <a:t>+</a:t>
            </a:r>
            <a:r>
              <a:rPr lang="en-US" dirty="0" err="1">
                <a:solidFill>
                  <a:srgbClr val="336666"/>
                </a:solidFill>
                <a:latin typeface="Courier New" panose="02070309020205020404" pitchFamily="49" charset="0"/>
              </a:rPr>
              <a:t>str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88"/>
                </a:solidFill>
                <a:latin typeface="Courier New" panose="02070309020205020404" pitchFamily="49" charset="0"/>
              </a:rPr>
              <a:t>nonce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  <a:r>
              <a:rPr lang="en-US" dirty="0">
                <a:solidFill>
                  <a:srgbClr val="555555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88"/>
                </a:solidFill>
                <a:latin typeface="Courier New" panose="02070309020205020404" pitchFamily="49" charset="0"/>
              </a:rPr>
              <a:t>hexdigest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69229-BE8D-410D-A32F-43E91E71A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11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39D44-2D68-4199-B1D8-7F2D67A32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Sample Toy 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13D78-CE5A-4E69-B62C-C475F2539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6651" y="88710"/>
            <a:ext cx="5681449" cy="6475863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6699"/>
                </a:solidFill>
                <a:latin typeface="&amp;quot"/>
              </a:rPr>
              <a:t>import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CCFF"/>
                </a:solidFill>
                <a:latin typeface="&amp;quot"/>
              </a:rPr>
              <a:t>hashlib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88"/>
                </a:solidFill>
                <a:latin typeface="&amp;quot"/>
              </a:rPr>
              <a:t>text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555555"/>
                </a:solidFill>
                <a:latin typeface="&amp;quot"/>
              </a:rPr>
              <a:t>=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C3300"/>
                </a:solidFill>
                <a:latin typeface="&amp;quot"/>
              </a:rPr>
              <a:t>"I am Mohammed ELAffendi"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5586C"/>
                </a:solidFill>
                <a:latin typeface="&amp;quot"/>
              </a:rPr>
              <a:t># iterate nonce from 0 to 19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6699"/>
                </a:solidFill>
                <a:latin typeface="&amp;quot"/>
              </a:rPr>
              <a:t>for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88"/>
                </a:solidFill>
                <a:latin typeface="&amp;quot"/>
              </a:rPr>
              <a:t>nonce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&amp;quot"/>
              </a:rPr>
              <a:t>in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336666"/>
                </a:solidFill>
                <a:latin typeface="&amp;quot"/>
              </a:rPr>
              <a:t>xrange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(</a:t>
            </a:r>
            <a:r>
              <a:rPr lang="en-US" dirty="0">
                <a:solidFill>
                  <a:srgbClr val="FF6600"/>
                </a:solidFill>
                <a:latin typeface="&amp;quot"/>
              </a:rPr>
              <a:t>20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):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   </a:t>
            </a:r>
            <a:r>
              <a:rPr lang="en-US" i="1" dirty="0">
                <a:solidFill>
                  <a:srgbClr val="35586C"/>
                </a:solidFill>
                <a:latin typeface="&amp;quot"/>
              </a:rPr>
              <a:t># add the nonce to the end of the text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336666"/>
                </a:solidFill>
                <a:latin typeface="&amp;quot"/>
              </a:rPr>
              <a:t>input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555555"/>
                </a:solidFill>
                <a:latin typeface="&amp;quot"/>
              </a:rPr>
              <a:t>=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88"/>
                </a:solidFill>
                <a:latin typeface="&amp;quot"/>
              </a:rPr>
              <a:t>text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555555"/>
                </a:solidFill>
                <a:latin typeface="&amp;quot"/>
              </a:rPr>
              <a:t>+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336666"/>
                </a:solidFill>
                <a:latin typeface="&amp;quot"/>
              </a:rPr>
              <a:t>str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(</a:t>
            </a:r>
            <a:r>
              <a:rPr lang="en-US" dirty="0">
                <a:solidFill>
                  <a:srgbClr val="000088"/>
                </a:solidFill>
                <a:latin typeface="&amp;quot"/>
              </a:rPr>
              <a:t>nonce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)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   </a:t>
            </a:r>
            <a:r>
              <a:rPr lang="en-US" i="1" dirty="0">
                <a:solidFill>
                  <a:srgbClr val="35586C"/>
                </a:solidFill>
                <a:latin typeface="&amp;quot"/>
              </a:rPr>
              <a:t># calculate the SHA-256 hash of the input (</a:t>
            </a:r>
            <a:r>
              <a:rPr lang="en-US" i="1" dirty="0" err="1">
                <a:solidFill>
                  <a:srgbClr val="35586C"/>
                </a:solidFill>
                <a:latin typeface="&amp;quot"/>
              </a:rPr>
              <a:t>text+nonce</a:t>
            </a:r>
            <a:r>
              <a:rPr lang="en-US" i="1" dirty="0">
                <a:solidFill>
                  <a:srgbClr val="35586C"/>
                </a:solidFill>
                <a:latin typeface="&amp;quot"/>
              </a:rPr>
              <a:t>)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336666"/>
                </a:solidFill>
                <a:latin typeface="&amp;quot"/>
              </a:rPr>
              <a:t>hash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555555"/>
                </a:solidFill>
                <a:latin typeface="&amp;quot"/>
              </a:rPr>
              <a:t>=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88"/>
                </a:solidFill>
                <a:latin typeface="&amp;quot"/>
              </a:rPr>
              <a:t>hashlib</a:t>
            </a:r>
            <a:r>
              <a:rPr lang="en-US" dirty="0">
                <a:solidFill>
                  <a:srgbClr val="555555"/>
                </a:solidFill>
                <a:latin typeface="&amp;quot"/>
              </a:rPr>
              <a:t>.</a:t>
            </a:r>
            <a:r>
              <a:rPr lang="en-US" dirty="0">
                <a:solidFill>
                  <a:srgbClr val="000088"/>
                </a:solidFill>
                <a:latin typeface="&amp;quot"/>
              </a:rPr>
              <a:t>sha256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(</a:t>
            </a:r>
            <a:r>
              <a:rPr lang="en-US" dirty="0">
                <a:solidFill>
                  <a:srgbClr val="336666"/>
                </a:solidFill>
                <a:latin typeface="&amp;quot"/>
              </a:rPr>
              <a:t>input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)</a:t>
            </a:r>
            <a:r>
              <a:rPr lang="en-US" dirty="0">
                <a:solidFill>
                  <a:srgbClr val="555555"/>
                </a:solidFill>
                <a:latin typeface="&amp;quot"/>
              </a:rPr>
              <a:t>.</a:t>
            </a:r>
            <a:r>
              <a:rPr lang="en-US" dirty="0" err="1">
                <a:solidFill>
                  <a:srgbClr val="000088"/>
                </a:solidFill>
                <a:latin typeface="&amp;quot"/>
              </a:rPr>
              <a:t>hexdigest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()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   </a:t>
            </a:r>
            <a:r>
              <a:rPr lang="en-US" i="1" dirty="0">
                <a:solidFill>
                  <a:srgbClr val="35586C"/>
                </a:solidFill>
                <a:latin typeface="&amp;quot"/>
              </a:rPr>
              <a:t># show the input and hash result</a:t>
            </a:r>
            <a:endParaRPr lang="en-US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6699"/>
                </a:solidFill>
                <a:latin typeface="&amp;quot"/>
              </a:rPr>
              <a:t>print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336666"/>
                </a:solidFill>
                <a:latin typeface="&amp;quot"/>
              </a:rPr>
              <a:t>input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,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C3300"/>
                </a:solidFill>
                <a:latin typeface="&amp;quot"/>
              </a:rPr>
              <a:t>'=&gt;'</a:t>
            </a:r>
            <a:r>
              <a:rPr lang="en-US" dirty="0">
                <a:solidFill>
                  <a:srgbClr val="000000"/>
                </a:solidFill>
                <a:latin typeface="&amp;quot"/>
              </a:rPr>
              <a:t>,</a:t>
            </a:r>
            <a:r>
              <a:rPr lang="en-US" dirty="0">
                <a:solidFill>
                  <a:srgbClr val="404040"/>
                </a:solidFill>
                <a:latin typeface="Courier New" panose="02070309020205020404" pitchFamily="49" charset="0"/>
              </a:rPr>
              <a:t>  </a:t>
            </a:r>
            <a:r>
              <a:rPr lang="en-US" dirty="0">
                <a:solidFill>
                  <a:srgbClr val="336666"/>
                </a:solidFill>
                <a:latin typeface="&amp;quot"/>
              </a:rPr>
              <a:t>hash</a:t>
            </a:r>
            <a:endParaRPr lang="en-US" sz="3200" dirty="0">
              <a:solidFill>
                <a:srgbClr val="336666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F26D2-B283-4786-A2D7-2F45832A3A1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431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59698D-C261-42C5-87BC-FB636E829458}"/>
              </a:ext>
            </a:extLst>
          </p:cNvPr>
          <p:cNvSpPr/>
          <p:nvPr/>
        </p:nvSpPr>
        <p:spPr>
          <a:xfrm>
            <a:off x="1815153" y="514280"/>
            <a:ext cx="8911988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0 =&gt; dac6fe1eac2cf9e82dd1e6f71559a6f703c7d3fe42aaa442e8d4741be6d9c6e1</a:t>
            </a:r>
          </a:p>
          <a:p>
            <a:r>
              <a:rPr lang="en-US" dirty="0"/>
              <a:t>1 =&gt; 8e500e40719f0a7146b0077563fddba3d8d2d6d52c1ea3c0d31597a29ce97a8e</a:t>
            </a:r>
          </a:p>
          <a:p>
            <a:r>
              <a:rPr lang="en-US" dirty="0"/>
              <a:t>2 =&gt; 34be29ccb2160c67aab0bf89e165a0528054de15fd263f120c72f84cd6467421</a:t>
            </a:r>
          </a:p>
          <a:p>
            <a:r>
              <a:rPr lang="en-US" dirty="0"/>
              <a:t>3 =&gt; 9b86f88367143dc6c2a15daa52116948754dc35b8638e72e22d423e1e5994c5d</a:t>
            </a:r>
          </a:p>
          <a:p>
            <a:r>
              <a:rPr lang="en-US" dirty="0"/>
              <a:t>4 =&gt; 2c2979a20142c994e65dc764e10f1a9dc8eafbd8444de1687ddc80f9be2c8127</a:t>
            </a:r>
          </a:p>
          <a:p>
            <a:r>
              <a:rPr lang="en-US" dirty="0"/>
              <a:t>5 =&gt; 9ae4c1eb30467eab845cf2c6bfc4ef30c42a0958691a264af1b8188a2f265855</a:t>
            </a:r>
          </a:p>
          <a:p>
            <a:r>
              <a:rPr lang="en-US" dirty="0"/>
              <a:t>6 =&gt; b9708e2725f323ea6f53fb3ad5ed0424a52d6b931d96804a22d8672e90e7af75</a:t>
            </a:r>
          </a:p>
          <a:p>
            <a:r>
              <a:rPr lang="en-US" dirty="0"/>
              <a:t>7 =&gt; 3a9765b015fe8016906e3c83e53cbe4d866473fa4ca02018a15317496b791e94</a:t>
            </a:r>
          </a:p>
          <a:p>
            <a:r>
              <a:rPr lang="en-US" dirty="0"/>
              <a:t>8 =&gt; 317d2e0b38ee2d2e39847734bc5643cf7066cb40d8f03a52700aa26ad7f5d016</a:t>
            </a:r>
          </a:p>
          <a:p>
            <a:r>
              <a:rPr lang="en-US" dirty="0"/>
              <a:t>9 =&gt; 6b3c9be7bcda7c8c7e9d916ef05eb4ef03e7d8d75df94de1d3b18a5326d864a4</a:t>
            </a:r>
          </a:p>
          <a:p>
            <a:r>
              <a:rPr lang="en-US" dirty="0"/>
              <a:t>10 =&gt; 3b47698a1ed5d12ac2ae5eea4a9d2a7ff2220de66138d6f2fa8384873e0e8510</a:t>
            </a:r>
          </a:p>
          <a:p>
            <a:r>
              <a:rPr lang="en-US" dirty="0"/>
              <a:t>11 =&gt; 59c922d29e6db10cfb2194e2ab8e3b2db3aeb658941356bf794eddba67642c30</a:t>
            </a:r>
          </a:p>
          <a:p>
            <a:r>
              <a:rPr lang="en-US" dirty="0"/>
              <a:t>12 =&gt; 4745ba3db7597f450ff253df6c3325ef1e8d037867d8429ed9a6653b16b39310</a:t>
            </a:r>
          </a:p>
          <a:p>
            <a:r>
              <a:rPr lang="en-US" dirty="0"/>
              <a:t>13 =&gt; fd1283170680b60de665a73aad7c9cc1cd6ca9c0f58ce89c4c6a07fef2052420</a:t>
            </a:r>
          </a:p>
          <a:p>
            <a:r>
              <a:rPr lang="en-US" dirty="0"/>
              <a:t>14 =&gt; 550cf003ea24915e05b874cf27d91b114f5f665a785cdee45fdc648e4c0c1cff</a:t>
            </a:r>
          </a:p>
          <a:p>
            <a:r>
              <a:rPr lang="en-US" dirty="0"/>
              <a:t>15 =&gt; 820f993d5d2d0b5e54922349ac3f5df09af12d9062956809f0aed9558969d12b</a:t>
            </a:r>
          </a:p>
          <a:p>
            <a:r>
              <a:rPr lang="en-US" dirty="0"/>
              <a:t>16 =&gt; 410d4d0fa8ae68a6241874bd100a777a591746a4108157b976f32d4717f7f83b</a:t>
            </a:r>
          </a:p>
          <a:p>
            <a:r>
              <a:rPr lang="en-US" dirty="0"/>
              <a:t>17 =&gt; fa8abfa886720aadebd3e5db01ab1e113c84b29918fd5c1dad0c439f89cbe4e0</a:t>
            </a:r>
          </a:p>
          <a:p>
            <a:r>
              <a:rPr lang="en-US" dirty="0"/>
              <a:t>18 =&gt; 6eae62d6232eeb764267a3703b7563cbea1c9f4ad7864a9e28424c38c9fde4f5</a:t>
            </a:r>
          </a:p>
          <a:p>
            <a:r>
              <a:rPr lang="en-US" dirty="0"/>
              <a:t>19 =&gt; 3471761352feaac916ce16eb24c4867bee8762968bd0599aa2d93500be0a581b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180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CC2BB-6346-4CE2-9370-B74B37B4A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Difficulty increases as a function of Leading Zero 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88CC9-1F7D-49E6-BD97-3327B3A13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4417" y="0"/>
            <a:ext cx="5977719" cy="678293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i="1" dirty="0">
                <a:solidFill>
                  <a:srgbClr val="35586C"/>
                </a:solidFill>
                <a:latin typeface="&amp;quot"/>
              </a:rPr>
              <a:t># difficulty from 0 to 31 bits</a:t>
            </a:r>
            <a:endParaRPr lang="en-US" sz="2300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   </a:t>
            </a:r>
            <a:r>
              <a:rPr lang="en-US" sz="2300" b="1" dirty="0">
                <a:solidFill>
                  <a:srgbClr val="006699"/>
                </a:solidFill>
                <a:latin typeface="&amp;quot"/>
              </a:rPr>
              <a:t>for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 err="1">
                <a:solidFill>
                  <a:srgbClr val="000088"/>
                </a:solidFill>
                <a:latin typeface="&amp;quot"/>
              </a:rPr>
              <a:t>difficulty_bits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b="1" dirty="0">
                <a:solidFill>
                  <a:srgbClr val="000000"/>
                </a:solidFill>
                <a:latin typeface="&amp;quot"/>
              </a:rPr>
              <a:t>in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336666"/>
                </a:solidFill>
                <a:latin typeface="&amp;quot"/>
              </a:rPr>
              <a:t>range</a:t>
            </a:r>
            <a:r>
              <a:rPr lang="en-US" sz="2300" dirty="0">
                <a:solidFill>
                  <a:srgbClr val="000000"/>
                </a:solidFill>
                <a:latin typeface="&amp;quot"/>
              </a:rPr>
              <a:t>(</a:t>
            </a:r>
            <a:r>
              <a:rPr lang="en-US" sz="2300" dirty="0">
                <a:solidFill>
                  <a:srgbClr val="FF6600"/>
                </a:solidFill>
                <a:latin typeface="&amp;quot"/>
              </a:rPr>
              <a:t>32</a:t>
            </a:r>
            <a:r>
              <a:rPr lang="en-US" sz="2300" dirty="0">
                <a:solidFill>
                  <a:srgbClr val="000000"/>
                </a:solidFill>
                <a:latin typeface="&amp;quot"/>
              </a:rPr>
              <a:t>):</a:t>
            </a:r>
            <a:endParaRPr lang="en-US" sz="2300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       </a:t>
            </a:r>
            <a:r>
              <a:rPr lang="en-US" sz="2300" dirty="0">
                <a:solidFill>
                  <a:srgbClr val="000088"/>
                </a:solidFill>
                <a:latin typeface="&amp;quot"/>
              </a:rPr>
              <a:t>difficulty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555555"/>
                </a:solidFill>
                <a:latin typeface="&amp;quot"/>
              </a:rPr>
              <a:t>=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FF6600"/>
                </a:solidFill>
                <a:latin typeface="&amp;quot"/>
              </a:rPr>
              <a:t>2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555555"/>
                </a:solidFill>
                <a:latin typeface="&amp;quot"/>
              </a:rPr>
              <a:t>**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 err="1">
                <a:solidFill>
                  <a:srgbClr val="000088"/>
                </a:solidFill>
                <a:latin typeface="&amp;quot"/>
              </a:rPr>
              <a:t>difficulty_bits</a:t>
            </a:r>
            <a:endParaRPr lang="en-US" sz="2300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       </a:t>
            </a:r>
            <a:r>
              <a:rPr lang="en-US" sz="2300" b="1" dirty="0">
                <a:solidFill>
                  <a:srgbClr val="006699"/>
                </a:solidFill>
                <a:latin typeface="&amp;quot"/>
              </a:rPr>
              <a:t>print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CC3300"/>
                </a:solidFill>
                <a:latin typeface="&amp;quot"/>
              </a:rPr>
              <a:t>"Difficulty: </a:t>
            </a:r>
            <a:r>
              <a:rPr lang="en-US" sz="2300" dirty="0">
                <a:solidFill>
                  <a:srgbClr val="AA0000"/>
                </a:solidFill>
                <a:latin typeface="&amp;quot"/>
              </a:rPr>
              <a:t>%</a:t>
            </a:r>
            <a:r>
              <a:rPr lang="en-US" sz="2300" dirty="0" err="1">
                <a:solidFill>
                  <a:srgbClr val="AA0000"/>
                </a:solidFill>
                <a:latin typeface="&amp;quot"/>
              </a:rPr>
              <a:t>ld</a:t>
            </a:r>
            <a:r>
              <a:rPr lang="en-US" sz="2300" dirty="0">
                <a:solidFill>
                  <a:srgbClr val="CC3300"/>
                </a:solidFill>
                <a:latin typeface="&amp;quot"/>
              </a:rPr>
              <a:t> (</a:t>
            </a:r>
            <a:r>
              <a:rPr lang="en-US" sz="2300" dirty="0">
                <a:solidFill>
                  <a:srgbClr val="AA0000"/>
                </a:solidFill>
                <a:latin typeface="&amp;quot"/>
              </a:rPr>
              <a:t>%d</a:t>
            </a:r>
            <a:r>
              <a:rPr lang="en-US" sz="2300" dirty="0">
                <a:solidFill>
                  <a:srgbClr val="CC3300"/>
                </a:solidFill>
                <a:latin typeface="&amp;quot"/>
              </a:rPr>
              <a:t> bits)"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555555"/>
                </a:solidFill>
                <a:latin typeface="&amp;quot"/>
              </a:rPr>
              <a:t>%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000000"/>
                </a:solidFill>
                <a:latin typeface="&amp;quot"/>
              </a:rPr>
              <a:t>(</a:t>
            </a:r>
            <a:r>
              <a:rPr lang="en-US" sz="2300" dirty="0">
                <a:solidFill>
                  <a:srgbClr val="000088"/>
                </a:solidFill>
                <a:latin typeface="&amp;quot"/>
              </a:rPr>
              <a:t>difficulty</a:t>
            </a:r>
            <a:r>
              <a:rPr lang="en-US" sz="2300" dirty="0">
                <a:solidFill>
                  <a:srgbClr val="000000"/>
                </a:solidFill>
                <a:latin typeface="&amp;quot"/>
              </a:rPr>
              <a:t>,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 err="1">
                <a:solidFill>
                  <a:srgbClr val="000088"/>
                </a:solidFill>
                <a:latin typeface="&amp;quot"/>
              </a:rPr>
              <a:t>difficulty_bits</a:t>
            </a:r>
            <a:r>
              <a:rPr lang="en-US" sz="2300" dirty="0">
                <a:solidFill>
                  <a:srgbClr val="000000"/>
                </a:solidFill>
                <a:latin typeface="&amp;quot"/>
              </a:rPr>
              <a:t>)</a:t>
            </a:r>
            <a:endParaRPr lang="en-US" sz="2300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       </a:t>
            </a:r>
            <a:r>
              <a:rPr lang="en-US" sz="2300" b="1" dirty="0">
                <a:solidFill>
                  <a:srgbClr val="006699"/>
                </a:solidFill>
                <a:latin typeface="&amp;quot"/>
              </a:rPr>
              <a:t>print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CC3300"/>
                </a:solidFill>
                <a:latin typeface="&amp;quot"/>
              </a:rPr>
              <a:t>"Starting search..."</a:t>
            </a:r>
            <a:endParaRPr lang="en-US" sz="2300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       </a:t>
            </a:r>
            <a:r>
              <a:rPr lang="en-US" sz="2300" i="1" dirty="0">
                <a:solidFill>
                  <a:srgbClr val="35586C"/>
                </a:solidFill>
                <a:latin typeface="&amp;quot"/>
              </a:rPr>
              <a:t># checkpoint the current time</a:t>
            </a:r>
            <a:endParaRPr lang="en-US" sz="2300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       </a:t>
            </a:r>
            <a:r>
              <a:rPr lang="en-US" sz="2300" dirty="0" err="1">
                <a:solidFill>
                  <a:srgbClr val="000088"/>
                </a:solidFill>
                <a:latin typeface="&amp;quot"/>
              </a:rPr>
              <a:t>start_time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555555"/>
                </a:solidFill>
                <a:latin typeface="&amp;quot"/>
              </a:rPr>
              <a:t>=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 err="1">
                <a:solidFill>
                  <a:srgbClr val="000088"/>
                </a:solidFill>
                <a:latin typeface="&amp;quot"/>
              </a:rPr>
              <a:t>time</a:t>
            </a:r>
            <a:r>
              <a:rPr lang="en-US" sz="2300" dirty="0" err="1">
                <a:solidFill>
                  <a:srgbClr val="555555"/>
                </a:solidFill>
                <a:latin typeface="&amp;quot"/>
              </a:rPr>
              <a:t>.</a:t>
            </a:r>
            <a:r>
              <a:rPr lang="en-US" sz="2300" dirty="0" err="1">
                <a:solidFill>
                  <a:srgbClr val="000088"/>
                </a:solidFill>
                <a:latin typeface="&amp;quot"/>
              </a:rPr>
              <a:t>time</a:t>
            </a:r>
            <a:r>
              <a:rPr lang="en-US" sz="2300" dirty="0">
                <a:solidFill>
                  <a:srgbClr val="000000"/>
                </a:solidFill>
                <a:latin typeface="&amp;quot"/>
              </a:rPr>
              <a:t>()</a:t>
            </a:r>
            <a:endParaRPr lang="en-US" sz="2300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       </a:t>
            </a:r>
            <a:r>
              <a:rPr lang="en-US" sz="2300" i="1" dirty="0">
                <a:solidFill>
                  <a:srgbClr val="35586C"/>
                </a:solidFill>
                <a:latin typeface="&amp;quot"/>
              </a:rPr>
              <a:t># make a new block which includes the hash from the previous block</a:t>
            </a:r>
            <a:endParaRPr lang="en-US" sz="2300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       </a:t>
            </a:r>
            <a:r>
              <a:rPr lang="en-US" sz="2300" i="1" dirty="0">
                <a:solidFill>
                  <a:srgbClr val="35586C"/>
                </a:solidFill>
                <a:latin typeface="&amp;quot"/>
              </a:rPr>
              <a:t># we fake a block of transactions - just a string</a:t>
            </a:r>
            <a:endParaRPr lang="en-US" sz="2300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       </a:t>
            </a:r>
            <a:r>
              <a:rPr lang="en-US" sz="2300" dirty="0" err="1">
                <a:solidFill>
                  <a:srgbClr val="000088"/>
                </a:solidFill>
                <a:latin typeface="&amp;quot"/>
              </a:rPr>
              <a:t>new_block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555555"/>
                </a:solidFill>
                <a:latin typeface="&amp;quot"/>
              </a:rPr>
              <a:t>=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CC3300"/>
                </a:solidFill>
                <a:latin typeface="&amp;quot"/>
              </a:rPr>
              <a:t>'test block with transactions'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555555"/>
                </a:solidFill>
                <a:latin typeface="&amp;quot"/>
              </a:rPr>
              <a:t>+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000088"/>
                </a:solidFill>
                <a:latin typeface="&amp;quot"/>
              </a:rPr>
              <a:t>hash_result</a:t>
            </a:r>
            <a:endParaRPr lang="en-US" sz="2300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       </a:t>
            </a:r>
            <a:r>
              <a:rPr lang="en-US" sz="2300" i="1" dirty="0">
                <a:solidFill>
                  <a:srgbClr val="35586C"/>
                </a:solidFill>
                <a:latin typeface="&amp;quot"/>
              </a:rPr>
              <a:t># find a valid nonce for the new block</a:t>
            </a:r>
            <a:endParaRPr lang="en-US" sz="2300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       </a:t>
            </a:r>
            <a:r>
              <a:rPr lang="en-US" sz="2300" dirty="0">
                <a:solidFill>
                  <a:srgbClr val="000000"/>
                </a:solidFill>
                <a:latin typeface="&amp;quot"/>
              </a:rPr>
              <a:t>(</a:t>
            </a:r>
            <a:r>
              <a:rPr lang="en-US" sz="2300" dirty="0">
                <a:solidFill>
                  <a:srgbClr val="000088"/>
                </a:solidFill>
                <a:latin typeface="&amp;quot"/>
              </a:rPr>
              <a:t>hash_result</a:t>
            </a:r>
            <a:r>
              <a:rPr lang="en-US" sz="2300" dirty="0">
                <a:solidFill>
                  <a:srgbClr val="000000"/>
                </a:solidFill>
                <a:latin typeface="&amp;quot"/>
              </a:rPr>
              <a:t>,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000088"/>
                </a:solidFill>
                <a:latin typeface="&amp;quot"/>
              </a:rPr>
              <a:t>nonce</a:t>
            </a:r>
            <a:r>
              <a:rPr lang="en-US" sz="2300" dirty="0">
                <a:solidFill>
                  <a:srgbClr val="000000"/>
                </a:solidFill>
                <a:latin typeface="&amp;quot"/>
              </a:rPr>
              <a:t>)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555555"/>
                </a:solidFill>
                <a:latin typeface="&amp;quot"/>
              </a:rPr>
              <a:t>=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 err="1">
                <a:solidFill>
                  <a:srgbClr val="000088"/>
                </a:solidFill>
                <a:latin typeface="&amp;quot"/>
              </a:rPr>
              <a:t>proof_of_work</a:t>
            </a:r>
            <a:r>
              <a:rPr lang="en-US" sz="2300" dirty="0">
                <a:solidFill>
                  <a:srgbClr val="000000"/>
                </a:solidFill>
                <a:latin typeface="&amp;quot"/>
              </a:rPr>
              <a:t>(</a:t>
            </a:r>
            <a:r>
              <a:rPr lang="en-US" sz="2300" dirty="0" err="1">
                <a:solidFill>
                  <a:srgbClr val="000088"/>
                </a:solidFill>
                <a:latin typeface="&amp;quot"/>
              </a:rPr>
              <a:t>new_block</a:t>
            </a:r>
            <a:r>
              <a:rPr lang="en-US" sz="2300" dirty="0">
                <a:solidFill>
                  <a:srgbClr val="000000"/>
                </a:solidFill>
                <a:latin typeface="&amp;quot"/>
              </a:rPr>
              <a:t>,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 err="1">
                <a:solidFill>
                  <a:srgbClr val="000088"/>
                </a:solidFill>
                <a:latin typeface="&amp;quot"/>
              </a:rPr>
              <a:t>difficulty_bits</a:t>
            </a:r>
            <a:r>
              <a:rPr lang="en-US" sz="2300" dirty="0">
                <a:solidFill>
                  <a:srgbClr val="000000"/>
                </a:solidFill>
                <a:latin typeface="&amp;quot"/>
              </a:rPr>
              <a:t>)</a:t>
            </a:r>
            <a:endParaRPr lang="en-US" sz="2300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       </a:t>
            </a:r>
            <a:r>
              <a:rPr lang="en-US" sz="2300" i="1" dirty="0">
                <a:solidFill>
                  <a:srgbClr val="35586C"/>
                </a:solidFill>
                <a:latin typeface="&amp;quot"/>
              </a:rPr>
              <a:t># checkpoint how long it took to find a result</a:t>
            </a:r>
            <a:endParaRPr lang="en-US" sz="2300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       </a:t>
            </a:r>
            <a:r>
              <a:rPr lang="en-US" sz="2300" dirty="0" err="1">
                <a:solidFill>
                  <a:srgbClr val="000088"/>
                </a:solidFill>
                <a:latin typeface="&amp;quot"/>
              </a:rPr>
              <a:t>end_time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555555"/>
                </a:solidFill>
                <a:latin typeface="&amp;quot"/>
              </a:rPr>
              <a:t>=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 err="1">
                <a:solidFill>
                  <a:srgbClr val="000088"/>
                </a:solidFill>
                <a:latin typeface="&amp;quot"/>
              </a:rPr>
              <a:t>time</a:t>
            </a:r>
            <a:r>
              <a:rPr lang="en-US" sz="2300" dirty="0" err="1">
                <a:solidFill>
                  <a:srgbClr val="555555"/>
                </a:solidFill>
                <a:latin typeface="&amp;quot"/>
              </a:rPr>
              <a:t>.</a:t>
            </a:r>
            <a:r>
              <a:rPr lang="en-US" sz="2300" dirty="0" err="1">
                <a:solidFill>
                  <a:srgbClr val="000088"/>
                </a:solidFill>
                <a:latin typeface="&amp;quot"/>
              </a:rPr>
              <a:t>time</a:t>
            </a:r>
            <a:r>
              <a:rPr lang="en-US" sz="2300" dirty="0">
                <a:solidFill>
                  <a:srgbClr val="000000"/>
                </a:solidFill>
                <a:latin typeface="&amp;quot"/>
              </a:rPr>
              <a:t>()</a:t>
            </a:r>
            <a:endParaRPr lang="en-US" sz="2300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       </a:t>
            </a:r>
            <a:r>
              <a:rPr lang="en-US" sz="2300" dirty="0" err="1">
                <a:solidFill>
                  <a:srgbClr val="000088"/>
                </a:solidFill>
                <a:latin typeface="&amp;quot"/>
              </a:rPr>
              <a:t>elapsed_time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555555"/>
                </a:solidFill>
                <a:latin typeface="&amp;quot"/>
              </a:rPr>
              <a:t>=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 err="1">
                <a:solidFill>
                  <a:srgbClr val="000088"/>
                </a:solidFill>
                <a:latin typeface="&amp;quot"/>
              </a:rPr>
              <a:t>end_time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555555"/>
                </a:solidFill>
                <a:latin typeface="&amp;quot"/>
              </a:rPr>
              <a:t>-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 err="1">
                <a:solidFill>
                  <a:srgbClr val="000088"/>
                </a:solidFill>
                <a:latin typeface="&amp;quot"/>
              </a:rPr>
              <a:t>start_time</a:t>
            </a:r>
            <a:endParaRPr lang="en-US" sz="2300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       </a:t>
            </a:r>
            <a:r>
              <a:rPr lang="en-US" sz="2300" b="1" dirty="0">
                <a:solidFill>
                  <a:srgbClr val="006699"/>
                </a:solidFill>
                <a:latin typeface="&amp;quot"/>
              </a:rPr>
              <a:t>print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CC3300"/>
                </a:solidFill>
                <a:latin typeface="&amp;quot"/>
              </a:rPr>
              <a:t>"Elapsed Time: </a:t>
            </a:r>
            <a:r>
              <a:rPr lang="en-US" sz="2300" dirty="0">
                <a:solidFill>
                  <a:srgbClr val="AA0000"/>
                </a:solidFill>
                <a:latin typeface="&amp;quot"/>
              </a:rPr>
              <a:t>%.4f</a:t>
            </a:r>
            <a:r>
              <a:rPr lang="en-US" sz="2300" dirty="0">
                <a:solidFill>
                  <a:srgbClr val="CC3300"/>
                </a:solidFill>
                <a:latin typeface="&amp;quot"/>
              </a:rPr>
              <a:t> seconds"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555555"/>
                </a:solidFill>
                <a:latin typeface="&amp;quot"/>
              </a:rPr>
              <a:t>%</a:t>
            </a:r>
            <a:r>
              <a:rPr lang="en-US" sz="2300" dirty="0">
                <a:solidFill>
                  <a:srgbClr val="40404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 err="1">
                <a:solidFill>
                  <a:srgbClr val="000088"/>
                </a:solidFill>
                <a:latin typeface="&amp;quot"/>
              </a:rPr>
              <a:t>elapsed_time</a:t>
            </a:r>
            <a:endParaRPr lang="en-US" sz="2300" dirty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US" sz="23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6FB020-CD38-4AD8-8C4A-422A34F6A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281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63A71-2DF5-4CDF-B2A1-F20829ED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Doubles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73418-5EDD-462C-BC24-713719235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Experiments showed that increasing the difficulty by one bit doubles the computational time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B5518-E6D8-4DA1-AE48-51D991BF7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09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468D-2A86-49F9-BCF3-8274996E3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Adjusting Difficulty: Maintain Bitcoin Heart Beat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FF47E-BE0A-4EDD-848F-BBDEC3DBD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Interestingly, Proof of Work has multiple purposes </a:t>
            </a:r>
          </a:p>
          <a:p>
            <a:r>
              <a:rPr lang="en-US" sz="2400" dirty="0"/>
              <a:t>One of the major purposes is to maintain Bitcoin Heartbeat: The 10 Minutes interval</a:t>
            </a:r>
          </a:p>
          <a:p>
            <a:r>
              <a:rPr lang="en-US" sz="2400" dirty="0"/>
              <a:t>The motivation is to control the money supply and the time for transaction settlement</a:t>
            </a:r>
          </a:p>
          <a:p>
            <a:r>
              <a:rPr lang="en-US" sz="2400" dirty="0"/>
              <a:t>For these purposes, Bitcoin employs an a predictive adaptive difficulty adjustment algorithm that predicts the difficulty based on the state of the network and previous experience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FEABF-2966-4C81-89E0-380BF7DDA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36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85AF3-3157-4F93-B159-2847AA245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Adjusting Difficulty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BC580-AAB0-4EA4-8BDA-BE67D5207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Every 2,016 blocks, all nodes retarget (adjust) the Proof-of-Work. </a:t>
            </a:r>
          </a:p>
          <a:p>
            <a:r>
              <a:rPr lang="en-US" sz="2400" dirty="0"/>
              <a:t>The adjusting equation measures the time it took to find the last 2,016 blocks and compares that to the expected time of 20,160 minutes (2,016 blocks times the desired 10-minute block interval). 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53FED-4917-4CF4-81FE-DF5A4431C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68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E9016-F07C-4E72-A6B6-201F055C1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Adjusting Difficulty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FF17B-38A0-42A3-B46F-C40F32A23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0769" y="685801"/>
            <a:ext cx="6243851" cy="5175250"/>
          </a:xfrm>
        </p:spPr>
        <p:txBody>
          <a:bodyPr/>
          <a:lstStyle/>
          <a:p>
            <a:r>
              <a:rPr lang="en-US" sz="2400" dirty="0"/>
              <a:t>The ratio between the actual timespan and desired timespan is calculated and a proportionate adjustment (up or down) is made to the target. </a:t>
            </a:r>
          </a:p>
          <a:p>
            <a:r>
              <a:rPr lang="en-US" sz="2400" dirty="0"/>
              <a:t>If the finding is that blocks mining time  is faster than “every 10” minutes, the difficulty increases (target decreases). </a:t>
            </a:r>
          </a:p>
          <a:p>
            <a:r>
              <a:rPr lang="en-US" sz="2400" dirty="0"/>
              <a:t>If block discovery is slower than expected, the difficulty decreases (target increases).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ACA14-3D17-4D4D-898A-4C4B02B1C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57855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160</TotalTime>
  <Words>914</Words>
  <Application>Microsoft Office PowerPoint</Application>
  <PresentationFormat>Widescreen</PresentationFormat>
  <Paragraphs>104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&amp;quot</vt:lpstr>
      <vt:lpstr>Arial</vt:lpstr>
      <vt:lpstr>Courier New</vt:lpstr>
      <vt:lpstr>Franklin Gothic Book</vt:lpstr>
      <vt:lpstr>Crop</vt:lpstr>
      <vt:lpstr>Bitcoin Proof of Work</vt:lpstr>
      <vt:lpstr>What is “Proof of Work”</vt:lpstr>
      <vt:lpstr>The Challenge</vt:lpstr>
      <vt:lpstr>The Target: Better Explained through Python</vt:lpstr>
      <vt:lpstr>The Target</vt:lpstr>
      <vt:lpstr>What to Hash?</vt:lpstr>
      <vt:lpstr>A Sample Toy Run</vt:lpstr>
      <vt:lpstr>PowerPoint Presentation</vt:lpstr>
      <vt:lpstr>Difficulty increases as a function of Leading Zero Bits</vt:lpstr>
      <vt:lpstr>Time Doubles</vt:lpstr>
      <vt:lpstr>Adjusting Difficulty: Maintain Bitcoin Heart Beat</vt:lpstr>
      <vt:lpstr>Adjusting Difficulty</vt:lpstr>
      <vt:lpstr>Adjusting Difficulty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Bitcoin Proof of Work Algorithm</dc:title>
  <dc:creator>Mohammed EL-Affendi</dc:creator>
  <cp:lastModifiedBy>Prof Mohammed ELAffendi</cp:lastModifiedBy>
  <cp:revision>18</cp:revision>
  <dcterms:created xsi:type="dcterms:W3CDTF">2018-02-12T07:30:42Z</dcterms:created>
  <dcterms:modified xsi:type="dcterms:W3CDTF">2025-04-22T07:02:18Z</dcterms:modified>
</cp:coreProperties>
</file>