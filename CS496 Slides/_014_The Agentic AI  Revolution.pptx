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5"/>
  </p:notesMasterIdLst>
  <p:handoutMasterIdLst>
    <p:handoutMasterId r:id="rId26"/>
  </p:handoutMasterIdLst>
  <p:sldIdLst>
    <p:sldId id="317" r:id="rId5"/>
    <p:sldId id="319" r:id="rId6"/>
    <p:sldId id="318" r:id="rId7"/>
    <p:sldId id="320" r:id="rId8"/>
    <p:sldId id="321" r:id="rId9"/>
    <p:sldId id="322" r:id="rId10"/>
    <p:sldId id="323" r:id="rId11"/>
    <p:sldId id="324" r:id="rId12"/>
    <p:sldId id="325" r:id="rId13"/>
    <p:sldId id="326" r:id="rId14"/>
    <p:sldId id="327" r:id="rId15"/>
    <p:sldId id="328" r:id="rId16"/>
    <p:sldId id="329" r:id="rId17"/>
    <p:sldId id="330" r:id="rId18"/>
    <p:sldId id="331" r:id="rId19"/>
    <p:sldId id="332" r:id="rId20"/>
    <p:sldId id="333" r:id="rId21"/>
    <p:sldId id="334" r:id="rId22"/>
    <p:sldId id="335" r:id="rId23"/>
    <p:sldId id="336"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6A58"/>
    <a:srgbClr val="505A47"/>
    <a:srgbClr val="D1D8B7"/>
    <a:srgbClr val="A09D79"/>
    <a:srgbClr val="AD5C4D"/>
    <a:srgbClr val="543E35"/>
    <a:srgbClr val="637700"/>
    <a:srgbClr val="FFF4ED"/>
    <a:srgbClr val="5E6A7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86" autoAdjust="0"/>
    <p:restoredTop sz="95405" autoAdjust="0"/>
  </p:normalViewPr>
  <p:slideViewPr>
    <p:cSldViewPr snapToGrid="0">
      <p:cViewPr varScale="1">
        <p:scale>
          <a:sx n="80" d="100"/>
          <a:sy n="80" d="100"/>
        </p:scale>
        <p:origin x="552" y="288"/>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1/27/2026</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1/27/2026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adec="http://schemas.microsoft.com/office/drawing/2017/decorative"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adec="http://schemas.microsoft.com/office/drawing/2017/decorative"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adec="http://schemas.microsoft.com/office/drawing/2017/decorative"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r:embed="rId2">
            <a:alphaModFix/>
            <a:extLst>
              <a:ext uri="{96DAC541-7B7A-43D3-8B79-37D633B846F1}">
                <asvg:svgBlip xmlns:asvg="http://schemas.microsoft.com/office/drawing/2016/SVG/main" r:embed="rId3"/>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r>
              <a:rPr lang="en-US"/>
              <a:t>Click icon to add table</a:t>
            </a:r>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5A4A65-E8B8-40CF-7ABD-97EA8FA97521}"/>
              </a:ext>
            </a:extLst>
          </p:cNvPr>
          <p:cNvSpPr>
            <a:spLocks noGrp="1"/>
          </p:cNvSpPr>
          <p:nvPr>
            <p:ph type="ctrTitle"/>
          </p:nvPr>
        </p:nvSpPr>
        <p:spPr>
          <a:xfrm>
            <a:off x="915924" y="914400"/>
            <a:ext cx="10360152" cy="5029200"/>
          </a:xfrm>
        </p:spPr>
        <p:txBody>
          <a:bodyPr anchor="ctr"/>
          <a:lstStyle/>
          <a:p>
            <a:r>
              <a:rPr lang="en-US" sz="3600" dirty="0"/>
              <a:t>Agentic AI:  From Traditional Software Systems to Autonomous AI Agents Systems</a:t>
            </a:r>
          </a:p>
        </p:txBody>
      </p:sp>
    </p:spTree>
    <p:extLst>
      <p:ext uri="{BB962C8B-B14F-4D97-AF65-F5344CB8AC3E}">
        <p14:creationId xmlns:p14="http://schemas.microsoft.com/office/powerpoint/2010/main" val="1338167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F9E08-0C6C-F25F-10BA-85038F0E2446}"/>
              </a:ext>
            </a:extLst>
          </p:cNvPr>
          <p:cNvSpPr>
            <a:spLocks noGrp="1"/>
          </p:cNvSpPr>
          <p:nvPr>
            <p:ph type="title"/>
          </p:nvPr>
        </p:nvSpPr>
        <p:spPr/>
        <p:txBody>
          <a:bodyPr/>
          <a:lstStyle/>
          <a:p>
            <a:r>
              <a:rPr lang="en-US" dirty="0"/>
              <a:t>The AI Agentic   Revolution</a:t>
            </a:r>
          </a:p>
        </p:txBody>
      </p:sp>
      <p:sp>
        <p:nvSpPr>
          <p:cNvPr id="3" name="Content Placeholder 2">
            <a:extLst>
              <a:ext uri="{FF2B5EF4-FFF2-40B4-BE49-F238E27FC236}">
                <a16:creationId xmlns:a16="http://schemas.microsoft.com/office/drawing/2014/main" id="{96C42FCB-CF05-4482-4A61-09EEA3F116BF}"/>
              </a:ext>
            </a:extLst>
          </p:cNvPr>
          <p:cNvSpPr>
            <a:spLocks noGrp="1"/>
          </p:cNvSpPr>
          <p:nvPr>
            <p:ph sz="quarter" idx="10"/>
          </p:nvPr>
        </p:nvSpPr>
        <p:spPr>
          <a:xfrm>
            <a:off x="914400" y="2039112"/>
            <a:ext cx="9467850" cy="3356576"/>
          </a:xfrm>
        </p:spPr>
        <p:txBody>
          <a:bodyPr/>
          <a:lstStyle/>
          <a:p>
            <a:r>
              <a:rPr lang="en-US" dirty="0">
                <a:latin typeface="Abadi" panose="020B0604020104020204" pitchFamily="34" charset="0"/>
              </a:rPr>
              <a:t>The LLM Generative AI movement has been a great breakthrough that is creating many openings and many great innovative developments</a:t>
            </a:r>
          </a:p>
          <a:p>
            <a:r>
              <a:rPr lang="en-US" dirty="0">
                <a:latin typeface="Abadi" panose="020B0604020104020204" pitchFamily="34" charset="0"/>
              </a:rPr>
              <a:t>One of these great innovations is the Agentic AI paradigm which is drastically changing the way we build and apply software systems</a:t>
            </a:r>
          </a:p>
          <a:p>
            <a:r>
              <a:rPr lang="en-US" dirty="0">
                <a:latin typeface="Abadi" panose="020B0604020104020204" pitchFamily="34" charset="0"/>
              </a:rPr>
              <a:t>The Autonomous AI Agent is the central feature and player in this paradigm</a:t>
            </a:r>
          </a:p>
          <a:p>
            <a:r>
              <a:rPr lang="en-US" dirty="0">
                <a:latin typeface="Abadi" panose="020B0604020104020204" pitchFamily="34" charset="0"/>
              </a:rPr>
              <a:t>Instead of building  instruction-based components and objects, we build dynamic intelligent autonomous </a:t>
            </a:r>
            <a:r>
              <a:rPr lang="en-US">
                <a:latin typeface="Abadi" panose="020B0604020104020204" pitchFamily="34" charset="0"/>
              </a:rPr>
              <a:t>agents that perceive </a:t>
            </a:r>
            <a:r>
              <a:rPr lang="en-US" dirty="0">
                <a:latin typeface="Abadi" panose="020B0604020104020204" pitchFamily="34" charset="0"/>
              </a:rPr>
              <a:t>their environment, reason, plan and take decisions without intervention from human beings </a:t>
            </a:r>
          </a:p>
        </p:txBody>
      </p:sp>
      <p:sp>
        <p:nvSpPr>
          <p:cNvPr id="4" name="Slide Number Placeholder 3">
            <a:extLst>
              <a:ext uri="{FF2B5EF4-FFF2-40B4-BE49-F238E27FC236}">
                <a16:creationId xmlns:a16="http://schemas.microsoft.com/office/drawing/2014/main" id="{E70593EC-081C-3519-D811-EF4508FA6972}"/>
              </a:ext>
            </a:extLst>
          </p:cNvPr>
          <p:cNvSpPr>
            <a:spLocks noGrp="1"/>
          </p:cNvSpPr>
          <p:nvPr>
            <p:ph type="sldNum" sz="quarter" idx="4"/>
          </p:nvPr>
        </p:nvSpPr>
        <p:spPr/>
        <p:txBody>
          <a:bodyPr/>
          <a:lstStyle/>
          <a:p>
            <a:fld id="{58FB4751-880F-D840-AAA9-3A15815CC996}" type="slidenum">
              <a:rPr lang="en-US" smtClean="0"/>
              <a:pPr/>
              <a:t>2</a:t>
            </a:fld>
            <a:endParaRPr lang="en-US" dirty="0"/>
          </a:p>
        </p:txBody>
      </p:sp>
    </p:spTree>
    <p:extLst>
      <p:ext uri="{BB962C8B-B14F-4D97-AF65-F5344CB8AC3E}">
        <p14:creationId xmlns:p14="http://schemas.microsoft.com/office/powerpoint/2010/main" val="27060385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9037E-5263-3D21-12FD-724C4459A3FF}"/>
              </a:ext>
            </a:extLst>
          </p:cNvPr>
          <p:cNvSpPr>
            <a:spLocks noGrp="1"/>
          </p:cNvSpPr>
          <p:nvPr>
            <p:ph type="title"/>
          </p:nvPr>
        </p:nvSpPr>
        <p:spPr/>
        <p:txBody>
          <a:bodyPr/>
          <a:lstStyle/>
          <a:p>
            <a:r>
              <a:rPr lang="en-US" dirty="0"/>
              <a:t>A Turning Point in the History of Computing</a:t>
            </a:r>
          </a:p>
        </p:txBody>
      </p:sp>
      <p:sp>
        <p:nvSpPr>
          <p:cNvPr id="3" name="Content Placeholder 2">
            <a:extLst>
              <a:ext uri="{FF2B5EF4-FFF2-40B4-BE49-F238E27FC236}">
                <a16:creationId xmlns:a16="http://schemas.microsoft.com/office/drawing/2014/main" id="{8E229770-81C3-9D60-2BED-78F2736AEBB7}"/>
              </a:ext>
            </a:extLst>
          </p:cNvPr>
          <p:cNvSpPr>
            <a:spLocks noGrp="1"/>
          </p:cNvSpPr>
          <p:nvPr>
            <p:ph sz="quarter" idx="10"/>
          </p:nvPr>
        </p:nvSpPr>
        <p:spPr>
          <a:xfrm>
            <a:off x="914400" y="2039112"/>
            <a:ext cx="9563548" cy="4415476"/>
          </a:xfrm>
        </p:spPr>
        <p:txBody>
          <a:bodyPr>
            <a:normAutofit/>
          </a:bodyPr>
          <a:lstStyle/>
          <a:p>
            <a:r>
              <a:rPr lang="en-US" sz="2400" dirty="0">
                <a:latin typeface="Abadi" panose="020B0604020104020204" pitchFamily="34" charset="0"/>
              </a:rPr>
              <a:t>We are witnessing a pivotal turning  point in the history of computing. </a:t>
            </a:r>
          </a:p>
          <a:p>
            <a:r>
              <a:rPr lang="en-US" sz="2400" dirty="0">
                <a:latin typeface="Abadi" panose="020B0604020104020204" pitchFamily="34" charset="0"/>
              </a:rPr>
              <a:t>The transition from traditional software systems to autonomous agents represents a fundamental paradigm shift that transforms how digital systems operate and interact with their environments. </a:t>
            </a:r>
          </a:p>
          <a:p>
            <a:r>
              <a:rPr lang="en-US" sz="2400" dirty="0">
                <a:latin typeface="Abadi" panose="020B0604020104020204" pitchFamily="34" charset="0"/>
              </a:rPr>
              <a:t>While conventional programs operate within predetermined pathways defined by explicit instructions, agent-based systems exhibit goal-directed behavior, maintain persistent state, and adapt their strategies based on environmental feedback. </a:t>
            </a:r>
          </a:p>
          <a:p>
            <a:pPr marL="0" indent="0">
              <a:buNone/>
            </a:pPr>
            <a:endParaRPr lang="en-US" sz="2400" dirty="0">
              <a:latin typeface="Abadi" panose="020B0604020104020204" pitchFamily="34" charset="0"/>
            </a:endParaRPr>
          </a:p>
        </p:txBody>
      </p:sp>
      <p:sp>
        <p:nvSpPr>
          <p:cNvPr id="4" name="Slide Number Placeholder 3">
            <a:extLst>
              <a:ext uri="{FF2B5EF4-FFF2-40B4-BE49-F238E27FC236}">
                <a16:creationId xmlns:a16="http://schemas.microsoft.com/office/drawing/2014/main" id="{CA426023-241C-65AA-A7D6-0B3AB3FFF55C}"/>
              </a:ext>
            </a:extLst>
          </p:cNvPr>
          <p:cNvSpPr>
            <a:spLocks noGrp="1"/>
          </p:cNvSpPr>
          <p:nvPr>
            <p:ph type="sldNum" sz="quarter" idx="4"/>
          </p:nvPr>
        </p:nvSpPr>
        <p:spPr/>
        <p:txBody>
          <a:bodyPr/>
          <a:lstStyle/>
          <a:p>
            <a:fld id="{58FB4751-880F-D840-AAA9-3A15815CC996}" type="slidenum">
              <a:rPr lang="en-US" smtClean="0"/>
              <a:pPr/>
              <a:t>3</a:t>
            </a:fld>
            <a:endParaRPr lang="en-US" dirty="0"/>
          </a:p>
        </p:txBody>
      </p:sp>
    </p:spTree>
    <p:extLst>
      <p:ext uri="{BB962C8B-B14F-4D97-AF65-F5344CB8AC3E}">
        <p14:creationId xmlns:p14="http://schemas.microsoft.com/office/powerpoint/2010/main" val="31392119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FA950-BEB8-6061-00E7-A9D95C34D0E7}"/>
              </a:ext>
            </a:extLst>
          </p:cNvPr>
          <p:cNvSpPr>
            <a:spLocks noGrp="1"/>
          </p:cNvSpPr>
          <p:nvPr>
            <p:ph type="title"/>
          </p:nvPr>
        </p:nvSpPr>
        <p:spPr/>
        <p:txBody>
          <a:bodyPr/>
          <a:lstStyle/>
          <a:p>
            <a:r>
              <a:rPr lang="en-US" dirty="0"/>
              <a:t>New Frameworks and Different Architectures </a:t>
            </a:r>
          </a:p>
        </p:txBody>
      </p:sp>
      <p:sp>
        <p:nvSpPr>
          <p:cNvPr id="3" name="Content Placeholder 2">
            <a:extLst>
              <a:ext uri="{FF2B5EF4-FFF2-40B4-BE49-F238E27FC236}">
                <a16:creationId xmlns:a16="http://schemas.microsoft.com/office/drawing/2014/main" id="{6B2064B8-DA21-86B9-C498-85D4A70ADCE5}"/>
              </a:ext>
            </a:extLst>
          </p:cNvPr>
          <p:cNvSpPr>
            <a:spLocks noGrp="1"/>
          </p:cNvSpPr>
          <p:nvPr>
            <p:ph sz="quarter" idx="10"/>
          </p:nvPr>
        </p:nvSpPr>
        <p:spPr>
          <a:xfrm>
            <a:off x="914400" y="2039112"/>
            <a:ext cx="8896350" cy="3356576"/>
          </a:xfrm>
        </p:spPr>
        <p:txBody>
          <a:bodyPr/>
          <a:lstStyle/>
          <a:p>
            <a:r>
              <a:rPr lang="en-US" dirty="0">
                <a:latin typeface="Abadi" panose="020B0604020104020204" pitchFamily="34" charset="0"/>
              </a:rPr>
              <a:t>This transformation challenges established software engineering principles and introduces new frameworks for conceptualizing intelligence in computational systems. </a:t>
            </a:r>
          </a:p>
          <a:p>
            <a:r>
              <a:rPr lang="en-US" dirty="0">
                <a:latin typeface="Abadi" panose="020B0604020104020204" pitchFamily="34" charset="0"/>
              </a:rPr>
              <a:t>The distinction between traditional software and agent-based approaches is not merely semantic but architectural. </a:t>
            </a:r>
          </a:p>
          <a:p>
            <a:r>
              <a:rPr lang="en-US" dirty="0">
                <a:latin typeface="Abadi" panose="020B0604020104020204" pitchFamily="34" charset="0"/>
              </a:rPr>
              <a:t>While conventional systems process discrete inputs to generate predictable outputs, agents operate continuously within dynamic environments, forming internal representations, making decisions under uncertainty, and learning from experience. </a:t>
            </a:r>
          </a:p>
          <a:p>
            <a:endParaRPr lang="en-US" dirty="0"/>
          </a:p>
        </p:txBody>
      </p:sp>
      <p:sp>
        <p:nvSpPr>
          <p:cNvPr id="4" name="Slide Number Placeholder 3">
            <a:extLst>
              <a:ext uri="{FF2B5EF4-FFF2-40B4-BE49-F238E27FC236}">
                <a16:creationId xmlns:a16="http://schemas.microsoft.com/office/drawing/2014/main" id="{B6E1ADE9-2F48-9091-9332-667D2533C98C}"/>
              </a:ext>
            </a:extLst>
          </p:cNvPr>
          <p:cNvSpPr>
            <a:spLocks noGrp="1"/>
          </p:cNvSpPr>
          <p:nvPr>
            <p:ph type="sldNum" sz="quarter" idx="4"/>
          </p:nvPr>
        </p:nvSpPr>
        <p:spPr/>
        <p:txBody>
          <a:bodyPr/>
          <a:lstStyle/>
          <a:p>
            <a:fld id="{58FB4751-880F-D840-AAA9-3A15815CC996}" type="slidenum">
              <a:rPr lang="en-US" smtClean="0"/>
              <a:pPr/>
              <a:t>4</a:t>
            </a:fld>
            <a:endParaRPr lang="en-US" dirty="0"/>
          </a:p>
        </p:txBody>
      </p:sp>
    </p:spTree>
    <p:extLst>
      <p:ext uri="{BB962C8B-B14F-4D97-AF65-F5344CB8AC3E}">
        <p14:creationId xmlns:p14="http://schemas.microsoft.com/office/powerpoint/2010/main" val="9042345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934AF-E9DA-0167-F5F8-A9391709122F}"/>
              </a:ext>
            </a:extLst>
          </p:cNvPr>
          <p:cNvSpPr>
            <a:spLocks noGrp="1"/>
          </p:cNvSpPr>
          <p:nvPr>
            <p:ph type="title"/>
          </p:nvPr>
        </p:nvSpPr>
        <p:spPr>
          <a:xfrm>
            <a:off x="914399" y="914400"/>
            <a:ext cx="9896475" cy="914400"/>
          </a:xfrm>
        </p:spPr>
        <p:txBody>
          <a:bodyPr/>
          <a:lstStyle/>
          <a:p>
            <a:r>
              <a:rPr lang="en-US" dirty="0"/>
              <a:t>Reconceptualization and  New Intelligent Behaviors</a:t>
            </a:r>
          </a:p>
        </p:txBody>
      </p:sp>
      <p:sp>
        <p:nvSpPr>
          <p:cNvPr id="3" name="Content Placeholder 2">
            <a:extLst>
              <a:ext uri="{FF2B5EF4-FFF2-40B4-BE49-F238E27FC236}">
                <a16:creationId xmlns:a16="http://schemas.microsoft.com/office/drawing/2014/main" id="{1D6729AD-138D-A668-E717-788E3ECF0565}"/>
              </a:ext>
            </a:extLst>
          </p:cNvPr>
          <p:cNvSpPr>
            <a:spLocks noGrp="1"/>
          </p:cNvSpPr>
          <p:nvPr>
            <p:ph sz="quarter" idx="10"/>
          </p:nvPr>
        </p:nvSpPr>
        <p:spPr>
          <a:xfrm>
            <a:off x="914399" y="2039111"/>
            <a:ext cx="10182225" cy="4333113"/>
          </a:xfrm>
        </p:spPr>
        <p:txBody>
          <a:bodyPr>
            <a:normAutofit/>
          </a:bodyPr>
          <a:lstStyle/>
          <a:p>
            <a:pPr marL="0" indent="0">
              <a:buNone/>
            </a:pPr>
            <a:r>
              <a:rPr lang="en-US" dirty="0">
                <a:latin typeface="Abadi" panose="020B0604020104020204" pitchFamily="34" charset="0"/>
              </a:rPr>
              <a:t>For practitioners trained in deterministic programming models, this shift requires not only new technical skills but a reconceptualization of how intelligent systems function and evolve. Key traits that distinguish intelligent agents from traditional software include:</a:t>
            </a:r>
          </a:p>
          <a:p>
            <a:pPr lvl="0"/>
            <a:r>
              <a:rPr lang="en-US" b="1" dirty="0">
                <a:latin typeface="Abadi" panose="020B0604020104020204" pitchFamily="34" charset="0"/>
              </a:rPr>
              <a:t>Autonomy</a:t>
            </a:r>
            <a:r>
              <a:rPr lang="en-US" dirty="0">
                <a:latin typeface="Abadi" panose="020B0604020104020204" pitchFamily="34" charset="0"/>
              </a:rPr>
              <a:t>: The ability to operate without continuous human guidance.</a:t>
            </a:r>
          </a:p>
          <a:p>
            <a:pPr lvl="0"/>
            <a:r>
              <a:rPr lang="en-US" b="1" dirty="0">
                <a:latin typeface="Abadi" panose="020B0604020104020204" pitchFamily="34" charset="0"/>
              </a:rPr>
              <a:t>Persistence</a:t>
            </a:r>
            <a:r>
              <a:rPr lang="en-US" dirty="0">
                <a:latin typeface="Abadi" panose="020B0604020104020204" pitchFamily="34" charset="0"/>
              </a:rPr>
              <a:t>: Maintaining state and memory across interactions.</a:t>
            </a:r>
          </a:p>
          <a:p>
            <a:pPr lvl="0"/>
            <a:r>
              <a:rPr lang="en-US" b="1" dirty="0">
                <a:latin typeface="Abadi" panose="020B0604020104020204" pitchFamily="34" charset="0"/>
              </a:rPr>
              <a:t>Reactivity</a:t>
            </a:r>
            <a:r>
              <a:rPr lang="en-US" dirty="0">
                <a:latin typeface="Abadi" panose="020B0604020104020204" pitchFamily="34" charset="0"/>
              </a:rPr>
              <a:t>: Responding to changes in the environment in real time.</a:t>
            </a:r>
          </a:p>
          <a:p>
            <a:pPr lvl="0"/>
            <a:r>
              <a:rPr lang="en-US" b="1" dirty="0">
                <a:latin typeface="Abadi" panose="020B0604020104020204" pitchFamily="34" charset="0"/>
              </a:rPr>
              <a:t>Proactiveness</a:t>
            </a:r>
            <a:r>
              <a:rPr lang="en-US" dirty="0">
                <a:latin typeface="Abadi" panose="020B0604020104020204" pitchFamily="34" charset="0"/>
              </a:rPr>
              <a:t>: Initiating actions based on internal goals, not just external triggers.</a:t>
            </a:r>
          </a:p>
          <a:p>
            <a:pPr lvl="0"/>
            <a:r>
              <a:rPr lang="en-US" b="1" dirty="0">
                <a:latin typeface="Abadi" panose="020B0604020104020204" pitchFamily="34" charset="0"/>
              </a:rPr>
              <a:t>Adaptability</a:t>
            </a:r>
            <a:r>
              <a:rPr lang="en-US" dirty="0">
                <a:latin typeface="Abadi" panose="020B0604020104020204" pitchFamily="34" charset="0"/>
              </a:rPr>
              <a:t>: Learning from experience and modifying behavior accordingly.</a:t>
            </a:r>
          </a:p>
          <a:p>
            <a:r>
              <a:rPr lang="en-US" b="1" dirty="0">
                <a:latin typeface="Abadi" panose="020B0604020104020204" pitchFamily="34" charset="0"/>
              </a:rPr>
              <a:t>Goal-orientation</a:t>
            </a:r>
            <a:r>
              <a:rPr lang="en-US" dirty="0">
                <a:latin typeface="Abadi" panose="020B0604020104020204" pitchFamily="34" charset="0"/>
              </a:rPr>
              <a:t>: Pursuing objectives through planning and reasoning under uncertainty</a:t>
            </a:r>
          </a:p>
        </p:txBody>
      </p:sp>
      <p:sp>
        <p:nvSpPr>
          <p:cNvPr id="4" name="Slide Number Placeholder 3">
            <a:extLst>
              <a:ext uri="{FF2B5EF4-FFF2-40B4-BE49-F238E27FC236}">
                <a16:creationId xmlns:a16="http://schemas.microsoft.com/office/drawing/2014/main" id="{8D5B5AF8-E752-BFC9-0807-8C4DF12784E4}"/>
              </a:ext>
            </a:extLst>
          </p:cNvPr>
          <p:cNvSpPr>
            <a:spLocks noGrp="1"/>
          </p:cNvSpPr>
          <p:nvPr>
            <p:ph type="sldNum" sz="quarter" idx="4"/>
          </p:nvPr>
        </p:nvSpPr>
        <p:spPr/>
        <p:txBody>
          <a:bodyPr/>
          <a:lstStyle/>
          <a:p>
            <a:fld id="{58FB4751-880F-D840-AAA9-3A15815CC996}" type="slidenum">
              <a:rPr lang="en-US" smtClean="0"/>
              <a:pPr/>
              <a:t>5</a:t>
            </a:fld>
            <a:endParaRPr lang="en-US" dirty="0"/>
          </a:p>
        </p:txBody>
      </p:sp>
    </p:spTree>
    <p:extLst>
      <p:ext uri="{BB962C8B-B14F-4D97-AF65-F5344CB8AC3E}">
        <p14:creationId xmlns:p14="http://schemas.microsoft.com/office/powerpoint/2010/main" val="7068529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2C68F-1A99-F83F-A5BD-918E7DC5E187}"/>
              </a:ext>
            </a:extLst>
          </p:cNvPr>
          <p:cNvSpPr>
            <a:spLocks noGrp="1"/>
          </p:cNvSpPr>
          <p:nvPr>
            <p:ph type="title"/>
          </p:nvPr>
        </p:nvSpPr>
        <p:spPr/>
        <p:txBody>
          <a:bodyPr/>
          <a:lstStyle/>
          <a:p>
            <a:r>
              <a:rPr lang="en-US" dirty="0"/>
              <a:t>What are AI Agents?</a:t>
            </a:r>
          </a:p>
        </p:txBody>
      </p:sp>
      <p:sp>
        <p:nvSpPr>
          <p:cNvPr id="3" name="Content Placeholder 2">
            <a:extLst>
              <a:ext uri="{FF2B5EF4-FFF2-40B4-BE49-F238E27FC236}">
                <a16:creationId xmlns:a16="http://schemas.microsoft.com/office/drawing/2014/main" id="{8A9CC51D-70E1-B776-F906-ED183D3F13DD}"/>
              </a:ext>
            </a:extLst>
          </p:cNvPr>
          <p:cNvSpPr>
            <a:spLocks noGrp="1"/>
          </p:cNvSpPr>
          <p:nvPr>
            <p:ph sz="quarter" idx="10"/>
          </p:nvPr>
        </p:nvSpPr>
        <p:spPr>
          <a:xfrm>
            <a:off x="914399" y="2039111"/>
            <a:ext cx="10029825" cy="4428363"/>
          </a:xfrm>
        </p:spPr>
        <p:txBody>
          <a:bodyPr>
            <a:normAutofit/>
          </a:bodyPr>
          <a:lstStyle/>
          <a:p>
            <a:r>
              <a:rPr lang="en-US" i="1" dirty="0">
                <a:latin typeface="Abadi" panose="020B0604020104020204" pitchFamily="34" charset="0"/>
              </a:rPr>
              <a:t>“An AI agent is a computational system that perceives its environment, processes internal state, and takes actions to achieve defined goals. </a:t>
            </a:r>
          </a:p>
          <a:p>
            <a:r>
              <a:rPr lang="en-US" i="1" dirty="0">
                <a:latin typeface="Abadi" panose="020B0604020104020204" pitchFamily="34" charset="0"/>
              </a:rPr>
              <a:t>These systems exhibit autonomy, adaptability, and reactivity—key attributes that differentiate them from traditional software programs.</a:t>
            </a:r>
            <a:endParaRPr lang="en-US" dirty="0">
              <a:latin typeface="Abadi" panose="020B0604020104020204" pitchFamily="34" charset="0"/>
            </a:endParaRPr>
          </a:p>
          <a:p>
            <a:r>
              <a:rPr lang="en-US" i="1" dirty="0">
                <a:latin typeface="Abadi" panose="020B0604020104020204" pitchFamily="34" charset="0"/>
              </a:rPr>
              <a:t>An agent operates not merely by reacting to inputs, but by maintaining context, managing goals, and adjusting strategies based on feedback. </a:t>
            </a:r>
          </a:p>
          <a:p>
            <a:r>
              <a:rPr lang="en-US" i="1" dirty="0">
                <a:latin typeface="Abadi" panose="020B0604020104020204" pitchFamily="34" charset="0"/>
              </a:rPr>
              <a:t>This dynamic behavior draws from the paradigm of </a:t>
            </a:r>
            <a:r>
              <a:rPr lang="en-US" b="1" i="1" dirty="0">
                <a:latin typeface="Abadi" panose="020B0604020104020204" pitchFamily="34" charset="0"/>
              </a:rPr>
              <a:t>situated AI</a:t>
            </a:r>
            <a:r>
              <a:rPr lang="en-US" i="1" dirty="0">
                <a:latin typeface="Abadi" panose="020B0604020104020204" pitchFamily="34" charset="0"/>
              </a:rPr>
              <a:t>, where intelligence emerges from continuous interaction with the environment. “</a:t>
            </a:r>
            <a:endParaRPr lang="en-US" dirty="0">
              <a:latin typeface="Abadi" panose="020B0604020104020204" pitchFamily="34" charset="0"/>
            </a:endParaRPr>
          </a:p>
          <a:p>
            <a:pPr marL="0" indent="0">
              <a:buNone/>
            </a:pPr>
            <a:r>
              <a:rPr lang="en-US" dirty="0">
                <a:latin typeface="Abadi" panose="020B0604020104020204" pitchFamily="34" charset="0"/>
              </a:rPr>
              <a:t>According to an old Franklin and Graesser definition:</a:t>
            </a:r>
          </a:p>
          <a:p>
            <a:pPr marL="0" indent="0">
              <a:buNone/>
            </a:pPr>
            <a:r>
              <a:rPr lang="en-US" i="1" dirty="0">
                <a:latin typeface="Abadi" panose="020B0604020104020204" pitchFamily="34" charset="0"/>
              </a:rPr>
              <a:t>“An autonomous agent is a system situated within and a part of an environment that senses environment and acts on it, over time, in pursuit of its own agenda”</a:t>
            </a:r>
            <a:endParaRPr lang="en-US" dirty="0">
              <a:latin typeface="Abadi" panose="020B0604020104020204" pitchFamily="34" charset="0"/>
            </a:endParaRPr>
          </a:p>
          <a:p>
            <a:pPr marL="0" indent="0">
              <a:buNone/>
            </a:pPr>
            <a:endParaRPr lang="en-US" dirty="0"/>
          </a:p>
        </p:txBody>
      </p:sp>
      <p:sp>
        <p:nvSpPr>
          <p:cNvPr id="4" name="Slide Number Placeholder 3">
            <a:extLst>
              <a:ext uri="{FF2B5EF4-FFF2-40B4-BE49-F238E27FC236}">
                <a16:creationId xmlns:a16="http://schemas.microsoft.com/office/drawing/2014/main" id="{BE73EE44-C1C7-A348-E807-6E4ACB03C6FE}"/>
              </a:ext>
            </a:extLst>
          </p:cNvPr>
          <p:cNvSpPr>
            <a:spLocks noGrp="1"/>
          </p:cNvSpPr>
          <p:nvPr>
            <p:ph type="sldNum" sz="quarter" idx="4"/>
          </p:nvPr>
        </p:nvSpPr>
        <p:spPr/>
        <p:txBody>
          <a:bodyPr/>
          <a:lstStyle/>
          <a:p>
            <a:fld id="{58FB4751-880F-D840-AAA9-3A15815CC996}" type="slidenum">
              <a:rPr lang="en-US" smtClean="0"/>
              <a:pPr/>
              <a:t>6</a:t>
            </a:fld>
            <a:endParaRPr lang="en-US" dirty="0"/>
          </a:p>
        </p:txBody>
      </p:sp>
    </p:spTree>
    <p:extLst>
      <p:ext uri="{BB962C8B-B14F-4D97-AF65-F5344CB8AC3E}">
        <p14:creationId xmlns:p14="http://schemas.microsoft.com/office/powerpoint/2010/main" val="35899132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59743-1196-6A3D-1FC2-EC62D8DC0838}"/>
              </a:ext>
            </a:extLst>
          </p:cNvPr>
          <p:cNvSpPr>
            <a:spLocks noGrp="1"/>
          </p:cNvSpPr>
          <p:nvPr>
            <p:ph type="title"/>
          </p:nvPr>
        </p:nvSpPr>
        <p:spPr/>
        <p:txBody>
          <a:bodyPr/>
          <a:lstStyle/>
          <a:p>
            <a:r>
              <a:rPr lang="en-US" dirty="0"/>
              <a:t>The Implication of the Definition</a:t>
            </a:r>
          </a:p>
        </p:txBody>
      </p:sp>
      <p:sp>
        <p:nvSpPr>
          <p:cNvPr id="3" name="Content Placeholder 2">
            <a:extLst>
              <a:ext uri="{FF2B5EF4-FFF2-40B4-BE49-F238E27FC236}">
                <a16:creationId xmlns:a16="http://schemas.microsoft.com/office/drawing/2014/main" id="{C43BFDD8-3448-4A4A-457C-F0202364D777}"/>
              </a:ext>
            </a:extLst>
          </p:cNvPr>
          <p:cNvSpPr>
            <a:spLocks noGrp="1"/>
          </p:cNvSpPr>
          <p:nvPr>
            <p:ph sz="quarter" idx="10"/>
          </p:nvPr>
        </p:nvSpPr>
        <p:spPr>
          <a:xfrm>
            <a:off x="914399" y="2039112"/>
            <a:ext cx="8791575" cy="3356576"/>
          </a:xfrm>
        </p:spPr>
        <p:txBody>
          <a:bodyPr/>
          <a:lstStyle/>
          <a:p>
            <a:pPr marL="0" indent="0">
              <a:buNone/>
            </a:pPr>
            <a:r>
              <a:rPr lang="en-US" dirty="0">
                <a:latin typeface="Abadi" panose="020B0604020104020204" pitchFamily="34" charset="0"/>
              </a:rPr>
              <a:t>This definition laid the groundwork for architectures that incorporate sensing, planning, acting, and learning. </a:t>
            </a:r>
          </a:p>
          <a:p>
            <a:pPr marL="0" indent="0">
              <a:buNone/>
            </a:pPr>
            <a:r>
              <a:rPr lang="en-US" dirty="0">
                <a:latin typeface="Abadi" panose="020B0604020104020204" pitchFamily="34" charset="0"/>
              </a:rPr>
              <a:t>In enterprise applications, agents are increasingly deployed as digital workers—handling customer onboarding, processing invoices, managing workflows—each with persistent state, memory, and feedback mechanisms.</a:t>
            </a:r>
          </a:p>
          <a:p>
            <a:endParaRPr lang="en-US" dirty="0">
              <a:latin typeface="Abadi" panose="020B0604020104020204" pitchFamily="34" charset="0"/>
            </a:endParaRPr>
          </a:p>
        </p:txBody>
      </p:sp>
      <p:sp>
        <p:nvSpPr>
          <p:cNvPr id="4" name="Slide Number Placeholder 3">
            <a:extLst>
              <a:ext uri="{FF2B5EF4-FFF2-40B4-BE49-F238E27FC236}">
                <a16:creationId xmlns:a16="http://schemas.microsoft.com/office/drawing/2014/main" id="{EA74AB38-E2AF-EAAB-42FC-30D142A44347}"/>
              </a:ext>
            </a:extLst>
          </p:cNvPr>
          <p:cNvSpPr>
            <a:spLocks noGrp="1"/>
          </p:cNvSpPr>
          <p:nvPr>
            <p:ph type="sldNum" sz="quarter" idx="4"/>
          </p:nvPr>
        </p:nvSpPr>
        <p:spPr/>
        <p:txBody>
          <a:bodyPr/>
          <a:lstStyle/>
          <a:p>
            <a:fld id="{58FB4751-880F-D840-AAA9-3A15815CC996}" type="slidenum">
              <a:rPr lang="en-US" smtClean="0"/>
              <a:pPr/>
              <a:t>7</a:t>
            </a:fld>
            <a:endParaRPr lang="en-US" dirty="0"/>
          </a:p>
        </p:txBody>
      </p:sp>
    </p:spTree>
    <p:extLst>
      <p:ext uri="{BB962C8B-B14F-4D97-AF65-F5344CB8AC3E}">
        <p14:creationId xmlns:p14="http://schemas.microsoft.com/office/powerpoint/2010/main" val="688785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551F6-D15A-F481-3681-F34E00AA269E}"/>
              </a:ext>
            </a:extLst>
          </p:cNvPr>
          <p:cNvSpPr>
            <a:spLocks noGrp="1"/>
          </p:cNvSpPr>
          <p:nvPr>
            <p:ph type="title"/>
          </p:nvPr>
        </p:nvSpPr>
        <p:spPr/>
        <p:txBody>
          <a:bodyPr/>
          <a:lstStyle/>
          <a:p>
            <a:r>
              <a:rPr lang="en-US" dirty="0"/>
              <a:t>A Little Bit of History</a:t>
            </a:r>
          </a:p>
        </p:txBody>
      </p:sp>
      <p:sp>
        <p:nvSpPr>
          <p:cNvPr id="3" name="Content Placeholder 2">
            <a:extLst>
              <a:ext uri="{FF2B5EF4-FFF2-40B4-BE49-F238E27FC236}">
                <a16:creationId xmlns:a16="http://schemas.microsoft.com/office/drawing/2014/main" id="{BBAB6CC0-715E-6152-08BC-F605ABA404CD}"/>
              </a:ext>
            </a:extLst>
          </p:cNvPr>
          <p:cNvSpPr>
            <a:spLocks noGrp="1"/>
          </p:cNvSpPr>
          <p:nvPr>
            <p:ph sz="quarter" idx="10"/>
          </p:nvPr>
        </p:nvSpPr>
        <p:spPr>
          <a:xfrm>
            <a:off x="361949" y="2039111"/>
            <a:ext cx="11210925" cy="4542663"/>
          </a:xfrm>
        </p:spPr>
        <p:txBody>
          <a:bodyPr>
            <a:normAutofit lnSpcReduction="10000"/>
          </a:bodyPr>
          <a:lstStyle/>
          <a:p>
            <a:pPr marL="0" indent="0">
              <a:buNone/>
            </a:pPr>
            <a:r>
              <a:rPr lang="en-US" dirty="0">
                <a:latin typeface="Abadi" panose="020B0604020104020204" pitchFamily="34" charset="0"/>
              </a:rPr>
              <a:t>The history of AI agent development can be segmented into distinct technological eras:</a:t>
            </a:r>
          </a:p>
          <a:p>
            <a:pPr lvl="0"/>
            <a:r>
              <a:rPr lang="en-US" b="1" dirty="0">
                <a:latin typeface="Abadi" panose="020B0604020104020204" pitchFamily="34" charset="0"/>
              </a:rPr>
              <a:t>1970s–1980s</a:t>
            </a:r>
            <a:r>
              <a:rPr lang="en-US" dirty="0">
                <a:latin typeface="Abadi" panose="020B0604020104020204" pitchFamily="34" charset="0"/>
              </a:rPr>
              <a:t>: Rule-based expert systems, such as MYCIN (a Stanford-developed system for diagnosing blood infections and recommending antibiotics), used logic-based inference engines to solve narrowly defined problems. Despite deterministic precision, these systems were brittle and inflexible.</a:t>
            </a:r>
          </a:p>
          <a:p>
            <a:pPr lvl="0"/>
            <a:r>
              <a:rPr lang="en-US" b="1" dirty="0">
                <a:latin typeface="Abadi" panose="020B0604020104020204" pitchFamily="34" charset="0"/>
              </a:rPr>
              <a:t>1990s</a:t>
            </a:r>
            <a:r>
              <a:rPr lang="en-US" dirty="0">
                <a:latin typeface="Abadi" panose="020B0604020104020204" pitchFamily="34" charset="0"/>
              </a:rPr>
              <a:t>: Classical machine learning methods like decision trees and SVMs introduced pattern recognition capabilities. While more adaptive than rule systems, they remained task-specific and stateless.</a:t>
            </a:r>
          </a:p>
          <a:p>
            <a:pPr lvl="0"/>
            <a:r>
              <a:rPr lang="en-US" b="1" dirty="0">
                <a:latin typeface="Abadi" panose="020B0604020104020204" pitchFamily="34" charset="0"/>
              </a:rPr>
              <a:t>2010s</a:t>
            </a:r>
            <a:r>
              <a:rPr lang="en-US" dirty="0">
                <a:latin typeface="Abadi" panose="020B0604020104020204" pitchFamily="34" charset="0"/>
              </a:rPr>
              <a:t>: Deep learning revolutionized data perception. Speech recognition, image analysis, and translation reached human-level performance. However, these models were largely reactive, designed for input-output prediction rather than autonomous behavior.</a:t>
            </a:r>
          </a:p>
          <a:p>
            <a:r>
              <a:rPr lang="en-US" b="1" dirty="0">
                <a:latin typeface="Abadi" panose="020B0604020104020204" pitchFamily="34" charset="0"/>
              </a:rPr>
              <a:t>2020s and beyond</a:t>
            </a:r>
            <a:r>
              <a:rPr lang="en-US" dirty="0">
                <a:latin typeface="Abadi" panose="020B0604020104020204" pitchFamily="34" charset="0"/>
              </a:rPr>
              <a:t>: The advent of </a:t>
            </a:r>
            <a:r>
              <a:rPr lang="en-US" b="1" dirty="0">
                <a:latin typeface="Abadi" panose="020B0604020104020204" pitchFamily="34" charset="0"/>
              </a:rPr>
              <a:t>large language models</a:t>
            </a:r>
            <a:r>
              <a:rPr lang="en-US" dirty="0">
                <a:latin typeface="Abadi" panose="020B0604020104020204" pitchFamily="34" charset="0"/>
              </a:rPr>
              <a:t> (</a:t>
            </a:r>
            <a:r>
              <a:rPr lang="en-US" b="1" dirty="0">
                <a:latin typeface="Abadi" panose="020B0604020104020204" pitchFamily="34" charset="0"/>
              </a:rPr>
              <a:t>LLMs</a:t>
            </a:r>
            <a:r>
              <a:rPr lang="en-US" dirty="0">
                <a:latin typeface="Abadi" panose="020B0604020104020204" pitchFamily="34" charset="0"/>
              </a:rPr>
              <a:t>) — AI systems trained on vast text datasets to understand and generate human language — and </a:t>
            </a:r>
            <a:r>
              <a:rPr lang="en-US" b="1" dirty="0">
                <a:latin typeface="Abadi" panose="020B0604020104020204" pitchFamily="34" charset="0"/>
              </a:rPr>
              <a:t>transformers</a:t>
            </a:r>
            <a:r>
              <a:rPr lang="en-US" dirty="0">
                <a:latin typeface="Abadi" panose="020B0604020104020204" pitchFamily="34" charset="0"/>
              </a:rPr>
              <a:t> — neural network architectures that excel at processing sequential data —introduced emergent reasoning, natural language generation, and few-shot learning. Yet early LLMs were limited by context size, lack of memory, and tool integration.</a:t>
            </a:r>
          </a:p>
        </p:txBody>
      </p:sp>
      <p:sp>
        <p:nvSpPr>
          <p:cNvPr id="4" name="Slide Number Placeholder 3">
            <a:extLst>
              <a:ext uri="{FF2B5EF4-FFF2-40B4-BE49-F238E27FC236}">
                <a16:creationId xmlns:a16="http://schemas.microsoft.com/office/drawing/2014/main" id="{27D25E01-EB58-D1BB-25F0-2DA859357A5F}"/>
              </a:ext>
            </a:extLst>
          </p:cNvPr>
          <p:cNvSpPr>
            <a:spLocks noGrp="1"/>
          </p:cNvSpPr>
          <p:nvPr>
            <p:ph type="sldNum" sz="quarter" idx="4"/>
          </p:nvPr>
        </p:nvSpPr>
        <p:spPr/>
        <p:txBody>
          <a:bodyPr/>
          <a:lstStyle/>
          <a:p>
            <a:fld id="{58FB4751-880F-D840-AAA9-3A15815CC996}" type="slidenum">
              <a:rPr lang="en-US" smtClean="0"/>
              <a:pPr/>
              <a:t>8</a:t>
            </a:fld>
            <a:endParaRPr lang="en-US" dirty="0"/>
          </a:p>
        </p:txBody>
      </p:sp>
    </p:spTree>
    <p:extLst>
      <p:ext uri="{BB962C8B-B14F-4D97-AF65-F5344CB8AC3E}">
        <p14:creationId xmlns:p14="http://schemas.microsoft.com/office/powerpoint/2010/main" val="11869049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4188A-ED93-FC3B-BFF8-F6997ACD1751}"/>
              </a:ext>
            </a:extLst>
          </p:cNvPr>
          <p:cNvSpPr>
            <a:spLocks noGrp="1"/>
          </p:cNvSpPr>
          <p:nvPr>
            <p:ph type="title"/>
          </p:nvPr>
        </p:nvSpPr>
        <p:spPr/>
        <p:txBody>
          <a:bodyPr/>
          <a:lstStyle/>
          <a:p>
            <a:r>
              <a:rPr lang="en-US" dirty="0"/>
              <a:t>Evolutionary Trajectory</a:t>
            </a:r>
          </a:p>
        </p:txBody>
      </p:sp>
      <p:sp>
        <p:nvSpPr>
          <p:cNvPr id="3" name="Content Placeholder 2">
            <a:extLst>
              <a:ext uri="{FF2B5EF4-FFF2-40B4-BE49-F238E27FC236}">
                <a16:creationId xmlns:a16="http://schemas.microsoft.com/office/drawing/2014/main" id="{1B2C147B-1A27-5C6D-E1B6-C1169F9C3DAE}"/>
              </a:ext>
            </a:extLst>
          </p:cNvPr>
          <p:cNvSpPr>
            <a:spLocks noGrp="1"/>
          </p:cNvSpPr>
          <p:nvPr>
            <p:ph sz="quarter" idx="10"/>
          </p:nvPr>
        </p:nvSpPr>
        <p:spPr>
          <a:xfrm>
            <a:off x="914399" y="2039112"/>
            <a:ext cx="9858376" cy="3356576"/>
          </a:xfrm>
        </p:spPr>
        <p:txBody>
          <a:bodyPr/>
          <a:lstStyle/>
          <a:p>
            <a:r>
              <a:rPr lang="en-US" dirty="0">
                <a:latin typeface="Abadi" panose="020B0604020104020204" pitchFamily="34" charset="0"/>
              </a:rPr>
              <a:t>This evolutionary trajectory, illustrated in </a:t>
            </a:r>
            <a:r>
              <a:rPr lang="en-US" i="1" dirty="0">
                <a:latin typeface="Abadi" panose="020B0604020104020204" pitchFamily="34" charset="0"/>
              </a:rPr>
              <a:t>Figure below (next slide) </a:t>
            </a:r>
            <a:r>
              <a:rPr lang="en-US" dirty="0">
                <a:latin typeface="Abadi" panose="020B0604020104020204" pitchFamily="34" charset="0"/>
              </a:rPr>
              <a:t> highlights fundamental architectural and philosophical distinctions between conventional AI applications and truly autonomous agent systems—</a:t>
            </a:r>
          </a:p>
          <a:p>
            <a:r>
              <a:rPr lang="en-US" dirty="0">
                <a:latin typeface="Abadi" panose="020B0604020104020204" pitchFamily="34" charset="0"/>
              </a:rPr>
              <a:t>differences that extend well beyond technical implementation to how these systems operate, learn, and interact with their environments. </a:t>
            </a:r>
          </a:p>
          <a:p>
            <a:r>
              <a:rPr lang="en-US" dirty="0">
                <a:latin typeface="Abadi" panose="020B0604020104020204" pitchFamily="34" charset="0"/>
              </a:rPr>
              <a:t>These architectural shifts are not just academic—they translate into measurable business outcomes such as reduced support costs, increased first-contact resolution rates, faster onboarding, and greater scalability across customer touchpoints.</a:t>
            </a:r>
          </a:p>
          <a:p>
            <a:endParaRPr lang="en-US" dirty="0"/>
          </a:p>
        </p:txBody>
      </p:sp>
      <p:sp>
        <p:nvSpPr>
          <p:cNvPr id="4" name="Slide Number Placeholder 3">
            <a:extLst>
              <a:ext uri="{FF2B5EF4-FFF2-40B4-BE49-F238E27FC236}">
                <a16:creationId xmlns:a16="http://schemas.microsoft.com/office/drawing/2014/main" id="{B4F66772-4BA9-8753-1A4B-6C07B409F669}"/>
              </a:ext>
            </a:extLst>
          </p:cNvPr>
          <p:cNvSpPr>
            <a:spLocks noGrp="1"/>
          </p:cNvSpPr>
          <p:nvPr>
            <p:ph type="sldNum" sz="quarter" idx="4"/>
          </p:nvPr>
        </p:nvSpPr>
        <p:spPr/>
        <p:txBody>
          <a:bodyPr/>
          <a:lstStyle/>
          <a:p>
            <a:fld id="{58FB4751-880F-D840-AAA9-3A15815CC996}" type="slidenum">
              <a:rPr lang="en-US" smtClean="0"/>
              <a:pPr/>
              <a:t>9</a:t>
            </a:fld>
            <a:endParaRPr lang="en-US" dirty="0"/>
          </a:p>
        </p:txBody>
      </p:sp>
    </p:spTree>
    <p:extLst>
      <p:ext uri="{BB962C8B-B14F-4D97-AF65-F5344CB8AC3E}">
        <p14:creationId xmlns:p14="http://schemas.microsoft.com/office/powerpoint/2010/main" val="21606282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80657A9-340E-DC76-27D1-19937430A247}"/>
              </a:ext>
            </a:extLst>
          </p:cNvPr>
          <p:cNvSpPr>
            <a:spLocks noGrp="1"/>
          </p:cNvSpPr>
          <p:nvPr>
            <p:ph type="sldNum" sz="quarter" idx="4"/>
          </p:nvPr>
        </p:nvSpPr>
        <p:spPr/>
        <p:txBody>
          <a:bodyPr/>
          <a:lstStyle/>
          <a:p>
            <a:fld id="{58FB4751-880F-D840-AAA9-3A15815CC996}" type="slidenum">
              <a:rPr lang="en-US" smtClean="0"/>
              <a:pPr/>
              <a:t>10</a:t>
            </a:fld>
            <a:endParaRPr lang="en-US" dirty="0"/>
          </a:p>
        </p:txBody>
      </p:sp>
      <p:pic>
        <p:nvPicPr>
          <p:cNvPr id="5" name="Content Placeholder 4" descr="Figure 1.1 – Evolution of AI agent technologies">
            <a:extLst>
              <a:ext uri="{FF2B5EF4-FFF2-40B4-BE49-F238E27FC236}">
                <a16:creationId xmlns:a16="http://schemas.microsoft.com/office/drawing/2014/main" id="{EC30BD76-3ABE-7198-C275-01577C8D08A0}"/>
              </a:ext>
            </a:extLst>
          </p:cNvPr>
          <p:cNvPicPr>
            <a:picLocks noGrp="1" noChangeAspect="1"/>
          </p:cNvPicPr>
          <p:nvPr>
            <p:ph sz="quarter" idx="10"/>
          </p:nvPr>
        </p:nvPicPr>
        <p:blipFill>
          <a:blip r:embed="rId2">
            <a:extLst>
              <a:ext uri="{28A0092B-C50C-407E-A947-70E740481C1C}">
                <a14:useLocalDpi xmlns:a14="http://schemas.microsoft.com/office/drawing/2010/main" val="0"/>
              </a:ext>
            </a:extLst>
          </a:blip>
          <a:srcRect/>
          <a:stretch>
            <a:fillRect/>
          </a:stretch>
        </p:blipFill>
        <p:spPr bwMode="auto">
          <a:xfrm>
            <a:off x="581896" y="685800"/>
            <a:ext cx="9763168" cy="4641281"/>
          </a:xfrm>
          <a:prstGeom prst="rect">
            <a:avLst/>
          </a:prstGeom>
          <a:noFill/>
          <a:ln>
            <a:noFill/>
          </a:ln>
        </p:spPr>
      </p:pic>
    </p:spTree>
    <p:extLst>
      <p:ext uri="{BB962C8B-B14F-4D97-AF65-F5344CB8AC3E}">
        <p14:creationId xmlns:p14="http://schemas.microsoft.com/office/powerpoint/2010/main" val="22673344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1CDB4-5B33-3B68-06FE-9BB17EEA26DB}"/>
              </a:ext>
            </a:extLst>
          </p:cNvPr>
          <p:cNvSpPr>
            <a:spLocks noGrp="1"/>
          </p:cNvSpPr>
          <p:nvPr>
            <p:ph type="title"/>
          </p:nvPr>
        </p:nvSpPr>
        <p:spPr/>
        <p:txBody>
          <a:bodyPr/>
          <a:lstStyle/>
          <a:p>
            <a:r>
              <a:rPr lang="en-US" dirty="0"/>
              <a:t>Architecture of Agents</a:t>
            </a:r>
          </a:p>
        </p:txBody>
      </p:sp>
      <p:sp>
        <p:nvSpPr>
          <p:cNvPr id="3" name="Content Placeholder 2">
            <a:extLst>
              <a:ext uri="{FF2B5EF4-FFF2-40B4-BE49-F238E27FC236}">
                <a16:creationId xmlns:a16="http://schemas.microsoft.com/office/drawing/2014/main" id="{6E93BA26-46F3-4B81-123C-37CBBBC8C6CA}"/>
              </a:ext>
            </a:extLst>
          </p:cNvPr>
          <p:cNvSpPr>
            <a:spLocks noGrp="1"/>
          </p:cNvSpPr>
          <p:nvPr>
            <p:ph sz="quarter" idx="10"/>
          </p:nvPr>
        </p:nvSpPr>
        <p:spPr>
          <a:xfrm>
            <a:off x="914400" y="2039111"/>
            <a:ext cx="9620250" cy="4523613"/>
          </a:xfrm>
        </p:spPr>
        <p:txBody>
          <a:bodyPr/>
          <a:lstStyle/>
          <a:p>
            <a:r>
              <a:rPr lang="en-US" sz="2400" dirty="0">
                <a:latin typeface="Abadi" panose="020B0604020104020204" pitchFamily="34" charset="0"/>
              </a:rPr>
              <a:t>The architectural design of intelligent agents marks a fundamental shift from procedural logic to cognition-driven computation. </a:t>
            </a:r>
          </a:p>
          <a:p>
            <a:r>
              <a:rPr lang="en-US" sz="2400" dirty="0">
                <a:latin typeface="Abadi" panose="020B0604020104020204" pitchFamily="34" charset="0"/>
              </a:rPr>
              <a:t>Unlike traditional software systems that execute static instructions in response to defined inputs, agents operate continuously within dynamic environments, making real-time decisions, maintaining persistent memory, and adapting their strategies over time. </a:t>
            </a:r>
          </a:p>
          <a:p>
            <a:r>
              <a:rPr lang="en-US" sz="2400" dirty="0">
                <a:latin typeface="Abadi" panose="020B0604020104020204" pitchFamily="34" charset="0"/>
              </a:rPr>
              <a:t>At its core, an agent's architecture must integrate key cognitive functions—</a:t>
            </a:r>
            <a:r>
              <a:rPr lang="en-US" sz="2400" i="1" dirty="0">
                <a:latin typeface="Abadi" panose="020B0604020104020204" pitchFamily="34" charset="0"/>
              </a:rPr>
              <a:t>perception</a:t>
            </a:r>
            <a:r>
              <a:rPr lang="en-US" sz="2400" dirty="0">
                <a:latin typeface="Abadi" panose="020B0604020104020204" pitchFamily="34" charset="0"/>
              </a:rPr>
              <a:t>, </a:t>
            </a:r>
            <a:r>
              <a:rPr lang="en-US" sz="2400" i="1" dirty="0">
                <a:latin typeface="Abadi" panose="020B0604020104020204" pitchFamily="34" charset="0"/>
              </a:rPr>
              <a:t>reasoning</a:t>
            </a:r>
            <a:r>
              <a:rPr lang="en-US" sz="2400" dirty="0">
                <a:latin typeface="Abadi" panose="020B0604020104020204" pitchFamily="34" charset="0"/>
              </a:rPr>
              <a:t>, </a:t>
            </a:r>
            <a:r>
              <a:rPr lang="en-US" sz="2400" i="1" dirty="0">
                <a:latin typeface="Abadi" panose="020B0604020104020204" pitchFamily="34" charset="0"/>
              </a:rPr>
              <a:t>planning</a:t>
            </a:r>
            <a:r>
              <a:rPr lang="en-US" sz="2400" dirty="0">
                <a:latin typeface="Abadi" panose="020B0604020104020204" pitchFamily="34" charset="0"/>
              </a:rPr>
              <a:t>, </a:t>
            </a:r>
            <a:r>
              <a:rPr lang="en-US" sz="2400" i="1" dirty="0">
                <a:latin typeface="Abadi" panose="020B0604020104020204" pitchFamily="34" charset="0"/>
              </a:rPr>
              <a:t>action</a:t>
            </a:r>
            <a:r>
              <a:rPr lang="en-US" sz="2400" dirty="0">
                <a:latin typeface="Abadi" panose="020B0604020104020204" pitchFamily="34" charset="0"/>
              </a:rPr>
              <a:t>, and </a:t>
            </a:r>
            <a:r>
              <a:rPr lang="en-US" sz="2400" i="1" dirty="0">
                <a:latin typeface="Abadi" panose="020B0604020104020204" pitchFamily="34" charset="0"/>
              </a:rPr>
              <a:t>learning</a:t>
            </a:r>
            <a:r>
              <a:rPr lang="en-US" sz="2400" dirty="0">
                <a:latin typeface="Abadi" panose="020B0604020104020204" pitchFamily="34" charset="0"/>
              </a:rPr>
              <a:t>—into a modular, stateful framework that supports both reactivity and deliberation. </a:t>
            </a:r>
          </a:p>
          <a:p>
            <a:endParaRPr lang="en-US" dirty="0"/>
          </a:p>
        </p:txBody>
      </p:sp>
      <p:sp>
        <p:nvSpPr>
          <p:cNvPr id="4" name="Slide Number Placeholder 3">
            <a:extLst>
              <a:ext uri="{FF2B5EF4-FFF2-40B4-BE49-F238E27FC236}">
                <a16:creationId xmlns:a16="http://schemas.microsoft.com/office/drawing/2014/main" id="{EC86D903-15AE-B102-2885-DD3D985617B3}"/>
              </a:ext>
            </a:extLst>
          </p:cNvPr>
          <p:cNvSpPr>
            <a:spLocks noGrp="1"/>
          </p:cNvSpPr>
          <p:nvPr>
            <p:ph type="sldNum" sz="quarter" idx="4"/>
          </p:nvPr>
        </p:nvSpPr>
        <p:spPr/>
        <p:txBody>
          <a:bodyPr/>
          <a:lstStyle/>
          <a:p>
            <a:fld id="{58FB4751-880F-D840-AAA9-3A15815CC996}" type="slidenum">
              <a:rPr lang="en-US" smtClean="0"/>
              <a:pPr/>
              <a:t>11</a:t>
            </a:fld>
            <a:endParaRPr lang="en-US" dirty="0"/>
          </a:p>
        </p:txBody>
      </p:sp>
    </p:spTree>
    <p:extLst>
      <p:ext uri="{BB962C8B-B14F-4D97-AF65-F5344CB8AC3E}">
        <p14:creationId xmlns:p14="http://schemas.microsoft.com/office/powerpoint/2010/main" val="2258595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5F2B6-EF9B-AC96-9583-D5F56E2ACDBA}"/>
              </a:ext>
            </a:extLst>
          </p:cNvPr>
          <p:cNvSpPr>
            <a:spLocks noGrp="1"/>
          </p:cNvSpPr>
          <p:nvPr>
            <p:ph type="title"/>
          </p:nvPr>
        </p:nvSpPr>
        <p:spPr>
          <a:xfrm>
            <a:off x="914399" y="95250"/>
            <a:ext cx="7534656" cy="914400"/>
          </a:xfrm>
        </p:spPr>
        <p:txBody>
          <a:bodyPr/>
          <a:lstStyle/>
          <a:p>
            <a:r>
              <a:rPr lang="en-US" dirty="0"/>
              <a:t>Separating Concerns to Realize Cohesion</a:t>
            </a:r>
          </a:p>
        </p:txBody>
      </p:sp>
      <p:sp>
        <p:nvSpPr>
          <p:cNvPr id="3" name="Content Placeholder 2">
            <a:extLst>
              <a:ext uri="{FF2B5EF4-FFF2-40B4-BE49-F238E27FC236}">
                <a16:creationId xmlns:a16="http://schemas.microsoft.com/office/drawing/2014/main" id="{C2EDDF71-4DCD-5AAF-E4C0-12E549BAA880}"/>
              </a:ext>
            </a:extLst>
          </p:cNvPr>
          <p:cNvSpPr>
            <a:spLocks noGrp="1"/>
          </p:cNvSpPr>
          <p:nvPr>
            <p:ph sz="quarter" idx="10"/>
          </p:nvPr>
        </p:nvSpPr>
        <p:spPr>
          <a:xfrm>
            <a:off x="914399" y="1009651"/>
            <a:ext cx="9877425" cy="5381624"/>
          </a:xfrm>
        </p:spPr>
        <p:txBody>
          <a:bodyPr>
            <a:normAutofit/>
          </a:bodyPr>
          <a:lstStyle/>
          <a:p>
            <a:r>
              <a:rPr lang="en-US" sz="2400" dirty="0">
                <a:latin typeface="Abadi" panose="020B0604020104020204" pitchFamily="34" charset="0"/>
              </a:rPr>
              <a:t>The architectural cohesion is what transforms agents from reactive bots into intelligent systems capable of navigating open-ended, real-world complexity</a:t>
            </a:r>
          </a:p>
          <a:p>
            <a:r>
              <a:rPr lang="en-US" sz="2400" dirty="0">
                <a:latin typeface="Abadi" panose="020B0604020104020204" pitchFamily="34" charset="0"/>
              </a:rPr>
              <a:t>In practice, cohesion is realized by designing systems that separate concerns: </a:t>
            </a:r>
          </a:p>
          <a:p>
            <a:pPr lvl="1"/>
            <a:r>
              <a:rPr lang="en-US" sz="2400" b="1" dirty="0">
                <a:latin typeface="Abadi" panose="020B0604020104020204" pitchFamily="34" charset="0"/>
              </a:rPr>
              <a:t>perception</a:t>
            </a:r>
            <a:r>
              <a:rPr lang="en-US" sz="2400" dirty="0">
                <a:latin typeface="Abadi" panose="020B0604020104020204" pitchFamily="34" charset="0"/>
              </a:rPr>
              <a:t> modules interface with sensors or APIs; </a:t>
            </a:r>
          </a:p>
          <a:p>
            <a:pPr lvl="1"/>
            <a:r>
              <a:rPr lang="en-US" sz="2400" b="1" dirty="0">
                <a:latin typeface="Abadi" panose="020B0604020104020204" pitchFamily="34" charset="0"/>
              </a:rPr>
              <a:t>planning engines </a:t>
            </a:r>
            <a:r>
              <a:rPr lang="en-US" sz="2400" dirty="0">
                <a:latin typeface="Abadi" panose="020B0604020104020204" pitchFamily="34" charset="0"/>
              </a:rPr>
              <a:t>decompose objectives; </a:t>
            </a:r>
          </a:p>
          <a:p>
            <a:pPr lvl="1"/>
            <a:r>
              <a:rPr lang="en-US" sz="2400" b="1" dirty="0">
                <a:latin typeface="Abadi" panose="020B0604020104020204" pitchFamily="34" charset="0"/>
              </a:rPr>
              <a:t>memory subsystems</a:t>
            </a:r>
            <a:r>
              <a:rPr lang="en-US" sz="2400" dirty="0">
                <a:latin typeface="Abadi" panose="020B0604020104020204" pitchFamily="34" charset="0"/>
              </a:rPr>
              <a:t> manage historical and semantic context; </a:t>
            </a:r>
          </a:p>
          <a:p>
            <a:pPr lvl="1"/>
            <a:r>
              <a:rPr lang="en-US" sz="2400" b="1" dirty="0">
                <a:latin typeface="Abadi" panose="020B0604020104020204" pitchFamily="34" charset="0"/>
              </a:rPr>
              <a:t>execution layers</a:t>
            </a:r>
            <a:r>
              <a:rPr lang="en-US" sz="2400" dirty="0">
                <a:latin typeface="Abadi" panose="020B0604020104020204" pitchFamily="34" charset="0"/>
              </a:rPr>
              <a:t> interface with tools, services, or other agents. </a:t>
            </a:r>
          </a:p>
          <a:p>
            <a:r>
              <a:rPr lang="en-US" sz="2400" dirty="0">
                <a:latin typeface="Abadi" panose="020B0604020104020204" pitchFamily="34" charset="0"/>
              </a:rPr>
              <a:t>Frameworks like </a:t>
            </a:r>
            <a:r>
              <a:rPr lang="en-US" sz="2400" b="1" dirty="0">
                <a:latin typeface="Abadi" panose="020B0604020104020204" pitchFamily="34" charset="0"/>
              </a:rPr>
              <a:t>LangGraph </a:t>
            </a:r>
            <a:r>
              <a:rPr lang="en-US" sz="2400" dirty="0">
                <a:latin typeface="Abadi" panose="020B0604020104020204" pitchFamily="34" charset="0"/>
              </a:rPr>
              <a:t>and </a:t>
            </a:r>
            <a:r>
              <a:rPr lang="en-US" sz="2400" b="1" dirty="0" err="1">
                <a:latin typeface="Abadi" panose="020B0604020104020204" pitchFamily="34" charset="0"/>
              </a:rPr>
              <a:t>CrewAI</a:t>
            </a:r>
            <a:r>
              <a:rPr lang="en-US" sz="2400" dirty="0">
                <a:latin typeface="Abadi" panose="020B0604020104020204" pitchFamily="34" charset="0"/>
              </a:rPr>
              <a:t> implement these principles by providing composable runtime environments where agents can maintain state across sessions, orchestrate workflows using graphs, and operate autonomously. </a:t>
            </a:r>
          </a:p>
          <a:p>
            <a:endParaRPr lang="en-US" dirty="0"/>
          </a:p>
        </p:txBody>
      </p:sp>
      <p:sp>
        <p:nvSpPr>
          <p:cNvPr id="4" name="Slide Number Placeholder 3">
            <a:extLst>
              <a:ext uri="{FF2B5EF4-FFF2-40B4-BE49-F238E27FC236}">
                <a16:creationId xmlns:a16="http://schemas.microsoft.com/office/drawing/2014/main" id="{738A2568-C206-7EBE-8EA5-2414CCC4D624}"/>
              </a:ext>
            </a:extLst>
          </p:cNvPr>
          <p:cNvSpPr>
            <a:spLocks noGrp="1"/>
          </p:cNvSpPr>
          <p:nvPr>
            <p:ph type="sldNum" sz="quarter" idx="4"/>
          </p:nvPr>
        </p:nvSpPr>
        <p:spPr/>
        <p:txBody>
          <a:bodyPr/>
          <a:lstStyle/>
          <a:p>
            <a:fld id="{58FB4751-880F-D840-AAA9-3A15815CC996}" type="slidenum">
              <a:rPr lang="en-US" smtClean="0"/>
              <a:pPr/>
              <a:t>12</a:t>
            </a:fld>
            <a:endParaRPr lang="en-US" dirty="0"/>
          </a:p>
        </p:txBody>
      </p:sp>
    </p:spTree>
    <p:extLst>
      <p:ext uri="{BB962C8B-B14F-4D97-AF65-F5344CB8AC3E}">
        <p14:creationId xmlns:p14="http://schemas.microsoft.com/office/powerpoint/2010/main" val="19503553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C0D19-D7DD-4FB5-02CB-6BABF8514AB5}"/>
              </a:ext>
            </a:extLst>
          </p:cNvPr>
          <p:cNvSpPr>
            <a:spLocks noGrp="1"/>
          </p:cNvSpPr>
          <p:nvPr>
            <p:ph type="title"/>
          </p:nvPr>
        </p:nvSpPr>
        <p:spPr/>
        <p:txBody>
          <a:bodyPr/>
          <a:lstStyle/>
          <a:p>
            <a:r>
              <a:rPr lang="en-US" dirty="0"/>
              <a:t>The Cognitive Loop</a:t>
            </a:r>
          </a:p>
        </p:txBody>
      </p:sp>
      <p:sp>
        <p:nvSpPr>
          <p:cNvPr id="3" name="Content Placeholder 2">
            <a:extLst>
              <a:ext uri="{FF2B5EF4-FFF2-40B4-BE49-F238E27FC236}">
                <a16:creationId xmlns:a16="http://schemas.microsoft.com/office/drawing/2014/main" id="{59317B24-A162-29C4-047F-E9032A6C0018}"/>
              </a:ext>
            </a:extLst>
          </p:cNvPr>
          <p:cNvSpPr>
            <a:spLocks noGrp="1"/>
          </p:cNvSpPr>
          <p:nvPr>
            <p:ph sz="quarter" idx="10"/>
          </p:nvPr>
        </p:nvSpPr>
        <p:spPr>
          <a:xfrm>
            <a:off x="914400" y="2039112"/>
            <a:ext cx="9239250" cy="3356576"/>
          </a:xfrm>
        </p:spPr>
        <p:txBody>
          <a:bodyPr>
            <a:normAutofit fontScale="92500" lnSpcReduction="10000"/>
          </a:bodyPr>
          <a:lstStyle/>
          <a:p>
            <a:r>
              <a:rPr lang="en-US" sz="2400" dirty="0">
                <a:latin typeface="Abadi" panose="020B0604020104020204" pitchFamily="34" charset="0"/>
              </a:rPr>
              <a:t>The cognitive architecture of intelligent agents defines how perception transforms into purposeful action through structured, repeatable processes. </a:t>
            </a:r>
          </a:p>
          <a:p>
            <a:r>
              <a:rPr lang="en-US" sz="2400" dirty="0">
                <a:latin typeface="Abadi" panose="020B0604020104020204" pitchFamily="34" charset="0"/>
              </a:rPr>
              <a:t>At the heart of this design lies the </a:t>
            </a:r>
            <a:r>
              <a:rPr lang="en-US" sz="2400" b="1" dirty="0">
                <a:latin typeface="Abadi" panose="020B0604020104020204" pitchFamily="34" charset="0"/>
              </a:rPr>
              <a:t>cognitive loop</a:t>
            </a:r>
            <a:r>
              <a:rPr lang="en-US" sz="2400" dirty="0">
                <a:latin typeface="Abadi" panose="020B0604020104020204" pitchFamily="34" charset="0"/>
              </a:rPr>
              <a:t>—a continuous cycle of perception, reasoning, planning, action, and learning—which enables agents to operate autonomously in dynamic environments. </a:t>
            </a:r>
          </a:p>
          <a:p>
            <a:r>
              <a:rPr lang="en-US" sz="2400" dirty="0">
                <a:latin typeface="Abadi" panose="020B0604020104020204" pitchFamily="34" charset="0"/>
              </a:rPr>
              <a:t>As illustrated in  the </a:t>
            </a:r>
            <a:r>
              <a:rPr lang="en-US" sz="2400" i="1" dirty="0">
                <a:latin typeface="Abadi" panose="020B0604020104020204" pitchFamily="34" charset="0"/>
              </a:rPr>
              <a:t>Figure  Below</a:t>
            </a:r>
            <a:r>
              <a:rPr lang="en-US" sz="2400" dirty="0">
                <a:latin typeface="Abadi" panose="020B0604020104020204" pitchFamily="34" charset="0"/>
              </a:rPr>
              <a:t>, this loop forms the backbone of intelligent agent behavior, providing the scaffolding through which decisions are made, actions are executed, and knowledge is accumulated over time</a:t>
            </a:r>
          </a:p>
        </p:txBody>
      </p:sp>
      <p:sp>
        <p:nvSpPr>
          <p:cNvPr id="4" name="Slide Number Placeholder 3">
            <a:extLst>
              <a:ext uri="{FF2B5EF4-FFF2-40B4-BE49-F238E27FC236}">
                <a16:creationId xmlns:a16="http://schemas.microsoft.com/office/drawing/2014/main" id="{200601A0-521C-C79A-41D8-0EE15C186521}"/>
              </a:ext>
            </a:extLst>
          </p:cNvPr>
          <p:cNvSpPr>
            <a:spLocks noGrp="1"/>
          </p:cNvSpPr>
          <p:nvPr>
            <p:ph type="sldNum" sz="quarter" idx="4"/>
          </p:nvPr>
        </p:nvSpPr>
        <p:spPr/>
        <p:txBody>
          <a:bodyPr/>
          <a:lstStyle/>
          <a:p>
            <a:fld id="{58FB4751-880F-D840-AAA9-3A15815CC996}" type="slidenum">
              <a:rPr lang="en-US" smtClean="0"/>
              <a:pPr/>
              <a:t>13</a:t>
            </a:fld>
            <a:endParaRPr lang="en-US" dirty="0"/>
          </a:p>
        </p:txBody>
      </p:sp>
    </p:spTree>
    <p:extLst>
      <p:ext uri="{BB962C8B-B14F-4D97-AF65-F5344CB8AC3E}">
        <p14:creationId xmlns:p14="http://schemas.microsoft.com/office/powerpoint/2010/main" val="7361629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2F77935-7413-84FE-6C17-BB2DD2B0022B}"/>
              </a:ext>
            </a:extLst>
          </p:cNvPr>
          <p:cNvSpPr>
            <a:spLocks noGrp="1"/>
          </p:cNvSpPr>
          <p:nvPr>
            <p:ph type="sldNum" sz="quarter" idx="4"/>
          </p:nvPr>
        </p:nvSpPr>
        <p:spPr/>
        <p:txBody>
          <a:bodyPr/>
          <a:lstStyle/>
          <a:p>
            <a:fld id="{58FB4751-880F-D840-AAA9-3A15815CC996}" type="slidenum">
              <a:rPr lang="en-US" smtClean="0"/>
              <a:pPr/>
              <a:t>14</a:t>
            </a:fld>
            <a:endParaRPr lang="en-US" dirty="0"/>
          </a:p>
        </p:txBody>
      </p:sp>
      <p:pic>
        <p:nvPicPr>
          <p:cNvPr id="5" name="Content Placeholder 4" descr="Figure 1.2 – Cognitive architecture of intelligent agents">
            <a:extLst>
              <a:ext uri="{FF2B5EF4-FFF2-40B4-BE49-F238E27FC236}">
                <a16:creationId xmlns:a16="http://schemas.microsoft.com/office/drawing/2014/main" id="{AF8435B2-7419-F269-66F7-D75FFCA8F6C2}"/>
              </a:ext>
            </a:extLst>
          </p:cNvPr>
          <p:cNvPicPr>
            <a:picLocks noGrp="1" noChangeAspect="1"/>
          </p:cNvPicPr>
          <p:nvPr>
            <p:ph sz="quarter" idx="10"/>
          </p:nvPr>
        </p:nvPicPr>
        <p:blipFill>
          <a:blip r:embed="rId2">
            <a:extLst>
              <a:ext uri="{28A0092B-C50C-407E-A947-70E740481C1C}">
                <a14:useLocalDpi xmlns:a14="http://schemas.microsoft.com/office/drawing/2010/main" val="0"/>
              </a:ext>
            </a:extLst>
          </a:blip>
          <a:srcRect/>
          <a:stretch>
            <a:fillRect/>
          </a:stretch>
        </p:blipFill>
        <p:spPr bwMode="auto">
          <a:xfrm>
            <a:off x="1753497" y="123011"/>
            <a:ext cx="7917628" cy="6884379"/>
          </a:xfrm>
          <a:prstGeom prst="rect">
            <a:avLst/>
          </a:prstGeom>
          <a:noFill/>
          <a:ln>
            <a:noFill/>
          </a:ln>
        </p:spPr>
      </p:pic>
    </p:spTree>
    <p:extLst>
      <p:ext uri="{BB962C8B-B14F-4D97-AF65-F5344CB8AC3E}">
        <p14:creationId xmlns:p14="http://schemas.microsoft.com/office/powerpoint/2010/main" val="12820437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FBE3C-EA9F-9BD1-7EC5-B97F88ED99DE}"/>
              </a:ext>
            </a:extLst>
          </p:cNvPr>
          <p:cNvSpPr>
            <a:spLocks noGrp="1"/>
          </p:cNvSpPr>
          <p:nvPr>
            <p:ph type="title"/>
          </p:nvPr>
        </p:nvSpPr>
        <p:spPr/>
        <p:txBody>
          <a:bodyPr/>
          <a:lstStyle/>
          <a:p>
            <a:r>
              <a:rPr lang="en-US" dirty="0"/>
              <a:t>Phases of the Cognitive Systems</a:t>
            </a:r>
          </a:p>
        </p:txBody>
      </p:sp>
      <p:sp>
        <p:nvSpPr>
          <p:cNvPr id="3" name="Content Placeholder 2">
            <a:extLst>
              <a:ext uri="{FF2B5EF4-FFF2-40B4-BE49-F238E27FC236}">
                <a16:creationId xmlns:a16="http://schemas.microsoft.com/office/drawing/2014/main" id="{D0225C0C-8C6F-949E-C018-96CDE50E2FBD}"/>
              </a:ext>
            </a:extLst>
          </p:cNvPr>
          <p:cNvSpPr>
            <a:spLocks noGrp="1"/>
          </p:cNvSpPr>
          <p:nvPr>
            <p:ph sz="quarter" idx="10"/>
          </p:nvPr>
        </p:nvSpPr>
        <p:spPr>
          <a:xfrm>
            <a:off x="914399" y="2039112"/>
            <a:ext cx="10201275" cy="3356576"/>
          </a:xfrm>
        </p:spPr>
        <p:txBody>
          <a:bodyPr/>
          <a:lstStyle/>
          <a:p>
            <a:pPr marL="0" indent="0">
              <a:buNone/>
            </a:pPr>
            <a:r>
              <a:rPr lang="en-US" dirty="0">
                <a:latin typeface="Abadi" panose="020B0604020104020204" pitchFamily="34" charset="0"/>
              </a:rPr>
              <a:t>To understand how this architecture functions in practice, let’s explore each phase of the cognitive loop in detail—beginning with </a:t>
            </a:r>
            <a:r>
              <a:rPr lang="en-US" i="1" dirty="0">
                <a:latin typeface="Abadi" panose="020B0604020104020204" pitchFamily="34" charset="0"/>
              </a:rPr>
              <a:t>perception</a:t>
            </a:r>
            <a:r>
              <a:rPr lang="en-US" dirty="0">
                <a:latin typeface="Abadi" panose="020B0604020104020204" pitchFamily="34" charset="0"/>
              </a:rPr>
              <a:t>, the critical first step that shapes everything that follows</a:t>
            </a:r>
          </a:p>
        </p:txBody>
      </p:sp>
      <p:sp>
        <p:nvSpPr>
          <p:cNvPr id="4" name="Slide Number Placeholder 3">
            <a:extLst>
              <a:ext uri="{FF2B5EF4-FFF2-40B4-BE49-F238E27FC236}">
                <a16:creationId xmlns:a16="http://schemas.microsoft.com/office/drawing/2014/main" id="{D51053A9-6B8D-EEE8-2768-FB8B5A57B5A6}"/>
              </a:ext>
            </a:extLst>
          </p:cNvPr>
          <p:cNvSpPr>
            <a:spLocks noGrp="1"/>
          </p:cNvSpPr>
          <p:nvPr>
            <p:ph type="sldNum" sz="quarter" idx="4"/>
          </p:nvPr>
        </p:nvSpPr>
        <p:spPr/>
        <p:txBody>
          <a:bodyPr/>
          <a:lstStyle/>
          <a:p>
            <a:fld id="{58FB4751-880F-D840-AAA9-3A15815CC996}" type="slidenum">
              <a:rPr lang="en-US" smtClean="0"/>
              <a:pPr/>
              <a:t>15</a:t>
            </a:fld>
            <a:endParaRPr lang="en-US" dirty="0"/>
          </a:p>
        </p:txBody>
      </p:sp>
    </p:spTree>
    <p:extLst>
      <p:ext uri="{BB962C8B-B14F-4D97-AF65-F5344CB8AC3E}">
        <p14:creationId xmlns:p14="http://schemas.microsoft.com/office/powerpoint/2010/main" val="21507810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627DC-0025-E34F-70C3-5951F8C103AB}"/>
              </a:ext>
            </a:extLst>
          </p:cNvPr>
          <p:cNvSpPr>
            <a:spLocks noGrp="1"/>
          </p:cNvSpPr>
          <p:nvPr>
            <p:ph type="title"/>
          </p:nvPr>
        </p:nvSpPr>
        <p:spPr>
          <a:xfrm>
            <a:off x="914399" y="152400"/>
            <a:ext cx="7534656" cy="914400"/>
          </a:xfrm>
        </p:spPr>
        <p:txBody>
          <a:bodyPr/>
          <a:lstStyle/>
          <a:p>
            <a:r>
              <a:rPr lang="en-US" dirty="0"/>
              <a:t>Perception</a:t>
            </a:r>
          </a:p>
        </p:txBody>
      </p:sp>
      <p:sp>
        <p:nvSpPr>
          <p:cNvPr id="3" name="Content Placeholder 2">
            <a:extLst>
              <a:ext uri="{FF2B5EF4-FFF2-40B4-BE49-F238E27FC236}">
                <a16:creationId xmlns:a16="http://schemas.microsoft.com/office/drawing/2014/main" id="{CB886FDE-435A-4274-ECD1-CAEFFBB6FCE9}"/>
              </a:ext>
            </a:extLst>
          </p:cNvPr>
          <p:cNvSpPr>
            <a:spLocks noGrp="1"/>
          </p:cNvSpPr>
          <p:nvPr>
            <p:ph sz="quarter" idx="10"/>
          </p:nvPr>
        </p:nvSpPr>
        <p:spPr>
          <a:xfrm>
            <a:off x="400051" y="1257300"/>
            <a:ext cx="10658810" cy="5600700"/>
          </a:xfrm>
        </p:spPr>
        <p:txBody>
          <a:bodyPr>
            <a:normAutofit fontScale="92500" lnSpcReduction="10000"/>
          </a:bodyPr>
          <a:lstStyle/>
          <a:p>
            <a:pPr marL="0" marR="0">
              <a:lnSpc>
                <a:spcPct val="115000"/>
              </a:lnSpc>
              <a:spcAft>
                <a:spcPts val="800"/>
              </a:spcAft>
              <a:buNone/>
            </a:pPr>
            <a:r>
              <a:rPr lang="en-US" sz="2000" b="1" kern="100" dirty="0">
                <a:effectLst/>
                <a:latin typeface="Abadi" panose="020B0604020104020204" pitchFamily="34" charset="0"/>
                <a:ea typeface="Calibri" panose="020F0502020204030204" pitchFamily="34" charset="0"/>
                <a:cs typeface="Arial" panose="020B0604020202020204" pitchFamily="34" charset="0"/>
              </a:rPr>
              <a:t>Perception</a:t>
            </a:r>
            <a:r>
              <a:rPr lang="en-US" sz="2000" kern="100" dirty="0">
                <a:effectLst/>
                <a:latin typeface="Abadi" panose="020B0604020104020204" pitchFamily="34" charset="0"/>
                <a:ea typeface="Calibri" panose="020F0502020204030204" pitchFamily="34" charset="0"/>
                <a:cs typeface="Arial" panose="020B0604020202020204" pitchFamily="34" charset="0"/>
              </a:rPr>
              <a:t> initiates the loop by capturing data from the environment—whether through user input, APIs, sensors, or external systems—and converting it into structured formats suitable for processing. This raw input forms the basis for subsequent cognitive steps and determines the scope of the agent's situational awareness.</a:t>
            </a:r>
          </a:p>
          <a:p>
            <a:pPr marL="0" indent="0">
              <a:lnSpc>
                <a:spcPct val="115000"/>
              </a:lnSpc>
              <a:buNone/>
              <a:tabLst>
                <a:tab pos="457200" algn="l"/>
              </a:tabLst>
            </a:pPr>
            <a:r>
              <a:rPr lang="en-US" sz="2000" kern="0" dirty="0">
                <a:solidFill>
                  <a:srgbClr val="3D3B49"/>
                </a:solidFill>
                <a:effectLst/>
                <a:latin typeface="Consolas" panose="020B0609020204030204" pitchFamily="49" charset="0"/>
                <a:ea typeface="Times New Roman" panose="02020603050405020304" pitchFamily="18" charset="0"/>
                <a:cs typeface="Times New Roman" panose="02020603050405020304" pitchFamily="18" charset="0"/>
              </a:rPr>
              <a:t># Example: Perception in a customer service agent</a:t>
            </a:r>
            <a:endParaRPr lang="en-US" sz="2000" kern="100" dirty="0">
              <a:effectLst/>
              <a:latin typeface="Calibri" panose="020F0502020204030204" pitchFamily="34" charset="0"/>
              <a:ea typeface="Calibri" panose="020F0502020204030204" pitchFamily="34" charset="0"/>
              <a:cs typeface="Arial" panose="020B0604020202020204" pitchFamily="34" charset="0"/>
            </a:endParaRPr>
          </a:p>
          <a:p>
            <a:pPr marL="0" indent="0">
              <a:lnSpc>
                <a:spcPct val="115000"/>
              </a:lnSpc>
              <a:buNone/>
              <a:tabLst>
                <a:tab pos="457200" algn="l"/>
              </a:tabLst>
            </a:pPr>
            <a:r>
              <a:rPr lang="en-US" sz="2000" kern="0" dirty="0">
                <a:solidFill>
                  <a:srgbClr val="3D3B49"/>
                </a:solidFill>
                <a:effectLst/>
                <a:latin typeface="Consolas" panose="020B0609020204030204" pitchFamily="49" charset="0"/>
                <a:ea typeface="Times New Roman" panose="02020603050405020304" pitchFamily="18" charset="0"/>
                <a:cs typeface="Times New Roman" panose="02020603050405020304" pitchFamily="18" charset="0"/>
              </a:rPr>
              <a:t>def </a:t>
            </a:r>
            <a:r>
              <a:rPr lang="en-US" sz="2000" kern="0" dirty="0" err="1">
                <a:solidFill>
                  <a:srgbClr val="3D3B49"/>
                </a:solidFill>
                <a:effectLst/>
                <a:latin typeface="Consolas" panose="020B0609020204030204" pitchFamily="49" charset="0"/>
                <a:ea typeface="Times New Roman" panose="02020603050405020304" pitchFamily="18" charset="0"/>
                <a:cs typeface="Times New Roman" panose="02020603050405020304" pitchFamily="18" charset="0"/>
              </a:rPr>
              <a:t>perceive_input</a:t>
            </a:r>
            <a:r>
              <a:rPr lang="en-US" sz="2000" kern="0" dirty="0">
                <a:solidFill>
                  <a:srgbClr val="3D3B49"/>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2000" kern="0" dirty="0" err="1">
                <a:solidFill>
                  <a:srgbClr val="3D3B49"/>
                </a:solidFill>
                <a:effectLst/>
                <a:latin typeface="Consolas" panose="020B0609020204030204" pitchFamily="49" charset="0"/>
                <a:ea typeface="Times New Roman" panose="02020603050405020304" pitchFamily="18" charset="0"/>
                <a:cs typeface="Times New Roman" panose="02020603050405020304" pitchFamily="18" charset="0"/>
              </a:rPr>
              <a:t>user_message</a:t>
            </a:r>
            <a:r>
              <a:rPr lang="en-US" sz="2000" kern="0" dirty="0">
                <a:solidFill>
                  <a:srgbClr val="3D3B49"/>
                </a:solidFill>
                <a:effectLst/>
                <a:latin typeface="Consolas" panose="020B0609020204030204" pitchFamily="49" charset="0"/>
                <a:ea typeface="Times New Roman" panose="02020603050405020304" pitchFamily="18" charset="0"/>
                <a:cs typeface="Times New Roman" panose="02020603050405020304" pitchFamily="18" charset="0"/>
              </a:rPr>
              <a:t>, context):</a:t>
            </a:r>
            <a:endParaRPr lang="en-US" sz="2000" kern="100" dirty="0">
              <a:effectLst/>
              <a:latin typeface="Calibri" panose="020F0502020204030204" pitchFamily="34" charset="0"/>
              <a:ea typeface="Calibri" panose="020F0502020204030204" pitchFamily="34" charset="0"/>
              <a:cs typeface="Arial" panose="020B0604020202020204" pitchFamily="34" charset="0"/>
            </a:endParaRPr>
          </a:p>
          <a:p>
            <a:pPr marL="0" indent="0">
              <a:lnSpc>
                <a:spcPct val="115000"/>
              </a:lnSpc>
              <a:buNone/>
              <a:tabLst>
                <a:tab pos="457200" algn="l"/>
              </a:tabLst>
            </a:pPr>
            <a:r>
              <a:rPr lang="en-US" sz="2000" kern="0" dirty="0">
                <a:solidFill>
                  <a:srgbClr val="3D3B49"/>
                </a:solidFill>
                <a:effectLst/>
                <a:latin typeface="Consolas" panose="020B0609020204030204" pitchFamily="49" charset="0"/>
                <a:ea typeface="Times New Roman" panose="02020603050405020304" pitchFamily="18" charset="0"/>
                <a:cs typeface="Times New Roman" panose="02020603050405020304" pitchFamily="18" charset="0"/>
              </a:rPr>
              <a:t>    return {</a:t>
            </a:r>
            <a:endParaRPr lang="en-US" sz="2000" kern="100" dirty="0">
              <a:effectLst/>
              <a:latin typeface="Calibri" panose="020F0502020204030204" pitchFamily="34" charset="0"/>
              <a:ea typeface="Calibri" panose="020F0502020204030204" pitchFamily="34" charset="0"/>
              <a:cs typeface="Arial" panose="020B0604020202020204" pitchFamily="34" charset="0"/>
            </a:endParaRPr>
          </a:p>
          <a:p>
            <a:pPr marL="0" indent="0">
              <a:lnSpc>
                <a:spcPct val="115000"/>
              </a:lnSpc>
              <a:buNone/>
              <a:tabLst>
                <a:tab pos="457200" algn="l"/>
              </a:tabLst>
            </a:pPr>
            <a:r>
              <a:rPr lang="en-US" sz="2000" kern="0" dirty="0">
                <a:solidFill>
                  <a:srgbClr val="3D3B49"/>
                </a:solidFill>
                <a:effectLst/>
                <a:latin typeface="Consolas" panose="020B0609020204030204" pitchFamily="49" charset="0"/>
                <a:ea typeface="Times New Roman" panose="02020603050405020304" pitchFamily="18" charset="0"/>
                <a:cs typeface="Times New Roman" panose="02020603050405020304" pitchFamily="18" charset="0"/>
              </a:rPr>
              <a:t>        "message": </a:t>
            </a:r>
            <a:r>
              <a:rPr lang="en-US" sz="2000" kern="0" dirty="0" err="1">
                <a:solidFill>
                  <a:srgbClr val="3D3B49"/>
                </a:solidFill>
                <a:effectLst/>
                <a:latin typeface="Consolas" panose="020B0609020204030204" pitchFamily="49" charset="0"/>
                <a:ea typeface="Times New Roman" panose="02020603050405020304" pitchFamily="18" charset="0"/>
                <a:cs typeface="Times New Roman" panose="02020603050405020304" pitchFamily="18" charset="0"/>
              </a:rPr>
              <a:t>user_message</a:t>
            </a:r>
            <a:r>
              <a:rPr lang="en-US" sz="2000" kern="0" dirty="0">
                <a:solidFill>
                  <a:srgbClr val="3D3B49"/>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US" sz="2000" kern="100" dirty="0">
              <a:effectLst/>
              <a:latin typeface="Calibri" panose="020F0502020204030204" pitchFamily="34" charset="0"/>
              <a:ea typeface="Calibri" panose="020F0502020204030204" pitchFamily="34" charset="0"/>
              <a:cs typeface="Arial" panose="020B0604020202020204" pitchFamily="34" charset="0"/>
            </a:endParaRPr>
          </a:p>
          <a:p>
            <a:pPr marL="0" indent="0">
              <a:lnSpc>
                <a:spcPct val="115000"/>
              </a:lnSpc>
              <a:buNone/>
              <a:tabLst>
                <a:tab pos="457200" algn="l"/>
              </a:tabLst>
            </a:pPr>
            <a:r>
              <a:rPr lang="en-US" sz="2000" kern="0" dirty="0">
                <a:solidFill>
                  <a:srgbClr val="3D3B49"/>
                </a:solidFill>
                <a:effectLst/>
                <a:latin typeface="Consolas" panose="020B0609020204030204" pitchFamily="49" charset="0"/>
                <a:ea typeface="Times New Roman" panose="02020603050405020304" pitchFamily="18" charset="0"/>
                <a:cs typeface="Times New Roman" panose="02020603050405020304" pitchFamily="18" charset="0"/>
              </a:rPr>
              <a:t>        "timestamp": </a:t>
            </a:r>
            <a:r>
              <a:rPr lang="en-US" sz="2000" kern="0" dirty="0" err="1">
                <a:solidFill>
                  <a:srgbClr val="3D3B49"/>
                </a:solidFill>
                <a:effectLst/>
                <a:latin typeface="Consolas" panose="020B0609020204030204" pitchFamily="49" charset="0"/>
                <a:ea typeface="Times New Roman" panose="02020603050405020304" pitchFamily="18" charset="0"/>
                <a:cs typeface="Times New Roman" panose="02020603050405020304" pitchFamily="18" charset="0"/>
              </a:rPr>
              <a:t>datetime.now</a:t>
            </a:r>
            <a:r>
              <a:rPr lang="en-US" sz="2000" kern="0" dirty="0">
                <a:solidFill>
                  <a:srgbClr val="3D3B49"/>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US" sz="2000" kern="100" dirty="0">
              <a:effectLst/>
              <a:latin typeface="Calibri" panose="020F0502020204030204" pitchFamily="34" charset="0"/>
              <a:ea typeface="Calibri" panose="020F0502020204030204" pitchFamily="34" charset="0"/>
              <a:cs typeface="Arial" panose="020B0604020202020204" pitchFamily="34" charset="0"/>
            </a:endParaRPr>
          </a:p>
          <a:p>
            <a:pPr marL="0" indent="0">
              <a:lnSpc>
                <a:spcPct val="115000"/>
              </a:lnSpc>
              <a:buNone/>
              <a:tabLst>
                <a:tab pos="457200" algn="l"/>
              </a:tabLst>
            </a:pPr>
            <a:r>
              <a:rPr lang="en-US" sz="2000" kern="0" dirty="0">
                <a:solidFill>
                  <a:srgbClr val="3D3B4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2000" kern="0" dirty="0" err="1">
                <a:solidFill>
                  <a:srgbClr val="3D3B49"/>
                </a:solidFill>
                <a:effectLst/>
                <a:latin typeface="Consolas" panose="020B0609020204030204" pitchFamily="49" charset="0"/>
                <a:ea typeface="Times New Roman" panose="02020603050405020304" pitchFamily="18" charset="0"/>
                <a:cs typeface="Times New Roman" panose="02020603050405020304" pitchFamily="18" charset="0"/>
              </a:rPr>
              <a:t>user_id</a:t>
            </a:r>
            <a:r>
              <a:rPr lang="en-US" sz="2000" kern="0" dirty="0">
                <a:solidFill>
                  <a:srgbClr val="3D3B4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2000" kern="0" dirty="0" err="1">
                <a:solidFill>
                  <a:srgbClr val="3D3B49"/>
                </a:solidFill>
                <a:effectLst/>
                <a:latin typeface="Consolas" panose="020B0609020204030204" pitchFamily="49" charset="0"/>
                <a:ea typeface="Times New Roman" panose="02020603050405020304" pitchFamily="18" charset="0"/>
                <a:cs typeface="Times New Roman" panose="02020603050405020304" pitchFamily="18" charset="0"/>
              </a:rPr>
              <a:t>context.get</a:t>
            </a:r>
            <a:r>
              <a:rPr lang="en-US" sz="2000" kern="0" dirty="0">
                <a:solidFill>
                  <a:srgbClr val="3D3B49"/>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2000" kern="0" dirty="0" err="1">
                <a:solidFill>
                  <a:srgbClr val="3D3B49"/>
                </a:solidFill>
                <a:effectLst/>
                <a:latin typeface="Consolas" panose="020B0609020204030204" pitchFamily="49" charset="0"/>
                <a:ea typeface="Times New Roman" panose="02020603050405020304" pitchFamily="18" charset="0"/>
                <a:cs typeface="Times New Roman" panose="02020603050405020304" pitchFamily="18" charset="0"/>
              </a:rPr>
              <a:t>user_id</a:t>
            </a:r>
            <a:r>
              <a:rPr lang="en-US" sz="2000" kern="0" dirty="0">
                <a:solidFill>
                  <a:srgbClr val="3D3B49"/>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US" sz="2000" kern="100" dirty="0">
              <a:effectLst/>
              <a:latin typeface="Calibri" panose="020F0502020204030204" pitchFamily="34" charset="0"/>
              <a:ea typeface="Calibri" panose="020F0502020204030204" pitchFamily="34" charset="0"/>
              <a:cs typeface="Arial" panose="020B0604020202020204" pitchFamily="34" charset="0"/>
            </a:endParaRPr>
          </a:p>
          <a:p>
            <a:pPr marL="0" indent="0">
              <a:lnSpc>
                <a:spcPct val="115000"/>
              </a:lnSpc>
              <a:buNone/>
              <a:tabLst>
                <a:tab pos="457200" algn="l"/>
              </a:tabLst>
            </a:pPr>
            <a:r>
              <a:rPr lang="en-US" sz="2000" kern="0" dirty="0">
                <a:solidFill>
                  <a:srgbClr val="3D3B4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2000" kern="0" dirty="0" err="1">
                <a:solidFill>
                  <a:srgbClr val="3D3B49"/>
                </a:solidFill>
                <a:effectLst/>
                <a:latin typeface="Consolas" panose="020B0609020204030204" pitchFamily="49" charset="0"/>
                <a:ea typeface="Times New Roman" panose="02020603050405020304" pitchFamily="18" charset="0"/>
                <a:cs typeface="Times New Roman" panose="02020603050405020304" pitchFamily="18" charset="0"/>
              </a:rPr>
              <a:t>session_state</a:t>
            </a:r>
            <a:r>
              <a:rPr lang="en-US" sz="2000" kern="0" dirty="0">
                <a:solidFill>
                  <a:srgbClr val="3D3B49"/>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2000" kern="0" dirty="0" err="1">
                <a:solidFill>
                  <a:srgbClr val="3D3B49"/>
                </a:solidFill>
                <a:effectLst/>
                <a:latin typeface="Consolas" panose="020B0609020204030204" pitchFamily="49" charset="0"/>
                <a:ea typeface="Times New Roman" panose="02020603050405020304" pitchFamily="18" charset="0"/>
                <a:cs typeface="Times New Roman" panose="02020603050405020304" pitchFamily="18" charset="0"/>
              </a:rPr>
              <a:t>context.get</a:t>
            </a:r>
            <a:r>
              <a:rPr lang="en-US" sz="2000" kern="0" dirty="0">
                <a:solidFill>
                  <a:srgbClr val="3D3B49"/>
                </a:solidFill>
                <a:effectLst/>
                <a:latin typeface="Consolas" panose="020B0609020204030204" pitchFamily="49" charset="0"/>
                <a:ea typeface="Times New Roman" panose="02020603050405020304" pitchFamily="18" charset="0"/>
                <a:cs typeface="Times New Roman" panose="02020603050405020304" pitchFamily="18" charset="0"/>
              </a:rPr>
              <a:t>("session"),</a:t>
            </a:r>
            <a:endParaRPr lang="en-US" sz="2000" kern="100" dirty="0">
              <a:effectLst/>
              <a:latin typeface="Calibri" panose="020F0502020204030204" pitchFamily="34" charset="0"/>
              <a:ea typeface="Calibri" panose="020F0502020204030204" pitchFamily="34" charset="0"/>
              <a:cs typeface="Arial" panose="020B0604020202020204" pitchFamily="34" charset="0"/>
            </a:endParaRPr>
          </a:p>
          <a:p>
            <a:pPr marL="0" indent="0">
              <a:lnSpc>
                <a:spcPct val="115000"/>
              </a:lnSpc>
              <a:buNone/>
              <a:tabLst>
                <a:tab pos="457200" algn="l"/>
              </a:tabLst>
            </a:pPr>
            <a:r>
              <a:rPr lang="en-US" sz="2000" kern="0" dirty="0">
                <a:solidFill>
                  <a:srgbClr val="3D3B49"/>
                </a:solidFill>
                <a:effectLst/>
                <a:latin typeface="Consolas" panose="020B0609020204030204" pitchFamily="49" charset="0"/>
                <a:ea typeface="Times New Roman" panose="02020603050405020304" pitchFamily="18" charset="0"/>
                <a:cs typeface="Times New Roman" panose="02020603050405020304" pitchFamily="18" charset="0"/>
              </a:rPr>
              <a:t>        "sentiment": </a:t>
            </a:r>
            <a:r>
              <a:rPr lang="en-US" sz="2000" kern="0" dirty="0" err="1">
                <a:solidFill>
                  <a:srgbClr val="3D3B49"/>
                </a:solidFill>
                <a:effectLst/>
                <a:latin typeface="Consolas" panose="020B0609020204030204" pitchFamily="49" charset="0"/>
                <a:ea typeface="Times New Roman" panose="02020603050405020304" pitchFamily="18" charset="0"/>
                <a:cs typeface="Times New Roman" panose="02020603050405020304" pitchFamily="18" charset="0"/>
              </a:rPr>
              <a:t>analyze_sentiment</a:t>
            </a:r>
            <a:r>
              <a:rPr lang="en-US" sz="2000" kern="0" dirty="0">
                <a:solidFill>
                  <a:srgbClr val="3D3B49"/>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2000" kern="0" dirty="0" err="1">
                <a:solidFill>
                  <a:srgbClr val="3D3B49"/>
                </a:solidFill>
                <a:effectLst/>
                <a:latin typeface="Consolas" panose="020B0609020204030204" pitchFamily="49" charset="0"/>
                <a:ea typeface="Times New Roman" panose="02020603050405020304" pitchFamily="18" charset="0"/>
                <a:cs typeface="Times New Roman" panose="02020603050405020304" pitchFamily="18" charset="0"/>
              </a:rPr>
              <a:t>user_message</a:t>
            </a:r>
            <a:r>
              <a:rPr lang="en-US" sz="2000" kern="0" dirty="0">
                <a:solidFill>
                  <a:srgbClr val="3D3B49"/>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US" sz="2000" kern="100" dirty="0">
              <a:effectLst/>
              <a:latin typeface="Calibri" panose="020F0502020204030204" pitchFamily="34" charset="0"/>
              <a:ea typeface="Calibri" panose="020F0502020204030204" pitchFamily="34" charset="0"/>
              <a:cs typeface="Arial" panose="020B0604020202020204" pitchFamily="34" charset="0"/>
            </a:endParaRPr>
          </a:p>
          <a:p>
            <a:pPr marL="0" indent="0">
              <a:lnSpc>
                <a:spcPct val="115000"/>
              </a:lnSpc>
              <a:spcAft>
                <a:spcPts val="800"/>
              </a:spcAft>
              <a:buNone/>
              <a:tabLst>
                <a:tab pos="457200" algn="l"/>
              </a:tabLst>
            </a:pPr>
            <a:r>
              <a:rPr lang="en-US" sz="2000" kern="0" dirty="0">
                <a:solidFill>
                  <a:srgbClr val="3D3B49"/>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en-US" sz="2000" kern="100" dirty="0">
              <a:effectLst/>
              <a:latin typeface="Calibri" panose="020F0502020204030204" pitchFamily="34" charset="0"/>
              <a:ea typeface="Calibri" panose="020F0502020204030204" pitchFamily="34" charset="0"/>
              <a:cs typeface="Arial" panose="020B0604020202020204" pitchFamily="34" charset="0"/>
            </a:endParaRPr>
          </a:p>
          <a:p>
            <a:pPr marL="0" indent="0">
              <a:buNone/>
            </a:pPr>
            <a:endParaRPr lang="en-US" dirty="0"/>
          </a:p>
        </p:txBody>
      </p:sp>
      <p:sp>
        <p:nvSpPr>
          <p:cNvPr id="4" name="Slide Number Placeholder 3">
            <a:extLst>
              <a:ext uri="{FF2B5EF4-FFF2-40B4-BE49-F238E27FC236}">
                <a16:creationId xmlns:a16="http://schemas.microsoft.com/office/drawing/2014/main" id="{C7E882A4-6BB8-7953-12C7-BADC94F9D18C}"/>
              </a:ext>
            </a:extLst>
          </p:cNvPr>
          <p:cNvSpPr>
            <a:spLocks noGrp="1"/>
          </p:cNvSpPr>
          <p:nvPr>
            <p:ph type="sldNum" sz="quarter" idx="4"/>
          </p:nvPr>
        </p:nvSpPr>
        <p:spPr/>
        <p:txBody>
          <a:bodyPr/>
          <a:lstStyle/>
          <a:p>
            <a:fld id="{58FB4751-880F-D840-AAA9-3A15815CC996}" type="slidenum">
              <a:rPr lang="en-US" smtClean="0"/>
              <a:pPr/>
              <a:t>16</a:t>
            </a:fld>
            <a:endParaRPr lang="en-US" dirty="0"/>
          </a:p>
        </p:txBody>
      </p:sp>
    </p:spTree>
    <p:extLst>
      <p:ext uri="{BB962C8B-B14F-4D97-AF65-F5344CB8AC3E}">
        <p14:creationId xmlns:p14="http://schemas.microsoft.com/office/powerpoint/2010/main" val="16365441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0306C-8768-1157-B5B3-EECBB06DBCD9}"/>
              </a:ext>
            </a:extLst>
          </p:cNvPr>
          <p:cNvSpPr>
            <a:spLocks noGrp="1"/>
          </p:cNvSpPr>
          <p:nvPr>
            <p:ph type="title"/>
          </p:nvPr>
        </p:nvSpPr>
        <p:spPr>
          <a:xfrm>
            <a:off x="828675" y="0"/>
            <a:ext cx="7534656" cy="914400"/>
          </a:xfrm>
        </p:spPr>
        <p:txBody>
          <a:bodyPr/>
          <a:lstStyle/>
          <a:p>
            <a:r>
              <a:rPr lang="en-US" dirty="0"/>
              <a:t>Reasoning</a:t>
            </a:r>
          </a:p>
        </p:txBody>
      </p:sp>
      <p:sp>
        <p:nvSpPr>
          <p:cNvPr id="3" name="Content Placeholder 2">
            <a:extLst>
              <a:ext uri="{FF2B5EF4-FFF2-40B4-BE49-F238E27FC236}">
                <a16:creationId xmlns:a16="http://schemas.microsoft.com/office/drawing/2014/main" id="{CDF46A41-847D-F29D-7366-55B70D8CA78C}"/>
              </a:ext>
            </a:extLst>
          </p:cNvPr>
          <p:cNvSpPr>
            <a:spLocks noGrp="1"/>
          </p:cNvSpPr>
          <p:nvPr>
            <p:ph sz="quarter" idx="10"/>
          </p:nvPr>
        </p:nvSpPr>
        <p:spPr>
          <a:xfrm>
            <a:off x="0" y="914400"/>
            <a:ext cx="11858625" cy="5861303"/>
          </a:xfrm>
        </p:spPr>
        <p:txBody>
          <a:bodyPr>
            <a:normAutofit/>
          </a:bodyPr>
          <a:lstStyle/>
          <a:p>
            <a:pPr marL="0" marR="0">
              <a:lnSpc>
                <a:spcPct val="115000"/>
              </a:lnSpc>
              <a:spcAft>
                <a:spcPts val="800"/>
              </a:spcAft>
              <a:buNone/>
            </a:pPr>
            <a:r>
              <a:rPr lang="en-US" b="1" kern="0" dirty="0">
                <a:solidFill>
                  <a:srgbClr val="3D3B49"/>
                </a:solidFill>
                <a:effectLst/>
                <a:latin typeface="Noto Serif" panose="02020600060500020200" pitchFamily="18" charset="0"/>
                <a:ea typeface="Times New Roman" panose="02020603050405020304" pitchFamily="18" charset="0"/>
                <a:cs typeface="Arial" panose="020B0604020202020204" pitchFamily="34" charset="0"/>
              </a:rPr>
              <a:t>Reasoning</a:t>
            </a:r>
            <a:r>
              <a:rPr lang="en-US" kern="0" dirty="0">
                <a:solidFill>
                  <a:srgbClr val="3D3B49"/>
                </a:solidFill>
                <a:effectLst/>
                <a:latin typeface="Noto Serif" panose="02020600060500020200" pitchFamily="18" charset="0"/>
                <a:ea typeface="Times New Roman" panose="02020603050405020304" pitchFamily="18" charset="0"/>
                <a:cs typeface="Arial" panose="020B0604020202020204" pitchFamily="34" charset="0"/>
              </a:rPr>
              <a:t> follows by contextualizing this perceived information, applying pattern recognition, inference engines, or statistical models to extract meaning and relevance. This stage transforms signals into insights, allowing the agent to understand not just what is happening, but why it matters.</a:t>
            </a:r>
            <a:endParaRPr lang="en-US" kern="1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20000"/>
              </a:lnSpc>
              <a:spcBef>
                <a:spcPts val="0"/>
              </a:spcBef>
              <a:buNone/>
            </a:pPr>
            <a:r>
              <a:rPr lang="en-US" sz="3200" kern="0" dirty="0">
                <a:solidFill>
                  <a:srgbClr val="3D3B49"/>
                </a:solidFill>
                <a:effectLst/>
                <a:latin typeface="Noto Serif" panose="02020600060500020200" pitchFamily="18" charset="0"/>
                <a:ea typeface="Times New Roman" panose="02020603050405020304" pitchFamily="18" charset="0"/>
                <a:cs typeface="Arial" panose="020B0604020202020204" pitchFamily="34" charset="0"/>
              </a:rPr>
              <a:t> </a:t>
            </a:r>
            <a:r>
              <a:rPr lang="en-US" sz="2000" kern="0" dirty="0">
                <a:solidFill>
                  <a:srgbClr val="3D3B49"/>
                </a:solidFill>
                <a:effectLst/>
                <a:latin typeface="Consolas" panose="020B0609020204030204" pitchFamily="49" charset="0"/>
                <a:ea typeface="Times New Roman" panose="02020603050405020304" pitchFamily="18" charset="0"/>
                <a:cs typeface="Courier New" panose="02070309020205020404" pitchFamily="49" charset="0"/>
              </a:rPr>
              <a:t># Example: Reasoning about customer intent</a:t>
            </a:r>
            <a:endParaRPr lang="en-US" sz="3200" kern="1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20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kern="0" dirty="0">
                <a:solidFill>
                  <a:srgbClr val="3D3B49"/>
                </a:solidFill>
                <a:effectLst/>
                <a:latin typeface="Consolas" panose="020B0609020204030204" pitchFamily="49" charset="0"/>
                <a:ea typeface="Times New Roman" panose="02020603050405020304" pitchFamily="18" charset="0"/>
                <a:cs typeface="Courier New" panose="02070309020205020404" pitchFamily="49" charset="0"/>
              </a:rPr>
              <a:t>def </a:t>
            </a:r>
            <a:r>
              <a:rPr lang="en-US" sz="2000" kern="0" dirty="0" err="1">
                <a:solidFill>
                  <a:srgbClr val="3D3B49"/>
                </a:solidFill>
                <a:effectLst/>
                <a:latin typeface="Consolas" panose="020B0609020204030204" pitchFamily="49" charset="0"/>
                <a:ea typeface="Times New Roman" panose="02020603050405020304" pitchFamily="18" charset="0"/>
                <a:cs typeface="Courier New" panose="02070309020205020404" pitchFamily="49" charset="0"/>
              </a:rPr>
              <a:t>reason_about_intent</a:t>
            </a:r>
            <a:r>
              <a:rPr lang="en-US" sz="2000" kern="0" dirty="0">
                <a:solidFill>
                  <a:srgbClr val="3D3B49"/>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2000" kern="0" dirty="0" err="1">
                <a:solidFill>
                  <a:srgbClr val="3D3B49"/>
                </a:solidFill>
                <a:effectLst/>
                <a:latin typeface="Consolas" panose="020B0609020204030204" pitchFamily="49" charset="0"/>
                <a:ea typeface="Times New Roman" panose="02020603050405020304" pitchFamily="18" charset="0"/>
                <a:cs typeface="Courier New" panose="02070309020205020404" pitchFamily="49" charset="0"/>
              </a:rPr>
              <a:t>perception_data</a:t>
            </a:r>
            <a:r>
              <a:rPr lang="en-US" sz="2000" kern="0" dirty="0">
                <a:solidFill>
                  <a:srgbClr val="3D3B4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3200" kern="1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20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kern="0" dirty="0">
                <a:solidFill>
                  <a:srgbClr val="3D3B49"/>
                </a:solidFill>
                <a:effectLst/>
                <a:latin typeface="Consolas" panose="020B0609020204030204" pitchFamily="49" charset="0"/>
                <a:ea typeface="Times New Roman" panose="02020603050405020304" pitchFamily="18" charset="0"/>
                <a:cs typeface="Courier New" panose="02070309020205020404" pitchFamily="49" charset="0"/>
              </a:rPr>
              <a:t>    intent = </a:t>
            </a:r>
            <a:r>
              <a:rPr lang="en-US" sz="2000" kern="0" dirty="0" err="1">
                <a:solidFill>
                  <a:srgbClr val="3D3B49"/>
                </a:solidFill>
                <a:effectLst/>
                <a:latin typeface="Consolas" panose="020B0609020204030204" pitchFamily="49" charset="0"/>
                <a:ea typeface="Times New Roman" panose="02020603050405020304" pitchFamily="18" charset="0"/>
                <a:cs typeface="Courier New" panose="02070309020205020404" pitchFamily="49" charset="0"/>
              </a:rPr>
              <a:t>classify_intent</a:t>
            </a:r>
            <a:r>
              <a:rPr lang="en-US" sz="2000" kern="0" dirty="0">
                <a:solidFill>
                  <a:srgbClr val="3D3B49"/>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2000" kern="0" dirty="0" err="1">
                <a:solidFill>
                  <a:srgbClr val="3D3B49"/>
                </a:solidFill>
                <a:effectLst/>
                <a:latin typeface="Consolas" panose="020B0609020204030204" pitchFamily="49" charset="0"/>
                <a:ea typeface="Times New Roman" panose="02020603050405020304" pitchFamily="18" charset="0"/>
                <a:cs typeface="Courier New" panose="02070309020205020404" pitchFamily="49" charset="0"/>
              </a:rPr>
              <a:t>perception_data</a:t>
            </a:r>
            <a:r>
              <a:rPr lang="en-US" sz="2000" kern="0" dirty="0">
                <a:solidFill>
                  <a:srgbClr val="3D3B49"/>
                </a:solidFill>
                <a:effectLst/>
                <a:latin typeface="Consolas" panose="020B0609020204030204" pitchFamily="49" charset="0"/>
                <a:ea typeface="Times New Roman" panose="02020603050405020304" pitchFamily="18" charset="0"/>
                <a:cs typeface="Courier New" panose="02070309020205020404" pitchFamily="49" charset="0"/>
              </a:rPr>
              <a:t>["message"])</a:t>
            </a:r>
            <a:endParaRPr lang="en-US" sz="3200" kern="1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20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kern="0" dirty="0">
                <a:solidFill>
                  <a:srgbClr val="3D3B49"/>
                </a:solidFill>
                <a:effectLst/>
                <a:latin typeface="Consolas" panose="020B0609020204030204" pitchFamily="49" charset="0"/>
                <a:ea typeface="Times New Roman" panose="02020603050405020304" pitchFamily="18" charset="0"/>
                <a:cs typeface="Courier New" panose="02070309020205020404" pitchFamily="49" charset="0"/>
              </a:rPr>
              <a:t>    priority = </a:t>
            </a:r>
            <a:r>
              <a:rPr lang="en-US" sz="2000" kern="0" dirty="0" err="1">
                <a:solidFill>
                  <a:srgbClr val="3D3B49"/>
                </a:solidFill>
                <a:effectLst/>
                <a:latin typeface="Consolas" panose="020B0609020204030204" pitchFamily="49" charset="0"/>
                <a:ea typeface="Times New Roman" panose="02020603050405020304" pitchFamily="18" charset="0"/>
                <a:cs typeface="Courier New" panose="02070309020205020404" pitchFamily="49" charset="0"/>
              </a:rPr>
              <a:t>determine_priority</a:t>
            </a:r>
            <a:r>
              <a:rPr lang="en-US" sz="2000" kern="0" dirty="0">
                <a:solidFill>
                  <a:srgbClr val="3D3B4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3200" kern="1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20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kern="0" dirty="0">
                <a:solidFill>
                  <a:srgbClr val="3D3B49"/>
                </a:solidFill>
                <a:effectLst/>
                <a:latin typeface="Consolas" panose="020B0609020204030204" pitchFamily="49" charset="0"/>
                <a:ea typeface="Times New Roman" panose="02020603050405020304" pitchFamily="18" charset="0"/>
                <a:cs typeface="Courier New" panose="02070309020205020404" pitchFamily="49" charset="0"/>
              </a:rPr>
              <a:t>        intent,</a:t>
            </a:r>
            <a:endParaRPr lang="en-US" sz="3200" kern="1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20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kern="0" dirty="0">
                <a:solidFill>
                  <a:srgbClr val="3D3B49"/>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2000" kern="0" dirty="0" err="1">
                <a:solidFill>
                  <a:srgbClr val="3D3B49"/>
                </a:solidFill>
                <a:effectLst/>
                <a:latin typeface="Consolas" panose="020B0609020204030204" pitchFamily="49" charset="0"/>
                <a:ea typeface="Times New Roman" panose="02020603050405020304" pitchFamily="18" charset="0"/>
                <a:cs typeface="Courier New" panose="02070309020205020404" pitchFamily="49" charset="0"/>
              </a:rPr>
              <a:t>perception_data</a:t>
            </a:r>
            <a:r>
              <a:rPr lang="en-US" sz="2000" kern="0" dirty="0">
                <a:solidFill>
                  <a:srgbClr val="3D3B49"/>
                </a:solidFill>
                <a:effectLst/>
                <a:latin typeface="Consolas" panose="020B0609020204030204" pitchFamily="49" charset="0"/>
                <a:ea typeface="Times New Roman" panose="02020603050405020304" pitchFamily="18" charset="0"/>
                <a:cs typeface="Courier New" panose="02070309020205020404" pitchFamily="49" charset="0"/>
              </a:rPr>
              <a:t>["sentiment"],</a:t>
            </a:r>
            <a:endParaRPr lang="en-US" sz="3200" kern="1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20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kern="0" dirty="0">
                <a:solidFill>
                  <a:srgbClr val="3D3B49"/>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2000" kern="0" dirty="0" err="1">
                <a:solidFill>
                  <a:srgbClr val="3D3B49"/>
                </a:solidFill>
                <a:effectLst/>
                <a:latin typeface="Consolas" panose="020B0609020204030204" pitchFamily="49" charset="0"/>
                <a:ea typeface="Times New Roman" panose="02020603050405020304" pitchFamily="18" charset="0"/>
                <a:cs typeface="Courier New" panose="02070309020205020404" pitchFamily="49" charset="0"/>
              </a:rPr>
              <a:t>user_history</a:t>
            </a:r>
            <a:r>
              <a:rPr lang="en-US" sz="2000" kern="0" dirty="0">
                <a:solidFill>
                  <a:srgbClr val="3D3B49"/>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2000" kern="0" dirty="0" err="1">
                <a:solidFill>
                  <a:srgbClr val="3D3B49"/>
                </a:solidFill>
                <a:effectLst/>
                <a:latin typeface="Consolas" panose="020B0609020204030204" pitchFamily="49" charset="0"/>
                <a:ea typeface="Times New Roman" panose="02020603050405020304" pitchFamily="18" charset="0"/>
                <a:cs typeface="Courier New" panose="02070309020205020404" pitchFamily="49" charset="0"/>
              </a:rPr>
              <a:t>get_user_history</a:t>
            </a:r>
            <a:r>
              <a:rPr lang="en-US" sz="2000" kern="0" dirty="0">
                <a:solidFill>
                  <a:srgbClr val="3D3B49"/>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2000" kern="0" dirty="0" err="1">
                <a:solidFill>
                  <a:srgbClr val="3D3B49"/>
                </a:solidFill>
                <a:effectLst/>
                <a:latin typeface="Consolas" panose="020B0609020204030204" pitchFamily="49" charset="0"/>
                <a:ea typeface="Times New Roman" panose="02020603050405020304" pitchFamily="18" charset="0"/>
                <a:cs typeface="Courier New" panose="02070309020205020404" pitchFamily="49" charset="0"/>
              </a:rPr>
              <a:t>perception_data</a:t>
            </a:r>
            <a:r>
              <a:rPr lang="en-US" sz="2000" kern="0" dirty="0">
                <a:solidFill>
                  <a:srgbClr val="3D3B49"/>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2000" kern="0" dirty="0" err="1">
                <a:solidFill>
                  <a:srgbClr val="3D3B49"/>
                </a:solidFill>
                <a:effectLst/>
                <a:latin typeface="Consolas" panose="020B0609020204030204" pitchFamily="49" charset="0"/>
                <a:ea typeface="Times New Roman" panose="02020603050405020304" pitchFamily="18" charset="0"/>
                <a:cs typeface="Courier New" panose="02070309020205020404" pitchFamily="49" charset="0"/>
              </a:rPr>
              <a:t>user_id</a:t>
            </a:r>
            <a:r>
              <a:rPr lang="en-US" sz="2000" kern="0" dirty="0">
                <a:solidFill>
                  <a:srgbClr val="3D3B4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3200" kern="1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20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kern="0" dirty="0">
                <a:solidFill>
                  <a:srgbClr val="3D3B49"/>
                </a:solidFill>
                <a:effectLst/>
                <a:latin typeface="Consolas" panose="020B0609020204030204" pitchFamily="49" charset="0"/>
                <a:ea typeface="Times New Roman" panose="02020603050405020304" pitchFamily="18" charset="0"/>
                <a:cs typeface="Courier New" panose="02070309020205020404" pitchFamily="49" charset="0"/>
              </a:rPr>
              <a:t>    )</a:t>
            </a:r>
            <a:endParaRPr lang="en-US" sz="3200" kern="1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20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kern="0" dirty="0">
                <a:solidFill>
                  <a:srgbClr val="3D3B49"/>
                </a:solidFill>
                <a:effectLst/>
                <a:latin typeface="Consolas" panose="020B0609020204030204" pitchFamily="49" charset="0"/>
                <a:ea typeface="Times New Roman" panose="02020603050405020304" pitchFamily="18" charset="0"/>
                <a:cs typeface="Courier New" panose="02070309020205020404" pitchFamily="49" charset="0"/>
              </a:rPr>
              <a:t>    return {"intent": intent, "priority": priority, "context": </a:t>
            </a:r>
            <a:r>
              <a:rPr lang="en-US" sz="2000" kern="0" dirty="0" err="1">
                <a:solidFill>
                  <a:srgbClr val="3D3B49"/>
                </a:solidFill>
                <a:effectLst/>
                <a:latin typeface="Consolas" panose="020B0609020204030204" pitchFamily="49" charset="0"/>
                <a:ea typeface="Times New Roman" panose="02020603050405020304" pitchFamily="18" charset="0"/>
                <a:cs typeface="Courier New" panose="02070309020205020404" pitchFamily="49" charset="0"/>
              </a:rPr>
              <a:t>percep</a:t>
            </a:r>
            <a:r>
              <a:rPr lang="en-US" sz="2000" kern="0" dirty="0">
                <a:solidFill>
                  <a:srgbClr val="3D3B4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3200" kern="100" dirty="0">
              <a:effectLst/>
              <a:latin typeface="Calibri" panose="020F0502020204030204" pitchFamily="34" charset="0"/>
              <a:ea typeface="Calibri" panose="020F0502020204030204" pitchFamily="34" charset="0"/>
              <a:cs typeface="Arial" panose="020B0604020202020204" pitchFamily="34" charset="0"/>
            </a:endParaRPr>
          </a:p>
          <a:p>
            <a:pPr marL="0" indent="0">
              <a:lnSpc>
                <a:spcPct val="120000"/>
              </a:lnSpc>
              <a:spcBef>
                <a:spcPts val="0"/>
              </a:spcBef>
              <a:buNone/>
            </a:pPr>
            <a:endParaRPr lang="en-US" dirty="0"/>
          </a:p>
        </p:txBody>
      </p:sp>
      <p:sp>
        <p:nvSpPr>
          <p:cNvPr id="4" name="Slide Number Placeholder 3">
            <a:extLst>
              <a:ext uri="{FF2B5EF4-FFF2-40B4-BE49-F238E27FC236}">
                <a16:creationId xmlns:a16="http://schemas.microsoft.com/office/drawing/2014/main" id="{BC147855-814B-7077-ACB7-DF12DAD921AD}"/>
              </a:ext>
            </a:extLst>
          </p:cNvPr>
          <p:cNvSpPr>
            <a:spLocks noGrp="1"/>
          </p:cNvSpPr>
          <p:nvPr>
            <p:ph type="sldNum" sz="quarter" idx="4"/>
          </p:nvPr>
        </p:nvSpPr>
        <p:spPr/>
        <p:txBody>
          <a:bodyPr/>
          <a:lstStyle/>
          <a:p>
            <a:fld id="{58FB4751-880F-D840-AAA9-3A15815CC996}" type="slidenum">
              <a:rPr lang="en-US" smtClean="0"/>
              <a:pPr/>
              <a:t>17</a:t>
            </a:fld>
            <a:endParaRPr lang="en-US" dirty="0"/>
          </a:p>
        </p:txBody>
      </p:sp>
    </p:spTree>
    <p:extLst>
      <p:ext uri="{BB962C8B-B14F-4D97-AF65-F5344CB8AC3E}">
        <p14:creationId xmlns:p14="http://schemas.microsoft.com/office/powerpoint/2010/main" val="4181134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15542-DD53-EF9F-7EAE-28AF9BA5F8D8}"/>
              </a:ext>
            </a:extLst>
          </p:cNvPr>
          <p:cNvSpPr>
            <a:spLocks noGrp="1"/>
          </p:cNvSpPr>
          <p:nvPr>
            <p:ph type="title"/>
          </p:nvPr>
        </p:nvSpPr>
        <p:spPr>
          <a:xfrm>
            <a:off x="800100" y="152400"/>
            <a:ext cx="7534656" cy="914400"/>
          </a:xfrm>
        </p:spPr>
        <p:txBody>
          <a:bodyPr/>
          <a:lstStyle/>
          <a:p>
            <a:r>
              <a:rPr lang="en-US" dirty="0"/>
              <a:t>Planning</a:t>
            </a:r>
          </a:p>
        </p:txBody>
      </p:sp>
      <p:sp>
        <p:nvSpPr>
          <p:cNvPr id="3" name="Content Placeholder 2">
            <a:extLst>
              <a:ext uri="{FF2B5EF4-FFF2-40B4-BE49-F238E27FC236}">
                <a16:creationId xmlns:a16="http://schemas.microsoft.com/office/drawing/2014/main" id="{DEB232A5-A8CA-7DA4-5357-FA4C084A1BDF}"/>
              </a:ext>
            </a:extLst>
          </p:cNvPr>
          <p:cNvSpPr>
            <a:spLocks noGrp="1"/>
          </p:cNvSpPr>
          <p:nvPr>
            <p:ph sz="quarter" idx="10"/>
          </p:nvPr>
        </p:nvSpPr>
        <p:spPr>
          <a:xfrm>
            <a:off x="176784" y="1190625"/>
            <a:ext cx="11615166" cy="5448300"/>
          </a:xfrm>
        </p:spPr>
        <p:txBody>
          <a:bodyPr>
            <a:normAutofit lnSpcReduction="10000"/>
          </a:bodyPr>
          <a:lstStyle/>
          <a:p>
            <a:pPr marL="0" indent="0">
              <a:buNone/>
            </a:pPr>
            <a:r>
              <a:rPr lang="en-US" b="1" dirty="0">
                <a:latin typeface="Abadi" panose="020B0604020104020204" pitchFamily="34" charset="0"/>
              </a:rPr>
              <a:t>Planning</a:t>
            </a:r>
            <a:r>
              <a:rPr lang="en-US" dirty="0">
                <a:latin typeface="Abadi" panose="020B0604020104020204" pitchFamily="34" charset="0"/>
              </a:rPr>
              <a:t> orchestrates these insights into a coherent sequence of actions. Whether using deterministic rule chains or probabilistic models, the agent decomposes objectives into tasks, evaluates options, and prioritizes steps in accordance with predefined goals and environmental conditions.</a:t>
            </a:r>
          </a:p>
          <a:p>
            <a:pPr marL="0" indent="0">
              <a:buNone/>
            </a:pPr>
            <a:r>
              <a:rPr lang="en-US" dirty="0">
                <a:latin typeface="Abadi" panose="020B0604020104020204" pitchFamily="34" charset="0"/>
              </a:rPr>
              <a:t> </a:t>
            </a:r>
          </a:p>
          <a:p>
            <a:pPr marL="0" indent="0">
              <a:buNone/>
            </a:pPr>
            <a:r>
              <a:rPr lang="en-US" b="1" dirty="0"/>
              <a:t># Example: Planning response strategy</a:t>
            </a:r>
          </a:p>
          <a:p>
            <a:pPr marL="0" indent="0">
              <a:buNone/>
            </a:pPr>
            <a:r>
              <a:rPr lang="en-US" b="1" dirty="0"/>
              <a:t>def </a:t>
            </a:r>
            <a:r>
              <a:rPr lang="en-US" b="1" dirty="0" err="1"/>
              <a:t>create_action_plan</a:t>
            </a:r>
            <a:r>
              <a:rPr lang="en-US" b="1" dirty="0"/>
              <a:t>(</a:t>
            </a:r>
            <a:r>
              <a:rPr lang="en-US" b="1" dirty="0" err="1"/>
              <a:t>reasoning_result</a:t>
            </a:r>
            <a:r>
              <a:rPr lang="en-US" b="1" dirty="0"/>
              <a:t>):</a:t>
            </a:r>
          </a:p>
          <a:p>
            <a:pPr marL="0" indent="0">
              <a:buNone/>
            </a:pPr>
            <a:r>
              <a:rPr lang="en-US" b="1" dirty="0"/>
              <a:t>    if </a:t>
            </a:r>
            <a:r>
              <a:rPr lang="en-US" b="1" dirty="0" err="1"/>
              <a:t>reasoning_result</a:t>
            </a:r>
            <a:r>
              <a:rPr lang="en-US" b="1" dirty="0"/>
              <a:t>["intent"] == "</a:t>
            </a:r>
            <a:r>
              <a:rPr lang="en-US" b="1" dirty="0" err="1"/>
              <a:t>billing_issue</a:t>
            </a:r>
            <a:r>
              <a:rPr lang="en-US" b="1" dirty="0"/>
              <a:t>":</a:t>
            </a:r>
          </a:p>
          <a:p>
            <a:pPr marL="0" indent="0">
              <a:buNone/>
            </a:pPr>
            <a:r>
              <a:rPr lang="en-US" b="1" dirty="0"/>
              <a:t>        return [</a:t>
            </a:r>
          </a:p>
          <a:p>
            <a:pPr marL="0" indent="0">
              <a:buNone/>
            </a:pPr>
            <a:r>
              <a:rPr lang="en-US" b="1" dirty="0"/>
              <a:t>            "</a:t>
            </a:r>
            <a:r>
              <a:rPr lang="en-US" b="1" dirty="0" err="1"/>
              <a:t>fetch_account_details</a:t>
            </a:r>
            <a:r>
              <a:rPr lang="en-US" b="1" dirty="0"/>
              <a:t>",</a:t>
            </a:r>
          </a:p>
          <a:p>
            <a:pPr marL="0" indent="0">
              <a:buNone/>
            </a:pPr>
            <a:r>
              <a:rPr lang="en-US" b="1" dirty="0"/>
              <a:t>            "</a:t>
            </a:r>
            <a:r>
              <a:rPr lang="en-US" b="1" dirty="0" err="1"/>
              <a:t>analyze_billing_history</a:t>
            </a:r>
            <a:r>
              <a:rPr lang="en-US" b="1" dirty="0"/>
              <a:t>",</a:t>
            </a:r>
          </a:p>
          <a:p>
            <a:pPr marL="0" indent="0">
              <a:buNone/>
            </a:pPr>
            <a:r>
              <a:rPr lang="en-US" b="1" dirty="0"/>
              <a:t>            "</a:t>
            </a:r>
            <a:r>
              <a:rPr lang="en-US" b="1" dirty="0" err="1"/>
              <a:t>generate_explanation</a:t>
            </a:r>
            <a:r>
              <a:rPr lang="en-US" b="1" dirty="0"/>
              <a:t>",</a:t>
            </a:r>
          </a:p>
          <a:p>
            <a:pPr marL="0" indent="0">
              <a:buNone/>
            </a:pPr>
            <a:r>
              <a:rPr lang="en-US" b="1" dirty="0"/>
              <a:t>            "</a:t>
            </a:r>
            <a:r>
              <a:rPr lang="en-US" b="1" dirty="0" err="1"/>
              <a:t>offer_resolution</a:t>
            </a:r>
            <a:r>
              <a:rPr lang="en-US" b="1" dirty="0"/>
              <a:t>"</a:t>
            </a:r>
          </a:p>
          <a:p>
            <a:pPr marL="0" indent="0">
              <a:buNone/>
            </a:pPr>
            <a:r>
              <a:rPr lang="en-US" b="1" dirty="0"/>
              <a:t>        ]</a:t>
            </a:r>
          </a:p>
          <a:p>
            <a:pPr marL="0" indent="0">
              <a:buNone/>
            </a:pPr>
            <a:r>
              <a:rPr lang="en-US" b="1" dirty="0"/>
              <a:t>    </a:t>
            </a:r>
            <a:r>
              <a:rPr lang="en-US" b="1" dirty="0" err="1"/>
              <a:t>elif</a:t>
            </a:r>
            <a:r>
              <a:rPr lang="en-US" b="1" dirty="0"/>
              <a:t> </a:t>
            </a:r>
            <a:r>
              <a:rPr lang="en-US" b="1" dirty="0" err="1"/>
              <a:t>reasoning_result</a:t>
            </a:r>
            <a:r>
              <a:rPr lang="en-US" b="1" dirty="0"/>
              <a:t>["priority"] == "urgent":</a:t>
            </a:r>
          </a:p>
          <a:p>
            <a:pPr marL="0" indent="0">
              <a:buNone/>
            </a:pPr>
            <a:r>
              <a:rPr lang="en-US" b="1" dirty="0"/>
              <a:t>        return ["</a:t>
            </a:r>
            <a:r>
              <a:rPr lang="en-US" b="1" dirty="0" err="1"/>
              <a:t>escalate_to_human</a:t>
            </a:r>
            <a:r>
              <a:rPr lang="en-US" b="1" dirty="0"/>
              <a:t>", "</a:t>
            </a:r>
            <a:r>
              <a:rPr lang="en-US" b="1" dirty="0" err="1"/>
              <a:t>log_urgent_case</a:t>
            </a:r>
            <a:r>
              <a:rPr lang="en-US" b="1" dirty="0"/>
              <a:t>"]</a:t>
            </a:r>
          </a:p>
          <a:p>
            <a:pPr marL="0" indent="0">
              <a:buNone/>
            </a:pPr>
            <a:endParaRPr lang="en-US" dirty="0"/>
          </a:p>
        </p:txBody>
      </p:sp>
      <p:sp>
        <p:nvSpPr>
          <p:cNvPr id="4" name="Slide Number Placeholder 3">
            <a:extLst>
              <a:ext uri="{FF2B5EF4-FFF2-40B4-BE49-F238E27FC236}">
                <a16:creationId xmlns:a16="http://schemas.microsoft.com/office/drawing/2014/main" id="{0B5411D5-6099-2BAD-6F76-0B0710500153}"/>
              </a:ext>
            </a:extLst>
          </p:cNvPr>
          <p:cNvSpPr>
            <a:spLocks noGrp="1"/>
          </p:cNvSpPr>
          <p:nvPr>
            <p:ph type="sldNum" sz="quarter" idx="4"/>
          </p:nvPr>
        </p:nvSpPr>
        <p:spPr/>
        <p:txBody>
          <a:bodyPr/>
          <a:lstStyle/>
          <a:p>
            <a:fld id="{58FB4751-880F-D840-AAA9-3A15815CC996}" type="slidenum">
              <a:rPr lang="en-US" smtClean="0"/>
              <a:pPr/>
              <a:t>18</a:t>
            </a:fld>
            <a:endParaRPr lang="en-US" dirty="0"/>
          </a:p>
        </p:txBody>
      </p:sp>
    </p:spTree>
    <p:extLst>
      <p:ext uri="{BB962C8B-B14F-4D97-AF65-F5344CB8AC3E}">
        <p14:creationId xmlns:p14="http://schemas.microsoft.com/office/powerpoint/2010/main" val="27915643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F4126-4A66-9E45-4D4C-7389009F6440}"/>
              </a:ext>
            </a:extLst>
          </p:cNvPr>
          <p:cNvSpPr>
            <a:spLocks noGrp="1"/>
          </p:cNvSpPr>
          <p:nvPr>
            <p:ph type="title"/>
          </p:nvPr>
        </p:nvSpPr>
        <p:spPr>
          <a:xfrm>
            <a:off x="914400" y="95250"/>
            <a:ext cx="7534656" cy="914400"/>
          </a:xfrm>
        </p:spPr>
        <p:txBody>
          <a:bodyPr/>
          <a:lstStyle/>
          <a:p>
            <a:r>
              <a:rPr lang="en-US" dirty="0"/>
              <a:t>Action</a:t>
            </a:r>
          </a:p>
        </p:txBody>
      </p:sp>
      <p:sp>
        <p:nvSpPr>
          <p:cNvPr id="3" name="Content Placeholder 2">
            <a:extLst>
              <a:ext uri="{FF2B5EF4-FFF2-40B4-BE49-F238E27FC236}">
                <a16:creationId xmlns:a16="http://schemas.microsoft.com/office/drawing/2014/main" id="{3F3DF114-9D48-D557-280D-0530733A5CBE}"/>
              </a:ext>
            </a:extLst>
          </p:cNvPr>
          <p:cNvSpPr>
            <a:spLocks noGrp="1"/>
          </p:cNvSpPr>
          <p:nvPr>
            <p:ph sz="quarter" idx="10"/>
          </p:nvPr>
        </p:nvSpPr>
        <p:spPr>
          <a:xfrm>
            <a:off x="190501" y="1266825"/>
            <a:ext cx="11534774" cy="5343525"/>
          </a:xfrm>
        </p:spPr>
        <p:txBody>
          <a:bodyPr/>
          <a:lstStyle/>
          <a:p>
            <a:pPr marL="0" indent="0">
              <a:buNone/>
            </a:pPr>
            <a:r>
              <a:rPr lang="en-US" b="1" dirty="0">
                <a:latin typeface="Abadi" panose="020B0604020104020204" pitchFamily="34" charset="0"/>
              </a:rPr>
              <a:t>Action</a:t>
            </a:r>
            <a:r>
              <a:rPr lang="en-US" dirty="0">
                <a:latin typeface="Abadi" panose="020B0604020104020204" pitchFamily="34" charset="0"/>
              </a:rPr>
              <a:t> then executes the selected steps, interfacing with external tools, APIs, databases, or systems to operationalize the agent's decisions. This phase is often implemented using function-calling frameworks or tool orchestration layers such as those found in LangChain or LangGraph.</a:t>
            </a:r>
          </a:p>
          <a:p>
            <a:endParaRPr lang="en-US" dirty="0"/>
          </a:p>
          <a:p>
            <a:pPr marL="0" indent="0">
              <a:buNone/>
            </a:pPr>
            <a:r>
              <a:rPr lang="en-US" b="1" dirty="0"/>
              <a:t># Example: Action execution</a:t>
            </a:r>
          </a:p>
          <a:p>
            <a:pPr marL="0" indent="0">
              <a:buNone/>
            </a:pPr>
            <a:r>
              <a:rPr lang="en-US" b="1" dirty="0"/>
              <a:t>def </a:t>
            </a:r>
            <a:r>
              <a:rPr lang="en-US" b="1" dirty="0" err="1"/>
              <a:t>execute_action</a:t>
            </a:r>
            <a:r>
              <a:rPr lang="en-US" b="1" dirty="0"/>
              <a:t>(</a:t>
            </a:r>
            <a:r>
              <a:rPr lang="en-US" b="1" dirty="0" err="1"/>
              <a:t>action_plan</a:t>
            </a:r>
            <a:r>
              <a:rPr lang="en-US" b="1" dirty="0"/>
              <a:t>, context):</a:t>
            </a:r>
          </a:p>
          <a:p>
            <a:pPr marL="0" indent="0">
              <a:buNone/>
            </a:pPr>
            <a:r>
              <a:rPr lang="en-US" b="1" dirty="0"/>
              <a:t>    results = []</a:t>
            </a:r>
          </a:p>
          <a:p>
            <a:pPr marL="0" indent="0">
              <a:buNone/>
            </a:pPr>
            <a:r>
              <a:rPr lang="en-US" b="1" dirty="0"/>
              <a:t>    for action in </a:t>
            </a:r>
            <a:r>
              <a:rPr lang="en-US" b="1" dirty="0" err="1"/>
              <a:t>action_plan</a:t>
            </a:r>
            <a:r>
              <a:rPr lang="en-US" b="1" dirty="0"/>
              <a:t>:</a:t>
            </a:r>
          </a:p>
          <a:p>
            <a:pPr marL="0" indent="0">
              <a:buNone/>
            </a:pPr>
            <a:r>
              <a:rPr lang="en-US" b="1" dirty="0"/>
              <a:t>        if action == "</a:t>
            </a:r>
            <a:r>
              <a:rPr lang="en-US" b="1" dirty="0" err="1"/>
              <a:t>fetch_account_details</a:t>
            </a:r>
            <a:r>
              <a:rPr lang="en-US" b="1" dirty="0"/>
              <a:t>":</a:t>
            </a:r>
          </a:p>
          <a:p>
            <a:pPr marL="0" indent="0">
              <a:buNone/>
            </a:pPr>
            <a:r>
              <a:rPr lang="en-US" b="1" dirty="0"/>
              <a:t>            result = </a:t>
            </a:r>
            <a:r>
              <a:rPr lang="en-US" b="1" dirty="0" err="1"/>
              <a:t>billing_api.get_account</a:t>
            </a:r>
            <a:r>
              <a:rPr lang="en-US" b="1" dirty="0"/>
              <a:t>(context["</a:t>
            </a:r>
            <a:r>
              <a:rPr lang="en-US" b="1" dirty="0" err="1"/>
              <a:t>user_id</a:t>
            </a:r>
            <a:r>
              <a:rPr lang="en-US" b="1" dirty="0"/>
              <a:t>"])</a:t>
            </a:r>
          </a:p>
          <a:p>
            <a:pPr marL="0" indent="0">
              <a:buNone/>
            </a:pPr>
            <a:r>
              <a:rPr lang="en-US" b="1" dirty="0"/>
              <a:t>        </a:t>
            </a:r>
            <a:r>
              <a:rPr lang="en-US" b="1" dirty="0" err="1"/>
              <a:t>elif</a:t>
            </a:r>
            <a:r>
              <a:rPr lang="en-US" b="1" dirty="0"/>
              <a:t> action == "</a:t>
            </a:r>
            <a:r>
              <a:rPr lang="en-US" b="1" dirty="0" err="1"/>
              <a:t>generate_explanation</a:t>
            </a:r>
            <a:r>
              <a:rPr lang="en-US" b="1" dirty="0"/>
              <a:t>":</a:t>
            </a:r>
          </a:p>
          <a:p>
            <a:pPr marL="0" indent="0">
              <a:buNone/>
            </a:pPr>
            <a:r>
              <a:rPr lang="en-US" b="1" dirty="0"/>
              <a:t>            result = </a:t>
            </a:r>
            <a:r>
              <a:rPr lang="en-US" b="1" dirty="0" err="1"/>
              <a:t>llm.generate_response</a:t>
            </a:r>
            <a:r>
              <a:rPr lang="en-US" b="1" dirty="0"/>
              <a:t>(context, results)</a:t>
            </a:r>
          </a:p>
          <a:p>
            <a:pPr marL="0" indent="0">
              <a:buNone/>
            </a:pPr>
            <a:r>
              <a:rPr lang="en-US" b="1" dirty="0"/>
              <a:t>        </a:t>
            </a:r>
            <a:r>
              <a:rPr lang="en-US" b="1" dirty="0" err="1"/>
              <a:t>results.append</a:t>
            </a:r>
            <a:r>
              <a:rPr lang="en-US" b="1" dirty="0"/>
              <a:t>(result)</a:t>
            </a:r>
          </a:p>
          <a:p>
            <a:pPr marL="0" indent="0">
              <a:buNone/>
            </a:pPr>
            <a:r>
              <a:rPr lang="en-US" b="1" dirty="0"/>
              <a:t>    return results</a:t>
            </a:r>
          </a:p>
          <a:p>
            <a:endParaRPr lang="en-US" dirty="0"/>
          </a:p>
        </p:txBody>
      </p:sp>
      <p:sp>
        <p:nvSpPr>
          <p:cNvPr id="4" name="Slide Number Placeholder 3">
            <a:extLst>
              <a:ext uri="{FF2B5EF4-FFF2-40B4-BE49-F238E27FC236}">
                <a16:creationId xmlns:a16="http://schemas.microsoft.com/office/drawing/2014/main" id="{4D676D21-4240-5E84-B76E-ACDCBA820C06}"/>
              </a:ext>
            </a:extLst>
          </p:cNvPr>
          <p:cNvSpPr>
            <a:spLocks noGrp="1"/>
          </p:cNvSpPr>
          <p:nvPr>
            <p:ph type="sldNum" sz="quarter" idx="4"/>
          </p:nvPr>
        </p:nvSpPr>
        <p:spPr/>
        <p:txBody>
          <a:bodyPr/>
          <a:lstStyle/>
          <a:p>
            <a:fld id="{58FB4751-880F-D840-AAA9-3A15815CC996}" type="slidenum">
              <a:rPr lang="en-US" smtClean="0"/>
              <a:pPr/>
              <a:t>19</a:t>
            </a:fld>
            <a:endParaRPr lang="en-US" dirty="0"/>
          </a:p>
        </p:txBody>
      </p:sp>
    </p:spTree>
    <p:extLst>
      <p:ext uri="{BB962C8B-B14F-4D97-AF65-F5344CB8AC3E}">
        <p14:creationId xmlns:p14="http://schemas.microsoft.com/office/powerpoint/2010/main" val="36898143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C3EEE-BBEA-A1D7-9CA3-E5BA9028B630}"/>
              </a:ext>
            </a:extLst>
          </p:cNvPr>
          <p:cNvSpPr>
            <a:spLocks noGrp="1"/>
          </p:cNvSpPr>
          <p:nvPr>
            <p:ph type="title"/>
          </p:nvPr>
        </p:nvSpPr>
        <p:spPr>
          <a:xfrm>
            <a:off x="828675" y="0"/>
            <a:ext cx="7534656" cy="914400"/>
          </a:xfrm>
        </p:spPr>
        <p:txBody>
          <a:bodyPr/>
          <a:lstStyle/>
          <a:p>
            <a:r>
              <a:rPr lang="en-US" dirty="0"/>
              <a:t>Learning</a:t>
            </a:r>
          </a:p>
        </p:txBody>
      </p:sp>
      <p:sp>
        <p:nvSpPr>
          <p:cNvPr id="3" name="Content Placeholder 2">
            <a:extLst>
              <a:ext uri="{FF2B5EF4-FFF2-40B4-BE49-F238E27FC236}">
                <a16:creationId xmlns:a16="http://schemas.microsoft.com/office/drawing/2014/main" id="{F76717EA-29CF-9DFA-6043-7918DB3E9B78}"/>
              </a:ext>
            </a:extLst>
          </p:cNvPr>
          <p:cNvSpPr>
            <a:spLocks noGrp="1"/>
          </p:cNvSpPr>
          <p:nvPr>
            <p:ph sz="quarter" idx="10"/>
          </p:nvPr>
        </p:nvSpPr>
        <p:spPr>
          <a:xfrm>
            <a:off x="542925" y="1076325"/>
            <a:ext cx="10267949" cy="4972050"/>
          </a:xfrm>
        </p:spPr>
        <p:txBody>
          <a:bodyPr/>
          <a:lstStyle/>
          <a:p>
            <a:r>
              <a:rPr lang="en-US" b="1" dirty="0">
                <a:latin typeface="Abadi" panose="020B0604020104020204" pitchFamily="34" charset="0"/>
              </a:rPr>
              <a:t>Learning</a:t>
            </a:r>
            <a:r>
              <a:rPr lang="en-US" dirty="0">
                <a:latin typeface="Abadi" panose="020B0604020104020204" pitchFamily="34" charset="0"/>
              </a:rPr>
              <a:t> closes the loop by analyzing outcomes, measuring the success of actions, and updating internal models or memory stores. This feedback mechanism allows the agent to refine its behavior over time, improving performance based on both successes and failures.</a:t>
            </a:r>
          </a:p>
          <a:p>
            <a:r>
              <a:rPr lang="en-US" dirty="0"/>
              <a:t> </a:t>
            </a:r>
          </a:p>
          <a:p>
            <a:pPr marL="0" indent="0">
              <a:buNone/>
            </a:pPr>
            <a:r>
              <a:rPr lang="en-US" b="1" dirty="0"/>
              <a:t># Example: Learning from interaction</a:t>
            </a:r>
          </a:p>
          <a:p>
            <a:pPr marL="0" indent="0">
              <a:buNone/>
            </a:pPr>
            <a:r>
              <a:rPr lang="en-US" b="1" dirty="0"/>
              <a:t>def </a:t>
            </a:r>
            <a:r>
              <a:rPr lang="en-US" b="1" dirty="0" err="1"/>
              <a:t>learn_from_outcome</a:t>
            </a:r>
            <a:r>
              <a:rPr lang="en-US" b="1" dirty="0"/>
              <a:t>(</a:t>
            </a:r>
            <a:r>
              <a:rPr lang="en-US" b="1" dirty="0" err="1"/>
              <a:t>interaction_data</a:t>
            </a:r>
            <a:r>
              <a:rPr lang="en-US" b="1" dirty="0"/>
              <a:t>, </a:t>
            </a:r>
            <a:r>
              <a:rPr lang="en-US" b="1" dirty="0" err="1"/>
              <a:t>user_feedback</a:t>
            </a:r>
            <a:r>
              <a:rPr lang="en-US" b="1" dirty="0"/>
              <a:t>):</a:t>
            </a:r>
          </a:p>
          <a:p>
            <a:pPr marL="0" indent="0">
              <a:buNone/>
            </a:pPr>
            <a:r>
              <a:rPr lang="en-US" b="1" dirty="0"/>
              <a:t>    </a:t>
            </a:r>
            <a:r>
              <a:rPr lang="en-US" b="1" dirty="0" err="1"/>
              <a:t>success_score</a:t>
            </a:r>
            <a:r>
              <a:rPr lang="en-US" b="1" dirty="0"/>
              <a:t> = </a:t>
            </a:r>
            <a:r>
              <a:rPr lang="en-US" b="1" dirty="0" err="1"/>
              <a:t>calculate_success</a:t>
            </a:r>
            <a:r>
              <a:rPr lang="en-US" b="1" dirty="0"/>
              <a:t>(</a:t>
            </a:r>
            <a:r>
              <a:rPr lang="en-US" b="1" dirty="0" err="1"/>
              <a:t>user_feedback</a:t>
            </a:r>
            <a:r>
              <a:rPr lang="en-US" b="1" dirty="0"/>
              <a:t>)</a:t>
            </a:r>
          </a:p>
          <a:p>
            <a:pPr marL="0" indent="0">
              <a:buNone/>
            </a:pPr>
            <a:r>
              <a:rPr lang="en-US" b="1" dirty="0"/>
              <a:t>    </a:t>
            </a:r>
            <a:r>
              <a:rPr lang="en-US" b="1" dirty="0" err="1"/>
              <a:t>update_user_preferences</a:t>
            </a:r>
            <a:r>
              <a:rPr lang="en-US" b="1" dirty="0"/>
              <a:t>(</a:t>
            </a:r>
            <a:r>
              <a:rPr lang="en-US" b="1" dirty="0" err="1"/>
              <a:t>interaction_data</a:t>
            </a:r>
            <a:r>
              <a:rPr lang="en-US" b="1" dirty="0"/>
              <a:t>["</a:t>
            </a:r>
            <a:r>
              <a:rPr lang="en-US" b="1" dirty="0" err="1"/>
              <a:t>user_id</a:t>
            </a:r>
            <a:r>
              <a:rPr lang="en-US" b="1" dirty="0"/>
              <a:t>"], </a:t>
            </a:r>
            <a:r>
              <a:rPr lang="en-US" b="1" dirty="0" err="1"/>
              <a:t>success_score</a:t>
            </a:r>
            <a:r>
              <a:rPr lang="en-US" b="1" dirty="0"/>
              <a:t>)</a:t>
            </a:r>
          </a:p>
          <a:p>
            <a:pPr marL="0" indent="0">
              <a:buNone/>
            </a:pPr>
            <a:r>
              <a:rPr lang="en-US" b="1" dirty="0"/>
              <a:t>    if </a:t>
            </a:r>
            <a:r>
              <a:rPr lang="en-US" b="1" dirty="0" err="1"/>
              <a:t>success_score</a:t>
            </a:r>
            <a:r>
              <a:rPr lang="en-US" b="1" dirty="0"/>
              <a:t> &lt; 0.7:</a:t>
            </a:r>
          </a:p>
          <a:p>
            <a:pPr marL="0" indent="0">
              <a:buNone/>
            </a:pPr>
            <a:r>
              <a:rPr lang="en-US" b="1" dirty="0"/>
              <a:t>        </a:t>
            </a:r>
            <a:r>
              <a:rPr lang="en-US" b="1" dirty="0" err="1"/>
              <a:t>flag_for_model_improvement</a:t>
            </a:r>
            <a:r>
              <a:rPr lang="en-US" b="1" dirty="0"/>
              <a:t>(</a:t>
            </a:r>
            <a:r>
              <a:rPr lang="en-US" b="1" dirty="0" err="1"/>
              <a:t>interaction_data</a:t>
            </a:r>
            <a:r>
              <a:rPr lang="en-US" b="1" dirty="0"/>
              <a:t>)</a:t>
            </a:r>
          </a:p>
          <a:p>
            <a:endParaRPr lang="en-US" dirty="0"/>
          </a:p>
        </p:txBody>
      </p:sp>
      <p:sp>
        <p:nvSpPr>
          <p:cNvPr id="4" name="Slide Number Placeholder 3">
            <a:extLst>
              <a:ext uri="{FF2B5EF4-FFF2-40B4-BE49-F238E27FC236}">
                <a16:creationId xmlns:a16="http://schemas.microsoft.com/office/drawing/2014/main" id="{842180FF-0C37-4944-F32D-EACEC0D9353E}"/>
              </a:ext>
            </a:extLst>
          </p:cNvPr>
          <p:cNvSpPr>
            <a:spLocks noGrp="1"/>
          </p:cNvSpPr>
          <p:nvPr>
            <p:ph type="sldNum" sz="quarter" idx="4"/>
          </p:nvPr>
        </p:nvSpPr>
        <p:spPr/>
        <p:txBody>
          <a:bodyPr/>
          <a:lstStyle/>
          <a:p>
            <a:fld id="{58FB4751-880F-D840-AAA9-3A15815CC996}" type="slidenum">
              <a:rPr lang="en-US" smtClean="0"/>
              <a:pPr/>
              <a:t>20</a:t>
            </a:fld>
            <a:endParaRPr lang="en-US" dirty="0"/>
          </a:p>
        </p:txBody>
      </p:sp>
    </p:spTree>
    <p:extLst>
      <p:ext uri="{BB962C8B-B14F-4D97-AF65-F5344CB8AC3E}">
        <p14:creationId xmlns:p14="http://schemas.microsoft.com/office/powerpoint/2010/main" val="4129241750"/>
      </p:ext>
    </p:extLst>
  </p:cSld>
  <p:clrMapOvr>
    <a:masterClrMapping/>
  </p:clrMapOvr>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5DF9CEC-52C2-4D14-B2F5-11176002A8B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249AD37-9510-4A2D-B790-12C439A83F93}">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{3E0998BC-959F-44CC-A2C4-07763E6CD35D}TF1ed9553b-00c4-4092-846a-c8f7f2908f3beecd942f_win32-8e33096c3cfc</Template>
  <TotalTime>1604</TotalTime>
  <Words>1843</Words>
  <Application>Microsoft Office PowerPoint</Application>
  <PresentationFormat>Widescreen</PresentationFormat>
  <Paragraphs>138</Paragraphs>
  <Slides>20</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Abadi</vt:lpstr>
      <vt:lpstr>Arial</vt:lpstr>
      <vt:lpstr>Calibri</vt:lpstr>
      <vt:lpstr>Consolas</vt:lpstr>
      <vt:lpstr>Courier New</vt:lpstr>
      <vt:lpstr>Gill Sans Nova Light</vt:lpstr>
      <vt:lpstr>Noto Serif</vt:lpstr>
      <vt:lpstr>Sagona Book</vt:lpstr>
      <vt:lpstr>Custom</vt:lpstr>
      <vt:lpstr>Agentic AI:  From Traditional Software Systems to Autonomous AI Agents Systems</vt:lpstr>
      <vt:lpstr>The AI Agentic   Revolution</vt:lpstr>
      <vt:lpstr>A Turning Point in the History of Computing</vt:lpstr>
      <vt:lpstr>New Frameworks and Different Architectures </vt:lpstr>
      <vt:lpstr>Reconceptualization and  New Intelligent Behaviors</vt:lpstr>
      <vt:lpstr>What are AI Agents?</vt:lpstr>
      <vt:lpstr>The Implication of the Definition</vt:lpstr>
      <vt:lpstr>A Little Bit of History</vt:lpstr>
      <vt:lpstr>Evolutionary Trajectory</vt:lpstr>
      <vt:lpstr>PowerPoint Presentation</vt:lpstr>
      <vt:lpstr>Architecture of Agents</vt:lpstr>
      <vt:lpstr>Separating Concerns to Realize Cohesion</vt:lpstr>
      <vt:lpstr>The Cognitive Loop</vt:lpstr>
      <vt:lpstr>PowerPoint Presentation</vt:lpstr>
      <vt:lpstr>Phases of the Cognitive Systems</vt:lpstr>
      <vt:lpstr>Perception</vt:lpstr>
      <vt:lpstr>Reasoning</vt:lpstr>
      <vt:lpstr>Planning</vt:lpstr>
      <vt:lpstr>Action</vt:lpstr>
      <vt:lpstr>Learning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Prof Mohammed ELAffendi</dc:creator>
  <cp:lastModifiedBy>Prof Mohammed ELAffendi</cp:lastModifiedBy>
  <cp:revision>10</cp:revision>
  <dcterms:created xsi:type="dcterms:W3CDTF">2025-09-22T05:25:53Z</dcterms:created>
  <dcterms:modified xsi:type="dcterms:W3CDTF">2026-01-27T05:23:17Z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