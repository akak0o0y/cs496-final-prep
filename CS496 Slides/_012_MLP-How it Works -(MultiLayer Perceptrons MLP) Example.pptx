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5" r:id="rId4"/>
    <p:sldId id="276" r:id="rId5"/>
    <p:sldId id="277" r:id="rId6"/>
    <p:sldId id="278" r:id="rId7"/>
    <p:sldId id="258" r:id="rId8"/>
    <p:sldId id="259" r:id="rId9"/>
    <p:sldId id="260" r:id="rId10"/>
    <p:sldId id="261" r:id="rId11"/>
    <p:sldId id="262" r:id="rId12"/>
    <p:sldId id="263" r:id="rId13"/>
    <p:sldId id="264" r:id="rId14"/>
    <p:sldId id="265" r:id="rId15"/>
    <p:sldId id="267" r:id="rId16"/>
    <p:sldId id="268" r:id="rId17"/>
    <p:sldId id="270" r:id="rId18"/>
    <p:sldId id="269" r:id="rId19"/>
    <p:sldId id="271" r:id="rId20"/>
    <p:sldId id="272" r:id="rId21"/>
    <p:sldId id="273" r:id="rId22"/>
    <p:sldId id="266"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0" autoAdjust="0"/>
    <p:restoredTop sz="94660"/>
  </p:normalViewPr>
  <p:slideViewPr>
    <p:cSldViewPr snapToGrid="0">
      <p:cViewPr varScale="1">
        <p:scale>
          <a:sx n="84" d="100"/>
          <a:sy n="84" d="100"/>
        </p:scale>
        <p:origin x="51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9/16/2025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9/16/2025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9/16/2025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9/16/2025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9/16/2025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BAB45-4542-46A0-8F11-7E73E92F219D}"/>
              </a:ext>
            </a:extLst>
          </p:cNvPr>
          <p:cNvSpPr>
            <a:spLocks noGrp="1"/>
          </p:cNvSpPr>
          <p:nvPr>
            <p:ph type="ctrTitle"/>
          </p:nvPr>
        </p:nvSpPr>
        <p:spPr/>
        <p:txBody>
          <a:bodyPr/>
          <a:lstStyle/>
          <a:p>
            <a:r>
              <a:rPr lang="en-US" sz="4400" dirty="0"/>
              <a:t>DL2: How it Works? A Multilayer Perceptrons (MLP’s) Example</a:t>
            </a:r>
          </a:p>
        </p:txBody>
      </p:sp>
      <p:sp>
        <p:nvSpPr>
          <p:cNvPr id="3" name="Subtitle 2">
            <a:extLst>
              <a:ext uri="{FF2B5EF4-FFF2-40B4-BE49-F238E27FC236}">
                <a16:creationId xmlns:a16="http://schemas.microsoft.com/office/drawing/2014/main" id="{805B8921-1D7B-456A-81A8-869DEAF74C6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61319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AF51-7008-411C-A5C6-569E42E56B01}"/>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FE4ED942-7E7B-4380-B2A2-29B2B39C1F94}"/>
              </a:ext>
            </a:extLst>
          </p:cNvPr>
          <p:cNvSpPr>
            <a:spLocks noGrp="1"/>
          </p:cNvSpPr>
          <p:nvPr>
            <p:ph idx="1"/>
          </p:nvPr>
        </p:nvSpPr>
        <p:spPr>
          <a:xfrm>
            <a:off x="1371600" y="2286000"/>
            <a:ext cx="9601200" cy="4185138"/>
          </a:xfrm>
        </p:spPr>
        <p:txBody>
          <a:bodyPr>
            <a:normAutofit lnSpcReduction="10000"/>
          </a:bodyPr>
          <a:lstStyle/>
          <a:p>
            <a:r>
              <a:rPr lang="en-US" sz="2400" dirty="0"/>
              <a:t>In the previous lecture we broadly described neural networks as adaptive learning models based on the biological neuron model</a:t>
            </a:r>
          </a:p>
          <a:p>
            <a:r>
              <a:rPr lang="en-US" sz="2400" dirty="0"/>
              <a:t>In this lecture we describe the structure of a typical deep learning model using a simple MLP example, and describe how it works</a:t>
            </a:r>
          </a:p>
          <a:p>
            <a:r>
              <a:rPr lang="en-US" sz="2400" dirty="0"/>
              <a:t>A neural network usually consists of multiple interconnected layers, each layer consists of several neurons and feeds the next layer with some computed parameters</a:t>
            </a:r>
          </a:p>
          <a:p>
            <a:r>
              <a:rPr lang="en-US" sz="2400" dirty="0"/>
              <a:t>Data is passed at the input layer, then through all layers up to the output layer</a:t>
            </a:r>
          </a:p>
          <a:p>
            <a:r>
              <a:rPr lang="en-US" sz="2400" dirty="0"/>
              <a:t>In the process, the model learns how the input data is related to the expected outputs</a:t>
            </a:r>
          </a:p>
        </p:txBody>
      </p:sp>
    </p:spTree>
    <p:extLst>
      <p:ext uri="{BB962C8B-B14F-4D97-AF65-F5344CB8AC3E}">
        <p14:creationId xmlns:p14="http://schemas.microsoft.com/office/powerpoint/2010/main" val="4054885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B91B61-BFCA-4647-957E-A8269BE46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08CCEE-7697-24CA-90ED-A58029F7B25F}"/>
              </a:ext>
            </a:extLst>
          </p:cNvPr>
          <p:cNvSpPr>
            <a:spLocks noGrp="1"/>
          </p:cNvSpPr>
          <p:nvPr>
            <p:ph type="title"/>
          </p:nvPr>
        </p:nvSpPr>
        <p:spPr>
          <a:xfrm>
            <a:off x="5100824" y="685800"/>
            <a:ext cx="6176776" cy="1485900"/>
          </a:xfrm>
        </p:spPr>
        <p:txBody>
          <a:bodyPr>
            <a:normAutofit/>
          </a:bodyPr>
          <a:lstStyle/>
          <a:p>
            <a:r>
              <a:rPr lang="en-US" dirty="0"/>
              <a:t>DL Model Structure</a:t>
            </a:r>
          </a:p>
        </p:txBody>
      </p:sp>
      <p:pic>
        <p:nvPicPr>
          <p:cNvPr id="5" name="Picture 4" descr="Neuron system in yellow and light blue">
            <a:extLst>
              <a:ext uri="{FF2B5EF4-FFF2-40B4-BE49-F238E27FC236}">
                <a16:creationId xmlns:a16="http://schemas.microsoft.com/office/drawing/2014/main" id="{6B0CF2B8-5878-B653-C49B-5DDDB1D68358}"/>
              </a:ext>
            </a:extLst>
          </p:cNvPr>
          <p:cNvPicPr>
            <a:picLocks noChangeAspect="1"/>
          </p:cNvPicPr>
          <p:nvPr/>
        </p:nvPicPr>
        <p:blipFill rotWithShape="1">
          <a:blip r:embed="rId2"/>
          <a:srcRect l="28249" r="28226" b="1"/>
          <a:stretch/>
        </p:blipFill>
        <p:spPr>
          <a:xfrm>
            <a:off x="-1" y="10"/>
            <a:ext cx="4373546" cy="6857990"/>
          </a:xfrm>
          <a:prstGeom prst="rect">
            <a:avLst/>
          </a:prstGeom>
        </p:spPr>
      </p:pic>
      <p:sp>
        <p:nvSpPr>
          <p:cNvPr id="11" name="Rectangle 10">
            <a:extLst>
              <a:ext uri="{FF2B5EF4-FFF2-40B4-BE49-F238E27FC236}">
                <a16:creationId xmlns:a16="http://schemas.microsoft.com/office/drawing/2014/main" id="{92D1D7C6-1C89-420C-8D35-483654167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BBE3817-068A-C1A3-8F93-57F5D8B64045}"/>
              </a:ext>
            </a:extLst>
          </p:cNvPr>
          <p:cNvSpPr>
            <a:spLocks noGrp="1"/>
          </p:cNvSpPr>
          <p:nvPr>
            <p:ph idx="1"/>
          </p:nvPr>
        </p:nvSpPr>
        <p:spPr>
          <a:xfrm>
            <a:off x="4602145" y="1635369"/>
            <a:ext cx="7504863" cy="5152293"/>
          </a:xfrm>
        </p:spPr>
        <p:txBody>
          <a:bodyPr>
            <a:normAutofit/>
          </a:bodyPr>
          <a:lstStyle/>
          <a:p>
            <a:pPr marL="0" indent="0">
              <a:buNone/>
            </a:pPr>
            <a:r>
              <a:rPr lang="en-US" b="1" i="0" dirty="0">
                <a:effectLst/>
                <a:latin typeface="Söhne"/>
              </a:rPr>
              <a:t>Structure of a Deep Learning Model</a:t>
            </a:r>
            <a:r>
              <a:rPr lang="en-US" b="0" i="0" dirty="0">
                <a:effectLst/>
                <a:latin typeface="Söhne"/>
              </a:rPr>
              <a:t>: At its core, a deep learning model consists of layers of interconnected nodes, or neurons, which are modeled after biological neurons. These layers are typically organized into three types:</a:t>
            </a:r>
          </a:p>
          <a:p>
            <a:pPr>
              <a:buFont typeface="Arial" panose="020B0604020202020204" pitchFamily="34" charset="0"/>
              <a:buChar char="•"/>
            </a:pPr>
            <a:r>
              <a:rPr lang="en-US" b="1" i="0" dirty="0">
                <a:effectLst/>
                <a:latin typeface="Söhne"/>
              </a:rPr>
              <a:t>Input Layer</a:t>
            </a:r>
            <a:r>
              <a:rPr lang="en-US" b="0" i="0" dirty="0">
                <a:effectLst/>
                <a:latin typeface="Söhne"/>
              </a:rPr>
              <a:t>: This is where data enters the network. Each neuron in this layer represents a feature of the input data.</a:t>
            </a:r>
          </a:p>
          <a:p>
            <a:pPr>
              <a:buFont typeface="Arial" panose="020B0604020202020204" pitchFamily="34" charset="0"/>
              <a:buChar char="•"/>
            </a:pPr>
            <a:r>
              <a:rPr lang="en-US" b="1" i="0" dirty="0">
                <a:effectLst/>
                <a:latin typeface="Söhne"/>
              </a:rPr>
              <a:t>Hidden Layers</a:t>
            </a:r>
            <a:r>
              <a:rPr lang="en-US" b="0" i="0" dirty="0">
                <a:effectLst/>
                <a:latin typeface="Söhne"/>
              </a:rPr>
              <a:t>: Between the input and output layers, there are one or more hidden layers. These layers are where the complex computations and transformations of the data take place. Deep learning involves multiple hidden layers, hence the term 'deep'.</a:t>
            </a:r>
          </a:p>
          <a:p>
            <a:pPr>
              <a:buFont typeface="Arial" panose="020B0604020202020204" pitchFamily="34" charset="0"/>
              <a:buChar char="•"/>
            </a:pPr>
            <a:r>
              <a:rPr lang="en-US" b="1" i="0" dirty="0">
                <a:effectLst/>
                <a:latin typeface="Söhne"/>
              </a:rPr>
              <a:t>Output Layer</a:t>
            </a:r>
            <a:r>
              <a:rPr lang="en-US" b="0" i="0" dirty="0">
                <a:effectLst/>
                <a:latin typeface="Söhne"/>
              </a:rPr>
              <a:t>: This layer produces the final output of the model, which could be a class label (in classification), a continuous value (in regression), or something else depending on the task.</a:t>
            </a:r>
          </a:p>
          <a:p>
            <a:pPr marL="0" indent="0">
              <a:buNone/>
            </a:pPr>
            <a:endParaRPr lang="en-US" sz="1600" dirty="0"/>
          </a:p>
        </p:txBody>
      </p:sp>
    </p:spTree>
    <p:extLst>
      <p:ext uri="{BB962C8B-B14F-4D97-AF65-F5344CB8AC3E}">
        <p14:creationId xmlns:p14="http://schemas.microsoft.com/office/powerpoint/2010/main" val="1593389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5F79084-E805-48DA-8EAC-CD5FD493E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26" name="Picture 2" descr="Typical neural network structure. | Download Scientific Diagram">
            <a:extLst>
              <a:ext uri="{FF2B5EF4-FFF2-40B4-BE49-F238E27FC236}">
                <a16:creationId xmlns:a16="http://schemas.microsoft.com/office/drawing/2014/main" id="{75C11D2F-D399-C16A-11BB-164FB8AAE46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3249" b="1199"/>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44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4A7A5-0DA9-568C-E86F-0DE845C43CB4}"/>
              </a:ext>
            </a:extLst>
          </p:cNvPr>
          <p:cNvSpPr>
            <a:spLocks noGrp="1"/>
          </p:cNvSpPr>
          <p:nvPr>
            <p:ph type="title"/>
          </p:nvPr>
        </p:nvSpPr>
        <p:spPr/>
        <p:txBody>
          <a:bodyPr/>
          <a:lstStyle/>
          <a:p>
            <a:r>
              <a:rPr lang="en-US" dirty="0"/>
              <a:t>MLP Learning  Process (Backpropagation)</a:t>
            </a:r>
          </a:p>
        </p:txBody>
      </p:sp>
      <p:sp>
        <p:nvSpPr>
          <p:cNvPr id="3" name="Content Placeholder 2">
            <a:extLst>
              <a:ext uri="{FF2B5EF4-FFF2-40B4-BE49-F238E27FC236}">
                <a16:creationId xmlns:a16="http://schemas.microsoft.com/office/drawing/2014/main" id="{08B94615-B7E0-30F7-9A45-49F5E9EB6318}"/>
              </a:ext>
            </a:extLst>
          </p:cNvPr>
          <p:cNvSpPr>
            <a:spLocks noGrp="1"/>
          </p:cNvSpPr>
          <p:nvPr>
            <p:ph idx="1"/>
          </p:nvPr>
        </p:nvSpPr>
        <p:spPr>
          <a:xfrm>
            <a:off x="967155" y="2286000"/>
            <a:ext cx="11224846" cy="4572000"/>
          </a:xfrm>
        </p:spPr>
        <p:txBody>
          <a:bodyPr>
            <a:normAutofit fontScale="92500" lnSpcReduction="10000"/>
          </a:bodyPr>
          <a:lstStyle/>
          <a:p>
            <a:pPr algn="l">
              <a:buFont typeface="Arial" panose="020B0604020202020204" pitchFamily="34" charset="0"/>
              <a:buChar char="•"/>
            </a:pPr>
            <a:r>
              <a:rPr lang="en-US" sz="3200" dirty="0">
                <a:solidFill>
                  <a:srgbClr val="374151"/>
                </a:solidFill>
                <a:latin typeface="Söhne"/>
              </a:rPr>
              <a:t>While </a:t>
            </a:r>
            <a:r>
              <a:rPr lang="en-US" sz="3200" b="0" i="0" dirty="0">
                <a:solidFill>
                  <a:srgbClr val="374151"/>
                </a:solidFill>
                <a:effectLst/>
                <a:latin typeface="Söhne"/>
              </a:rPr>
              <a:t>the data is passed through the network, the “model's output” is compared to the “desired output”, and the difference is measured using a </a:t>
            </a:r>
            <a:r>
              <a:rPr lang="en-US" sz="3200" b="1" i="0" dirty="0">
                <a:solidFill>
                  <a:srgbClr val="374151"/>
                </a:solidFill>
                <a:effectLst/>
                <a:latin typeface="Söhne"/>
              </a:rPr>
              <a:t>loss function.</a:t>
            </a:r>
          </a:p>
          <a:p>
            <a:pPr algn="l">
              <a:buFont typeface="Arial" panose="020B0604020202020204" pitchFamily="34" charset="0"/>
              <a:buChar char="•"/>
            </a:pPr>
            <a:r>
              <a:rPr lang="en-US" sz="3200" b="0" i="0" dirty="0">
                <a:solidFill>
                  <a:srgbClr val="374151"/>
                </a:solidFill>
                <a:effectLst/>
                <a:latin typeface="Söhne"/>
              </a:rPr>
              <a:t>The model learns by adjusting the </a:t>
            </a:r>
            <a:r>
              <a:rPr lang="en-US" sz="3200" b="1" i="0" dirty="0">
                <a:solidFill>
                  <a:srgbClr val="374151"/>
                </a:solidFill>
                <a:effectLst/>
                <a:latin typeface="Söhne"/>
              </a:rPr>
              <a:t>weights</a:t>
            </a:r>
            <a:r>
              <a:rPr lang="en-US" sz="3200" b="0" i="0" dirty="0">
                <a:solidFill>
                  <a:srgbClr val="374151"/>
                </a:solidFill>
                <a:effectLst/>
                <a:latin typeface="Söhne"/>
              </a:rPr>
              <a:t> and </a:t>
            </a:r>
            <a:r>
              <a:rPr lang="en-US" sz="3200" b="1" i="0" dirty="0">
                <a:solidFill>
                  <a:srgbClr val="374151"/>
                </a:solidFill>
                <a:effectLst/>
                <a:latin typeface="Söhne"/>
              </a:rPr>
              <a:t>biases</a:t>
            </a:r>
            <a:r>
              <a:rPr lang="en-US" sz="3200" b="0" i="0" dirty="0">
                <a:solidFill>
                  <a:srgbClr val="374151"/>
                </a:solidFill>
                <a:effectLst/>
                <a:latin typeface="Söhne"/>
              </a:rPr>
              <a:t> to minimize this loss. </a:t>
            </a:r>
          </a:p>
          <a:p>
            <a:pPr algn="l">
              <a:buFont typeface="Arial" panose="020B0604020202020204" pitchFamily="34" charset="0"/>
              <a:buChar char="•"/>
            </a:pPr>
            <a:r>
              <a:rPr lang="en-US" sz="3200" b="0" i="0" dirty="0">
                <a:solidFill>
                  <a:srgbClr val="374151"/>
                </a:solidFill>
                <a:effectLst/>
                <a:latin typeface="Söhne"/>
              </a:rPr>
              <a:t>This is done through a process called </a:t>
            </a:r>
            <a:r>
              <a:rPr lang="en-US" sz="3200" b="1" i="0" dirty="0">
                <a:solidFill>
                  <a:srgbClr val="374151"/>
                </a:solidFill>
                <a:effectLst/>
                <a:latin typeface="Söhne"/>
              </a:rPr>
              <a:t>backpropagation</a:t>
            </a:r>
            <a:r>
              <a:rPr lang="en-US" sz="3200" b="0" i="0" dirty="0">
                <a:solidFill>
                  <a:srgbClr val="374151"/>
                </a:solidFill>
                <a:effectLst/>
                <a:latin typeface="Söhne"/>
              </a:rPr>
              <a:t>, where the error is </a:t>
            </a:r>
            <a:r>
              <a:rPr lang="en-US" sz="3200" b="1" i="0" dirty="0">
                <a:solidFill>
                  <a:srgbClr val="374151"/>
                </a:solidFill>
                <a:effectLst/>
                <a:latin typeface="Söhne"/>
              </a:rPr>
              <a:t>propagated back</a:t>
            </a:r>
            <a:r>
              <a:rPr lang="en-US" sz="3200" b="0" i="0" dirty="0">
                <a:solidFill>
                  <a:srgbClr val="374151"/>
                </a:solidFill>
                <a:effectLst/>
                <a:latin typeface="Söhne"/>
              </a:rPr>
              <a:t> through the network, allowing the model to understand which weights and biases need to be adjusted.</a:t>
            </a:r>
          </a:p>
          <a:p>
            <a:pPr algn="l">
              <a:buFont typeface="Arial" panose="020B0604020202020204" pitchFamily="34" charset="0"/>
              <a:buChar char="•"/>
            </a:pPr>
            <a:r>
              <a:rPr lang="en-US" sz="3200" b="0" i="0" dirty="0">
                <a:solidFill>
                  <a:srgbClr val="374151"/>
                </a:solidFill>
                <a:effectLst/>
                <a:latin typeface="Söhne"/>
              </a:rPr>
              <a:t>An optimization algorithm, like </a:t>
            </a:r>
            <a:r>
              <a:rPr lang="en-US" sz="3200" b="1" i="0" dirty="0">
                <a:solidFill>
                  <a:srgbClr val="374151"/>
                </a:solidFill>
                <a:effectLst/>
                <a:latin typeface="Söhne"/>
              </a:rPr>
              <a:t>stochastic gradient descent</a:t>
            </a:r>
            <a:r>
              <a:rPr lang="en-US" sz="3200" b="0" i="0" dirty="0">
                <a:solidFill>
                  <a:srgbClr val="374151"/>
                </a:solidFill>
                <a:effectLst/>
                <a:latin typeface="Söhne"/>
              </a:rPr>
              <a:t>, is used to make these adjustments in an efficient manner.</a:t>
            </a:r>
          </a:p>
          <a:p>
            <a:endParaRPr lang="en-US" b="1" dirty="0"/>
          </a:p>
        </p:txBody>
      </p:sp>
    </p:spTree>
    <p:extLst>
      <p:ext uri="{BB962C8B-B14F-4D97-AF65-F5344CB8AC3E}">
        <p14:creationId xmlns:p14="http://schemas.microsoft.com/office/powerpoint/2010/main" val="3733697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4702F-6A5A-E88A-5AA2-30C3234FEF2D}"/>
              </a:ext>
            </a:extLst>
          </p:cNvPr>
          <p:cNvSpPr>
            <a:spLocks noGrp="1"/>
          </p:cNvSpPr>
          <p:nvPr>
            <p:ph type="title"/>
          </p:nvPr>
        </p:nvSpPr>
        <p:spPr/>
        <p:txBody>
          <a:bodyPr/>
          <a:lstStyle/>
          <a:p>
            <a:r>
              <a:rPr lang="en-US" dirty="0"/>
              <a:t>Tasks</a:t>
            </a:r>
          </a:p>
        </p:txBody>
      </p:sp>
      <p:sp>
        <p:nvSpPr>
          <p:cNvPr id="3" name="Content Placeholder 2">
            <a:extLst>
              <a:ext uri="{FF2B5EF4-FFF2-40B4-BE49-F238E27FC236}">
                <a16:creationId xmlns:a16="http://schemas.microsoft.com/office/drawing/2014/main" id="{F53C59A2-58BD-7DD6-A5DC-3362E1DBC0FE}"/>
              </a:ext>
            </a:extLst>
          </p:cNvPr>
          <p:cNvSpPr>
            <a:spLocks noGrp="1"/>
          </p:cNvSpPr>
          <p:nvPr>
            <p:ph idx="1"/>
          </p:nvPr>
        </p:nvSpPr>
        <p:spPr>
          <a:xfrm>
            <a:off x="1371600" y="1855177"/>
            <a:ext cx="9601200" cy="4932485"/>
          </a:xfrm>
        </p:spPr>
        <p:txBody>
          <a:bodyPr/>
          <a:lstStyle/>
          <a:p>
            <a:pPr algn="l">
              <a:buFont typeface="Arial" panose="020B0604020202020204" pitchFamily="34" charset="0"/>
              <a:buChar char="•"/>
            </a:pPr>
            <a:r>
              <a:rPr lang="en-US" sz="2400" b="1" i="0" dirty="0">
                <a:solidFill>
                  <a:srgbClr val="374151"/>
                </a:solidFill>
                <a:effectLst/>
                <a:latin typeface="Söhne"/>
              </a:rPr>
              <a:t>Detection</a:t>
            </a:r>
            <a:r>
              <a:rPr lang="en-US" sz="2400" b="0" i="0" dirty="0">
                <a:solidFill>
                  <a:srgbClr val="374151"/>
                </a:solidFill>
                <a:effectLst/>
                <a:latin typeface="Söhne"/>
              </a:rPr>
              <a:t>: In tasks like object detection in images, the network learns to identify the presence and location of objects within an image. This involves both classifying the type of objects and localizing them within the image.</a:t>
            </a:r>
          </a:p>
          <a:p>
            <a:pPr algn="l">
              <a:buFont typeface="Arial" panose="020B0604020202020204" pitchFamily="34" charset="0"/>
              <a:buChar char="•"/>
            </a:pPr>
            <a:r>
              <a:rPr lang="en-US" sz="2400" b="1" i="0" dirty="0">
                <a:solidFill>
                  <a:srgbClr val="374151"/>
                </a:solidFill>
                <a:effectLst/>
                <a:latin typeface="Söhne"/>
              </a:rPr>
              <a:t>Classification</a:t>
            </a:r>
            <a:r>
              <a:rPr lang="en-US" sz="2400" b="0" i="0" dirty="0">
                <a:solidFill>
                  <a:srgbClr val="374151"/>
                </a:solidFill>
                <a:effectLst/>
                <a:latin typeface="Söhne"/>
              </a:rPr>
              <a:t>: In classification tasks, the network categorizes input data into predefined classes. For example, it might classify images as cats or dogs.</a:t>
            </a:r>
          </a:p>
          <a:p>
            <a:pPr algn="l">
              <a:buFont typeface="Arial" panose="020B0604020202020204" pitchFamily="34" charset="0"/>
              <a:buChar char="•"/>
            </a:pPr>
            <a:r>
              <a:rPr lang="en-US" sz="2400" b="1" i="0" dirty="0">
                <a:solidFill>
                  <a:srgbClr val="374151"/>
                </a:solidFill>
                <a:effectLst/>
                <a:latin typeface="Söhne"/>
              </a:rPr>
              <a:t>Prediction</a:t>
            </a:r>
            <a:r>
              <a:rPr lang="en-US" sz="2400" b="0" i="0" dirty="0">
                <a:solidFill>
                  <a:srgbClr val="374151"/>
                </a:solidFill>
                <a:effectLst/>
                <a:latin typeface="Söhne"/>
              </a:rPr>
              <a:t>: In predictive tasks, the network makes predictions about future data points based on learned patterns from past data. This is common in time series analysis, like stock price prediction.</a:t>
            </a:r>
          </a:p>
          <a:p>
            <a:pPr algn="l">
              <a:buFont typeface="Arial" panose="020B0604020202020204" pitchFamily="34" charset="0"/>
              <a:buChar char="•"/>
            </a:pPr>
            <a:r>
              <a:rPr lang="en-US" sz="2400" b="1" dirty="0">
                <a:solidFill>
                  <a:srgbClr val="374151"/>
                </a:solidFill>
                <a:latin typeface="Söhne"/>
              </a:rPr>
              <a:t>Generation</a:t>
            </a:r>
            <a:r>
              <a:rPr lang="en-US" sz="2400" dirty="0">
                <a:solidFill>
                  <a:srgbClr val="374151"/>
                </a:solidFill>
                <a:latin typeface="Söhne"/>
              </a:rPr>
              <a:t>: Generating New Novel Content</a:t>
            </a:r>
            <a:endParaRPr lang="en-US" sz="2400" b="0" i="0" dirty="0">
              <a:solidFill>
                <a:srgbClr val="374151"/>
              </a:solidFill>
              <a:effectLst/>
              <a:latin typeface="Söhne"/>
            </a:endParaRPr>
          </a:p>
          <a:p>
            <a:endParaRPr lang="en-US" dirty="0"/>
          </a:p>
        </p:txBody>
      </p:sp>
    </p:spTree>
    <p:extLst>
      <p:ext uri="{BB962C8B-B14F-4D97-AF65-F5344CB8AC3E}">
        <p14:creationId xmlns:p14="http://schemas.microsoft.com/office/powerpoint/2010/main" val="227082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D9D6BF1-DFF2-4526-9D13-BF339D8C41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0" name="Freeform 6">
              <a:extLst>
                <a:ext uri="{FF2B5EF4-FFF2-40B4-BE49-F238E27FC236}">
                  <a16:creationId xmlns:a16="http://schemas.microsoft.com/office/drawing/2014/main" id="{A54D4DB6-FB18-4CAE-8905-E0053C925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1" name="Freeform 6">
              <a:extLst>
                <a:ext uri="{FF2B5EF4-FFF2-40B4-BE49-F238E27FC236}">
                  <a16:creationId xmlns:a16="http://schemas.microsoft.com/office/drawing/2014/main" id="{1DBD6488-9429-4FFA-8AE8-C4022C39B0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p:nvSpPr>
          <p:cNvPr id="13" name="Rectangle 12">
            <a:extLst>
              <a:ext uri="{FF2B5EF4-FFF2-40B4-BE49-F238E27FC236}">
                <a16:creationId xmlns:a16="http://schemas.microsoft.com/office/drawing/2014/main" id="{56C94072-1B34-48FB-9A9C-5A9A0FFC8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http://adventuresinmachinelearning.com/wp-content/uploads/2017/03/Three-layer-network.png">
            <a:extLst>
              <a:ext uri="{FF2B5EF4-FFF2-40B4-BE49-F238E27FC236}">
                <a16:creationId xmlns:a16="http://schemas.microsoft.com/office/drawing/2014/main" id="{4FD3B05C-491B-432C-BBBD-57F6BF4737DE}"/>
              </a:ext>
            </a:extLst>
          </p:cNvPr>
          <p:cNvPicPr>
            <a:picLocks noGrp="1"/>
          </p:cNvPicPr>
          <p:nvPr>
            <p:ph idx="1"/>
          </p:nvPr>
        </p:nvPicPr>
        <p:blipFill rotWithShape="1">
          <a:blip r:embed="rId2">
            <a:extLst>
              <a:ext uri="{28A0092B-C50C-407E-A947-70E740481C1C}">
                <a14:useLocalDpi xmlns:a14="http://schemas.microsoft.com/office/drawing/2010/main" val="0"/>
              </a:ext>
            </a:extLst>
          </a:blip>
          <a:srcRect r="6149" b="1"/>
          <a:stretch/>
        </p:blipFill>
        <p:spPr bwMode="auto">
          <a:xfrm>
            <a:off x="20" y="10"/>
            <a:ext cx="12191980" cy="6857990"/>
          </a:xfrm>
          <a:prstGeom prst="rect">
            <a:avLst/>
          </a:prstGeom>
          <a:noFill/>
        </p:spPr>
      </p:pic>
      <p:sp>
        <p:nvSpPr>
          <p:cNvPr id="15" name="Rectangle 14">
            <a:extLst>
              <a:ext uri="{FF2B5EF4-FFF2-40B4-BE49-F238E27FC236}">
                <a16:creationId xmlns:a16="http://schemas.microsoft.com/office/drawing/2014/main" id="{1D5941F3-0256-4E90-BBBC-5A6EDEB8E0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C5C0B0-29B1-480F-A489-E587D8E59B44}"/>
              </a:ext>
            </a:extLst>
          </p:cNvPr>
          <p:cNvSpPr>
            <a:spLocks noGrp="1"/>
          </p:cNvSpPr>
          <p:nvPr>
            <p:ph type="title"/>
          </p:nvPr>
        </p:nvSpPr>
        <p:spPr>
          <a:xfrm>
            <a:off x="6298010" y="4333009"/>
            <a:ext cx="5268177" cy="1086237"/>
          </a:xfrm>
        </p:spPr>
        <p:txBody>
          <a:bodyPr vert="horz" lIns="91440" tIns="45720" rIns="91440" bIns="45720" rtlCol="0" anchor="b">
            <a:normAutofit/>
          </a:bodyPr>
          <a:lstStyle/>
          <a:p>
            <a:r>
              <a:rPr lang="en-US" sz="3600" cap="all">
                <a:solidFill>
                  <a:srgbClr val="FFFFFF"/>
                </a:solidFill>
              </a:rPr>
              <a:t>A Simple Example</a:t>
            </a:r>
          </a:p>
        </p:txBody>
      </p:sp>
      <p:sp>
        <p:nvSpPr>
          <p:cNvPr id="17" name="Freeform: Shape 16">
            <a:extLst>
              <a:ext uri="{FF2B5EF4-FFF2-40B4-BE49-F238E27FC236}">
                <a16:creationId xmlns:a16="http://schemas.microsoft.com/office/drawing/2014/main" id="{A5019358-4900-4555-99FF-EF6AE90B8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txBody>
          <a:bodyPr/>
          <a:lstStyle/>
          <a:p>
            <a:endParaRPr lang="en-US"/>
          </a:p>
        </p:txBody>
      </p:sp>
    </p:spTree>
    <p:extLst>
      <p:ext uri="{BB962C8B-B14F-4D97-AF65-F5344CB8AC3E}">
        <p14:creationId xmlns:p14="http://schemas.microsoft.com/office/powerpoint/2010/main" val="665914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DEF0-6907-44ED-92F7-59C8E1F60B34}"/>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AB9F706B-4BBA-4242-9F06-B90C77FAC364}"/>
              </a:ext>
            </a:extLst>
          </p:cNvPr>
          <p:cNvSpPr>
            <a:spLocks noGrp="1"/>
          </p:cNvSpPr>
          <p:nvPr>
            <p:ph idx="1"/>
          </p:nvPr>
        </p:nvSpPr>
        <p:spPr/>
        <p:txBody>
          <a:bodyPr>
            <a:normAutofit/>
          </a:bodyPr>
          <a:lstStyle/>
          <a:p>
            <a:pPr marL="0" indent="0">
              <a:buNone/>
            </a:pPr>
            <a:r>
              <a:rPr lang="en-US" sz="2800" dirty="0"/>
              <a:t>To Learn. The ANN needs:</a:t>
            </a:r>
          </a:p>
          <a:p>
            <a:r>
              <a:rPr lang="en-US" sz="2800" dirty="0"/>
              <a:t>A Learning process</a:t>
            </a:r>
          </a:p>
          <a:p>
            <a:r>
              <a:rPr lang="en-US" sz="2800" dirty="0"/>
              <a:t>A Learning (optimization) algorithm</a:t>
            </a:r>
          </a:p>
          <a:p>
            <a:r>
              <a:rPr lang="en-US" sz="2800" dirty="0"/>
              <a:t>A loss (cost function) to measure the difference between actual and expected results</a:t>
            </a:r>
          </a:p>
          <a:p>
            <a:r>
              <a:rPr lang="en-US" sz="2800" dirty="0"/>
              <a:t>An activation function to control the learning rate </a:t>
            </a:r>
          </a:p>
        </p:txBody>
      </p:sp>
    </p:spTree>
    <p:extLst>
      <p:ext uri="{BB962C8B-B14F-4D97-AF65-F5344CB8AC3E}">
        <p14:creationId xmlns:p14="http://schemas.microsoft.com/office/powerpoint/2010/main" val="2307361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51DB-E1DC-438E-B78A-05810C51C8F5}"/>
              </a:ext>
            </a:extLst>
          </p:cNvPr>
          <p:cNvSpPr>
            <a:spLocks noGrp="1"/>
          </p:cNvSpPr>
          <p:nvPr>
            <p:ph type="title"/>
          </p:nvPr>
        </p:nvSpPr>
        <p:spPr/>
        <p:txBody>
          <a:bodyPr/>
          <a:lstStyle/>
          <a:p>
            <a:r>
              <a:rPr lang="en-US" dirty="0"/>
              <a:t>MLP’s</a:t>
            </a:r>
          </a:p>
        </p:txBody>
      </p:sp>
      <p:sp>
        <p:nvSpPr>
          <p:cNvPr id="3" name="Content Placeholder 2">
            <a:extLst>
              <a:ext uri="{FF2B5EF4-FFF2-40B4-BE49-F238E27FC236}">
                <a16:creationId xmlns:a16="http://schemas.microsoft.com/office/drawing/2014/main" id="{8DEC2519-9D52-44F2-8CE3-5B969379AE73}"/>
              </a:ext>
            </a:extLst>
          </p:cNvPr>
          <p:cNvSpPr>
            <a:spLocks noGrp="1"/>
          </p:cNvSpPr>
          <p:nvPr>
            <p:ph idx="1"/>
          </p:nvPr>
        </p:nvSpPr>
        <p:spPr/>
        <p:txBody>
          <a:bodyPr>
            <a:normAutofit/>
          </a:bodyPr>
          <a:lstStyle/>
          <a:p>
            <a:r>
              <a:rPr lang="en-US" sz="2800" dirty="0"/>
              <a:t>There are many types of neural network models – and many more will be appearing over the years</a:t>
            </a:r>
          </a:p>
          <a:p>
            <a:r>
              <a:rPr lang="en-US" sz="2800" dirty="0"/>
              <a:t>The most popular, basic  ANN model is the MLP</a:t>
            </a:r>
          </a:p>
          <a:p>
            <a:r>
              <a:rPr lang="en-US" sz="2800" dirty="0"/>
              <a:t>Consists of one input layer, one output layer and many hidden layers (from 1 to n)</a:t>
            </a:r>
          </a:p>
        </p:txBody>
      </p:sp>
    </p:spTree>
    <p:extLst>
      <p:ext uri="{BB962C8B-B14F-4D97-AF65-F5344CB8AC3E}">
        <p14:creationId xmlns:p14="http://schemas.microsoft.com/office/powerpoint/2010/main" val="2807960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E2B0-F0BE-4D9A-9558-31CA2C29BF7C}"/>
              </a:ext>
            </a:extLst>
          </p:cNvPr>
          <p:cNvSpPr>
            <a:spLocks noGrp="1"/>
          </p:cNvSpPr>
          <p:nvPr>
            <p:ph type="title"/>
          </p:nvPr>
        </p:nvSpPr>
        <p:spPr/>
        <p:txBody>
          <a:bodyPr/>
          <a:lstStyle/>
          <a:p>
            <a:r>
              <a:rPr lang="en-US" dirty="0"/>
              <a:t>A Simple MLP with one Hidden Layer</a:t>
            </a:r>
          </a:p>
        </p:txBody>
      </p:sp>
      <p:pic>
        <p:nvPicPr>
          <p:cNvPr id="4" name="Content Placeholder 3" descr="http://adventuresinmachinelearning.com/wp-content/uploads/2017/03/Three-layer-network.png">
            <a:extLst>
              <a:ext uri="{FF2B5EF4-FFF2-40B4-BE49-F238E27FC236}">
                <a16:creationId xmlns:a16="http://schemas.microsoft.com/office/drawing/2014/main" id="{EDDF9B32-2329-4010-A79B-BB6B7F3982C5}"/>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0108" y="1881554"/>
            <a:ext cx="7517423" cy="4185138"/>
          </a:xfrm>
          <a:prstGeom prst="rect">
            <a:avLst/>
          </a:prstGeom>
          <a:noFill/>
          <a:ln>
            <a:noFill/>
          </a:ln>
        </p:spPr>
      </p:pic>
    </p:spTree>
    <p:extLst>
      <p:ext uri="{BB962C8B-B14F-4D97-AF65-F5344CB8AC3E}">
        <p14:creationId xmlns:p14="http://schemas.microsoft.com/office/powerpoint/2010/main" val="977119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40CC-2D0D-40E7-A07B-62D984B56136}"/>
              </a:ext>
            </a:extLst>
          </p:cNvPr>
          <p:cNvSpPr>
            <a:spLocks noGrp="1"/>
          </p:cNvSpPr>
          <p:nvPr>
            <p:ph type="title"/>
          </p:nvPr>
        </p:nvSpPr>
        <p:spPr/>
        <p:txBody>
          <a:bodyPr/>
          <a:lstStyle/>
          <a:p>
            <a:r>
              <a:rPr lang="en-US" dirty="0"/>
              <a:t>The Perceptron</a:t>
            </a:r>
          </a:p>
        </p:txBody>
      </p:sp>
      <p:pic>
        <p:nvPicPr>
          <p:cNvPr id="4" name="Content Placeholder 3" descr="http://adventuresinmachinelearning.com/wp-content/uploads/2017/03/Node-diagram.jpg">
            <a:extLst>
              <a:ext uri="{FF2B5EF4-FFF2-40B4-BE49-F238E27FC236}">
                <a16:creationId xmlns:a16="http://schemas.microsoft.com/office/drawing/2014/main" id="{007212E1-9C44-489E-8E6D-F1E4B36E26B8}"/>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84639" y="1723293"/>
            <a:ext cx="5838392" cy="2662970"/>
          </a:xfrm>
          <a:prstGeom prst="rect">
            <a:avLst/>
          </a:prstGeom>
          <a:noFill/>
          <a:ln>
            <a:noFill/>
          </a:ln>
        </p:spPr>
      </p:pic>
      <p:sp>
        <p:nvSpPr>
          <p:cNvPr id="5" name="Rectangle 4">
            <a:extLst>
              <a:ext uri="{FF2B5EF4-FFF2-40B4-BE49-F238E27FC236}">
                <a16:creationId xmlns:a16="http://schemas.microsoft.com/office/drawing/2014/main" id="{E791A46C-69D7-4B34-8146-51F49BDE9E58}"/>
              </a:ext>
            </a:extLst>
          </p:cNvPr>
          <p:cNvSpPr/>
          <p:nvPr/>
        </p:nvSpPr>
        <p:spPr>
          <a:xfrm>
            <a:off x="2649667" y="4981433"/>
            <a:ext cx="3914906" cy="523220"/>
          </a:xfrm>
          <a:prstGeom prst="rect">
            <a:avLst/>
          </a:prstGeom>
        </p:spPr>
        <p:txBody>
          <a:bodyPr wrap="square">
            <a:spAutoFit/>
          </a:bodyPr>
          <a:lstStyle/>
          <a:p>
            <a:r>
              <a:rPr lang="pl-PL" sz="2800" i="1" dirty="0">
                <a:solidFill>
                  <a:srgbClr val="000000"/>
                </a:solidFill>
                <a:latin typeface="MathJax_Math"/>
              </a:rPr>
              <a:t>h=x</a:t>
            </a:r>
            <a:r>
              <a:rPr lang="pl-PL" sz="2800" baseline="-25000" dirty="0">
                <a:solidFill>
                  <a:srgbClr val="000000"/>
                </a:solidFill>
                <a:latin typeface="MathJax_Main"/>
              </a:rPr>
              <a:t>1</a:t>
            </a:r>
            <a:r>
              <a:rPr lang="pl-PL" sz="2800" i="1" dirty="0">
                <a:solidFill>
                  <a:srgbClr val="000000"/>
                </a:solidFill>
                <a:latin typeface="MathJax_Math"/>
              </a:rPr>
              <a:t>w</a:t>
            </a:r>
            <a:r>
              <a:rPr lang="pl-PL" sz="2800" baseline="-25000" dirty="0">
                <a:solidFill>
                  <a:srgbClr val="000000"/>
                </a:solidFill>
                <a:latin typeface="MathJax_Main"/>
              </a:rPr>
              <a:t>1</a:t>
            </a:r>
            <a:r>
              <a:rPr lang="pl-PL" sz="2800" dirty="0">
                <a:solidFill>
                  <a:srgbClr val="000000"/>
                </a:solidFill>
                <a:latin typeface="MathJax_Main"/>
              </a:rPr>
              <a:t>+</a:t>
            </a:r>
            <a:r>
              <a:rPr lang="pl-PL" sz="2800" i="1" dirty="0">
                <a:solidFill>
                  <a:srgbClr val="000000"/>
                </a:solidFill>
                <a:latin typeface="MathJax_Math"/>
              </a:rPr>
              <a:t>x</a:t>
            </a:r>
            <a:r>
              <a:rPr lang="pl-PL" sz="2800" baseline="-25000" dirty="0">
                <a:solidFill>
                  <a:srgbClr val="000000"/>
                </a:solidFill>
                <a:latin typeface="MathJax_Main"/>
              </a:rPr>
              <a:t>2</a:t>
            </a:r>
            <a:r>
              <a:rPr lang="pl-PL" sz="2800" i="1" dirty="0">
                <a:solidFill>
                  <a:srgbClr val="000000"/>
                </a:solidFill>
                <a:latin typeface="MathJax_Math"/>
              </a:rPr>
              <a:t>w</a:t>
            </a:r>
            <a:r>
              <a:rPr lang="pl-PL" sz="2800" baseline="-25000" dirty="0">
                <a:solidFill>
                  <a:srgbClr val="000000"/>
                </a:solidFill>
                <a:latin typeface="MathJax_Main"/>
              </a:rPr>
              <a:t>2</a:t>
            </a:r>
            <a:r>
              <a:rPr lang="pl-PL" sz="2800" dirty="0">
                <a:solidFill>
                  <a:srgbClr val="000000"/>
                </a:solidFill>
                <a:latin typeface="MathJax_Main"/>
              </a:rPr>
              <a:t>+</a:t>
            </a:r>
            <a:r>
              <a:rPr lang="pl-PL" sz="2800" i="1" dirty="0">
                <a:solidFill>
                  <a:srgbClr val="000000"/>
                </a:solidFill>
                <a:latin typeface="MathJax_Math"/>
              </a:rPr>
              <a:t>x</a:t>
            </a:r>
            <a:r>
              <a:rPr lang="pl-PL" sz="2800" baseline="-25000" dirty="0">
                <a:solidFill>
                  <a:srgbClr val="000000"/>
                </a:solidFill>
                <a:latin typeface="MathJax_Main"/>
              </a:rPr>
              <a:t>3</a:t>
            </a:r>
            <a:r>
              <a:rPr lang="pl-PL" sz="2800" i="1" dirty="0">
                <a:solidFill>
                  <a:srgbClr val="000000"/>
                </a:solidFill>
                <a:latin typeface="MathJax_Math"/>
              </a:rPr>
              <a:t>w</a:t>
            </a:r>
            <a:r>
              <a:rPr lang="pl-PL" sz="2800" baseline="-25000" dirty="0">
                <a:solidFill>
                  <a:srgbClr val="000000"/>
                </a:solidFill>
                <a:latin typeface="MathJax_Main"/>
              </a:rPr>
              <a:t>3</a:t>
            </a:r>
            <a:r>
              <a:rPr lang="pl-PL" sz="2800" dirty="0">
                <a:solidFill>
                  <a:srgbClr val="000000"/>
                </a:solidFill>
                <a:latin typeface="MathJax_Main"/>
              </a:rPr>
              <a:t>+</a:t>
            </a:r>
            <a:r>
              <a:rPr lang="pl-PL" sz="2800" i="1" dirty="0">
                <a:solidFill>
                  <a:srgbClr val="000000"/>
                </a:solidFill>
                <a:latin typeface="MathJax_Math"/>
              </a:rPr>
              <a:t>b </a:t>
            </a:r>
            <a:r>
              <a:rPr lang="en-US" i="1" baseline="-25000" dirty="0">
                <a:solidFill>
                  <a:srgbClr val="000000"/>
                </a:solidFill>
                <a:latin typeface="MathJax_Math"/>
                <a:ea typeface="Calibri" panose="020F0502020204030204" pitchFamily="34" charset="0"/>
                <a:cs typeface="Arial" panose="020B0604020202020204" pitchFamily="34" charset="0"/>
              </a:rPr>
              <a:t> </a:t>
            </a:r>
            <a:endParaRPr lang="en-US" dirty="0"/>
          </a:p>
        </p:txBody>
      </p:sp>
    </p:spTree>
    <p:extLst>
      <p:ext uri="{BB962C8B-B14F-4D97-AF65-F5344CB8AC3E}">
        <p14:creationId xmlns:p14="http://schemas.microsoft.com/office/powerpoint/2010/main" val="120732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17DD-4EA2-4BB3-85BA-E1B65BA1CCF3}"/>
              </a:ext>
            </a:extLst>
          </p:cNvPr>
          <p:cNvSpPr>
            <a:spLocks noGrp="1"/>
          </p:cNvSpPr>
          <p:nvPr>
            <p:ph type="title"/>
          </p:nvPr>
        </p:nvSpPr>
        <p:spPr/>
        <p:txBody>
          <a:bodyPr/>
          <a:lstStyle/>
          <a:p>
            <a:r>
              <a:rPr lang="en-US" dirty="0"/>
              <a:t>A Simple Activation Function for the Perceptron</a:t>
            </a:r>
          </a:p>
        </p:txBody>
      </p:sp>
      <p:sp>
        <p:nvSpPr>
          <p:cNvPr id="3" name="Content Placeholder 2">
            <a:extLst>
              <a:ext uri="{FF2B5EF4-FFF2-40B4-BE49-F238E27FC236}">
                <a16:creationId xmlns:a16="http://schemas.microsoft.com/office/drawing/2014/main" id="{1EB4153B-A376-48A7-9B74-B698067281DD}"/>
              </a:ext>
            </a:extLst>
          </p:cNvPr>
          <p:cNvSpPr>
            <a:spLocks noGrp="1"/>
          </p:cNvSpPr>
          <p:nvPr>
            <p:ph idx="1"/>
          </p:nvPr>
        </p:nvSpPr>
        <p:spPr>
          <a:xfrm>
            <a:off x="1371600" y="1917510"/>
            <a:ext cx="9601200" cy="4940490"/>
          </a:xfrm>
        </p:spPr>
        <p:txBody>
          <a:bodyPr>
            <a:normAutofit fontScale="92500" lnSpcReduction="20000"/>
          </a:bodyPr>
          <a:lstStyle/>
          <a:p>
            <a:pPr marL="0" indent="0">
              <a:buNone/>
            </a:pPr>
            <a:r>
              <a:rPr lang="en-US" dirty="0">
                <a:solidFill>
                  <a:srgbClr val="000000"/>
                </a:solidFill>
                <a:latin typeface="Consolas" panose="020B0609020204030204" pitchFamily="49" charset="0"/>
              </a:rPr>
              <a:t>w1 </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36ACAA"/>
                </a:solidFill>
                <a:latin typeface="Consolas" panose="020B0609020204030204" pitchFamily="49" charset="0"/>
              </a:rPr>
              <a:t>0.5</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w2 </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36ACAA"/>
                </a:solidFill>
                <a:latin typeface="Consolas" panose="020B0609020204030204" pitchFamily="49" charset="0"/>
              </a:rPr>
              <a:t>1.0</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w3 </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36ACAA"/>
                </a:solidFill>
                <a:latin typeface="Consolas" panose="020B0609020204030204" pitchFamily="49" charset="0"/>
              </a:rPr>
              <a:t>2.0</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l1 </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E3116C"/>
                </a:solidFill>
                <a:latin typeface="Consolas" panose="020B0609020204030204" pitchFamily="49" charset="0"/>
              </a:rPr>
              <a:t>'w = 0.5'</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l2 </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E3116C"/>
                </a:solidFill>
                <a:latin typeface="Consolas" panose="020B0609020204030204" pitchFamily="49" charset="0"/>
              </a:rPr>
              <a:t>'w = 1.0'</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l3 </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E3116C"/>
                </a:solidFill>
                <a:latin typeface="Consolas" panose="020B0609020204030204" pitchFamily="49" charset="0"/>
              </a:rPr>
              <a:t>'w = 2.0'</a:t>
            </a:r>
            <a:endParaRPr lang="en-US" dirty="0">
              <a:solidFill>
                <a:srgbClr val="000000"/>
              </a:solidFill>
              <a:latin typeface="Consolas" panose="020B0609020204030204" pitchFamily="49" charset="0"/>
            </a:endParaRPr>
          </a:p>
          <a:p>
            <a:pPr marL="0" indent="0">
              <a:buNone/>
            </a:pPr>
            <a:r>
              <a:rPr lang="pl-PL" dirty="0">
                <a:solidFill>
                  <a:srgbClr val="00A4DB"/>
                </a:solidFill>
                <a:latin typeface="Consolas" panose="020B0609020204030204" pitchFamily="49" charset="0"/>
              </a:rPr>
              <a:t>for</a:t>
            </a:r>
            <a:r>
              <a:rPr lang="pl-PL" dirty="0">
                <a:solidFill>
                  <a:srgbClr val="000000"/>
                </a:solidFill>
                <a:latin typeface="Consolas" panose="020B0609020204030204" pitchFamily="49" charset="0"/>
              </a:rPr>
              <a:t> w</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l </a:t>
            </a:r>
            <a:r>
              <a:rPr lang="pl-PL" dirty="0">
                <a:solidFill>
                  <a:srgbClr val="00A4DB"/>
                </a:solidFill>
                <a:latin typeface="Consolas" panose="020B0609020204030204" pitchFamily="49" charset="0"/>
              </a:rPr>
              <a:t>in</a:t>
            </a:r>
            <a:r>
              <a:rPr lang="pl-PL" dirty="0">
                <a:solidFill>
                  <a:srgbClr val="000000"/>
                </a:solidFill>
                <a:latin typeface="Consolas" panose="020B0609020204030204" pitchFamily="49" charset="0"/>
              </a:rPr>
              <a:t> </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w1</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l1</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w2</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l2</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w3</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l3</a:t>
            </a:r>
            <a:r>
              <a:rPr lang="pl-PL" dirty="0">
                <a:solidFill>
                  <a:srgbClr val="393A34"/>
                </a:solidFill>
                <a:latin typeface="Consolas" panose="020B0609020204030204" pitchFamily="49" charset="0"/>
              </a:rPr>
              <a:t>)]:</a:t>
            </a:r>
            <a:endParaRPr lang="pl-PL" dirty="0">
              <a:solidFill>
                <a:srgbClr val="000000"/>
              </a:solidFill>
              <a:latin typeface="Consolas" panose="020B0609020204030204" pitchFamily="49" charset="0"/>
            </a:endParaRPr>
          </a:p>
          <a:p>
            <a:pPr marL="0" indent="0">
              <a:buNone/>
            </a:pPr>
            <a:r>
              <a:rPr lang="pl-PL" dirty="0">
                <a:solidFill>
                  <a:srgbClr val="000000"/>
                </a:solidFill>
                <a:latin typeface="Consolas" panose="020B0609020204030204" pitchFamily="49" charset="0"/>
              </a:rPr>
              <a:t>    f </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a:t>
            </a:r>
            <a:r>
              <a:rPr lang="pl-PL" dirty="0">
                <a:solidFill>
                  <a:srgbClr val="36ACAA"/>
                </a:solidFill>
                <a:latin typeface="Consolas" panose="020B0609020204030204" pitchFamily="49" charset="0"/>
              </a:rPr>
              <a:t>1</a:t>
            </a:r>
            <a:r>
              <a:rPr lang="pl-PL" dirty="0">
                <a:solidFill>
                  <a:srgbClr val="000000"/>
                </a:solidFill>
                <a:latin typeface="Consolas" panose="020B0609020204030204" pitchFamily="49" charset="0"/>
              </a:rPr>
              <a:t> </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a:t>
            </a:r>
            <a:r>
              <a:rPr lang="pl-PL" dirty="0">
                <a:solidFill>
                  <a:srgbClr val="393A34"/>
                </a:solidFill>
                <a:latin typeface="Consolas" panose="020B0609020204030204" pitchFamily="49" charset="0"/>
              </a:rPr>
              <a:t>(</a:t>
            </a:r>
            <a:r>
              <a:rPr lang="pl-PL" dirty="0">
                <a:solidFill>
                  <a:srgbClr val="36ACAA"/>
                </a:solidFill>
                <a:latin typeface="Consolas" panose="020B0609020204030204" pitchFamily="49" charset="0"/>
              </a:rPr>
              <a:t>1</a:t>
            </a:r>
            <a:r>
              <a:rPr lang="pl-PL" dirty="0">
                <a:solidFill>
                  <a:srgbClr val="000000"/>
                </a:solidFill>
                <a:latin typeface="Consolas" panose="020B0609020204030204" pitchFamily="49" charset="0"/>
              </a:rPr>
              <a:t> </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 np</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exp</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x</a:t>
            </a:r>
            <a:r>
              <a:rPr lang="pl-PL" dirty="0">
                <a:solidFill>
                  <a:srgbClr val="393A34"/>
                </a:solidFill>
                <a:latin typeface="Consolas" panose="020B0609020204030204" pitchFamily="49" charset="0"/>
              </a:rPr>
              <a:t>*</a:t>
            </a:r>
            <a:r>
              <a:rPr lang="pl-PL" dirty="0">
                <a:solidFill>
                  <a:srgbClr val="000000"/>
                </a:solidFill>
                <a:latin typeface="Consolas" panose="020B0609020204030204" pitchFamily="49" charset="0"/>
              </a:rPr>
              <a:t>w</a:t>
            </a:r>
            <a:r>
              <a:rPr lang="pl-PL" dirty="0">
                <a:solidFill>
                  <a:srgbClr val="393A34"/>
                </a:solidFill>
                <a:latin typeface="Consolas" panose="020B0609020204030204" pitchFamily="49" charset="0"/>
              </a:rPr>
              <a:t>))</a:t>
            </a:r>
            <a:endParaRPr lang="pl-PL"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plt</a:t>
            </a:r>
            <a:r>
              <a:rPr lang="en-US" dirty="0" err="1">
                <a:solidFill>
                  <a:srgbClr val="393A34"/>
                </a:solidFill>
                <a:latin typeface="Consolas" panose="020B0609020204030204" pitchFamily="49" charset="0"/>
              </a:rPr>
              <a:t>.</a:t>
            </a:r>
            <a:r>
              <a:rPr lang="en-US" dirty="0" err="1">
                <a:solidFill>
                  <a:srgbClr val="000000"/>
                </a:solidFill>
                <a:latin typeface="Consolas" panose="020B0609020204030204" pitchFamily="49" charset="0"/>
              </a:rPr>
              <a:t>plot</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x</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f</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 label</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l</a:t>
            </a:r>
            <a:r>
              <a:rPr lang="en-US" dirty="0">
                <a:solidFill>
                  <a:srgbClr val="393A34"/>
                </a:solidFill>
                <a:latin typeface="Consolas" panose="020B0609020204030204" pitchFamily="49" charset="0"/>
              </a:rPr>
              <a:t>)</a:t>
            </a:r>
            <a:endParaRPr lang="en-US" dirty="0">
              <a:solidFill>
                <a:srgbClr val="000000"/>
              </a:solidFill>
              <a:latin typeface="Consolas" panose="020B0609020204030204" pitchFamily="49" charset="0"/>
            </a:endParaRPr>
          </a:p>
          <a:p>
            <a:pPr marL="0" indent="0">
              <a:buNone/>
            </a:pPr>
            <a:r>
              <a:rPr lang="en-US" dirty="0" err="1">
                <a:solidFill>
                  <a:srgbClr val="000000"/>
                </a:solidFill>
                <a:latin typeface="Consolas" panose="020B0609020204030204" pitchFamily="49" charset="0"/>
              </a:rPr>
              <a:t>plt</a:t>
            </a:r>
            <a:r>
              <a:rPr lang="en-US" dirty="0" err="1">
                <a:solidFill>
                  <a:srgbClr val="393A34"/>
                </a:solidFill>
                <a:latin typeface="Consolas" panose="020B0609020204030204" pitchFamily="49" charset="0"/>
              </a:rPr>
              <a:t>.</a:t>
            </a:r>
            <a:r>
              <a:rPr lang="en-US" dirty="0" err="1">
                <a:solidFill>
                  <a:srgbClr val="000000"/>
                </a:solidFill>
                <a:latin typeface="Consolas" panose="020B0609020204030204" pitchFamily="49" charset="0"/>
              </a:rPr>
              <a:t>xlabel</a:t>
            </a:r>
            <a:r>
              <a:rPr lang="en-US" dirty="0">
                <a:solidFill>
                  <a:srgbClr val="393A34"/>
                </a:solidFill>
                <a:latin typeface="Consolas" panose="020B0609020204030204" pitchFamily="49" charset="0"/>
              </a:rPr>
              <a:t>(</a:t>
            </a:r>
            <a:r>
              <a:rPr lang="en-US" dirty="0">
                <a:solidFill>
                  <a:srgbClr val="E3116C"/>
                </a:solidFill>
                <a:latin typeface="Consolas" panose="020B0609020204030204" pitchFamily="49" charset="0"/>
              </a:rPr>
              <a:t>'x'</a:t>
            </a:r>
            <a:r>
              <a:rPr lang="en-US" dirty="0">
                <a:solidFill>
                  <a:srgbClr val="393A34"/>
                </a:solidFill>
                <a:latin typeface="Consolas" panose="020B0609020204030204" pitchFamily="49" charset="0"/>
              </a:rPr>
              <a:t>)</a:t>
            </a:r>
            <a:endParaRPr lang="en-US" dirty="0">
              <a:solidFill>
                <a:srgbClr val="000000"/>
              </a:solidFill>
              <a:latin typeface="Consolas" panose="020B0609020204030204" pitchFamily="49" charset="0"/>
            </a:endParaRPr>
          </a:p>
          <a:p>
            <a:pPr marL="0" indent="0">
              <a:buNone/>
            </a:pPr>
            <a:r>
              <a:rPr lang="pt-BR" dirty="0">
                <a:solidFill>
                  <a:srgbClr val="000000"/>
                </a:solidFill>
                <a:latin typeface="Consolas" panose="020B0609020204030204" pitchFamily="49" charset="0"/>
              </a:rPr>
              <a:t>plt</a:t>
            </a:r>
            <a:r>
              <a:rPr lang="pt-BR" dirty="0">
                <a:solidFill>
                  <a:srgbClr val="393A34"/>
                </a:solidFill>
                <a:latin typeface="Consolas" panose="020B0609020204030204" pitchFamily="49" charset="0"/>
              </a:rPr>
              <a:t>.</a:t>
            </a:r>
            <a:r>
              <a:rPr lang="pt-BR" dirty="0">
                <a:solidFill>
                  <a:srgbClr val="000000"/>
                </a:solidFill>
                <a:latin typeface="Consolas" panose="020B0609020204030204" pitchFamily="49" charset="0"/>
              </a:rPr>
              <a:t>ylabel</a:t>
            </a:r>
            <a:r>
              <a:rPr lang="pt-BR" dirty="0">
                <a:solidFill>
                  <a:srgbClr val="393A34"/>
                </a:solidFill>
                <a:latin typeface="Consolas" panose="020B0609020204030204" pitchFamily="49" charset="0"/>
              </a:rPr>
              <a:t>(</a:t>
            </a:r>
            <a:r>
              <a:rPr lang="pt-BR" dirty="0">
                <a:solidFill>
                  <a:srgbClr val="E3116C"/>
                </a:solidFill>
                <a:latin typeface="Consolas" panose="020B0609020204030204" pitchFamily="49" charset="0"/>
              </a:rPr>
              <a:t>'h_w(x)'</a:t>
            </a:r>
            <a:r>
              <a:rPr lang="pt-BR" dirty="0">
                <a:solidFill>
                  <a:srgbClr val="393A34"/>
                </a:solidFill>
                <a:latin typeface="Consolas" panose="020B0609020204030204" pitchFamily="49" charset="0"/>
              </a:rPr>
              <a:t>)</a:t>
            </a:r>
            <a:endParaRPr lang="pt-BR" dirty="0">
              <a:solidFill>
                <a:srgbClr val="000000"/>
              </a:solidFill>
              <a:latin typeface="Consolas" panose="020B0609020204030204" pitchFamily="49" charset="0"/>
            </a:endParaRPr>
          </a:p>
          <a:p>
            <a:pPr marL="0" indent="0">
              <a:buNone/>
            </a:pPr>
            <a:r>
              <a:rPr lang="en-US" dirty="0" err="1">
                <a:solidFill>
                  <a:srgbClr val="000000"/>
                </a:solidFill>
                <a:latin typeface="Consolas" panose="020B0609020204030204" pitchFamily="49" charset="0"/>
              </a:rPr>
              <a:t>plt</a:t>
            </a:r>
            <a:r>
              <a:rPr lang="en-US" dirty="0" err="1">
                <a:solidFill>
                  <a:srgbClr val="393A34"/>
                </a:solidFill>
                <a:latin typeface="Consolas" panose="020B0609020204030204" pitchFamily="49" charset="0"/>
              </a:rPr>
              <a:t>.</a:t>
            </a:r>
            <a:r>
              <a:rPr lang="en-US" dirty="0" err="1">
                <a:solidFill>
                  <a:srgbClr val="000000"/>
                </a:solidFill>
                <a:latin typeface="Consolas" panose="020B0609020204030204" pitchFamily="49" charset="0"/>
              </a:rPr>
              <a:t>legend</a:t>
            </a:r>
            <a:r>
              <a:rPr lang="en-US" dirty="0">
                <a:solidFill>
                  <a:srgbClr val="393A34"/>
                </a:solidFill>
                <a:latin typeface="Consolas" panose="020B0609020204030204" pitchFamily="49" charset="0"/>
              </a:rPr>
              <a:t>(</a:t>
            </a:r>
            <a:r>
              <a:rPr lang="en-US" dirty="0">
                <a:solidFill>
                  <a:srgbClr val="000000"/>
                </a:solidFill>
                <a:latin typeface="Consolas" panose="020B0609020204030204" pitchFamily="49" charset="0"/>
              </a:rPr>
              <a:t>loc</a:t>
            </a:r>
            <a:r>
              <a:rPr lang="en-US" dirty="0">
                <a:solidFill>
                  <a:srgbClr val="393A34"/>
                </a:solidFill>
                <a:latin typeface="Consolas" panose="020B0609020204030204" pitchFamily="49" charset="0"/>
              </a:rPr>
              <a:t>=</a:t>
            </a:r>
            <a:r>
              <a:rPr lang="en-US" dirty="0">
                <a:solidFill>
                  <a:srgbClr val="36ACAA"/>
                </a:solidFill>
                <a:latin typeface="Consolas" panose="020B0609020204030204" pitchFamily="49" charset="0"/>
              </a:rPr>
              <a:t>2</a:t>
            </a:r>
            <a:r>
              <a:rPr lang="en-US" dirty="0">
                <a:solidFill>
                  <a:srgbClr val="393A34"/>
                </a:solidFill>
                <a:latin typeface="Consolas" panose="020B0609020204030204" pitchFamily="49" charset="0"/>
              </a:rPr>
              <a:t>)</a:t>
            </a:r>
            <a:endParaRPr lang="en-US" dirty="0">
              <a:solidFill>
                <a:srgbClr val="000000"/>
              </a:solidFill>
              <a:latin typeface="Consolas" panose="020B0609020204030204" pitchFamily="49" charset="0"/>
            </a:endParaRPr>
          </a:p>
          <a:p>
            <a:pPr marL="0" indent="0">
              <a:buNone/>
            </a:pPr>
            <a:r>
              <a:rPr lang="en-US" dirty="0" err="1">
                <a:solidFill>
                  <a:srgbClr val="000000"/>
                </a:solidFill>
                <a:latin typeface="Consolas" panose="020B0609020204030204" pitchFamily="49" charset="0"/>
              </a:rPr>
              <a:t>plt</a:t>
            </a:r>
            <a:r>
              <a:rPr lang="en-US" dirty="0" err="1">
                <a:solidFill>
                  <a:srgbClr val="393A34"/>
                </a:solidFill>
                <a:latin typeface="Consolas" panose="020B0609020204030204" pitchFamily="49" charset="0"/>
              </a:rPr>
              <a:t>.</a:t>
            </a:r>
            <a:r>
              <a:rPr lang="en-US" dirty="0" err="1">
                <a:solidFill>
                  <a:srgbClr val="000000"/>
                </a:solidFill>
                <a:latin typeface="Consolas" panose="020B0609020204030204" pitchFamily="49" charset="0"/>
              </a:rPr>
              <a:t>show</a:t>
            </a:r>
            <a:r>
              <a:rPr lang="en-US" dirty="0">
                <a:solidFill>
                  <a:srgbClr val="393A34"/>
                </a:solidFill>
                <a:latin typeface="Consolas" panose="020B0609020204030204" pitchFamily="49" charset="0"/>
              </a:rPr>
              <a:t>()</a:t>
            </a:r>
            <a:endParaRPr lang="en-US" sz="3600" dirty="0">
              <a:solidFill>
                <a:srgbClr val="000000"/>
              </a:solidFill>
              <a:latin typeface="MathJax_Math"/>
            </a:endParaRPr>
          </a:p>
          <a:p>
            <a:pPr marL="0" indent="0">
              <a:buNone/>
            </a:pPr>
            <a:endParaRPr lang="en-US" dirty="0"/>
          </a:p>
        </p:txBody>
      </p:sp>
    </p:spTree>
    <p:extLst>
      <p:ext uri="{BB962C8B-B14F-4D97-AF65-F5344CB8AC3E}">
        <p14:creationId xmlns:p14="http://schemas.microsoft.com/office/powerpoint/2010/main" val="553999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2CE1-4E24-47C5-9080-9E5E1EEFC1A0}"/>
              </a:ext>
            </a:extLst>
          </p:cNvPr>
          <p:cNvSpPr>
            <a:spLocks noGrp="1"/>
          </p:cNvSpPr>
          <p:nvPr>
            <p:ph type="title"/>
          </p:nvPr>
        </p:nvSpPr>
        <p:spPr>
          <a:xfrm>
            <a:off x="1371600" y="685800"/>
            <a:ext cx="9601200" cy="1485900"/>
          </a:xfrm>
        </p:spPr>
        <p:txBody>
          <a:bodyPr/>
          <a:lstStyle/>
          <a:p>
            <a:r>
              <a:rPr lang="en-US"/>
              <a:t>Activation function plot</a:t>
            </a:r>
            <a:endParaRPr lang="en-US" dirty="0"/>
          </a:p>
        </p:txBody>
      </p:sp>
      <p:pic>
        <p:nvPicPr>
          <p:cNvPr id="1026" name="Picture 2" descr="http://adventuresinmachinelearning.com/wp-content/uploads/2017/03/Weight-adjustment-example.png">
            <a:extLst>
              <a:ext uri="{FF2B5EF4-FFF2-40B4-BE49-F238E27FC236}">
                <a16:creationId xmlns:a16="http://schemas.microsoft.com/office/drawing/2014/main" id="{17A2707D-052B-4CBD-8CD8-BA5064038BA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44555" y="1818585"/>
            <a:ext cx="7683689" cy="4875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831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90EE-63C8-4DD9-AEA7-8213711C47DB}"/>
              </a:ext>
            </a:extLst>
          </p:cNvPr>
          <p:cNvSpPr>
            <a:spLocks noGrp="1"/>
          </p:cNvSpPr>
          <p:nvPr>
            <p:ph type="title"/>
          </p:nvPr>
        </p:nvSpPr>
        <p:spPr/>
        <p:txBody>
          <a:bodyPr/>
          <a:lstStyle/>
          <a:p>
            <a:r>
              <a:rPr lang="en-US" dirty="0"/>
              <a:t>Learning</a:t>
            </a:r>
          </a:p>
        </p:txBody>
      </p:sp>
      <p:sp>
        <p:nvSpPr>
          <p:cNvPr id="5" name="Content Placeholder 4">
            <a:extLst>
              <a:ext uri="{FF2B5EF4-FFF2-40B4-BE49-F238E27FC236}">
                <a16:creationId xmlns:a16="http://schemas.microsoft.com/office/drawing/2014/main" id="{41927FD6-5B9F-4DDB-9E67-1523890E39C8}"/>
              </a:ext>
            </a:extLst>
          </p:cNvPr>
          <p:cNvSpPr>
            <a:spLocks noGrp="1"/>
          </p:cNvSpPr>
          <p:nvPr>
            <p:ph idx="1"/>
          </p:nvPr>
        </p:nvSpPr>
        <p:spPr/>
        <p:txBody>
          <a:bodyPr>
            <a:normAutofit/>
          </a:bodyPr>
          <a:lstStyle/>
          <a:p>
            <a:r>
              <a:rPr lang="en-US" sz="2800" dirty="0"/>
              <a:t>Learning is achieved by adaptively modifying the weight based on the value of the Loss ,Function (difference between the target value and the actual computed value)</a:t>
            </a:r>
          </a:p>
          <a:p>
            <a:r>
              <a:rPr lang="en-US" sz="2800" dirty="0"/>
              <a:t>The modification per weight is computed using gradient descent, an algorithm that will be explained later</a:t>
            </a:r>
          </a:p>
        </p:txBody>
      </p:sp>
    </p:spTree>
    <p:extLst>
      <p:ext uri="{BB962C8B-B14F-4D97-AF65-F5344CB8AC3E}">
        <p14:creationId xmlns:p14="http://schemas.microsoft.com/office/powerpoint/2010/main" val="1277663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4D8C8-EE03-4930-A32C-1E1039E4EF97}"/>
              </a:ext>
            </a:extLst>
          </p:cNvPr>
          <p:cNvSpPr>
            <a:spLocks noGrp="1"/>
          </p:cNvSpPr>
          <p:nvPr>
            <p:ph type="title"/>
          </p:nvPr>
        </p:nvSpPr>
        <p:spPr/>
        <p:txBody>
          <a:bodyPr/>
          <a:lstStyle/>
          <a:p>
            <a:r>
              <a:rPr lang="en-US" dirty="0"/>
              <a:t>Computing the Weights in MLP’s</a:t>
            </a:r>
          </a:p>
        </p:txBody>
      </p:sp>
      <p:pic>
        <p:nvPicPr>
          <p:cNvPr id="4" name="Content Placeholder 3">
            <a:extLst>
              <a:ext uri="{FF2B5EF4-FFF2-40B4-BE49-F238E27FC236}">
                <a16:creationId xmlns:a16="http://schemas.microsoft.com/office/drawing/2014/main" id="{94993C66-B90B-4725-9609-C19EF0872C0A}"/>
              </a:ext>
            </a:extLst>
          </p:cNvPr>
          <p:cNvPicPr>
            <a:picLocks noGrp="1"/>
          </p:cNvPicPr>
          <p:nvPr>
            <p:ph idx="1"/>
          </p:nvPr>
        </p:nvPicPr>
        <p:blipFill>
          <a:blip r:embed="rId2"/>
          <a:stretch>
            <a:fillRect/>
          </a:stretch>
        </p:blipFill>
        <p:spPr>
          <a:xfrm>
            <a:off x="1690687" y="2809875"/>
            <a:ext cx="8963025" cy="2533650"/>
          </a:xfrm>
          <a:prstGeom prst="rect">
            <a:avLst/>
          </a:prstGeom>
        </p:spPr>
      </p:pic>
    </p:spTree>
    <p:extLst>
      <p:ext uri="{BB962C8B-B14F-4D97-AF65-F5344CB8AC3E}">
        <p14:creationId xmlns:p14="http://schemas.microsoft.com/office/powerpoint/2010/main" val="3433623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3FE6-F290-4F50-A3AF-98EB5CFFDBDD}"/>
              </a:ext>
            </a:extLst>
          </p:cNvPr>
          <p:cNvSpPr>
            <a:spLocks noGrp="1"/>
          </p:cNvSpPr>
          <p:nvPr>
            <p:ph type="title"/>
          </p:nvPr>
        </p:nvSpPr>
        <p:spPr/>
        <p:txBody>
          <a:bodyPr/>
          <a:lstStyle/>
          <a:p>
            <a:r>
              <a:rPr lang="en-US" dirty="0"/>
              <a:t>Layer 1 Weights</a:t>
            </a:r>
          </a:p>
        </p:txBody>
      </p:sp>
      <p:pic>
        <p:nvPicPr>
          <p:cNvPr id="4" name="Content Placeholder 3">
            <a:extLst>
              <a:ext uri="{FF2B5EF4-FFF2-40B4-BE49-F238E27FC236}">
                <a16:creationId xmlns:a16="http://schemas.microsoft.com/office/drawing/2014/main" id="{EADB21BD-B887-4F19-A5F4-10781BCBCB50}"/>
              </a:ext>
            </a:extLst>
          </p:cNvPr>
          <p:cNvPicPr>
            <a:picLocks noGrp="1"/>
          </p:cNvPicPr>
          <p:nvPr>
            <p:ph idx="1"/>
          </p:nvPr>
        </p:nvPicPr>
        <p:blipFill>
          <a:blip r:embed="rId2"/>
          <a:stretch>
            <a:fillRect/>
          </a:stretch>
        </p:blipFill>
        <p:spPr>
          <a:xfrm>
            <a:off x="1630908" y="2286000"/>
            <a:ext cx="6974930" cy="2828925"/>
          </a:xfrm>
          <a:prstGeom prst="rect">
            <a:avLst/>
          </a:prstGeom>
        </p:spPr>
      </p:pic>
    </p:spTree>
    <p:extLst>
      <p:ext uri="{BB962C8B-B14F-4D97-AF65-F5344CB8AC3E}">
        <p14:creationId xmlns:p14="http://schemas.microsoft.com/office/powerpoint/2010/main" val="739676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2467-9E36-4393-873B-AF4A3D870533}"/>
              </a:ext>
            </a:extLst>
          </p:cNvPr>
          <p:cNvSpPr>
            <a:spLocks noGrp="1"/>
          </p:cNvSpPr>
          <p:nvPr>
            <p:ph type="title"/>
          </p:nvPr>
        </p:nvSpPr>
        <p:spPr/>
        <p:txBody>
          <a:bodyPr/>
          <a:lstStyle/>
          <a:p>
            <a:r>
              <a:rPr lang="en-US" dirty="0"/>
              <a:t>Python NumPy Representation</a:t>
            </a:r>
          </a:p>
        </p:txBody>
      </p:sp>
      <p:sp>
        <p:nvSpPr>
          <p:cNvPr id="3" name="Content Placeholder 2">
            <a:extLst>
              <a:ext uri="{FF2B5EF4-FFF2-40B4-BE49-F238E27FC236}">
                <a16:creationId xmlns:a16="http://schemas.microsoft.com/office/drawing/2014/main" id="{1730C138-D169-40A7-9429-7735F5DB9535}"/>
              </a:ext>
            </a:extLst>
          </p:cNvPr>
          <p:cNvSpPr>
            <a:spLocks noGrp="1"/>
          </p:cNvSpPr>
          <p:nvPr>
            <p:ph idx="1"/>
          </p:nvPr>
        </p:nvSpPr>
        <p:spPr>
          <a:xfrm>
            <a:off x="839337" y="2286000"/>
            <a:ext cx="11279875" cy="3581400"/>
          </a:xfrm>
        </p:spPr>
        <p:txBody>
          <a:bodyPr/>
          <a:lstStyle/>
          <a:p>
            <a:pPr marL="0" marR="0" indent="0">
              <a:lnSpc>
                <a:spcPts val="1565"/>
              </a:lnSpc>
              <a:spcBef>
                <a:spcPts val="0"/>
              </a:spcBef>
              <a:spcAft>
                <a:spcPts val="0"/>
              </a:spcAft>
              <a:buNone/>
            </a:pPr>
            <a:r>
              <a:rPr lang="en-US" sz="24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import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numpy</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as</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np</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w1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np</a:t>
            </a:r>
            <a:r>
              <a:rPr lang="en-US" sz="2400" dirty="0" err="1">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array</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0.2</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0.2</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0.2</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0.4</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0.4</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0.4</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0.6</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0.6</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0.6</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949423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2D68A-3759-4BF6-8225-3DA87991C753}"/>
              </a:ext>
            </a:extLst>
          </p:cNvPr>
          <p:cNvSpPr>
            <a:spLocks noGrp="1"/>
          </p:cNvSpPr>
          <p:nvPr>
            <p:ph type="title"/>
          </p:nvPr>
        </p:nvSpPr>
        <p:spPr/>
        <p:txBody>
          <a:bodyPr/>
          <a:lstStyle/>
          <a:p>
            <a:r>
              <a:rPr lang="en-US" dirty="0"/>
              <a:t>Layer 2 Weights</a:t>
            </a:r>
          </a:p>
        </p:txBody>
      </p:sp>
      <p:pic>
        <p:nvPicPr>
          <p:cNvPr id="4" name="Content Placeholder 3">
            <a:extLst>
              <a:ext uri="{FF2B5EF4-FFF2-40B4-BE49-F238E27FC236}">
                <a16:creationId xmlns:a16="http://schemas.microsoft.com/office/drawing/2014/main" id="{FB0262FB-F380-494A-985C-AD0B29D28719}"/>
              </a:ext>
            </a:extLst>
          </p:cNvPr>
          <p:cNvPicPr>
            <a:picLocks noGrp="1"/>
          </p:cNvPicPr>
          <p:nvPr>
            <p:ph idx="1"/>
          </p:nvPr>
        </p:nvPicPr>
        <p:blipFill>
          <a:blip r:embed="rId2"/>
          <a:stretch>
            <a:fillRect/>
          </a:stretch>
        </p:blipFill>
        <p:spPr>
          <a:xfrm>
            <a:off x="1910688" y="3138488"/>
            <a:ext cx="6504650" cy="1485899"/>
          </a:xfrm>
          <a:prstGeom prst="rect">
            <a:avLst/>
          </a:prstGeom>
        </p:spPr>
      </p:pic>
    </p:spTree>
    <p:extLst>
      <p:ext uri="{BB962C8B-B14F-4D97-AF65-F5344CB8AC3E}">
        <p14:creationId xmlns:p14="http://schemas.microsoft.com/office/powerpoint/2010/main" val="2115303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6EC37-C7D5-431D-8165-C2F841661B4C}"/>
              </a:ext>
            </a:extLst>
          </p:cNvPr>
          <p:cNvSpPr>
            <a:spLocks noGrp="1"/>
          </p:cNvSpPr>
          <p:nvPr>
            <p:ph type="title"/>
          </p:nvPr>
        </p:nvSpPr>
        <p:spPr/>
        <p:txBody>
          <a:bodyPr/>
          <a:lstStyle/>
          <a:p>
            <a:r>
              <a:rPr lang="en-US" dirty="0"/>
              <a:t>Python NumPy Representation</a:t>
            </a:r>
          </a:p>
        </p:txBody>
      </p:sp>
      <p:sp>
        <p:nvSpPr>
          <p:cNvPr id="3" name="Content Placeholder 2">
            <a:extLst>
              <a:ext uri="{FF2B5EF4-FFF2-40B4-BE49-F238E27FC236}">
                <a16:creationId xmlns:a16="http://schemas.microsoft.com/office/drawing/2014/main" id="{43438F36-6290-45D0-8473-3DDB1B1B034C}"/>
              </a:ext>
            </a:extLst>
          </p:cNvPr>
          <p:cNvSpPr>
            <a:spLocks noGrp="1"/>
          </p:cNvSpPr>
          <p:nvPr>
            <p:ph idx="1"/>
          </p:nvPr>
        </p:nvSpPr>
        <p:spPr/>
        <p:txBody>
          <a:bodyPr/>
          <a:lstStyle/>
          <a:p>
            <a:pPr marL="0" marR="0" indent="0">
              <a:lnSpc>
                <a:spcPts val="1565"/>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w2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np</a:t>
            </a:r>
            <a:r>
              <a:rPr lang="en-US" sz="2400" dirty="0" err="1">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zeros</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1</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3</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w2</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np</a:t>
            </a:r>
            <a:r>
              <a:rPr lang="en-US" sz="2400" dirty="0" err="1">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array</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0.5</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0.5</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0.5</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latin typeface="Calibri" panose="020F0502020204030204" pitchFamily="34" charset="0"/>
                <a:ea typeface="Calibri" panose="020F0502020204030204" pitchFamily="34" charset="0"/>
                <a:cs typeface="Arial" panose="020B0604020202020204" pitchFamily="34" charset="0"/>
              </a:rPr>
              <a:t> </a:t>
            </a:r>
          </a:p>
          <a:p>
            <a:pPr marL="0" marR="0" indent="0">
              <a:lnSpc>
                <a:spcPct val="107000"/>
              </a:lnSpc>
              <a:spcBef>
                <a:spcPts val="0"/>
              </a:spcBef>
              <a:spcAft>
                <a:spcPts val="800"/>
              </a:spcAft>
              <a:buNone/>
            </a:pPr>
            <a:r>
              <a:rPr lang="en-US" sz="2400" dirty="0">
                <a:latin typeface="Calibri" panose="020F0502020204030204" pitchFamily="34" charset="0"/>
                <a:ea typeface="Calibri" panose="020F0502020204030204" pitchFamily="34" charset="0"/>
                <a:cs typeface="Arial" panose="020B0604020202020204" pitchFamily="34" charset="0"/>
              </a:rPr>
              <a:t>The bias:</a:t>
            </a:r>
          </a:p>
          <a:p>
            <a:pPr marL="0" marR="0" indent="0">
              <a:lnSpc>
                <a:spcPts val="1565"/>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b1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np</a:t>
            </a:r>
            <a:r>
              <a:rPr lang="en-US" sz="2400" dirty="0" err="1">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array</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0.8</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0.8</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0.8</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b2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np</a:t>
            </a:r>
            <a:r>
              <a:rPr lang="en-US" sz="2400" dirty="0" err="1">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array</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0.2</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latin typeface="Calibri" panose="020F0502020204030204" pitchFamily="34" charset="0"/>
                <a:ea typeface="Calibri" panose="020F0502020204030204" pitchFamily="34" charset="0"/>
                <a:cs typeface="Arial" panose="020B0604020202020204" pitchFamily="34" charset="0"/>
              </a:rPr>
              <a:t> </a:t>
            </a:r>
          </a:p>
          <a:p>
            <a:pPr marL="0" indent="0">
              <a:buNone/>
            </a:pPr>
            <a:endParaRPr lang="en-US" dirty="0"/>
          </a:p>
        </p:txBody>
      </p:sp>
    </p:spTree>
    <p:extLst>
      <p:ext uri="{BB962C8B-B14F-4D97-AF65-F5344CB8AC3E}">
        <p14:creationId xmlns:p14="http://schemas.microsoft.com/office/powerpoint/2010/main" val="33274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9">
            <a:extLst>
              <a:ext uri="{FF2B5EF4-FFF2-40B4-BE49-F238E27FC236}">
                <a16:creationId xmlns:a16="http://schemas.microsoft.com/office/drawing/2014/main" id="{825E602A-53EB-4CB1-9633-3EC058740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DCDD8D-60B5-46CB-A9D6-2775048AE0E1}"/>
              </a:ext>
            </a:extLst>
          </p:cNvPr>
          <p:cNvSpPr>
            <a:spLocks noGrp="1"/>
          </p:cNvSpPr>
          <p:nvPr>
            <p:ph type="title"/>
          </p:nvPr>
        </p:nvSpPr>
        <p:spPr>
          <a:xfrm>
            <a:off x="5100824" y="685800"/>
            <a:ext cx="6176776" cy="1485900"/>
          </a:xfrm>
        </p:spPr>
        <p:txBody>
          <a:bodyPr>
            <a:normAutofit/>
          </a:bodyPr>
          <a:lstStyle/>
          <a:p>
            <a:r>
              <a:rPr lang="en-US" dirty="0"/>
              <a:t>Vectorization</a:t>
            </a:r>
          </a:p>
        </p:txBody>
      </p:sp>
      <p:pic>
        <p:nvPicPr>
          <p:cNvPr id="5" name="Picture 4">
            <a:extLst>
              <a:ext uri="{FF2B5EF4-FFF2-40B4-BE49-F238E27FC236}">
                <a16:creationId xmlns:a16="http://schemas.microsoft.com/office/drawing/2014/main" id="{4F91BF93-DE75-485B-B455-078803E5624E}"/>
              </a:ext>
            </a:extLst>
          </p:cNvPr>
          <p:cNvPicPr/>
          <p:nvPr/>
        </p:nvPicPr>
        <p:blipFill>
          <a:blip r:embed="rId2"/>
          <a:stretch>
            <a:fillRect/>
          </a:stretch>
        </p:blipFill>
        <p:spPr>
          <a:xfrm>
            <a:off x="321733" y="1194087"/>
            <a:ext cx="3730079" cy="1603860"/>
          </a:xfrm>
          <a:prstGeom prst="rect">
            <a:avLst/>
          </a:prstGeom>
          <a:ln>
            <a:noFill/>
          </a:ln>
          <a:effectLst/>
        </p:spPr>
      </p:pic>
      <p:pic>
        <p:nvPicPr>
          <p:cNvPr id="4" name="Picture 3">
            <a:extLst>
              <a:ext uri="{FF2B5EF4-FFF2-40B4-BE49-F238E27FC236}">
                <a16:creationId xmlns:a16="http://schemas.microsoft.com/office/drawing/2014/main" id="{229F466C-2F48-41DA-8F88-6A0C969BF362}"/>
              </a:ext>
            </a:extLst>
          </p:cNvPr>
          <p:cNvPicPr/>
          <p:nvPr/>
        </p:nvPicPr>
        <p:blipFill>
          <a:blip r:embed="rId3"/>
          <a:stretch>
            <a:fillRect/>
          </a:stretch>
        </p:blipFill>
        <p:spPr>
          <a:xfrm>
            <a:off x="321733" y="4600879"/>
            <a:ext cx="3730079" cy="522210"/>
          </a:xfrm>
          <a:prstGeom prst="rect">
            <a:avLst/>
          </a:prstGeom>
          <a:ln>
            <a:noFill/>
          </a:ln>
          <a:effectLst/>
        </p:spPr>
      </p:pic>
      <p:sp>
        <p:nvSpPr>
          <p:cNvPr id="15" name="Rectangle 11">
            <a:extLst>
              <a:ext uri="{FF2B5EF4-FFF2-40B4-BE49-F238E27FC236}">
                <a16:creationId xmlns:a16="http://schemas.microsoft.com/office/drawing/2014/main" id="{E832F3F2-2294-4A8D-ABDC-234B853C7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488004C-0677-432D-B40F-AB2638B3EC00}"/>
              </a:ext>
            </a:extLst>
          </p:cNvPr>
          <p:cNvSpPr>
            <a:spLocks noGrp="1"/>
          </p:cNvSpPr>
          <p:nvPr>
            <p:ph idx="1"/>
          </p:nvPr>
        </p:nvSpPr>
        <p:spPr>
          <a:xfrm>
            <a:off x="5100824" y="2286000"/>
            <a:ext cx="6176776" cy="3581400"/>
          </a:xfrm>
        </p:spPr>
        <p:txBody>
          <a:bodyPr>
            <a:normAutofit/>
          </a:bodyPr>
          <a:lstStyle/>
          <a:p>
            <a:pPr marL="0" indent="0">
              <a:buNone/>
            </a:pPr>
            <a:r>
              <a:rPr lang="en-US" dirty="0"/>
              <a:t>The upper box shows the vector representation for expressions like the one in the bottom</a:t>
            </a:r>
          </a:p>
        </p:txBody>
      </p:sp>
    </p:spTree>
    <p:extLst>
      <p:ext uri="{BB962C8B-B14F-4D97-AF65-F5344CB8AC3E}">
        <p14:creationId xmlns:p14="http://schemas.microsoft.com/office/powerpoint/2010/main" val="124181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F375-092F-414D-9B87-083DF065E682}"/>
              </a:ext>
            </a:extLst>
          </p:cNvPr>
          <p:cNvSpPr>
            <a:spLocks noGrp="1"/>
          </p:cNvSpPr>
          <p:nvPr>
            <p:ph type="title"/>
          </p:nvPr>
        </p:nvSpPr>
        <p:spPr>
          <a:xfrm>
            <a:off x="1295400" y="215722"/>
            <a:ext cx="9601200" cy="1485900"/>
          </a:xfrm>
        </p:spPr>
        <p:txBody>
          <a:bodyPr/>
          <a:lstStyle/>
          <a:p>
            <a:r>
              <a:rPr lang="en-US" dirty="0"/>
              <a:t>Implications – Power NumPy (Tensors)</a:t>
            </a:r>
          </a:p>
        </p:txBody>
      </p:sp>
      <p:sp>
        <p:nvSpPr>
          <p:cNvPr id="3" name="Content Placeholder 2">
            <a:extLst>
              <a:ext uri="{FF2B5EF4-FFF2-40B4-BE49-F238E27FC236}">
                <a16:creationId xmlns:a16="http://schemas.microsoft.com/office/drawing/2014/main" id="{D27B1692-1AC9-4DB0-9FD6-3152ABB697FE}"/>
              </a:ext>
            </a:extLst>
          </p:cNvPr>
          <p:cNvSpPr>
            <a:spLocks noGrp="1"/>
          </p:cNvSpPr>
          <p:nvPr>
            <p:ph idx="1"/>
          </p:nvPr>
        </p:nvSpPr>
        <p:spPr>
          <a:xfrm>
            <a:off x="1371600" y="1603420"/>
            <a:ext cx="9601200" cy="5254580"/>
          </a:xfrm>
        </p:spPr>
        <p:txBody>
          <a:bodyPr>
            <a:normAutofit fontScale="92500" lnSpcReduction="20000"/>
          </a:bodyPr>
          <a:lstStyle/>
          <a:p>
            <a:pPr marL="0" marR="0" indent="0">
              <a:lnSpc>
                <a:spcPts val="1565"/>
              </a:lnSpc>
              <a:spcBef>
                <a:spcPts val="0"/>
              </a:spcBef>
              <a:spcAft>
                <a:spcPts val="0"/>
              </a:spcAft>
              <a:buNone/>
            </a:pPr>
            <a:endParaRPr lang="en-US"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endParaRPr>
          </a:p>
          <a:p>
            <a:pPr>
              <a:lnSpc>
                <a:spcPct val="110000"/>
              </a:lnSpc>
              <a:spcBef>
                <a:spcPts val="0"/>
              </a:spcBef>
              <a:spcAft>
                <a:spcPts val="0"/>
              </a:spcAft>
            </a:pPr>
            <a:r>
              <a:rPr lang="en-US" sz="2800" dirty="0">
                <a:solidFill>
                  <a:schemeClr val="tx1"/>
                </a:solidFill>
                <a:ea typeface="Times New Roman" panose="02020603050405020304" pitchFamily="18" charset="0"/>
                <a:cs typeface="Times New Roman" panose="02020603050405020304" pitchFamily="18" charset="0"/>
              </a:rPr>
              <a:t>This how matrix Multiplication in NumPy</a:t>
            </a:r>
          </a:p>
          <a:p>
            <a:pPr>
              <a:lnSpc>
                <a:spcPct val="110000"/>
              </a:lnSpc>
              <a:spcBef>
                <a:spcPts val="0"/>
              </a:spcBef>
              <a:spcAft>
                <a:spcPts val="0"/>
              </a:spcAft>
            </a:pPr>
            <a:r>
              <a:rPr lang="en-US" sz="2800" dirty="0">
                <a:solidFill>
                  <a:schemeClr val="tx1"/>
                </a:solidFill>
                <a:ea typeface="Times New Roman" panose="02020603050405020304" pitchFamily="18" charset="0"/>
                <a:cs typeface="Times New Roman" panose="02020603050405020304" pitchFamily="18" charset="0"/>
              </a:rPr>
              <a:t>This is the implementation of the forward Path of our neural network</a:t>
            </a:r>
          </a:p>
          <a:p>
            <a:pPr marL="0" marR="0" indent="0">
              <a:lnSpc>
                <a:spcPts val="1565"/>
              </a:lnSpc>
              <a:spcBef>
                <a:spcPts val="0"/>
              </a:spcBef>
              <a:spcAft>
                <a:spcPts val="0"/>
              </a:spcAft>
              <a:buNone/>
            </a:pPr>
            <a:endParaRPr lang="en-US"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endParaRPr>
          </a:p>
          <a:p>
            <a:pPr marL="0" marR="0" indent="0">
              <a:lnSpc>
                <a:spcPct val="100000"/>
              </a:lnSpc>
              <a:spcBef>
                <a:spcPts val="0"/>
              </a:spcBef>
              <a:spcAft>
                <a:spcPts val="600"/>
              </a:spcAft>
              <a:buNone/>
            </a:pPr>
            <a:r>
              <a:rPr lang="en-US" sz="28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def</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b="1" dirty="0" err="1">
                <a:solidFill>
                  <a:srgbClr val="9A050F"/>
                </a:solidFill>
                <a:latin typeface="Consolas" panose="020B0609020204030204" pitchFamily="49" charset="0"/>
                <a:ea typeface="Times New Roman" panose="02020603050405020304" pitchFamily="18" charset="0"/>
                <a:cs typeface="Times New Roman" panose="02020603050405020304" pitchFamily="18" charset="0"/>
              </a:rPr>
              <a:t>matrix_feed_forward_calc</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n_layers</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x</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w</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b</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for</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l </a:t>
            </a:r>
            <a:r>
              <a:rPr lang="en-US" sz="28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in</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669900"/>
                </a:solidFill>
                <a:latin typeface="Consolas" panose="020B0609020204030204" pitchFamily="49" charset="0"/>
                <a:ea typeface="Times New Roman" panose="02020603050405020304" pitchFamily="18" charset="0"/>
                <a:cs typeface="Times New Roman" panose="02020603050405020304" pitchFamily="18" charset="0"/>
              </a:rPr>
              <a:t>range</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n_layers</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1</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if</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l </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node_in</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x</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else</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node_in</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h</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z </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w</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l</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dot</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node_in</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b</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l</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h </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f</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z</a:t>
            </a:r>
            <a:r>
              <a:rPr lang="en-US" sz="28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600"/>
              </a:spcAft>
              <a:buNone/>
            </a:pP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8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28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h</a:t>
            </a:r>
            <a:endParaRPr lang="en-US" sz="28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118093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9C464-5A45-4F3C-B161-303315822593}"/>
              </a:ext>
            </a:extLst>
          </p:cNvPr>
          <p:cNvSpPr>
            <a:spLocks noGrp="1"/>
          </p:cNvSpPr>
          <p:nvPr>
            <p:ph type="title"/>
          </p:nvPr>
        </p:nvSpPr>
        <p:spPr/>
        <p:txBody>
          <a:bodyPr/>
          <a:lstStyle/>
          <a:p>
            <a:r>
              <a:rPr lang="en-US" dirty="0"/>
              <a:t>Gradient Descent</a:t>
            </a:r>
          </a:p>
        </p:txBody>
      </p:sp>
      <p:pic>
        <p:nvPicPr>
          <p:cNvPr id="4" name="Content Placeholder 3" descr="http://adventuresinmachinelearning.com/wp-content/uploads/2017/03/Gradient-descent.jpg">
            <a:extLst>
              <a:ext uri="{FF2B5EF4-FFF2-40B4-BE49-F238E27FC236}">
                <a16:creationId xmlns:a16="http://schemas.microsoft.com/office/drawing/2014/main" id="{8831CE15-F942-40E5-98DD-05A81EC10C6C}"/>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76317" y="1842448"/>
            <a:ext cx="7229546" cy="3605852"/>
          </a:xfrm>
          <a:prstGeom prst="rect">
            <a:avLst/>
          </a:prstGeom>
          <a:noFill/>
          <a:ln>
            <a:noFill/>
          </a:ln>
        </p:spPr>
      </p:pic>
    </p:spTree>
    <p:extLst>
      <p:ext uri="{BB962C8B-B14F-4D97-AF65-F5344CB8AC3E}">
        <p14:creationId xmlns:p14="http://schemas.microsoft.com/office/powerpoint/2010/main" val="3687970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67F5-A32E-4CDF-977F-C984F808AD54}"/>
              </a:ext>
            </a:extLst>
          </p:cNvPr>
          <p:cNvSpPr>
            <a:spLocks noGrp="1"/>
          </p:cNvSpPr>
          <p:nvPr>
            <p:ph type="title"/>
          </p:nvPr>
        </p:nvSpPr>
        <p:spPr>
          <a:xfrm>
            <a:off x="1295400" y="71077"/>
            <a:ext cx="9601200" cy="1485900"/>
          </a:xfrm>
        </p:spPr>
        <p:txBody>
          <a:bodyPr/>
          <a:lstStyle/>
          <a:p>
            <a:r>
              <a:rPr lang="en-US" dirty="0"/>
              <a:t>A Simple Example: Loss Function</a:t>
            </a:r>
            <a:br>
              <a:rPr lang="en-US" dirty="0"/>
            </a:br>
            <a:r>
              <a:rPr lang="en-US" dirty="0"/>
              <a:t>and Learning Algorithm</a:t>
            </a:r>
          </a:p>
        </p:txBody>
      </p:sp>
      <p:sp>
        <p:nvSpPr>
          <p:cNvPr id="3" name="Content Placeholder 2">
            <a:extLst>
              <a:ext uri="{FF2B5EF4-FFF2-40B4-BE49-F238E27FC236}">
                <a16:creationId xmlns:a16="http://schemas.microsoft.com/office/drawing/2014/main" id="{E8702137-C5A6-424A-9BC0-653112D5DCE5}"/>
              </a:ext>
            </a:extLst>
          </p:cNvPr>
          <p:cNvSpPr>
            <a:spLocks noGrp="1"/>
          </p:cNvSpPr>
          <p:nvPr>
            <p:ph idx="1"/>
          </p:nvPr>
        </p:nvSpPr>
        <p:spPr>
          <a:xfrm>
            <a:off x="1037345" y="1433015"/>
            <a:ext cx="10457969" cy="5138381"/>
          </a:xfrm>
        </p:spPr>
        <p:txBody>
          <a:bodyPr>
            <a:normAutofit lnSpcReduction="10000"/>
          </a:bodyPr>
          <a:lstStyle/>
          <a:p>
            <a:pPr marL="0" marR="0" indent="0">
              <a:lnSpc>
                <a:spcPct val="100000"/>
              </a:lnSpc>
              <a:spcBef>
                <a:spcPts val="0"/>
              </a:spcBef>
              <a:spcAft>
                <a:spcPts val="0"/>
              </a:spcAft>
              <a:buNone/>
            </a:pP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x_old</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i="1" dirty="0">
                <a:solidFill>
                  <a:srgbClr val="999988"/>
                </a:solidFill>
                <a:latin typeface="Consolas" panose="020B0609020204030204" pitchFamily="49" charset="0"/>
                <a:ea typeface="Times New Roman" panose="02020603050405020304" pitchFamily="18" charset="0"/>
                <a:cs typeface="Times New Roman" panose="02020603050405020304" pitchFamily="18" charset="0"/>
              </a:rPr>
              <a:t># The value does not matter as long as abs(</a:t>
            </a:r>
            <a:r>
              <a:rPr lang="en-US" sz="2400" i="1" dirty="0" err="1">
                <a:solidFill>
                  <a:srgbClr val="999988"/>
                </a:solidFill>
                <a:latin typeface="Consolas" panose="020B0609020204030204" pitchFamily="49" charset="0"/>
                <a:ea typeface="Times New Roman" panose="02020603050405020304" pitchFamily="18" charset="0"/>
                <a:cs typeface="Times New Roman" panose="02020603050405020304" pitchFamily="18" charset="0"/>
              </a:rPr>
              <a:t>x_new</a:t>
            </a:r>
            <a:r>
              <a:rPr lang="en-US" sz="2400" i="1" dirty="0">
                <a:solidFill>
                  <a:srgbClr val="999988"/>
                </a:solidFill>
                <a:latin typeface="Consolas" panose="020B0609020204030204" pitchFamily="49" charset="0"/>
                <a:ea typeface="Times New Roman" panose="02020603050405020304" pitchFamily="18" charset="0"/>
                <a:cs typeface="Times New Roman" panose="02020603050405020304" pitchFamily="18" charset="0"/>
              </a:rPr>
              <a:t> - </a:t>
            </a:r>
            <a:r>
              <a:rPr lang="en-US" sz="2400" i="1" dirty="0" err="1">
                <a:solidFill>
                  <a:srgbClr val="999988"/>
                </a:solidFill>
                <a:latin typeface="Consolas" panose="020B0609020204030204" pitchFamily="49" charset="0"/>
                <a:ea typeface="Times New Roman" panose="02020603050405020304" pitchFamily="18" charset="0"/>
                <a:cs typeface="Times New Roman" panose="02020603050405020304" pitchFamily="18" charset="0"/>
              </a:rPr>
              <a:t>x_old</a:t>
            </a:r>
            <a:r>
              <a:rPr lang="en-US" sz="2400" i="1" dirty="0">
                <a:solidFill>
                  <a:srgbClr val="999988"/>
                </a:solidFill>
                <a:latin typeface="Consolas" panose="020B0609020204030204" pitchFamily="49" charset="0"/>
                <a:ea typeface="Times New Roman" panose="02020603050405020304" pitchFamily="18" charset="0"/>
                <a:cs typeface="Times New Roman" panose="02020603050405020304" pitchFamily="18" charset="0"/>
              </a:rPr>
              <a:t>) &gt; precision</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x_new</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6</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i="1" dirty="0">
                <a:solidFill>
                  <a:srgbClr val="999988"/>
                </a:solidFill>
                <a:latin typeface="Consolas" panose="020B0609020204030204" pitchFamily="49" charset="0"/>
                <a:ea typeface="Times New Roman" panose="02020603050405020304" pitchFamily="18" charset="0"/>
                <a:cs typeface="Times New Roman" panose="02020603050405020304" pitchFamily="18" charset="0"/>
              </a:rPr>
              <a:t># The algorithm starts at x=6</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gamma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0.01</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i="1" dirty="0">
                <a:solidFill>
                  <a:srgbClr val="999988"/>
                </a:solidFill>
                <a:latin typeface="Consolas" panose="020B0609020204030204" pitchFamily="49" charset="0"/>
                <a:ea typeface="Times New Roman" panose="02020603050405020304" pitchFamily="18" charset="0"/>
                <a:cs typeface="Times New Roman" panose="02020603050405020304" pitchFamily="18" charset="0"/>
              </a:rPr>
              <a:t># step size</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precision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0.00001</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def</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b="1" dirty="0">
                <a:solidFill>
                  <a:srgbClr val="9A050F"/>
                </a:solidFill>
                <a:latin typeface="Consolas" panose="020B0609020204030204" pitchFamily="49" charset="0"/>
                <a:ea typeface="Times New Roman" panose="02020603050405020304" pitchFamily="18" charset="0"/>
                <a:cs typeface="Times New Roman" panose="02020603050405020304" pitchFamily="18" charset="0"/>
              </a:rPr>
              <a:t>df</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y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4</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x</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3</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9</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x</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36ACAA"/>
                </a:solidFill>
                <a:latin typeface="Consolas" panose="020B0609020204030204" pitchFamily="49" charset="0"/>
                <a:ea typeface="Times New Roman" panose="02020603050405020304" pitchFamily="18" charset="0"/>
                <a:cs typeface="Times New Roman" panose="02020603050405020304" pitchFamily="18" charset="0"/>
              </a:rPr>
              <a:t>2</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y</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while</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669900"/>
                </a:solidFill>
                <a:latin typeface="Consolas" panose="020B0609020204030204" pitchFamily="49" charset="0"/>
                <a:ea typeface="Times New Roman" panose="02020603050405020304" pitchFamily="18" charset="0"/>
                <a:cs typeface="Times New Roman" panose="02020603050405020304" pitchFamily="18" charset="0"/>
              </a:rPr>
              <a:t>abs</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x_new</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x_old</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&gt;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precision</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x_old</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x_new</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x_new</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gamma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df</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x_old</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nSpc>
                <a:spcPct val="100000"/>
              </a:lnSpc>
              <a:spcBef>
                <a:spcPts val="0"/>
              </a:spcBef>
              <a:spcAft>
                <a:spcPts val="0"/>
              </a:spcAft>
              <a:buNone/>
            </a:pPr>
            <a:r>
              <a:rPr lang="en-US" sz="2400" dirty="0">
                <a:solidFill>
                  <a:srgbClr val="00A4DB"/>
                </a:solidFill>
                <a:latin typeface="Consolas" panose="020B0609020204030204" pitchFamily="49" charset="0"/>
                <a:ea typeface="Times New Roman" panose="02020603050405020304" pitchFamily="18" charset="0"/>
                <a:cs typeface="Times New Roman" panose="02020603050405020304" pitchFamily="18" charset="0"/>
              </a:rPr>
              <a:t>print</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E3116C"/>
                </a:solidFill>
                <a:latin typeface="Consolas" panose="020B0609020204030204" pitchFamily="49" charset="0"/>
                <a:ea typeface="Times New Roman" panose="02020603050405020304" pitchFamily="18" charset="0"/>
                <a:cs typeface="Times New Roman" panose="02020603050405020304" pitchFamily="18" charset="0"/>
              </a:rPr>
              <a:t>"The local minimum occurs at %f"</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r>
              <a:rPr lang="en-US" sz="2400" dirty="0">
                <a:solidFill>
                  <a:srgbClr val="000000"/>
                </a:solidFill>
                <a:latin typeface="Consolas" panose="020B0609020204030204" pitchFamily="49" charset="0"/>
                <a:ea typeface="Times New Roman" panose="02020603050405020304" pitchFamily="18" charset="0"/>
                <a:cs typeface="Times New Roman" panose="02020603050405020304" pitchFamily="18" charset="0"/>
              </a:rPr>
              <a:t> </a:t>
            </a:r>
            <a:r>
              <a:rPr lang="en-US" sz="2400" dirty="0" err="1">
                <a:solidFill>
                  <a:srgbClr val="000000"/>
                </a:solidFill>
                <a:latin typeface="Consolas" panose="020B0609020204030204" pitchFamily="49" charset="0"/>
                <a:ea typeface="Times New Roman" panose="02020603050405020304" pitchFamily="18" charset="0"/>
                <a:cs typeface="Times New Roman" panose="02020603050405020304" pitchFamily="18" charset="0"/>
              </a:rPr>
              <a:t>x_new</a:t>
            </a:r>
            <a:r>
              <a:rPr lang="en-US" sz="2400" dirty="0">
                <a:solidFill>
                  <a:srgbClr val="393A34"/>
                </a:solidFill>
                <a:latin typeface="Consolas" panose="020B0609020204030204" pitchFamily="49"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lnSpc>
                <a:spcPct val="100000"/>
              </a:lnSpc>
              <a:spcAft>
                <a:spcPts val="0"/>
              </a:spcAft>
              <a:buNone/>
            </a:pPr>
            <a:endParaRPr lang="en-US" sz="2400" dirty="0"/>
          </a:p>
        </p:txBody>
      </p:sp>
    </p:spTree>
    <p:extLst>
      <p:ext uri="{BB962C8B-B14F-4D97-AF65-F5344CB8AC3E}">
        <p14:creationId xmlns:p14="http://schemas.microsoft.com/office/powerpoint/2010/main" val="50615052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otalTime>10890</TotalTime>
  <Words>1099</Words>
  <Application>Microsoft Office PowerPoint</Application>
  <PresentationFormat>Widescreen</PresentationFormat>
  <Paragraphs>100</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Consolas</vt:lpstr>
      <vt:lpstr>Franklin Gothic Book</vt:lpstr>
      <vt:lpstr>MathJax_Main</vt:lpstr>
      <vt:lpstr>MathJax_Math</vt:lpstr>
      <vt:lpstr>Söhne</vt:lpstr>
      <vt:lpstr>Times New Roman</vt:lpstr>
      <vt:lpstr>Crop</vt:lpstr>
      <vt:lpstr>DL2: How it Works? A Multilayer Perceptrons (MLP’s) Example</vt:lpstr>
      <vt:lpstr>Recap</vt:lpstr>
      <vt:lpstr>DL Model Structure</vt:lpstr>
      <vt:lpstr>PowerPoint Presentation</vt:lpstr>
      <vt:lpstr>MLP Learning  Process (Backpropagation)</vt:lpstr>
      <vt:lpstr>Tasks</vt:lpstr>
      <vt:lpstr>A Simple Example</vt:lpstr>
      <vt:lpstr>Learning</vt:lpstr>
      <vt:lpstr>MLP’s</vt:lpstr>
      <vt:lpstr>A Simple MLP with one Hidden Layer</vt:lpstr>
      <vt:lpstr>The Perceptron</vt:lpstr>
      <vt:lpstr>A Simple Activation Function for the Perceptron</vt:lpstr>
      <vt:lpstr>Activation function plot</vt:lpstr>
      <vt:lpstr>Learning</vt:lpstr>
      <vt:lpstr>Computing the Weights in MLP’s</vt:lpstr>
      <vt:lpstr>Layer 1 Weights</vt:lpstr>
      <vt:lpstr>Python NumPy Representation</vt:lpstr>
      <vt:lpstr>Layer 2 Weights</vt:lpstr>
      <vt:lpstr>Python NumPy Representation</vt:lpstr>
      <vt:lpstr>Vectorization</vt:lpstr>
      <vt:lpstr>Implications – Power NumPy (Tensors)</vt:lpstr>
      <vt:lpstr>Gradient Descent</vt:lpstr>
      <vt:lpstr>A Simple Example: Loss Function and Learning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Multilayer Perceptrons (MLP’s)</dc:title>
  <dc:creator>Mohammed EL-Affendi</dc:creator>
  <cp:lastModifiedBy>Prof Mohammed ELAffendi</cp:lastModifiedBy>
  <cp:revision>16</cp:revision>
  <dcterms:created xsi:type="dcterms:W3CDTF">2018-09-11T08:27:23Z</dcterms:created>
  <dcterms:modified xsi:type="dcterms:W3CDTF">2025-09-16T09:33:54Z</dcterms:modified>
</cp:coreProperties>
</file>