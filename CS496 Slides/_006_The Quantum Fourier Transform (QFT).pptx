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405" autoAdjust="0"/>
  </p:normalViewPr>
  <p:slideViewPr>
    <p:cSldViewPr snapToGrid="0">
      <p:cViewPr>
        <p:scale>
          <a:sx n="75" d="100"/>
          <a:sy n="75" d="100"/>
        </p:scale>
        <p:origin x="931" y="336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1/7/2026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dirty="0"/>
              <a:t>The Quantum Fourier Transform (QFT) 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3DF3-DDD0-5A92-83DA-20E896AFB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Quantum Fourier Transform?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4EA8E-2D1F-4F65-82F2-D4C00EFDA04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39112"/>
            <a:ext cx="10535921" cy="40670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badi" panose="020B0604020104020204" pitchFamily="34" charset="0"/>
              </a:rPr>
              <a:t>The Quantum Fourier Transform (QFT) circuit is a foundational component in quantum computation, serving as the quantum equivalent of the classical Discrete Fourier Transform (DFT). </a:t>
            </a:r>
          </a:p>
          <a:p>
            <a:pPr marL="0" indent="0">
              <a:buNone/>
            </a:pPr>
            <a:r>
              <a:rPr lang="en-US" sz="2400" dirty="0">
                <a:latin typeface="Abadi" panose="020B0604020104020204" pitchFamily="34" charset="0"/>
              </a:rPr>
              <a:t>The QFT is one of the most powerful tools available to quantum computers because it enables the efficient processing of information encoded across multiple quantum bits, or qubits. </a:t>
            </a:r>
          </a:p>
          <a:p>
            <a:pPr marL="0" indent="0">
              <a:buNone/>
            </a:pPr>
            <a:r>
              <a:rPr lang="en-US" sz="2400" dirty="0">
                <a:latin typeface="Abadi" panose="020B0604020104020204" pitchFamily="34" charset="0"/>
              </a:rPr>
              <a:t>By manipulating the underlying quantum mechanics of superposition and interference, the QFT allows a quantum computer to efficiently transition a quantum state from one informational representation to another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FD259-A489-37AC-35CC-BA6AB01FA0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797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24174-1FA3-317A-224F-BCDB1A391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Discrete Fourier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BF4C8-7B5D-C081-01CC-5E8664C7D80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4281" y="2115312"/>
            <a:ext cx="10515600" cy="47426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badi" panose="020B0604020104020204" pitchFamily="34" charset="0"/>
              </a:rPr>
              <a:t>The Discrete Fourier Transform:</a:t>
            </a:r>
          </a:p>
          <a:p>
            <a:pPr marL="0" indent="0">
              <a:buNone/>
            </a:pPr>
            <a:r>
              <a:rPr lang="en-US" sz="2400" dirty="0">
                <a:latin typeface="Abadi" panose="020B0604020104020204" pitchFamily="34" charset="0"/>
              </a:rPr>
              <a:t>       Transforms a sequence of complex numbers</a:t>
            </a:r>
          </a:p>
          <a:p>
            <a:pPr marL="0" indent="0">
              <a:buNone/>
            </a:pPr>
            <a:endParaRPr lang="en-US" sz="2400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badi" panose="020B0604020104020204" pitchFamily="34" charset="0"/>
              </a:rPr>
              <a:t>       Into another sequence of N:</a:t>
            </a:r>
          </a:p>
          <a:p>
            <a:endParaRPr lang="en-US" sz="2400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badi" panose="020B0604020104020204" pitchFamily="34" charset="0"/>
              </a:rPr>
              <a:t>      Using the following relation:</a:t>
            </a:r>
          </a:p>
          <a:p>
            <a:endParaRPr lang="en-US" sz="2400" dirty="0">
              <a:latin typeface="Abadi" panose="020B0604020104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BDC31-F400-67D9-C007-A50FD384CC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393E7B6-916F-0962-FE80-BEA182B0B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9649" y="3007501"/>
            <a:ext cx="4162425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B9829CC-658D-C9F4-0E72-492E7CF57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728" y="3967926"/>
            <a:ext cx="4600575" cy="40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07ABD5A-2D06-974D-9885-EC11B2EAC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9649" y="4793456"/>
            <a:ext cx="3890963" cy="1313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7536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5BC18-AF81-01AF-1588-85EC37220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800" y="528320"/>
            <a:ext cx="7534656" cy="914400"/>
          </a:xfrm>
        </p:spPr>
        <p:txBody>
          <a:bodyPr/>
          <a:lstStyle/>
          <a:p>
            <a:r>
              <a:rPr lang="en-US" dirty="0"/>
              <a:t>The QFT Applied to qubit states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D83DA-A45B-7ACC-7B52-31AB04814D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1"/>
            <a:ext cx="10007600" cy="4736591"/>
          </a:xfrm>
        </p:spPr>
        <p:txBody>
          <a:bodyPr/>
          <a:lstStyle/>
          <a:p>
            <a:r>
              <a:rPr lang="en-US" sz="2400" dirty="0">
                <a:latin typeface="Abadi" panose="020B0604020104020204" pitchFamily="34" charset="0"/>
              </a:rPr>
              <a:t>The definition of the Quantum Fourier Transform is quite analogous to the DFT definition. </a:t>
            </a:r>
          </a:p>
          <a:p>
            <a:r>
              <a:rPr lang="en-US" sz="2400" dirty="0">
                <a:latin typeface="Abadi" panose="020B0604020104020204" pitchFamily="34" charset="0"/>
              </a:rPr>
              <a:t>In fact, we consider the computational basis </a:t>
            </a:r>
            <a:r>
              <a:rPr lang="en-US" sz="2400" b="1" dirty="0">
                <a:latin typeface="Abadi" panose="020B0604020104020204" pitchFamily="34" charset="0"/>
              </a:rPr>
              <a:t>{|0⟩,|1⟩,…,|N-1⟩}</a:t>
            </a:r>
            <a:r>
              <a:rPr lang="en-US" sz="2400" dirty="0">
                <a:latin typeface="Abadi" panose="020B0604020104020204" pitchFamily="34" charset="0"/>
              </a:rPr>
              <a:t> (in decimal notation), with </a:t>
            </a:r>
            <a:r>
              <a:rPr lang="en-US" sz="2400" b="1" dirty="0">
                <a:latin typeface="Abadi" panose="020B0604020104020204" pitchFamily="34" charset="0"/>
              </a:rPr>
              <a:t>N=2^n</a:t>
            </a:r>
            <a:r>
              <a:rPr lang="en-US" sz="2400" dirty="0">
                <a:latin typeface="Abadi" panose="020B0604020104020204" pitchFamily="34" charset="0"/>
              </a:rPr>
              <a:t>, where </a:t>
            </a:r>
            <a:r>
              <a:rPr lang="en-US" sz="2400" b="1" dirty="0">
                <a:latin typeface="Abadi" panose="020B0604020104020204" pitchFamily="34" charset="0"/>
              </a:rPr>
              <a:t>n</a:t>
            </a:r>
            <a:r>
              <a:rPr lang="en-US" sz="2400" dirty="0">
                <a:latin typeface="Abadi" panose="020B0604020104020204" pitchFamily="34" charset="0"/>
              </a:rPr>
              <a:t> is the number of qubits. </a:t>
            </a:r>
          </a:p>
          <a:p>
            <a:r>
              <a:rPr lang="en-US" sz="2400" dirty="0">
                <a:latin typeface="Abadi" panose="020B0604020104020204" pitchFamily="34" charset="0"/>
              </a:rPr>
              <a:t>The action of the QFT on one of the basis states </a:t>
            </a:r>
            <a:r>
              <a:rPr lang="en-US" sz="2400" b="1" dirty="0">
                <a:latin typeface="Abadi" panose="020B0604020104020204" pitchFamily="34" charset="0"/>
              </a:rPr>
              <a:t>|k⟩</a:t>
            </a:r>
            <a:r>
              <a:rPr lang="en-US" sz="2400" dirty="0">
                <a:latin typeface="Abadi" panose="020B0604020104020204" pitchFamily="34" charset="0"/>
              </a:rPr>
              <a:t> is described by the following expression::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16770-3E97-FBFA-57A5-CECF51FF68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92DDC87-BCD9-0091-CEC7-89D9729E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650741"/>
            <a:ext cx="6569456" cy="1261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540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A4444-5E6D-79E0-C4A6-8338D354D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9276080" cy="914400"/>
          </a:xfrm>
        </p:spPr>
        <p:txBody>
          <a:bodyPr/>
          <a:lstStyle/>
          <a:p>
            <a:r>
              <a:rPr lang="en-US" dirty="0"/>
              <a:t>Applying to  general states and amplitudes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3C547-A228-34D6-3795-E5AB6090200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6080" y="2039111"/>
            <a:ext cx="11277600" cy="4736591"/>
          </a:xfrm>
        </p:spPr>
        <p:txBody>
          <a:bodyPr/>
          <a:lstStyle/>
          <a:p>
            <a:r>
              <a:rPr lang="en-US" sz="2800" dirty="0">
                <a:latin typeface="Abadi" panose="020B0604020104020204" pitchFamily="34" charset="0"/>
              </a:rPr>
              <a:t>since the QFT is a linear operator, it acts on a general quantum state |</a:t>
            </a:r>
            <a:r>
              <a:rPr lang="en-US" sz="2800" i="1" dirty="0">
                <a:latin typeface="Abadi" panose="020B0604020104020204" pitchFamily="34" charset="0"/>
              </a:rPr>
              <a:t>ψ</a:t>
            </a:r>
            <a:r>
              <a:rPr lang="en-US" sz="2800" dirty="0">
                <a:latin typeface="Abadi" panose="020B0604020104020204" pitchFamily="34" charset="0"/>
              </a:rPr>
              <a:t>⟩ as follows:</a:t>
            </a:r>
          </a:p>
          <a:p>
            <a:endParaRPr lang="en-US" sz="2800" dirty="0">
              <a:latin typeface="Abadi" panose="020B0604020104020204" pitchFamily="34" charset="0"/>
            </a:endParaRPr>
          </a:p>
          <a:p>
            <a:endParaRPr lang="en-US" sz="2800" dirty="0">
              <a:latin typeface="Abadi" panose="020B0604020104020204" pitchFamily="34" charset="0"/>
            </a:endParaRPr>
          </a:p>
          <a:p>
            <a:endParaRPr lang="en-US" sz="2800" dirty="0">
              <a:latin typeface="Abadi" panose="020B0604020104020204" pitchFamily="34" charset="0"/>
            </a:endParaRPr>
          </a:p>
          <a:p>
            <a:r>
              <a:rPr lang="en-US" sz="2800" dirty="0">
                <a:latin typeface="Abadi" panose="020B0604020104020204" pitchFamily="34" charset="0"/>
              </a:rPr>
              <a:t>Each Amplitude is represented by:</a:t>
            </a:r>
          </a:p>
          <a:p>
            <a:endParaRPr lang="en-US" sz="2800" dirty="0">
              <a:latin typeface="Abadi" panose="020B0604020104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7F914-3CF3-7809-2128-997D0E5CB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460BAEF-B3DE-CD83-2D30-B60E84F06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033" y="2921437"/>
            <a:ext cx="4962207" cy="101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964BE737-FADD-A86D-41B4-1D77F4F57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8127" y="5161099"/>
            <a:ext cx="4962208" cy="1009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249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7C281-49BD-54D3-DE11-653F463E4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QFT Circuit: Combination of Hadamard, SWAP  and </a:t>
            </a:r>
            <a:r>
              <a:rPr lang="en-US" dirty="0" err="1"/>
              <a:t>R</a:t>
            </a:r>
            <a:r>
              <a:rPr lang="en-US" i="1" baseline="30000" dirty="0" err="1"/>
              <a:t>k</a:t>
            </a:r>
            <a:endParaRPr lang="en-US" baseline="30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72BC4-8D77-A796-0517-11BD926B27E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9926320" cy="45953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Indeed, the QFT can be defined as a combination and succession of three different gates: the Hadamard gate, the SWAP gate, and the </a:t>
            </a:r>
            <a:r>
              <a:rPr lang="en-US" i="1" dirty="0"/>
              <a:t>controlled</a:t>
            </a:r>
            <a:r>
              <a:rPr lang="en-US" dirty="0"/>
              <a:t>-</a:t>
            </a:r>
            <a:r>
              <a:rPr lang="en-US" dirty="0" err="1"/>
              <a:t>R</a:t>
            </a:r>
            <a:r>
              <a:rPr lang="en-US" i="1" dirty="0" err="1"/>
              <a:t>k</a:t>
            </a:r>
            <a:r>
              <a:rPr lang="en-US" i="1" dirty="0"/>
              <a:t> </a:t>
            </a:r>
            <a:r>
              <a:rPr lang="en-US" dirty="0"/>
              <a:t>(defined below).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0F41D-09A5-5D60-4B9D-DDFA1D1595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E5E85C1-1B74-FE70-EC3C-8A95C919F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573" y="3429000"/>
            <a:ext cx="5609907" cy="1564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9402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6D194-A4C7-0613-7C4F-71D4694AC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Circuit: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ADC7A-71DF-E3A1-19F2-971A1CB3E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944F276-47E4-7FCD-C584-32DA10E4F531}"/>
              </a:ext>
            </a:extLst>
          </p:cNvPr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39585"/>
            <a:ext cx="9083040" cy="2595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7763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B0F2A-A84B-966C-67F0-FED3891F9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E10A7-6CFE-9592-8A82-37F70DCE2A8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1"/>
            <a:ext cx="10302240" cy="4736591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Abadi" panose="020B0604020104020204" pitchFamily="34" charset="0"/>
              </a:rPr>
              <a:t>Complexity is:</a:t>
            </a:r>
          </a:p>
          <a:p>
            <a:pPr marL="0" indent="0">
              <a:buNone/>
            </a:pPr>
            <a:r>
              <a:rPr lang="en-US" sz="2400" dirty="0">
                <a:latin typeface="Abadi" panose="020B0604020104020204" pitchFamily="34" charset="0"/>
              </a:rPr>
              <a:t>Number of operations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400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badi" panose="020B0604020104020204" pitchFamily="34" charset="0"/>
              </a:rPr>
              <a:t>Implies Complexity is :</a:t>
            </a:r>
          </a:p>
          <a:p>
            <a:pPr marL="0" indent="0">
              <a:buNone/>
            </a:pPr>
            <a:r>
              <a:rPr lang="en-US" sz="2400" b="1" dirty="0">
                <a:latin typeface="Abadi" panose="020B0604020104020204" pitchFamily="34" charset="0"/>
              </a:rPr>
              <a:t>O(n²)</a:t>
            </a:r>
            <a:r>
              <a:rPr lang="en-US" sz="2400" dirty="0">
                <a:latin typeface="Abadi" panose="020B0604020104020204" pitchFamily="34" charset="0"/>
              </a:rPr>
              <a:t> in the number of operations, which is a complexity of </a:t>
            </a:r>
            <a:r>
              <a:rPr lang="en-US" sz="2400" b="1" dirty="0">
                <a:latin typeface="Abadi" panose="020B0604020104020204" pitchFamily="34" charset="0"/>
              </a:rPr>
              <a:t>O(log(N)²)</a:t>
            </a:r>
            <a:r>
              <a:rPr lang="en-US" sz="2400" dirty="0">
                <a:latin typeface="Abadi" panose="020B0604020104020204" pitchFamily="34" charset="0"/>
              </a:rPr>
              <a:t>, with N the number of basis states. This quadratic complexity of the QFT is one of the key reasons why Shor’s algorithm is polynomial.</a:t>
            </a:r>
          </a:p>
          <a:p>
            <a:pPr marL="0" indent="0">
              <a:buNone/>
            </a:pPr>
            <a:endParaRPr lang="en-US" sz="2400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A7A24-109D-AD9E-B62D-03C26D1022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09D0727-F300-FBCC-AC3D-A918DDF4E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923" y="3196908"/>
            <a:ext cx="2276475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1014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10EED-2038-AFA4-6F1A-5141E570E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760"/>
            <a:ext cx="9753600" cy="914400"/>
          </a:xfrm>
        </p:spPr>
        <p:txBody>
          <a:bodyPr/>
          <a:lstStyle/>
          <a:p>
            <a:r>
              <a:rPr lang="en-US" dirty="0"/>
              <a:t>Applying QFT to single qubits: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B6E712-861A-8D5A-377C-B6B87E9FA58C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467360" y="1511913"/>
                <a:ext cx="11216640" cy="4815840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>
                    <a:latin typeface="Abadi" panose="020B0604020104020204" pitchFamily="34" charset="0"/>
                  </a:rPr>
                  <a:t>Let’s apply the quantum Fourier transform to the state .</a:t>
                </a:r>
              </a:p>
              <a:p>
                <a:endParaRPr lang="en-US" sz="2400" dirty="0">
                  <a:latin typeface="Abadi" panose="020B0604020104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dirty="0" smtClean="0">
                          <a:latin typeface="Cambria Math" panose="02040503050406030204" pitchFamily="18" charset="0"/>
                        </a:rPr>
                        <m:t>ℱ</m:t>
                      </m:r>
                      <m:r>
                        <a:rPr lang="en-US" sz="2400" i="0" dirty="0" smtClean="0">
                          <a:latin typeface="Cambria Math" panose="02040503050406030204" pitchFamily="18" charset="0"/>
                        </a:rPr>
                        <m:t>|0⟩=</m:t>
                      </m:r>
                      <m:f>
                        <m:f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0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0" dirty="0" smtClean="0">
                              <a:latin typeface="Cambria Math" panose="02040503050406030204" pitchFamily="18" charset="0"/>
                            </a:rPr>
                            <m:t>|0⟩+|1⟩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>
                    <a:latin typeface="Abadi" panose="020B0604020104020204" pitchFamily="34" charset="0"/>
                  </a:rPr>
                  <a:t>As you can see,  becomes a superposition of states with no phase shift.</a:t>
                </a:r>
              </a:p>
              <a:p>
                <a:pPr marL="0" indent="0">
                  <a:buNone/>
                </a:pPr>
                <a:r>
                  <a:rPr lang="en-US" sz="2400" dirty="0"/>
                  <a:t>    </a:t>
                </a:r>
                <a:endParaRPr lang="en-US" sz="24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dirty="0">
                          <a:latin typeface="Cambria Math" panose="02040503050406030204" pitchFamily="18" charset="0"/>
                        </a:rPr>
                        <m:t>ℱ</m:t>
                      </m:r>
                      <m:r>
                        <a:rPr lang="en-US" sz="2400" i="0" dirty="0">
                          <a:latin typeface="Cambria Math" panose="02040503050406030204" pitchFamily="18" charset="0"/>
                        </a:rPr>
                        <m:t>|1⟩=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0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0" dirty="0">
                              <a:latin typeface="Cambria Math" panose="02040503050406030204" pitchFamily="18" charset="0"/>
                            </a:rPr>
                            <m:t>|0⟩+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2400" i="0" dirty="0">
                              <a:latin typeface="Cambria Math" panose="02040503050406030204" pitchFamily="18" charset="0"/>
                            </a:rPr>
                            <m:t>|1⟩</m:t>
                          </m:r>
                        </m:e>
                      </m:d>
                      <m:r>
                        <a:rPr lang="en-US" sz="2400" i="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0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0" dirty="0">
                              <a:latin typeface="Cambria Math" panose="02040503050406030204" pitchFamily="18" charset="0"/>
                            </a:rPr>
                            <m:t>|0⟩−|1⟩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br>
                  <a:rPr lang="en-US" sz="2400" dirty="0"/>
                </a:br>
                <a:br>
                  <a:rPr lang="en-US" sz="2400" dirty="0"/>
                </a:b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B6E712-861A-8D5A-377C-B6B87E9FA5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467360" y="1511913"/>
                <a:ext cx="11216640" cy="4815840"/>
              </a:xfrm>
              <a:blipFill>
                <a:blip r:embed="rId2"/>
                <a:stretch>
                  <a:fillRect l="-761" t="-1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CDBCB-BA35-74DC-C76A-A41FB5095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466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8356A-3076-A17F-2BE3-A39F9BB2B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13360"/>
            <a:ext cx="7534656" cy="914400"/>
          </a:xfrm>
        </p:spPr>
        <p:txBody>
          <a:bodyPr/>
          <a:lstStyle/>
          <a:p>
            <a:r>
              <a:rPr lang="en-US" dirty="0"/>
              <a:t>Applying QFT to two qubits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E64C5B-00A5-AC7E-2315-282841F5B978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264160" y="1127760"/>
                <a:ext cx="11358880" cy="551688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Let’s apply the quantum Fourier transform to quantum state |01&gt; below .</a:t>
                </a:r>
              </a:p>
              <a:p>
                <a:r>
                  <a:rPr lang="en-US" sz="2400" dirty="0"/>
                  <a:t>As you can see, the Quantum Fourier Transform of  becomes a superposition where each component has a phase shift of π, indicating a phase-inverted state.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sz="2400" dirty="0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2400" dirty="0" smtClean="0">
                                <a:latin typeface="Cambria Math" panose="02040503050406030204" pitchFamily="18" charset="0"/>
                              </a:rPr>
                              <m:t>ℱ</m:t>
                            </m:r>
                            <m:r>
                              <a:rPr lang="en-US" sz="2400" i="0" dirty="0" smtClean="0">
                                <a:latin typeface="Cambria Math" panose="02040503050406030204" pitchFamily="18" charset="0"/>
                              </a:rPr>
                              <m:t>|01⟩</m:t>
                            </m:r>
                          </m:e>
                          <m:e>
                            <m:r>
                              <a:rPr lang="en-US" sz="2400" i="0" dirty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limLoc m:val="undOvr"/>
                                <m:grow m:val="on"/>
                                <m:ctrlP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i="0" dirty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sz="2400" i="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 dirty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i="0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i="1" dirty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US" sz="240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400" i="0" dirty="0" smtClean="0">
                                        <a:latin typeface="Cambria Math" panose="02040503050406030204" pitchFamily="18" charset="0"/>
                                      </a:rPr>
                                      <m:t>⋅1⋅</m:t>
                                    </m:r>
                                    <m:r>
                                      <a:rPr lang="en-US" sz="2400" i="1" dirty="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400" i="0" dirty="0" smtClean="0">
                                        <a:latin typeface="Cambria Math" panose="02040503050406030204" pitchFamily="18" charset="0"/>
                                      </a:rPr>
                                      <m:t>/4</m:t>
                                    </m:r>
                                  </m:sup>
                                </m:sSup>
                              </m:e>
                            </m:nary>
                            <m:r>
                              <a:rPr lang="en-US" sz="2400" i="0" dirty="0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i="0" dirty="0" smtClean="0">
                                <a:latin typeface="Cambria Math" panose="02040503050406030204" pitchFamily="18" charset="0"/>
                              </a:rPr>
                              <m:t>⟩=</m:t>
                            </m:r>
                            <m:f>
                              <m:fPr>
                                <m:ctrlP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0" dirty="0" smtClean="0">
                                    <a:latin typeface="Cambria Math" panose="02040503050406030204" pitchFamily="18" charset="0"/>
                                  </a:rPr>
                                  <m:t>|00⟩+</m:t>
                                </m:r>
                                <m:sSup>
                                  <m:sSupPr>
                                    <m:ctrlPr>
                                      <a:rPr lang="en-US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 dirty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sz="24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 i="1" dirty="0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r>
                                          <a:rPr lang="en-US" sz="2400" i="1" dirty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num>
                                      <m:den>
                                        <m:r>
                                          <a:rPr lang="en-US" sz="2400" i="0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a:rPr lang="en-US" sz="2400" i="0" dirty="0" smtClean="0">
                                    <a:latin typeface="Cambria Math" panose="02040503050406030204" pitchFamily="18" charset="0"/>
                                  </a:rPr>
                                  <m:t>|01⟩+</m:t>
                                </m:r>
                                <m:sSup>
                                  <m:sSupPr>
                                    <m:ctrlPr>
                                      <a:rPr lang="en-US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 dirty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sz="24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 i="0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2400" i="1" dirty="0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r>
                                          <a:rPr lang="en-US" sz="2400" i="1" dirty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num>
                                      <m:den>
                                        <m:r>
                                          <a:rPr lang="en-US" sz="2400" i="0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a:rPr lang="en-US" sz="2400" i="0" dirty="0" smtClean="0">
                                    <a:latin typeface="Cambria Math" panose="02040503050406030204" pitchFamily="18" charset="0"/>
                                  </a:rPr>
                                  <m:t>|10⟩+</m:t>
                                </m:r>
                                <m:sSup>
                                  <m:sSupPr>
                                    <m:ctrlPr>
                                      <a:rPr lang="en-US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 dirty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sz="24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 i="0" dirty="0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en-US" sz="2400" i="1" dirty="0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r>
                                          <a:rPr lang="en-US" sz="2400" i="1" dirty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num>
                                      <m:den>
                                        <m:r>
                                          <a:rPr lang="en-US" sz="2400" i="0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a:rPr lang="en-US" sz="2400" i="0" dirty="0" smtClean="0">
                                    <a:latin typeface="Cambria Math" panose="02040503050406030204" pitchFamily="18" charset="0"/>
                                  </a:rPr>
                                  <m:t>|11⟩</m:t>
                                </m:r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a:rPr lang="en-US" sz="2400" i="0" dirty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0" dirty="0" smtClean="0">
                                    <a:latin typeface="Cambria Math" panose="02040503050406030204" pitchFamily="18" charset="0"/>
                                  </a:rPr>
                                  <m:t>|00⟩+</m:t>
                                </m:r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i="0" dirty="0" smtClean="0">
                                    <a:latin typeface="Cambria Math" panose="02040503050406030204" pitchFamily="18" charset="0"/>
                                  </a:rPr>
                                  <m:t>|01⟩−|10⟩−</m:t>
                                </m:r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i="0" dirty="0" smtClean="0">
                                    <a:latin typeface="Cambria Math" panose="02040503050406030204" pitchFamily="18" charset="0"/>
                                  </a:rPr>
                                  <m:t>|11⟩</m:t>
                                </m:r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Let's apply the quantum Fourier transform to the state  |10&gt;.</a:t>
                </a:r>
              </a:p>
              <a:p>
                <a:pPr marL="0" indent="0">
                  <a:buNone/>
                </a:pPr>
                <a:endParaRPr lang="en-US" sz="24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sz="2400" dirty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ℱ</m:t>
                            </m:r>
                            <m:r>
                              <a:rPr lang="en-US" sz="2400" i="0" dirty="0">
                                <a:latin typeface="Cambria Math" panose="02040503050406030204" pitchFamily="18" charset="0"/>
                              </a:rPr>
                              <m:t>|10⟩</m:t>
                            </m:r>
                          </m:e>
                          <m:e>
                            <m:r>
                              <a:rPr lang="en-US" sz="2400" i="0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limLoc m:val="undOvr"/>
                                <m:grow m:val="on"/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i="0" dirty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sz="2400" i="0" dirty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i="0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400" i="0" dirty="0">
                                        <a:latin typeface="Cambria Math" panose="02040503050406030204" pitchFamily="18" charset="0"/>
                                      </a:rPr>
                                      <m:t>⋅2⋅</m:t>
                                    </m:r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400" i="0" dirty="0">
                                        <a:latin typeface="Cambria Math" panose="02040503050406030204" pitchFamily="18" charset="0"/>
                                      </a:rPr>
                                      <m:t>/4</m:t>
                                    </m:r>
                                  </m:sup>
                                </m:sSup>
                              </m:e>
                            </m:nary>
                            <m:r>
                              <a:rPr lang="en-US" sz="2400" i="0" dirty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i="0" dirty="0">
                                <a:latin typeface="Cambria Math" panose="02040503050406030204" pitchFamily="18" charset="0"/>
                              </a:rPr>
                              <m:t>⟩=</m:t>
                            </m:r>
                            <m:f>
                              <m:f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0" dirty="0">
                                    <a:latin typeface="Cambria Math" panose="02040503050406030204" pitchFamily="18" charset="0"/>
                                  </a:rPr>
                                  <m:t>|00⟩+</m:t>
                                </m:r>
                                <m:sSup>
                                  <m:sSup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  <m:r>
                                  <a:rPr lang="en-US" sz="2400" i="0" dirty="0">
                                    <a:latin typeface="Cambria Math" panose="02040503050406030204" pitchFamily="18" charset="0"/>
                                  </a:rPr>
                                  <m:t>|01⟩+</m:t>
                                </m:r>
                                <m:sSup>
                                  <m:sSup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i="0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  <m:r>
                                  <a:rPr lang="en-US" sz="2400" i="0" dirty="0">
                                    <a:latin typeface="Cambria Math" panose="02040503050406030204" pitchFamily="18" charset="0"/>
                                  </a:rPr>
                                  <m:t>|10⟩+</m:t>
                                </m:r>
                                <m:sSup>
                                  <m:sSup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i="0" dirty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  <m:r>
                                  <a:rPr lang="en-US" sz="2400" i="0" dirty="0">
                                    <a:latin typeface="Cambria Math" panose="02040503050406030204" pitchFamily="18" charset="0"/>
                                  </a:rPr>
                                  <m:t>|11⟩</m:t>
                                </m:r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a:rPr lang="en-US" sz="2400" i="0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0" dirty="0">
                                    <a:latin typeface="Cambria Math" panose="02040503050406030204" pitchFamily="18" charset="0"/>
                                  </a:rPr>
                                  <m:t>|00⟩−|01⟩+|10⟩−|11⟩</m:t>
                                </m:r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E64C5B-00A5-AC7E-2315-282841F5B9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264160" y="1127760"/>
                <a:ext cx="11358880" cy="5516880"/>
              </a:xfrm>
              <a:blipFill>
                <a:blip r:embed="rId2"/>
                <a:stretch>
                  <a:fillRect l="-805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7DB5A-018E-D47B-81DA-FB1358336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05409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{0073B422-1617-4E2E-9459-78B0276D11A3}TF1ed9553b-00c4-4092-846a-c8f7f2908f3beecd942f_win32-8e33096c3cfc</Template>
  <TotalTime>5866</TotalTime>
  <Words>468</Words>
  <Application>Microsoft Office PowerPoint</Application>
  <PresentationFormat>Widescreen</PresentationFormat>
  <Paragraphs>61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Abadi</vt:lpstr>
      <vt:lpstr>Arial</vt:lpstr>
      <vt:lpstr>Calibri</vt:lpstr>
      <vt:lpstr>Cambria Math</vt:lpstr>
      <vt:lpstr>Courier New</vt:lpstr>
      <vt:lpstr>Gill Sans Nova Light</vt:lpstr>
      <vt:lpstr>Sagona Book</vt:lpstr>
      <vt:lpstr>Custom</vt:lpstr>
      <vt:lpstr>The Quantum Fourier Transform (QFT) </vt:lpstr>
      <vt:lpstr>The Quantum Fourier Transform?</vt:lpstr>
      <vt:lpstr>The Discrete Fourier Transform</vt:lpstr>
      <vt:lpstr>The QFT Applied to qubit states</vt:lpstr>
      <vt:lpstr>Applying to  general states and amplitudes</vt:lpstr>
      <vt:lpstr>The QFT Circuit: Combination of Hadamard, SWAP  and Rk</vt:lpstr>
      <vt:lpstr>The Circuit:</vt:lpstr>
      <vt:lpstr>The Complexity</vt:lpstr>
      <vt:lpstr>Applying QFT to single qubits:</vt:lpstr>
      <vt:lpstr>Applying QFT to two qubits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Prof Mohammed ELAffendi</dc:creator>
  <cp:lastModifiedBy>Prof Mohammed ELAffendi</cp:lastModifiedBy>
  <cp:revision>12</cp:revision>
  <dcterms:created xsi:type="dcterms:W3CDTF">2026-01-07T04:00:14Z</dcterms:created>
  <dcterms:modified xsi:type="dcterms:W3CDTF">2026-01-11T05:46:54Z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