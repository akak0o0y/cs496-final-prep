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7"/>
  </p:notesMasterIdLst>
  <p:handoutMasterIdLst>
    <p:handoutMasterId r:id="rId28"/>
  </p:handoutMasterIdLst>
  <p:sldIdLst>
    <p:sldId id="317" r:id="rId5"/>
    <p:sldId id="339" r:id="rId6"/>
    <p:sldId id="318" r:id="rId7"/>
    <p:sldId id="326" r:id="rId8"/>
    <p:sldId id="330" r:id="rId9"/>
    <p:sldId id="331" r:id="rId10"/>
    <p:sldId id="319" r:id="rId11"/>
    <p:sldId id="332" r:id="rId12"/>
    <p:sldId id="333" r:id="rId13"/>
    <p:sldId id="334" r:id="rId14"/>
    <p:sldId id="335" r:id="rId15"/>
    <p:sldId id="336" r:id="rId16"/>
    <p:sldId id="337" r:id="rId17"/>
    <p:sldId id="338" r:id="rId18"/>
    <p:sldId id="320" r:id="rId19"/>
    <p:sldId id="321" r:id="rId20"/>
    <p:sldId id="322" r:id="rId21"/>
    <p:sldId id="325" r:id="rId22"/>
    <p:sldId id="323" r:id="rId23"/>
    <p:sldId id="324" r:id="rId24"/>
    <p:sldId id="327" r:id="rId25"/>
    <p:sldId id="32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5405" autoAdjust="0"/>
  </p:normalViewPr>
  <p:slideViewPr>
    <p:cSldViewPr snapToGrid="0">
      <p:cViewPr varScale="1">
        <p:scale>
          <a:sx n="80" d="100"/>
          <a:sy n="80" d="100"/>
        </p:scale>
        <p:origin x="552" y="28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12/22/2025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12/22/2025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3189917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Principles and Roots of Quantum Computing </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91BBC-F973-4F8A-D1C7-0E34E7CB4032}"/>
              </a:ext>
            </a:extLst>
          </p:cNvPr>
          <p:cNvSpPr>
            <a:spLocks noGrp="1"/>
          </p:cNvSpPr>
          <p:nvPr>
            <p:ph type="title"/>
          </p:nvPr>
        </p:nvSpPr>
        <p:spPr/>
        <p:txBody>
          <a:bodyPr/>
          <a:lstStyle/>
          <a:p>
            <a:r>
              <a:rPr lang="en-US" dirty="0"/>
              <a:t>Before we get started</a:t>
            </a:r>
          </a:p>
        </p:txBody>
      </p:sp>
      <p:sp>
        <p:nvSpPr>
          <p:cNvPr id="3" name="Content Placeholder 2">
            <a:extLst>
              <a:ext uri="{FF2B5EF4-FFF2-40B4-BE49-F238E27FC236}">
                <a16:creationId xmlns:a16="http://schemas.microsoft.com/office/drawing/2014/main" id="{733777C0-396B-0EF4-F035-C64A36188362}"/>
              </a:ext>
            </a:extLst>
          </p:cNvPr>
          <p:cNvSpPr>
            <a:spLocks noGrp="1"/>
          </p:cNvSpPr>
          <p:nvPr>
            <p:ph sz="quarter" idx="10"/>
          </p:nvPr>
        </p:nvSpPr>
        <p:spPr>
          <a:xfrm>
            <a:off x="914399" y="2039112"/>
            <a:ext cx="9906001" cy="3356576"/>
          </a:xfrm>
        </p:spPr>
        <p:txBody>
          <a:bodyPr/>
          <a:lstStyle/>
          <a:p>
            <a:pPr marL="0" indent="0">
              <a:buNone/>
            </a:pPr>
            <a:r>
              <a:rPr lang="en-US" sz="3200" dirty="0">
                <a:latin typeface="Abadi" panose="020B0604020104020204" pitchFamily="34" charset="0"/>
              </a:rPr>
              <a:t>“Before we get started, let’s make sure that we’ve all left our human-sized physical intuition at the door, and let us be ready to trust in the formalism that we are about to introduce. Just follow the mathematics; they will never lead you </a:t>
            </a:r>
            <a:r>
              <a:rPr lang="en-US" sz="3200">
                <a:latin typeface="Abadi" panose="020B0604020104020204" pitchFamily="34" charset="0"/>
              </a:rPr>
              <a:t>astray!”</a:t>
            </a:r>
            <a:endParaRPr lang="en-US" sz="3200" dirty="0">
              <a:latin typeface="Abadi" panose="020B0604020104020204" pitchFamily="34" charset="0"/>
            </a:endParaRPr>
          </a:p>
          <a:p>
            <a:endParaRPr lang="en-US" dirty="0"/>
          </a:p>
        </p:txBody>
      </p:sp>
      <p:sp>
        <p:nvSpPr>
          <p:cNvPr id="4" name="Slide Number Placeholder 3">
            <a:extLst>
              <a:ext uri="{FF2B5EF4-FFF2-40B4-BE49-F238E27FC236}">
                <a16:creationId xmlns:a16="http://schemas.microsoft.com/office/drawing/2014/main" id="{3EDAB87D-3931-B28E-23EF-2F5BF93CC672}"/>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1106358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8F2B9-7F0B-C040-86AC-DFD68F79EEE3}"/>
              </a:ext>
            </a:extLst>
          </p:cNvPr>
          <p:cNvSpPr>
            <a:spLocks noGrp="1"/>
          </p:cNvSpPr>
          <p:nvPr>
            <p:ph type="title"/>
          </p:nvPr>
        </p:nvSpPr>
        <p:spPr/>
        <p:txBody>
          <a:bodyPr/>
          <a:lstStyle/>
          <a:p>
            <a:r>
              <a:rPr lang="en-US" dirty="0"/>
              <a:t>The Roots of Quantum Computing</a:t>
            </a:r>
          </a:p>
        </p:txBody>
      </p:sp>
      <p:sp>
        <p:nvSpPr>
          <p:cNvPr id="3" name="Content Placeholder 2">
            <a:extLst>
              <a:ext uri="{FF2B5EF4-FFF2-40B4-BE49-F238E27FC236}">
                <a16:creationId xmlns:a16="http://schemas.microsoft.com/office/drawing/2014/main" id="{FDB789C6-0A30-B56B-4714-37134FA81838}"/>
              </a:ext>
            </a:extLst>
          </p:cNvPr>
          <p:cNvSpPr>
            <a:spLocks noGrp="1"/>
          </p:cNvSpPr>
          <p:nvPr>
            <p:ph sz="quarter" idx="10"/>
          </p:nvPr>
        </p:nvSpPr>
        <p:spPr>
          <a:xfrm>
            <a:off x="914400" y="2039112"/>
            <a:ext cx="9485086" cy="3356576"/>
          </a:xfrm>
        </p:spPr>
        <p:txBody>
          <a:bodyPr/>
          <a:lstStyle/>
          <a:p>
            <a:r>
              <a:rPr lang="en-US" sz="2400" dirty="0">
                <a:latin typeface="+mj-lt"/>
              </a:rPr>
              <a:t>Quantum Computing is grounded in quantum mechanics</a:t>
            </a:r>
          </a:p>
          <a:p>
            <a:r>
              <a:rPr lang="en-US" sz="2400" dirty="0">
                <a:latin typeface="+mj-lt"/>
              </a:rPr>
              <a:t>Quantum mechanics focuses on the behaviors and mechanics of very small miniscule particles such as photons, electrons and similar subatomic components</a:t>
            </a:r>
          </a:p>
          <a:p>
            <a:r>
              <a:rPr lang="en-US" sz="2400" b="0" i="0" u="none" strike="noStrike" kern="100" baseline="0" dirty="0">
                <a:latin typeface="Arial" panose="020B0604020202020204" pitchFamily="34" charset="0"/>
              </a:rPr>
              <a:t>the key features  to quantum mechanics are quantization, uncertainty, and coherence. </a:t>
            </a:r>
          </a:p>
          <a:p>
            <a:r>
              <a:rPr lang="en-US" sz="2400" b="0" i="0" u="none" strike="noStrike" kern="100" baseline="0" dirty="0">
                <a:latin typeface="Arial" panose="020B0604020202020204" pitchFamily="34" charset="0"/>
              </a:rPr>
              <a:t>These principles apply to fundamental particles .</a:t>
            </a:r>
            <a:endParaRPr lang="en-US" sz="2400" dirty="0">
              <a:latin typeface="+mj-lt"/>
            </a:endParaRPr>
          </a:p>
          <a:p>
            <a:pPr marL="0" indent="0">
              <a:buNone/>
            </a:pPr>
            <a:endParaRPr lang="en-US" dirty="0"/>
          </a:p>
        </p:txBody>
      </p:sp>
      <p:sp>
        <p:nvSpPr>
          <p:cNvPr id="4" name="Slide Number Placeholder 3">
            <a:extLst>
              <a:ext uri="{FF2B5EF4-FFF2-40B4-BE49-F238E27FC236}">
                <a16:creationId xmlns:a16="http://schemas.microsoft.com/office/drawing/2014/main" id="{0003BD70-E1AD-4873-3516-8E4747CCBC8F}"/>
              </a:ext>
            </a:extLst>
          </p:cNvPr>
          <p:cNvSpPr>
            <a:spLocks noGrp="1"/>
          </p:cNvSpPr>
          <p:nvPr>
            <p:ph type="sldNum" sz="quarter" idx="4"/>
          </p:nvPr>
        </p:nvSpPr>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3458276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109CC-AD74-E005-10E6-EE07EF0952A5}"/>
              </a:ext>
            </a:extLst>
          </p:cNvPr>
          <p:cNvSpPr>
            <a:spLocks noGrp="1"/>
          </p:cNvSpPr>
          <p:nvPr>
            <p:ph type="title"/>
          </p:nvPr>
        </p:nvSpPr>
        <p:spPr>
          <a:xfrm>
            <a:off x="914399" y="914400"/>
            <a:ext cx="9572171" cy="914400"/>
          </a:xfrm>
        </p:spPr>
        <p:txBody>
          <a:bodyPr/>
          <a:lstStyle/>
          <a:p>
            <a:r>
              <a:rPr lang="en-US" dirty="0"/>
              <a:t>Quantization, Uncertainty, Coherence</a:t>
            </a:r>
          </a:p>
        </p:txBody>
      </p:sp>
      <p:sp>
        <p:nvSpPr>
          <p:cNvPr id="3" name="Content Placeholder 2">
            <a:extLst>
              <a:ext uri="{FF2B5EF4-FFF2-40B4-BE49-F238E27FC236}">
                <a16:creationId xmlns:a16="http://schemas.microsoft.com/office/drawing/2014/main" id="{57BAA27D-098D-946B-8FDE-4EB169BB6103}"/>
              </a:ext>
            </a:extLst>
          </p:cNvPr>
          <p:cNvSpPr>
            <a:spLocks noGrp="1"/>
          </p:cNvSpPr>
          <p:nvPr>
            <p:ph sz="quarter" idx="10"/>
          </p:nvPr>
        </p:nvSpPr>
        <p:spPr>
          <a:xfrm>
            <a:off x="725714" y="2068139"/>
            <a:ext cx="10414001" cy="4303632"/>
          </a:xfrm>
        </p:spPr>
        <p:txBody>
          <a:bodyPr>
            <a:normAutofit/>
          </a:bodyPr>
          <a:lstStyle/>
          <a:p>
            <a:pPr marR="0" algn="l" rtl="0">
              <a:buFont typeface="Symbol" panose="05050102010706020507" pitchFamily="18" charset="2"/>
              <a:buChar char="·"/>
            </a:pPr>
            <a:r>
              <a:rPr lang="en-US" sz="2000" b="0" i="1" u="none" strike="noStrike" kern="100" baseline="0" dirty="0">
                <a:latin typeface="Arial" panose="020B0604020202020204" pitchFamily="34" charset="0"/>
              </a:rPr>
              <a:t>Quantization</a:t>
            </a:r>
            <a:r>
              <a:rPr lang="en-US" sz="2000" b="0" i="0" u="none" strike="noStrike" kern="100" baseline="0" dirty="0">
                <a:latin typeface="Arial" panose="020B0604020202020204" pitchFamily="34" charset="0"/>
              </a:rPr>
              <a:t> means the universe is “grainy” — space, time, matter, and energy are made up of discrete, indivisible units, much like tiny grains or particles that can’t be subdivided. For instance, the electrons circling the nucleus of an atom can be in any of four orbitals around the nucleus, representing from one, two, three, or four units of energy each.</a:t>
            </a:r>
          </a:p>
          <a:p>
            <a:pPr rtl="0">
              <a:buFont typeface="Symbol" panose="05050102010706020507" pitchFamily="18" charset="2"/>
              <a:buChar char="·"/>
            </a:pPr>
            <a:r>
              <a:rPr lang="en-US" sz="2000" b="0" i="1" u="none" strike="noStrike" kern="100" baseline="0" dirty="0">
                <a:latin typeface="Arial" panose="020B0604020202020204" pitchFamily="34" charset="0"/>
              </a:rPr>
              <a:t>Uncertainty</a:t>
            </a:r>
            <a:r>
              <a:rPr lang="en-US" sz="2000" b="0" i="0" u="none" strike="noStrike" kern="100" baseline="0" dirty="0">
                <a:latin typeface="Arial" panose="020B0604020202020204" pitchFamily="34" charset="0"/>
              </a:rPr>
              <a:t> means that we can’t know both the location and momentum of a fundamental particle at the same time; the more closely we measure one, the more uncertain we are about the other. As a result, electron orbitals are usually represented as clouds around the nucleus, reflecting our knowledge as to where the electron might be and the uncertainty around its exact location at any specific time.</a:t>
            </a:r>
          </a:p>
          <a:p>
            <a:pPr marR="0" algn="l" rtl="0">
              <a:buClr>
                <a:srgbClr val="3D3B49"/>
              </a:buClr>
              <a:buFont typeface="Symbol" panose="05050102010706020507" pitchFamily="18" charset="2"/>
              <a:buChar char="·"/>
            </a:pPr>
            <a:r>
              <a:rPr lang="en-US" b="0" i="1" u="none" strike="noStrike" baseline="0" dirty="0">
                <a:solidFill>
                  <a:srgbClr val="3D3B49"/>
                </a:solidFill>
                <a:latin typeface="Arial" panose="020B0604020202020204" pitchFamily="34" charset="0"/>
                <a:cs typeface="Arial" panose="020B0604020202020204" pitchFamily="34" charset="0"/>
              </a:rPr>
              <a:t>Coherence</a:t>
            </a:r>
            <a:r>
              <a:rPr lang="en-US" b="0" i="0" u="none" strike="noStrike" baseline="0" dirty="0">
                <a:solidFill>
                  <a:srgbClr val="3D3B49"/>
                </a:solidFill>
                <a:latin typeface="Arial" panose="020B0604020202020204" pitchFamily="34" charset="0"/>
                <a:cs typeface="Arial" panose="020B0604020202020204" pitchFamily="34" charset="0"/>
              </a:rPr>
              <a:t> means that a fundamental particle is free of interaction or measurement, and therefore able to support superposition and entanglement (described later). Protecting each qubit from noise — such as vibration, heat, or changing electromagnetic fields — keeps the fundamental particle at its core coherent</a:t>
            </a:r>
            <a:r>
              <a:rPr lang="en-US" b="0" i="0" u="none" strike="noStrike" baseline="0" dirty="0">
                <a:solidFill>
                  <a:srgbClr val="3D3B49"/>
                </a:solidFill>
                <a:latin typeface="Noto Serif" panose="02020600060500020200" pitchFamily="18" charset="0"/>
              </a:rPr>
              <a:t>.</a:t>
            </a:r>
          </a:p>
          <a:p>
            <a:endParaRPr lang="en-US" dirty="0"/>
          </a:p>
        </p:txBody>
      </p:sp>
      <p:sp>
        <p:nvSpPr>
          <p:cNvPr id="4" name="Slide Number Placeholder 3">
            <a:extLst>
              <a:ext uri="{FF2B5EF4-FFF2-40B4-BE49-F238E27FC236}">
                <a16:creationId xmlns:a16="http://schemas.microsoft.com/office/drawing/2014/main" id="{1CF84F70-C0CC-36FA-AA20-1662F1BE6D80}"/>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2087766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2CE97-1CF4-2E1B-3936-905464EBC477}"/>
              </a:ext>
            </a:extLst>
          </p:cNvPr>
          <p:cNvSpPr>
            <a:spLocks noGrp="1"/>
          </p:cNvSpPr>
          <p:nvPr>
            <p:ph type="title"/>
          </p:nvPr>
        </p:nvSpPr>
        <p:spPr/>
        <p:txBody>
          <a:bodyPr/>
          <a:lstStyle/>
          <a:p>
            <a:r>
              <a:rPr lang="en-US" dirty="0"/>
              <a:t>Coherence</a:t>
            </a:r>
          </a:p>
        </p:txBody>
      </p:sp>
      <p:sp>
        <p:nvSpPr>
          <p:cNvPr id="3" name="Content Placeholder 2">
            <a:extLst>
              <a:ext uri="{FF2B5EF4-FFF2-40B4-BE49-F238E27FC236}">
                <a16:creationId xmlns:a16="http://schemas.microsoft.com/office/drawing/2014/main" id="{1F9D9D93-536C-6930-7929-0E4677B9F514}"/>
              </a:ext>
            </a:extLst>
          </p:cNvPr>
          <p:cNvSpPr>
            <a:spLocks noGrp="1"/>
          </p:cNvSpPr>
          <p:nvPr>
            <p:ph sz="quarter" idx="10"/>
          </p:nvPr>
        </p:nvSpPr>
        <p:spPr>
          <a:xfrm>
            <a:off x="352425" y="2039112"/>
            <a:ext cx="10868025" cy="3356576"/>
          </a:xfrm>
        </p:spPr>
        <p:txBody>
          <a:bodyPr>
            <a:normAutofit/>
          </a:bodyPr>
          <a:lstStyle/>
          <a:p>
            <a:pPr marL="0" indent="0">
              <a:buNone/>
            </a:pPr>
            <a:r>
              <a:rPr lang="en-US" sz="2800" dirty="0">
                <a:latin typeface="Abadi" panose="020B0604020104020204" pitchFamily="34" charset="0"/>
              </a:rPr>
              <a:t>Quantum coherence is a fundamental property of quantum systems that allows them to maintain superpositions of states, enabling particles to exhibit wave-like behaviors and interference phenomena.</a:t>
            </a:r>
          </a:p>
          <a:p>
            <a:pPr marL="0" indent="0">
              <a:buNone/>
            </a:pPr>
            <a:r>
              <a:rPr lang="en-US" sz="2800" dirty="0">
                <a:latin typeface="Abadi" panose="020B0604020104020204" pitchFamily="34" charset="0"/>
              </a:rPr>
              <a:t> It is at the heart of many uniquely quantum mechanical effects, underpinning technologies such as quantum computing, quantum sensing, and secure quantum communication.</a:t>
            </a:r>
          </a:p>
        </p:txBody>
      </p:sp>
      <p:sp>
        <p:nvSpPr>
          <p:cNvPr id="4" name="Slide Number Placeholder 3">
            <a:extLst>
              <a:ext uri="{FF2B5EF4-FFF2-40B4-BE49-F238E27FC236}">
                <a16:creationId xmlns:a16="http://schemas.microsoft.com/office/drawing/2014/main" id="{6D641D10-2E62-810B-477F-61ACFAB7B3AE}"/>
              </a:ext>
            </a:extLst>
          </p:cNvPr>
          <p:cNvSpPr>
            <a:spLocks noGrp="1"/>
          </p:cNvSpPr>
          <p:nvPr>
            <p:ph type="sldNum" sz="quarter" idx="4"/>
          </p:nvPr>
        </p:nvSpPr>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2960876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7F4E4-F11A-7BB3-2C4C-4B4048F86313}"/>
              </a:ext>
            </a:extLst>
          </p:cNvPr>
          <p:cNvSpPr>
            <a:spLocks noGrp="1"/>
          </p:cNvSpPr>
          <p:nvPr>
            <p:ph type="title"/>
          </p:nvPr>
        </p:nvSpPr>
        <p:spPr>
          <a:xfrm>
            <a:off x="933450" y="257175"/>
            <a:ext cx="7534656" cy="914400"/>
          </a:xfrm>
        </p:spPr>
        <p:txBody>
          <a:bodyPr/>
          <a:lstStyle/>
          <a:p>
            <a:r>
              <a:rPr lang="en-US" dirty="0"/>
              <a:t>Definition of Coherence</a:t>
            </a:r>
          </a:p>
        </p:txBody>
      </p:sp>
      <p:sp>
        <p:nvSpPr>
          <p:cNvPr id="3" name="Content Placeholder 2">
            <a:extLst>
              <a:ext uri="{FF2B5EF4-FFF2-40B4-BE49-F238E27FC236}">
                <a16:creationId xmlns:a16="http://schemas.microsoft.com/office/drawing/2014/main" id="{70D25E25-082F-E5F3-6555-3D6099E8C72B}"/>
              </a:ext>
            </a:extLst>
          </p:cNvPr>
          <p:cNvSpPr>
            <a:spLocks noGrp="1"/>
          </p:cNvSpPr>
          <p:nvPr>
            <p:ph sz="quarter" idx="10"/>
          </p:nvPr>
        </p:nvSpPr>
        <p:spPr>
          <a:xfrm>
            <a:off x="176784" y="1447800"/>
            <a:ext cx="11838431" cy="5238750"/>
          </a:xfrm>
        </p:spPr>
        <p:txBody>
          <a:bodyPr>
            <a:noAutofit/>
          </a:bodyPr>
          <a:lstStyle/>
          <a:p>
            <a:pPr marL="0" indent="0">
              <a:buNone/>
            </a:pPr>
            <a:r>
              <a:rPr lang="en-US" sz="2400" dirty="0">
                <a:latin typeface="Abadi" panose="020B0604020104020204" pitchFamily="34" charset="0"/>
              </a:rPr>
              <a:t>Core Definition</a:t>
            </a:r>
          </a:p>
          <a:p>
            <a:pPr marL="0" indent="0">
              <a:buNone/>
            </a:pPr>
            <a:r>
              <a:rPr lang="en-US" sz="2400" dirty="0">
                <a:latin typeface="Abadi" panose="020B0604020104020204" pitchFamily="34" charset="0"/>
              </a:rPr>
              <a:t>In quantum mechanics:</a:t>
            </a:r>
          </a:p>
          <a:p>
            <a:r>
              <a:rPr lang="en-US" sz="2400" dirty="0">
                <a:latin typeface="Abadi" panose="020B0604020104020204" pitchFamily="34" charset="0"/>
              </a:rPr>
              <a:t>Particles like electrons, photons, or atoms are described by a wavefunction, which encodes the probabilities of all possible states the particle can occupy.</a:t>
            </a:r>
          </a:p>
          <a:p>
            <a:r>
              <a:rPr lang="en-US" sz="2400" dirty="0">
                <a:latin typeface="Abadi" panose="020B0604020104020204" pitchFamily="34" charset="0"/>
              </a:rPr>
              <a:t>Quantum coherence refers to the fixed phase relationships between components of this wavefunction. These phase relationships allow different possible states to interfere constructively or destructively.</a:t>
            </a:r>
          </a:p>
          <a:p>
            <a:r>
              <a:rPr lang="en-US" sz="2400" dirty="0">
                <a:latin typeface="Abadi" panose="020B0604020104020204" pitchFamily="34" charset="0"/>
              </a:rPr>
              <a:t>When coherence is present, a quantum system can exist in multiple states simultaneously (superposition). If coherence is lost, the system collapses into a definite state, a process called decoherence.</a:t>
            </a:r>
          </a:p>
          <a:p>
            <a:r>
              <a:rPr lang="en-US" sz="2400" dirty="0">
                <a:latin typeface="Abadi" panose="020B0604020104020204" pitchFamily="34" charset="0"/>
              </a:rPr>
              <a:t>Analogy: In classical waves, two sound waves can reinforce or cancel each other depending on their relative phases. Similarly, in quantum mechanics, the “waves” forming a particle’s wavefunction interfere according to their relative phases.</a:t>
            </a:r>
          </a:p>
        </p:txBody>
      </p:sp>
      <p:sp>
        <p:nvSpPr>
          <p:cNvPr id="4" name="Slide Number Placeholder 3">
            <a:extLst>
              <a:ext uri="{FF2B5EF4-FFF2-40B4-BE49-F238E27FC236}">
                <a16:creationId xmlns:a16="http://schemas.microsoft.com/office/drawing/2014/main" id="{B2798F3C-E38D-E397-523A-C6123398EF48}"/>
              </a:ext>
            </a:extLst>
          </p:cNvPr>
          <p:cNvSpPr>
            <a:spLocks noGrp="1"/>
          </p:cNvSpPr>
          <p:nvPr>
            <p:ph type="sldNum" sz="quarter" idx="4"/>
          </p:nvPr>
        </p:nvSpPr>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3460075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1F21F-A077-39D7-36BB-4E1758787045}"/>
              </a:ext>
            </a:extLst>
          </p:cNvPr>
          <p:cNvSpPr>
            <a:spLocks noGrp="1"/>
          </p:cNvSpPr>
          <p:nvPr>
            <p:ph type="title"/>
          </p:nvPr>
        </p:nvSpPr>
        <p:spPr/>
        <p:txBody>
          <a:bodyPr/>
          <a:lstStyle/>
          <a:p>
            <a:r>
              <a:rPr lang="en-US" dirty="0"/>
              <a:t>Early Theoretical Roots</a:t>
            </a:r>
          </a:p>
        </p:txBody>
      </p:sp>
      <p:sp>
        <p:nvSpPr>
          <p:cNvPr id="3" name="Content Placeholder 2">
            <a:extLst>
              <a:ext uri="{FF2B5EF4-FFF2-40B4-BE49-F238E27FC236}">
                <a16:creationId xmlns:a16="http://schemas.microsoft.com/office/drawing/2014/main" id="{8E6D19B2-A672-A2AC-D39F-A19B3B268C4B}"/>
              </a:ext>
            </a:extLst>
          </p:cNvPr>
          <p:cNvSpPr>
            <a:spLocks noGrp="1"/>
          </p:cNvSpPr>
          <p:nvPr>
            <p:ph sz="quarter" idx="10"/>
          </p:nvPr>
        </p:nvSpPr>
        <p:spPr>
          <a:xfrm>
            <a:off x="914399" y="2039111"/>
            <a:ext cx="9622972" cy="4368945"/>
          </a:xfrm>
        </p:spPr>
        <p:txBody>
          <a:bodyPr>
            <a:normAutofit/>
          </a:bodyPr>
          <a:lstStyle/>
          <a:p>
            <a:pPr marL="0" marR="0" indent="0" algn="l" rtl="0">
              <a:buNone/>
            </a:pPr>
            <a:r>
              <a:rPr lang="en-US" sz="1800" b="1" i="0" u="none" strike="noStrike" kern="100" baseline="0" dirty="0">
                <a:latin typeface="Arial" panose="020B0604020202020204" pitchFamily="34" charset="0"/>
              </a:rPr>
              <a:t>Early Theoretical Roots</a:t>
            </a:r>
          </a:p>
          <a:p>
            <a:pPr marR="0" algn="l" rtl="0">
              <a:buFont typeface="Calibri" panose="020F0502020204030204" pitchFamily="34" charset="0"/>
              <a:buChar char="1"/>
            </a:pPr>
            <a:r>
              <a:rPr lang="en-US" sz="1800" b="1" i="0" u="none" strike="noStrike" kern="100" baseline="0" dirty="0">
                <a:latin typeface="Arial" panose="020B0604020202020204" pitchFamily="34" charset="0"/>
              </a:rPr>
              <a:t>1900 - Planck's Hypothesis</a:t>
            </a:r>
            <a:r>
              <a:rPr lang="en-US" sz="1800"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b="0" i="0" u="none" strike="noStrike" kern="100" baseline="0" dirty="0">
                <a:latin typeface="Arial" panose="020B0604020202020204" pitchFamily="34" charset="0"/>
              </a:rPr>
              <a:t>Max Planck introduced the concept of quantization of energy, marking the birth of quantum mechanics.</a:t>
            </a:r>
          </a:p>
          <a:p>
            <a:pPr marR="0" algn="l" rtl="0">
              <a:buFont typeface="Calibri" panose="020F0502020204030204" pitchFamily="34" charset="0"/>
              <a:buChar char="2"/>
            </a:pPr>
            <a:r>
              <a:rPr lang="en-US" sz="1800" b="1" i="0" u="none" strike="noStrike" kern="100" baseline="0" dirty="0">
                <a:latin typeface="Arial" panose="020B0604020202020204" pitchFamily="34" charset="0"/>
              </a:rPr>
              <a:t>1920s - Quantum Mechanics Foundations</a:t>
            </a:r>
            <a:r>
              <a:rPr lang="en-US" sz="1800"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b="0" i="0" u="none" strike="noStrike" kern="100" baseline="0" dirty="0">
                <a:latin typeface="Arial" panose="020B0604020202020204" pitchFamily="34" charset="0"/>
              </a:rPr>
              <a:t>Development of foundational quantum mechanics by Werner Heisenberg, Erwin Schrödinger, Paul Dirac, and others.</a:t>
            </a:r>
          </a:p>
          <a:p>
            <a:pPr marR="0" algn="l" rtl="0">
              <a:buFont typeface="Calibri" panose="020F0502020204030204" pitchFamily="34" charset="0"/>
              <a:buChar char="3"/>
            </a:pPr>
            <a:r>
              <a:rPr lang="en-US" sz="1800" b="1" i="0" u="none" strike="noStrike" kern="100" baseline="0" dirty="0">
                <a:latin typeface="Arial" panose="020B0604020202020204" pitchFamily="34" charset="0"/>
              </a:rPr>
              <a:t>1935 - Einstein-Podolsky-Rosen (EPR) Paradox</a:t>
            </a:r>
            <a:r>
              <a:rPr lang="en-US" sz="1800"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b="0" i="0" u="none" strike="noStrike" kern="100" baseline="0" dirty="0">
                <a:latin typeface="Arial" panose="020B0604020202020204" pitchFamily="34" charset="0"/>
              </a:rPr>
              <a:t>Discussion of quantum entanglement, a phenomenon fundamental to quantum computing.</a:t>
            </a:r>
          </a:p>
          <a:p>
            <a:pPr marR="0" algn="l" rtl="0">
              <a:buFont typeface="Calibri" panose="020F0502020204030204" pitchFamily="34" charset="0"/>
              <a:buChar char="4"/>
            </a:pPr>
            <a:r>
              <a:rPr lang="en-US" sz="1800" b="1" i="0" u="none" strike="noStrike" kern="100" baseline="0" dirty="0">
                <a:latin typeface="Arial" panose="020B0604020202020204" pitchFamily="34" charset="0"/>
              </a:rPr>
              <a:t>1936 - Turing Machine</a:t>
            </a:r>
            <a:r>
              <a:rPr lang="en-US" sz="1800" b="0" i="0" u="none" strike="noStrike" kern="100" baseline="0" dirty="0">
                <a:latin typeface="Arial" panose="020B0604020202020204" pitchFamily="34" charset="0"/>
              </a:rPr>
              <a:t>:</a:t>
            </a:r>
          </a:p>
          <a:p>
            <a:pPr marR="0" algn="l" rtl="0"/>
            <a:r>
              <a:rPr lang="en-US" sz="1800" b="0" i="0" u="none" strike="noStrike" kern="100" baseline="0" dirty="0">
                <a:latin typeface="Arial" panose="020B0604020202020204" pitchFamily="34" charset="0"/>
              </a:rPr>
              <a:t>Alan Turing introduced the Turing Machine, laying the groundwork for classical computation theory.</a:t>
            </a:r>
            <a:endParaRPr lang="en-US" sz="1800" dirty="0"/>
          </a:p>
        </p:txBody>
      </p:sp>
      <p:sp>
        <p:nvSpPr>
          <p:cNvPr id="4" name="Slide Number Placeholder 3">
            <a:extLst>
              <a:ext uri="{FF2B5EF4-FFF2-40B4-BE49-F238E27FC236}">
                <a16:creationId xmlns:a16="http://schemas.microsoft.com/office/drawing/2014/main" id="{E3DE6F11-084F-2BB7-7DC9-F8DFB5D4466D}"/>
              </a:ext>
            </a:extLst>
          </p:cNvPr>
          <p:cNvSpPr>
            <a:spLocks noGrp="1"/>
          </p:cNvSpPr>
          <p:nvPr>
            <p:ph type="sldNum" sz="quarter" idx="4"/>
          </p:nvPr>
        </p:nvSpPr>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3300188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5133B-D7FA-B405-9B20-9A47E1BE866F}"/>
              </a:ext>
            </a:extLst>
          </p:cNvPr>
          <p:cNvSpPr>
            <a:spLocks noGrp="1"/>
          </p:cNvSpPr>
          <p:nvPr>
            <p:ph type="title"/>
          </p:nvPr>
        </p:nvSpPr>
        <p:spPr/>
        <p:txBody>
          <a:bodyPr/>
          <a:lstStyle/>
          <a:p>
            <a:r>
              <a:rPr lang="en-US" dirty="0"/>
              <a:t>Superposition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733AAA2-9B05-EA4D-117B-5E6445CE55A9}"/>
                  </a:ext>
                </a:extLst>
              </p:cNvPr>
              <p:cNvSpPr>
                <a:spLocks noGrp="1"/>
              </p:cNvSpPr>
              <p:nvPr>
                <p:ph sz="quarter" idx="10"/>
              </p:nvPr>
            </p:nvSpPr>
            <p:spPr>
              <a:xfrm>
                <a:off x="371475" y="1943862"/>
                <a:ext cx="11563350" cy="4571238"/>
              </a:xfrm>
            </p:spPr>
            <p:txBody>
              <a:bodyPr>
                <a:normAutofit lnSpcReduction="10000"/>
              </a:bodyPr>
              <a:lstStyle/>
              <a:p>
                <a:r>
                  <a:rPr lang="en-US" sz="2400" b="1" dirty="0">
                    <a:latin typeface="Abadi" panose="020B0604020104020204" pitchFamily="34" charset="0"/>
                  </a:rPr>
                  <a:t>Quantum superposition</a:t>
                </a:r>
                <a:r>
                  <a:rPr lang="en-US" sz="2400" dirty="0">
                    <a:latin typeface="Abadi" panose="020B0604020104020204" pitchFamily="34" charset="0"/>
                  </a:rPr>
                  <a:t> is a fundamental principle of quantum mechanics stating    that a </a:t>
                </a:r>
                <a:r>
                  <a:rPr lang="en-US" sz="2400" b="1" dirty="0">
                    <a:latin typeface="Abadi" panose="020B0604020104020204" pitchFamily="34" charset="0"/>
                  </a:rPr>
                  <a:t>quantum system can simultaneously exist in multiple states</a:t>
                </a:r>
                <a:r>
                  <a:rPr lang="en-US" sz="2400" dirty="0">
                    <a:latin typeface="Abadi" panose="020B0604020104020204" pitchFamily="34" charset="0"/>
                  </a:rPr>
                  <a:t> until it is        measured. </a:t>
                </a:r>
              </a:p>
              <a:p>
                <a:r>
                  <a:rPr lang="en-US" sz="2400" dirty="0">
                    <a:latin typeface="Abadi" panose="020B0604020104020204" pitchFamily="34" charset="0"/>
                  </a:rPr>
                  <a:t>Unlike classical systems, which occupy a definite state at any given time, a quantum  system’s state is described as a </a:t>
                </a:r>
                <a:r>
                  <a:rPr lang="en-US" sz="2400" b="1" dirty="0">
                    <a:latin typeface="Abadi" panose="020B0604020104020204" pitchFamily="34" charset="0"/>
                  </a:rPr>
                  <a:t>linear combination of all its possible states</a:t>
                </a:r>
                <a:r>
                  <a:rPr lang="en-US" sz="2400" dirty="0">
                    <a:latin typeface="Abadi" panose="020B0604020104020204" pitchFamily="34" charset="0"/>
                  </a:rPr>
                  <a:t>.</a:t>
                </a:r>
              </a:p>
              <a:p>
                <a:r>
                  <a:rPr lang="en-US" sz="2400" dirty="0">
                    <a:latin typeface="Abadi" panose="020B0604020104020204" pitchFamily="34" charset="0"/>
                  </a:rPr>
                  <a:t>Mathematically, if a system has basis states </a:t>
                </a:r>
                <a14:m>
                  <m:oMath xmlns:m="http://schemas.openxmlformats.org/officeDocument/2006/math">
                    <m:d>
                      <m:dPr>
                        <m:begChr m:val=""/>
                        <m:endChr m:val="⟩"/>
                        <m:ctrlPr>
                          <a:rPr lang="ar-SA" sz="2400"/>
                        </m:ctrlPr>
                      </m:dPr>
                      <m:e>
                        <m:r>
                          <a:rPr lang="ar-SA" sz="2400"/>
                          <m:t>∣</m:t>
                        </m:r>
                        <m:r>
                          <a:rPr lang="ar-SA" sz="2400"/>
                          <m:t>0</m:t>
                        </m:r>
                      </m:e>
                    </m:d>
                  </m:oMath>
                </a14:m>
                <a:r>
                  <a:rPr lang="ar-SA" sz="2400" dirty="0">
                    <a:latin typeface="Abadi" panose="020B0604020104020204" pitchFamily="34" charset="0"/>
                  </a:rPr>
                  <a:t> </a:t>
                </a:r>
                <a:r>
                  <a:rPr lang="en-US" sz="2400" dirty="0">
                    <a:latin typeface="Abadi" panose="020B0604020104020204" pitchFamily="34" charset="0"/>
                  </a:rPr>
                  <a:t>and </a:t>
                </a:r>
                <a14:m>
                  <m:oMath xmlns:m="http://schemas.openxmlformats.org/officeDocument/2006/math">
                    <m:d>
                      <m:dPr>
                        <m:begChr m:val=""/>
                        <m:endChr m:val="⟩"/>
                        <m:ctrlPr>
                          <a:rPr lang="ar-SA" sz="2400"/>
                        </m:ctrlPr>
                      </m:dPr>
                      <m:e>
                        <m:r>
                          <a:rPr lang="ar-SA" sz="2400"/>
                          <m:t>∣</m:t>
                        </m:r>
                        <m:r>
                          <a:rPr lang="ar-SA" sz="2400"/>
                          <m:t>1</m:t>
                        </m:r>
                      </m:e>
                    </m:d>
                  </m:oMath>
                </a14:m>
                <a:r>
                  <a:rPr lang="ar-SA" sz="2400" dirty="0">
                    <a:latin typeface="Abadi" panose="020B0604020104020204" pitchFamily="34" charset="0"/>
                  </a:rPr>
                  <a:t>, </a:t>
                </a:r>
                <a:r>
                  <a:rPr lang="en-US" sz="2400" dirty="0">
                    <a:latin typeface="Abadi" panose="020B0604020104020204" pitchFamily="34" charset="0"/>
                  </a:rPr>
                  <a:t>a superposed state can be written as:</a:t>
                </a:r>
              </a:p>
              <a:p>
                <a:pPr marL="0" indent="0">
                  <a:buNone/>
                </a:pPr>
                <a14:m>
                  <m:oMathPara xmlns:m="http://schemas.openxmlformats.org/officeDocument/2006/math">
                    <m:oMathParaPr>
                      <m:jc m:val="centerGroup"/>
                    </m:oMathParaPr>
                    <m:oMath xmlns:m="http://schemas.openxmlformats.org/officeDocument/2006/math">
                      <m:d>
                        <m:dPr>
                          <m:begChr m:val=""/>
                          <m:endChr m:val="⟩"/>
                          <m:ctrlPr>
                            <a:rPr lang="ar-SA" sz="2400"/>
                          </m:ctrlPr>
                        </m:dPr>
                        <m:e>
                          <m:d>
                            <m:dPr>
                              <m:begChr m:val=""/>
                              <m:endChr m:val="⟩"/>
                              <m:ctrlPr>
                                <a:rPr lang="ar-SA" sz="2400"/>
                              </m:ctrlPr>
                            </m:dPr>
                            <m:e>
                              <m:d>
                                <m:dPr>
                                  <m:begChr m:val=""/>
                                  <m:endChr m:val="⟩"/>
                                  <m:ctrlPr>
                                    <a:rPr lang="ar-SA" sz="2400"/>
                                  </m:ctrlPr>
                                </m:dPr>
                                <m:e>
                                  <m:r>
                                    <a:rPr lang="ar-SA" sz="2400"/>
                                    <m:t>∣</m:t>
                                  </m:r>
                                  <m:r>
                                    <a:rPr lang="ar-SA" sz="2400" i="1"/>
                                    <m:t>𝜓</m:t>
                                  </m:r>
                                </m:e>
                              </m:d>
                              <m:r>
                                <a:rPr lang="ar-SA" sz="2400"/>
                                <m:t>=</m:t>
                              </m:r>
                              <m:r>
                                <a:rPr lang="ar-SA" sz="2400" i="1"/>
                                <m:t>𝛼</m:t>
                              </m:r>
                              <m:r>
                                <a:rPr lang="ar-SA" sz="2400"/>
                                <m:t>∣</m:t>
                              </m:r>
                              <m:r>
                                <a:rPr lang="ar-SA" sz="2400"/>
                                <m:t>0</m:t>
                              </m:r>
                            </m:e>
                          </m:d>
                          <m:r>
                            <a:rPr lang="ar-SA" sz="2400"/>
                            <m:t>+</m:t>
                          </m:r>
                          <m:r>
                            <a:rPr lang="ar-SA" sz="2400" i="1"/>
                            <m:t>𝛽</m:t>
                          </m:r>
                          <m:r>
                            <a:rPr lang="ar-SA" sz="2400"/>
                            <m:t>∣</m:t>
                          </m:r>
                          <m:r>
                            <a:rPr lang="ar-SA" sz="2400"/>
                            <m:t>1</m:t>
                          </m:r>
                        </m:e>
                      </m:d>
                    </m:oMath>
                  </m:oMathPara>
                </a14:m>
                <a:endParaRPr lang="ar-SA" sz="2400" dirty="0">
                  <a:latin typeface="Abadi" panose="020B0604020104020204" pitchFamily="34" charset="0"/>
                </a:endParaRPr>
              </a:p>
              <a:p>
                <a:pPr marL="0" indent="0">
                  <a:buNone/>
                </a:pPr>
                <a:r>
                  <a:rPr lang="en-US" sz="2400" dirty="0">
                    <a:latin typeface="Abadi" panose="020B0604020104020204" pitchFamily="34" charset="0"/>
                  </a:rPr>
                  <a:t> where </a:t>
                </a:r>
                <a14:m>
                  <m:oMath xmlns:m="http://schemas.openxmlformats.org/officeDocument/2006/math">
                    <m:r>
                      <a:rPr lang="en-US" sz="2400" i="1"/>
                      <m:t>𝛼</m:t>
                    </m:r>
                    <m:r>
                      <a:rPr lang="en-US" sz="2400"/>
                      <m:t>,</m:t>
                    </m:r>
                    <m:r>
                      <a:rPr lang="en-US" sz="2400" i="1"/>
                      <m:t>𝛽</m:t>
                    </m:r>
                    <m:r>
                      <a:rPr lang="en-US" sz="2400"/>
                      <m:t>∈</m:t>
                    </m:r>
                    <m:r>
                      <a:rPr lang="en-US" sz="2400"/>
                      <m:t>ℂ</m:t>
                    </m:r>
                  </m:oMath>
                </a14:m>
                <a:r>
                  <a:rPr lang="en-US" sz="2400" dirty="0">
                    <a:latin typeface="Abadi" panose="020B0604020104020204" pitchFamily="34" charset="0"/>
                  </a:rPr>
                  <a:t> are probability amplitudes satisfying the normalization condition </a:t>
                </a:r>
              </a:p>
              <a:p>
                <a:pPr marL="0" indent="0">
                  <a:buNone/>
                </a:pPr>
                <a:r>
                  <a:rPr lang="en-US" sz="2400" dirty="0">
                    <a:latin typeface="Abadi" panose="020B0604020104020204" pitchFamily="34" charset="0"/>
                  </a:rPr>
                  <a:t>                                              </a:t>
                </a:r>
                <a14:m>
                  <m:oMath xmlns:m="http://schemas.openxmlformats.org/officeDocument/2006/math">
                    <m:r>
                      <a:rPr lang="en-US" sz="2400"/>
                      <m:t>∣</m:t>
                    </m:r>
                    <m:r>
                      <a:rPr lang="en-US" sz="2400" i="1"/>
                      <m:t>𝛼</m:t>
                    </m:r>
                    <m:sSup>
                      <m:sSupPr>
                        <m:ctrlPr>
                          <a:rPr lang="ar-SA" sz="2400" i="1"/>
                        </m:ctrlPr>
                      </m:sSupPr>
                      <m:e>
                        <m:r>
                          <a:rPr lang="ar-SA" sz="2400"/>
                          <m:t>∣</m:t>
                        </m:r>
                      </m:e>
                      <m:sup>
                        <m:r>
                          <a:rPr lang="ar-SA" sz="2400"/>
                          <m:t>2</m:t>
                        </m:r>
                      </m:sup>
                    </m:sSup>
                    <m:r>
                      <a:rPr lang="ar-SA" sz="2400"/>
                      <m:t>+∣</m:t>
                    </m:r>
                    <m:r>
                      <a:rPr lang="ar-SA" sz="2400" i="1"/>
                      <m:t>𝛽</m:t>
                    </m:r>
                    <m:sSup>
                      <m:sSupPr>
                        <m:ctrlPr>
                          <a:rPr lang="ar-SA" sz="2400" i="1"/>
                        </m:ctrlPr>
                      </m:sSupPr>
                      <m:e>
                        <m:r>
                          <a:rPr lang="ar-SA" sz="2400"/>
                          <m:t>∣</m:t>
                        </m:r>
                      </m:e>
                      <m:sup>
                        <m:r>
                          <a:rPr lang="ar-SA" sz="2400"/>
                          <m:t>2</m:t>
                        </m:r>
                      </m:sup>
                    </m:sSup>
                    <m:r>
                      <a:rPr lang="ar-SA" sz="2400"/>
                      <m:t>=</m:t>
                    </m:r>
                    <m:r>
                      <a:rPr lang="ar-SA" sz="2400"/>
                      <m:t>1</m:t>
                    </m:r>
                  </m:oMath>
                </a14:m>
                <a:r>
                  <a:rPr lang="ar-SA" sz="2400" dirty="0">
                    <a:latin typeface="Abadi" panose="020B0604020104020204" pitchFamily="34" charset="0"/>
                  </a:rPr>
                  <a:t>. </a:t>
                </a:r>
                <a:endParaRPr lang="en-US" sz="2400" dirty="0">
                  <a:latin typeface="Abadi" panose="020B0604020104020204" pitchFamily="34" charset="0"/>
                </a:endParaRPr>
              </a:p>
              <a:p>
                <a:pPr marL="0" indent="0">
                  <a:buNone/>
                </a:pPr>
                <a:r>
                  <a:rPr lang="en-US" sz="2400" dirty="0">
                    <a:latin typeface="Abadi" panose="020B0604020104020204" pitchFamily="34" charset="0"/>
                  </a:rPr>
                  <a:t>Upon measurement, the system </a:t>
                </a:r>
                <a:r>
                  <a:rPr lang="en-US" sz="2400" b="1" dirty="0">
                    <a:latin typeface="Abadi" panose="020B0604020104020204" pitchFamily="34" charset="0"/>
                  </a:rPr>
                  <a:t>collapses</a:t>
                </a:r>
                <a:r>
                  <a:rPr lang="en-US" sz="2400" dirty="0">
                    <a:latin typeface="Abadi" panose="020B0604020104020204" pitchFamily="34" charset="0"/>
                  </a:rPr>
                  <a:t> into one of the basis states with                 probabilities </a:t>
                </a:r>
                <a14:m>
                  <m:oMath xmlns:m="http://schemas.openxmlformats.org/officeDocument/2006/math">
                    <m:r>
                      <a:rPr lang="en-US" sz="2400"/>
                      <m:t>∣</m:t>
                    </m:r>
                    <m:r>
                      <a:rPr lang="en-US" sz="2400" i="1"/>
                      <m:t>𝛼</m:t>
                    </m:r>
                    <m:sSup>
                      <m:sSupPr>
                        <m:ctrlPr>
                          <a:rPr lang="ar-SA" sz="2400" i="1"/>
                        </m:ctrlPr>
                      </m:sSupPr>
                      <m:e>
                        <m:r>
                          <a:rPr lang="ar-SA" sz="2400"/>
                          <m:t>∣</m:t>
                        </m:r>
                      </m:e>
                      <m:sup>
                        <m:r>
                          <a:rPr lang="ar-SA" sz="2400"/>
                          <m:t>2</m:t>
                        </m:r>
                      </m:sup>
                    </m:sSup>
                  </m:oMath>
                </a14:m>
                <a:r>
                  <a:rPr lang="ar-SA" sz="2400" dirty="0">
                    <a:latin typeface="Abadi" panose="020B0604020104020204" pitchFamily="34" charset="0"/>
                  </a:rPr>
                  <a:t> </a:t>
                </a:r>
                <a:r>
                  <a:rPr lang="en-US" sz="2400" dirty="0">
                    <a:latin typeface="Abadi" panose="020B0604020104020204" pitchFamily="34" charset="0"/>
                  </a:rPr>
                  <a:t>and </a:t>
                </a:r>
                <a14:m>
                  <m:oMath xmlns:m="http://schemas.openxmlformats.org/officeDocument/2006/math">
                    <m:r>
                      <a:rPr lang="en-US" sz="2400"/>
                      <m:t>∣</m:t>
                    </m:r>
                    <m:r>
                      <a:rPr lang="en-US" sz="2400" i="1"/>
                      <m:t>𝛽</m:t>
                    </m:r>
                    <m:sSup>
                      <m:sSupPr>
                        <m:ctrlPr>
                          <a:rPr lang="ar-SA" sz="2400" i="1"/>
                        </m:ctrlPr>
                      </m:sSupPr>
                      <m:e>
                        <m:r>
                          <a:rPr lang="ar-SA" sz="2400"/>
                          <m:t>∣</m:t>
                        </m:r>
                      </m:e>
                      <m:sup>
                        <m:r>
                          <a:rPr lang="ar-SA" sz="2400"/>
                          <m:t>2</m:t>
                        </m:r>
                      </m:sup>
                    </m:sSup>
                  </m:oMath>
                </a14:m>
                <a:r>
                  <a:rPr lang="en-US" sz="2400" dirty="0">
                    <a:latin typeface="Abadi" panose="020B0604020104020204" pitchFamily="34" charset="0"/>
                  </a:rPr>
                  <a:t> </a:t>
                </a:r>
                <a:r>
                  <a:rPr lang="ar-SA" sz="2400" dirty="0">
                    <a:latin typeface="Abadi" panose="020B0604020104020204" pitchFamily="34" charset="0"/>
                  </a:rPr>
                  <a:t>, </a:t>
                </a:r>
                <a:r>
                  <a:rPr lang="en-US" sz="2400" dirty="0">
                    <a:latin typeface="Abadi" panose="020B0604020104020204" pitchFamily="34" charset="0"/>
                  </a:rPr>
                  <a:t>respectively</a:t>
                </a:r>
              </a:p>
              <a:p>
                <a:pPr marL="0" indent="0">
                  <a:buNone/>
                </a:pPr>
                <a:endParaRPr lang="en-US" dirty="0"/>
              </a:p>
            </p:txBody>
          </p:sp>
        </mc:Choice>
        <mc:Fallback>
          <p:sp>
            <p:nvSpPr>
              <p:cNvPr id="3" name="Content Placeholder 2">
                <a:extLst>
                  <a:ext uri="{FF2B5EF4-FFF2-40B4-BE49-F238E27FC236}">
                    <a16:creationId xmlns:a16="http://schemas.microsoft.com/office/drawing/2014/main" id="{7733AAA2-9B05-EA4D-117B-5E6445CE55A9}"/>
                  </a:ext>
                </a:extLst>
              </p:cNvPr>
              <p:cNvSpPr>
                <a:spLocks noGrp="1" noRot="1" noChangeAspect="1" noMove="1" noResize="1" noEditPoints="1" noAdjustHandles="1" noChangeArrowheads="1" noChangeShapeType="1" noTextEdit="1"/>
              </p:cNvSpPr>
              <p:nvPr>
                <p:ph sz="quarter" idx="10"/>
              </p:nvPr>
            </p:nvSpPr>
            <p:spPr>
              <a:xfrm>
                <a:off x="371475" y="1943862"/>
                <a:ext cx="11563350" cy="4571238"/>
              </a:xfrm>
              <a:blipFill>
                <a:blip r:embed="rId2"/>
                <a:stretch>
                  <a:fillRect l="-843" t="-2667" b="-213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5D45B5B-E7DE-F750-0810-270F9DE8C25B}"/>
              </a:ext>
            </a:extLst>
          </p:cNvPr>
          <p:cNvSpPr>
            <a:spLocks noGrp="1"/>
          </p:cNvSpPr>
          <p:nvPr>
            <p:ph type="sldNum" sz="quarter" idx="4"/>
          </p:nvPr>
        </p:nvSpPr>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161556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02B46-C35E-D95B-4ABA-E4AEDC939B78}"/>
              </a:ext>
            </a:extLst>
          </p:cNvPr>
          <p:cNvSpPr>
            <a:spLocks noGrp="1"/>
          </p:cNvSpPr>
          <p:nvPr>
            <p:ph type="title"/>
          </p:nvPr>
        </p:nvSpPr>
        <p:spPr/>
        <p:txBody>
          <a:bodyPr/>
          <a:lstStyle/>
          <a:p>
            <a:r>
              <a:rPr lang="en-US" dirty="0"/>
              <a:t>Quantum Entanglement </a:t>
            </a:r>
          </a:p>
        </p:txBody>
      </p:sp>
      <p:sp>
        <p:nvSpPr>
          <p:cNvPr id="3" name="Content Placeholder 2">
            <a:extLst>
              <a:ext uri="{FF2B5EF4-FFF2-40B4-BE49-F238E27FC236}">
                <a16:creationId xmlns:a16="http://schemas.microsoft.com/office/drawing/2014/main" id="{AA993AF9-1BB6-5115-FC90-42891ABF0847}"/>
              </a:ext>
            </a:extLst>
          </p:cNvPr>
          <p:cNvSpPr>
            <a:spLocks noGrp="1"/>
          </p:cNvSpPr>
          <p:nvPr>
            <p:ph sz="quarter" idx="10"/>
          </p:nvPr>
        </p:nvSpPr>
        <p:spPr>
          <a:xfrm>
            <a:off x="914400" y="2039112"/>
            <a:ext cx="10763250" cy="4628388"/>
          </a:xfrm>
        </p:spPr>
        <p:txBody>
          <a:bodyPr>
            <a:normAutofit/>
          </a:bodyPr>
          <a:lstStyle/>
          <a:p>
            <a:pPr algn="l">
              <a:buNone/>
            </a:pPr>
            <a:r>
              <a:rPr lang="en-US" b="0" i="0" dirty="0">
                <a:effectLst/>
                <a:latin typeface="Roboto" panose="02000000000000000000" pitchFamily="2" charset="0"/>
              </a:rPr>
              <a:t>Quantum entanglement is a phenomenon in </a:t>
            </a:r>
            <a:r>
              <a:rPr lang="en-US" b="1" i="0" dirty="0">
                <a:effectLst/>
                <a:latin typeface="Roboto" panose="02000000000000000000" pitchFamily="2" charset="0"/>
              </a:rPr>
              <a:t>quantum physics</a:t>
            </a:r>
            <a:r>
              <a:rPr lang="en-US" b="0" i="0" dirty="0">
                <a:effectLst/>
                <a:latin typeface="Roboto" panose="02000000000000000000" pitchFamily="2" charset="0"/>
              </a:rPr>
              <a:t> where two or more particles     become </a:t>
            </a:r>
            <a:r>
              <a:rPr lang="en-US" b="1" i="0" dirty="0">
                <a:effectLst/>
                <a:latin typeface="Roboto" panose="02000000000000000000" pitchFamily="2" charset="0"/>
              </a:rPr>
              <a:t>connected</a:t>
            </a:r>
            <a:r>
              <a:rPr lang="en-US" b="0" i="0" dirty="0">
                <a:effectLst/>
                <a:latin typeface="Roboto" panose="02000000000000000000" pitchFamily="2" charset="0"/>
              </a:rPr>
              <a:t> in such a way that the state of one particle </a:t>
            </a:r>
            <a:r>
              <a:rPr lang="en-US" b="1" i="0" dirty="0">
                <a:effectLst/>
                <a:latin typeface="Roboto" panose="02000000000000000000" pitchFamily="2" charset="0"/>
              </a:rPr>
              <a:t>instantly influences</a:t>
            </a:r>
            <a:r>
              <a:rPr lang="en-US" b="0" i="0" dirty="0">
                <a:effectLst/>
                <a:latin typeface="Roboto" panose="02000000000000000000" pitchFamily="2" charset="0"/>
              </a:rPr>
              <a:t> the        state of the other, no matter how far apart they are.</a:t>
            </a:r>
          </a:p>
          <a:p>
            <a:pPr algn="l">
              <a:lnSpc>
                <a:spcPts val="1950"/>
              </a:lnSpc>
              <a:buNone/>
            </a:pPr>
            <a:r>
              <a:rPr lang="en-US" b="1" dirty="0">
                <a:effectLst/>
                <a:latin typeface="Roboto" panose="02000000000000000000" pitchFamily="2" charset="0"/>
              </a:rPr>
              <a:t>Key Points:</a:t>
            </a:r>
          </a:p>
          <a:p>
            <a:pPr algn="l">
              <a:buFont typeface="+mj-lt"/>
              <a:buAutoNum type="arabicPeriod"/>
            </a:pPr>
            <a:r>
              <a:rPr lang="en-US" b="1" i="0" dirty="0">
                <a:effectLst/>
                <a:latin typeface="Roboto" panose="02000000000000000000" pitchFamily="2" charset="0"/>
              </a:rPr>
              <a:t>Connection Beyond Distance</a:t>
            </a:r>
            <a:r>
              <a:rPr lang="en-US" b="0" i="0" dirty="0">
                <a:effectLst/>
                <a:latin typeface="Roboto" panose="02000000000000000000" pitchFamily="2" charset="0"/>
              </a:rPr>
              <a:t>: If two particles are entangled, measuring a property (like spin or polarization) of one particle immediately determines the corresponding property of the    other, even if they are light-years apart.</a:t>
            </a:r>
          </a:p>
          <a:p>
            <a:pPr algn="l">
              <a:buFont typeface="+mj-lt"/>
              <a:buAutoNum type="arabicPeriod"/>
            </a:pPr>
            <a:r>
              <a:rPr lang="en-US" b="1" i="0" dirty="0">
                <a:effectLst/>
                <a:latin typeface="Roboto" panose="02000000000000000000" pitchFamily="2" charset="0"/>
              </a:rPr>
              <a:t>Shared Quantum State</a:t>
            </a:r>
            <a:r>
              <a:rPr lang="en-US" b="0" i="0" dirty="0">
                <a:effectLst/>
                <a:latin typeface="Roboto" panose="02000000000000000000" pitchFamily="2" charset="0"/>
              </a:rPr>
              <a:t>: Entangled particles share a </a:t>
            </a:r>
            <a:r>
              <a:rPr lang="en-US" b="1" i="0" dirty="0">
                <a:effectLst/>
                <a:latin typeface="Roboto" panose="02000000000000000000" pitchFamily="2" charset="0"/>
              </a:rPr>
              <a:t>single quantum state</a:t>
            </a:r>
            <a:r>
              <a:rPr lang="en-US" b="0" i="0" dirty="0">
                <a:effectLst/>
                <a:latin typeface="Roboto" panose="02000000000000000000" pitchFamily="2" charset="0"/>
              </a:rPr>
              <a:t>. They cannot be  described independently; their properties are linked.</a:t>
            </a:r>
          </a:p>
          <a:p>
            <a:pPr algn="l">
              <a:buFont typeface="+mj-lt"/>
              <a:buAutoNum type="arabicPeriod"/>
            </a:pPr>
            <a:r>
              <a:rPr lang="en-US" b="1" i="0" dirty="0">
                <a:effectLst/>
                <a:latin typeface="Roboto" panose="02000000000000000000" pitchFamily="2" charset="0"/>
              </a:rPr>
              <a:t>Counterintuitive Behavior</a:t>
            </a:r>
            <a:r>
              <a:rPr lang="en-US" b="0" i="0" dirty="0">
                <a:effectLst/>
                <a:latin typeface="Roboto" panose="02000000000000000000" pitchFamily="2" charset="0"/>
              </a:rPr>
              <a:t>: This seems to </a:t>
            </a:r>
            <a:r>
              <a:rPr lang="en-US" b="1" i="0" dirty="0">
                <a:effectLst/>
                <a:latin typeface="Roboto" panose="02000000000000000000" pitchFamily="2" charset="0"/>
              </a:rPr>
              <a:t>violate common sense</a:t>
            </a:r>
            <a:r>
              <a:rPr lang="en-US" b="0" i="0" dirty="0">
                <a:effectLst/>
                <a:latin typeface="Roboto" panose="02000000000000000000" pitchFamily="2" charset="0"/>
              </a:rPr>
              <a:t>, because the effect is         instantaneous. However, it does </a:t>
            </a:r>
            <a:r>
              <a:rPr lang="en-US" b="1" i="0" dirty="0">
                <a:effectLst/>
                <a:latin typeface="Roboto" panose="02000000000000000000" pitchFamily="2" charset="0"/>
              </a:rPr>
              <a:t>not allow faster-than-light communication</a:t>
            </a:r>
            <a:r>
              <a:rPr lang="en-US" b="0" i="0" dirty="0">
                <a:effectLst/>
                <a:latin typeface="Roboto" panose="02000000000000000000" pitchFamily="2" charset="0"/>
              </a:rPr>
              <a:t>, but it does challenge classical ideas of locality.</a:t>
            </a:r>
          </a:p>
          <a:p>
            <a:endParaRPr lang="en-US" dirty="0"/>
          </a:p>
        </p:txBody>
      </p:sp>
      <p:sp>
        <p:nvSpPr>
          <p:cNvPr id="4" name="Slide Number Placeholder 3">
            <a:extLst>
              <a:ext uri="{FF2B5EF4-FFF2-40B4-BE49-F238E27FC236}">
                <a16:creationId xmlns:a16="http://schemas.microsoft.com/office/drawing/2014/main" id="{9F8065EF-4038-8C25-492E-DE1C6094ACA7}"/>
              </a:ext>
            </a:extLst>
          </p:cNvPr>
          <p:cNvSpPr>
            <a:spLocks noGrp="1"/>
          </p:cNvSpPr>
          <p:nvPr>
            <p:ph type="sldNum" sz="quarter" idx="4"/>
          </p:nvPr>
        </p:nvSpPr>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1139575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5926E-4B1F-7B81-725A-C98A4BFF4ABD}"/>
              </a:ext>
            </a:extLst>
          </p:cNvPr>
          <p:cNvSpPr>
            <a:spLocks noGrp="1"/>
          </p:cNvSpPr>
          <p:nvPr>
            <p:ph type="title"/>
          </p:nvPr>
        </p:nvSpPr>
        <p:spPr>
          <a:xfrm>
            <a:off x="638175" y="123825"/>
            <a:ext cx="7534656" cy="914400"/>
          </a:xfrm>
        </p:spPr>
        <p:txBody>
          <a:bodyPr/>
          <a:lstStyle/>
          <a:p>
            <a:r>
              <a:rPr lang="en-US" dirty="0"/>
              <a:t>Quantum Interference</a:t>
            </a:r>
          </a:p>
        </p:txBody>
      </p:sp>
      <p:sp>
        <p:nvSpPr>
          <p:cNvPr id="3" name="Content Placeholder 2">
            <a:extLst>
              <a:ext uri="{FF2B5EF4-FFF2-40B4-BE49-F238E27FC236}">
                <a16:creationId xmlns:a16="http://schemas.microsoft.com/office/drawing/2014/main" id="{BEDC218D-EE83-CD40-3839-B1FBB3A46C86}"/>
              </a:ext>
            </a:extLst>
          </p:cNvPr>
          <p:cNvSpPr>
            <a:spLocks noGrp="1"/>
          </p:cNvSpPr>
          <p:nvPr>
            <p:ph sz="quarter" idx="10"/>
          </p:nvPr>
        </p:nvSpPr>
        <p:spPr>
          <a:xfrm>
            <a:off x="314325" y="1190625"/>
            <a:ext cx="11700891" cy="5419725"/>
          </a:xfrm>
        </p:spPr>
        <p:txBody>
          <a:bodyPr>
            <a:normAutofit/>
          </a:bodyPr>
          <a:lstStyle/>
          <a:p>
            <a:pPr marL="0" indent="0">
              <a:buNone/>
            </a:pPr>
            <a:r>
              <a:rPr lang="en-US" sz="2400" dirty="0">
                <a:latin typeface="Abadi" panose="020B0604020104020204" pitchFamily="34" charset="0"/>
              </a:rPr>
              <a:t>Quantum interference is a fundamental phenomenon in quantum mechanics where the probability amplitudes of quantum states combine—either constructively or destructively—to influence the likelihood of outcomes. Unlike classical interference, which deals with overlapping physical waves (like sound or water), quantum interference arises from the wave-like behavior of particles such as electrons, photons, and even atoms.</a:t>
            </a:r>
          </a:p>
          <a:p>
            <a:pPr marL="0" indent="0">
              <a:buNone/>
            </a:pPr>
            <a:r>
              <a:rPr lang="en-US" sz="2400" dirty="0">
                <a:latin typeface="Abadi" panose="020B0604020104020204" pitchFamily="34" charset="0"/>
              </a:rPr>
              <a:t>In quantum theory, particles are described by wavefunctions, which contain complex-valued probability amplitudes. When a quantum system can evolve along multiple possible paths—such as going through two slits in a barrier—each path has an associated amplitude. These amplitudes can interfere when the paths are indistinguishable, meaning we cannot tell which path the particle actually took.</a:t>
            </a:r>
          </a:p>
        </p:txBody>
      </p:sp>
      <p:sp>
        <p:nvSpPr>
          <p:cNvPr id="4" name="Slide Number Placeholder 3">
            <a:extLst>
              <a:ext uri="{FF2B5EF4-FFF2-40B4-BE49-F238E27FC236}">
                <a16:creationId xmlns:a16="http://schemas.microsoft.com/office/drawing/2014/main" id="{18C0F524-1DB9-BCB2-1A56-2949178B4D1A}"/>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1000477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E6B1B-10A3-56D1-3589-26FA93BAC64C}"/>
              </a:ext>
            </a:extLst>
          </p:cNvPr>
          <p:cNvSpPr>
            <a:spLocks noGrp="1"/>
          </p:cNvSpPr>
          <p:nvPr>
            <p:ph type="title"/>
          </p:nvPr>
        </p:nvSpPr>
        <p:spPr>
          <a:xfrm>
            <a:off x="904875" y="219076"/>
            <a:ext cx="8972550" cy="914400"/>
          </a:xfrm>
        </p:spPr>
        <p:txBody>
          <a:bodyPr/>
          <a:lstStyle/>
          <a:p>
            <a:r>
              <a:rPr lang="en-US" dirty="0"/>
              <a:t>Constructive and destructive Interference</a:t>
            </a:r>
          </a:p>
        </p:txBody>
      </p:sp>
      <p:sp>
        <p:nvSpPr>
          <p:cNvPr id="3" name="Content Placeholder 2">
            <a:extLst>
              <a:ext uri="{FF2B5EF4-FFF2-40B4-BE49-F238E27FC236}">
                <a16:creationId xmlns:a16="http://schemas.microsoft.com/office/drawing/2014/main" id="{AED07658-0380-DF9A-8470-F63826336CFD}"/>
              </a:ext>
            </a:extLst>
          </p:cNvPr>
          <p:cNvSpPr>
            <a:spLocks noGrp="1"/>
          </p:cNvSpPr>
          <p:nvPr>
            <p:ph sz="quarter" idx="10"/>
          </p:nvPr>
        </p:nvSpPr>
        <p:spPr>
          <a:xfrm>
            <a:off x="176785" y="1304925"/>
            <a:ext cx="11681840" cy="5333999"/>
          </a:xfrm>
        </p:spPr>
        <p:txBody>
          <a:bodyPr>
            <a:normAutofit/>
          </a:bodyPr>
          <a:lstStyle/>
          <a:p>
            <a:r>
              <a:rPr lang="en-US" sz="2400" dirty="0">
                <a:latin typeface="Abadi" panose="020B0604020104020204" pitchFamily="34" charset="0"/>
              </a:rPr>
              <a:t>Constructive interference happens when the amplitudes reinforce each other, increasing the probability of a particular outcome.</a:t>
            </a:r>
          </a:p>
          <a:p>
            <a:r>
              <a:rPr lang="en-US" sz="2400" dirty="0">
                <a:latin typeface="Abadi" panose="020B0604020104020204" pitchFamily="34" charset="0"/>
              </a:rPr>
              <a:t>Destructive interference occurs when amplitudes cancel out, reducing or even eliminating the chance of an outcome.</a:t>
            </a:r>
          </a:p>
          <a:p>
            <a:r>
              <a:rPr lang="en-US" sz="2400" dirty="0">
                <a:latin typeface="Abadi" panose="020B0604020104020204" pitchFamily="34" charset="0"/>
              </a:rPr>
              <a:t>This interference of probabilities—not just measurable properties—leads to surprising results that defy classical intuition. It's what gives quantum mechanics its strange and powerful nature.</a:t>
            </a:r>
          </a:p>
          <a:p>
            <a:r>
              <a:rPr lang="en-US" sz="2400" dirty="0">
                <a:latin typeface="Abadi" panose="020B0604020104020204" pitchFamily="34" charset="0"/>
              </a:rPr>
              <a:t>In short, Quantum interference isn't just particles "bumping into each other"—it's the result of probability waves interacting in a way that determines what we ultimately observe.</a:t>
            </a:r>
          </a:p>
          <a:p>
            <a:r>
              <a:rPr lang="en-US" sz="2400" dirty="0">
                <a:latin typeface="Abadi" panose="020B0604020104020204" pitchFamily="34" charset="0"/>
              </a:rPr>
              <a:t>This principle underpins many famous quantum experiments and is one of the core features that enable quantum computers to work. Without quantum interference, quantum computing would be no more powerful than classical computing</a:t>
            </a:r>
            <a:endParaRPr lang="en-US" sz="2400" dirty="0"/>
          </a:p>
          <a:p>
            <a:endParaRPr lang="en-US" dirty="0"/>
          </a:p>
        </p:txBody>
      </p:sp>
      <p:sp>
        <p:nvSpPr>
          <p:cNvPr id="4" name="Slide Number Placeholder 3">
            <a:extLst>
              <a:ext uri="{FF2B5EF4-FFF2-40B4-BE49-F238E27FC236}">
                <a16:creationId xmlns:a16="http://schemas.microsoft.com/office/drawing/2014/main" id="{1287702E-235F-4AC6-5E36-B3D2D32154C5}"/>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3072235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EFF46-4467-A6A1-AA2F-74E694CBFBCD}"/>
              </a:ext>
            </a:extLst>
          </p:cNvPr>
          <p:cNvSpPr>
            <a:spLocks noGrp="1"/>
          </p:cNvSpPr>
          <p:nvPr>
            <p:ph type="title"/>
          </p:nvPr>
        </p:nvSpPr>
        <p:spPr>
          <a:xfrm>
            <a:off x="828675" y="209550"/>
            <a:ext cx="7534656" cy="914400"/>
          </a:xfrm>
        </p:spPr>
        <p:txBody>
          <a:bodyPr/>
          <a:lstStyle/>
          <a:p>
            <a:r>
              <a:rPr lang="en-US" dirty="0"/>
              <a:t>Quantum Pertiles wave behavior</a:t>
            </a:r>
          </a:p>
        </p:txBody>
      </p:sp>
      <p:sp>
        <p:nvSpPr>
          <p:cNvPr id="3" name="Content Placeholder 2">
            <a:extLst>
              <a:ext uri="{FF2B5EF4-FFF2-40B4-BE49-F238E27FC236}">
                <a16:creationId xmlns:a16="http://schemas.microsoft.com/office/drawing/2014/main" id="{26724C04-1C9C-0F65-607A-E354E988D12F}"/>
              </a:ext>
            </a:extLst>
          </p:cNvPr>
          <p:cNvSpPr>
            <a:spLocks noGrp="1"/>
          </p:cNvSpPr>
          <p:nvPr>
            <p:ph sz="quarter" idx="10"/>
          </p:nvPr>
        </p:nvSpPr>
        <p:spPr>
          <a:xfrm>
            <a:off x="276225" y="1343025"/>
            <a:ext cx="11201400" cy="5305425"/>
          </a:xfrm>
        </p:spPr>
        <p:txBody>
          <a:bodyPr/>
          <a:lstStyle/>
          <a:p>
            <a:r>
              <a:rPr lang="en-US" dirty="0">
                <a:latin typeface="Abadi" panose="020B0604020104020204" pitchFamily="34" charset="0"/>
              </a:rPr>
              <a:t>Quantum physics is the branch of science that explores the tiniest building blocks of reality — atoms, electrons, photons, and even smaller particles. </a:t>
            </a:r>
          </a:p>
          <a:p>
            <a:r>
              <a:rPr lang="en-US" dirty="0">
                <a:latin typeface="Abadi" panose="020B0604020104020204" pitchFamily="34" charset="0"/>
              </a:rPr>
              <a:t>At this microscopic scale, the universe behaves very differently than it does in our everyday experience. Instead of moving predictably like billiard balls, particles exist in a blur of possibilities, waves, and probabilities.</a:t>
            </a:r>
          </a:p>
          <a:p>
            <a:r>
              <a:rPr lang="en-US" dirty="0">
                <a:latin typeface="Abadi" panose="020B0604020104020204" pitchFamily="34" charset="0"/>
              </a:rPr>
              <a:t>Central to understanding this strange realm is the concept of the wave function. </a:t>
            </a:r>
          </a:p>
          <a:p>
            <a:r>
              <a:rPr lang="en-US" dirty="0">
                <a:latin typeface="Abadi" panose="020B0604020104020204" pitchFamily="34" charset="0"/>
              </a:rPr>
              <a:t>The wave function is a mathematical tool that encapsulates everything we can know about a quantum system. But what exactly is a wave function? How does it shape our understanding of reality? And why does it make the universe so wonderfully weird?</a:t>
            </a:r>
          </a:p>
        </p:txBody>
      </p:sp>
      <p:sp>
        <p:nvSpPr>
          <p:cNvPr id="4" name="Slide Number Placeholder 3">
            <a:extLst>
              <a:ext uri="{FF2B5EF4-FFF2-40B4-BE49-F238E27FC236}">
                <a16:creationId xmlns:a16="http://schemas.microsoft.com/office/drawing/2014/main" id="{D6770B49-246C-A559-22F5-88352B20B1FD}"/>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Tree>
    <p:extLst>
      <p:ext uri="{BB962C8B-B14F-4D97-AF65-F5344CB8AC3E}">
        <p14:creationId xmlns:p14="http://schemas.microsoft.com/office/powerpoint/2010/main" val="3035742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0B736-14B0-C4C1-E5BD-BD994C4655D3}"/>
              </a:ext>
            </a:extLst>
          </p:cNvPr>
          <p:cNvSpPr>
            <a:spLocks noGrp="1"/>
          </p:cNvSpPr>
          <p:nvPr>
            <p:ph type="title"/>
          </p:nvPr>
        </p:nvSpPr>
        <p:spPr>
          <a:xfrm>
            <a:off x="925157" y="263562"/>
            <a:ext cx="7534656" cy="914400"/>
          </a:xfrm>
        </p:spPr>
        <p:txBody>
          <a:bodyPr/>
          <a:lstStyle/>
          <a:p>
            <a:r>
              <a:rPr lang="en-US" dirty="0"/>
              <a:t>What is a wave function</a:t>
            </a:r>
          </a:p>
        </p:txBody>
      </p:sp>
      <p:sp>
        <p:nvSpPr>
          <p:cNvPr id="3" name="Content Placeholder 2">
            <a:extLst>
              <a:ext uri="{FF2B5EF4-FFF2-40B4-BE49-F238E27FC236}">
                <a16:creationId xmlns:a16="http://schemas.microsoft.com/office/drawing/2014/main" id="{93CDB80F-948A-E2DA-41E6-2F4743C2BBF5}"/>
              </a:ext>
            </a:extLst>
          </p:cNvPr>
          <p:cNvSpPr>
            <a:spLocks noGrp="1"/>
          </p:cNvSpPr>
          <p:nvPr>
            <p:ph sz="quarter" idx="10"/>
          </p:nvPr>
        </p:nvSpPr>
        <p:spPr>
          <a:xfrm>
            <a:off x="333487" y="1409251"/>
            <a:ext cx="11487038" cy="5366451"/>
          </a:xfrm>
        </p:spPr>
        <p:txBody>
          <a:bodyPr/>
          <a:lstStyle/>
          <a:p>
            <a:r>
              <a:rPr lang="en-US" dirty="0">
                <a:latin typeface="Abadi" panose="020B0604020104020204" pitchFamily="34" charset="0"/>
              </a:rPr>
              <a:t>At its core, a wave function is a complex-valued mathematical function, typically denoted by the Greek letter </a:t>
            </a:r>
            <a:r>
              <a:rPr lang="en-US" b="1" dirty="0">
                <a:latin typeface="Abadi" panose="020B0604020104020204" pitchFamily="34" charset="0"/>
              </a:rPr>
              <a:t>ψ (psi)</a:t>
            </a:r>
            <a:r>
              <a:rPr lang="en-US" dirty="0">
                <a:latin typeface="Abadi" panose="020B0604020104020204" pitchFamily="34" charset="0"/>
              </a:rPr>
              <a:t>. It describes the quantum state of a system — be it a single particle, like an electron, or an entire collection of particles.</a:t>
            </a:r>
          </a:p>
          <a:p>
            <a:r>
              <a:rPr lang="en-US" dirty="0">
                <a:latin typeface="Abadi" panose="020B0604020104020204" pitchFamily="34" charset="0"/>
              </a:rPr>
              <a:t>Unlike classical physics, where a particle has a definite position and momentum at every instant, quantum mechanics tells us that particles exist in a cloud of possibilities. The wave function encapsulates all these possibilities simultaneously.</a:t>
            </a:r>
          </a:p>
          <a:p>
            <a:r>
              <a:rPr lang="en-US" dirty="0">
                <a:latin typeface="Abadi" panose="020B0604020104020204" pitchFamily="34" charset="0"/>
              </a:rPr>
              <a:t>More precisely, the wave function assigns a complex number to every possible configuration of the system. The magnitude squared of this number, |ψ|², gives the </a:t>
            </a:r>
            <a:r>
              <a:rPr lang="en-US" b="1" dirty="0">
                <a:latin typeface="Abadi" panose="020B0604020104020204" pitchFamily="34" charset="0"/>
              </a:rPr>
              <a:t>probability density</a:t>
            </a:r>
            <a:r>
              <a:rPr lang="en-US" dirty="0">
                <a:latin typeface="Abadi" panose="020B0604020104020204" pitchFamily="34" charset="0"/>
              </a:rPr>
              <a:t> of finding the particle in a particular place or state when a measurement is made. This probabilistic interpretation was first proposed by Max Born and remains a cornerstone of quantum mechanics.</a:t>
            </a:r>
          </a:p>
          <a:p>
            <a:r>
              <a:rPr lang="en-US" dirty="0">
                <a:latin typeface="Abadi" panose="020B0604020104020204" pitchFamily="34" charset="0"/>
              </a:rPr>
              <a:t>In simpler terms, if you imagine the wave function as a “wave” stretching across space, the height of this wave at any point indicates how likely you are to find the particle there when you look. High peaks correspond to high probabilities; valleys correspond to low probabilities.</a:t>
            </a:r>
          </a:p>
          <a:p>
            <a:endParaRPr lang="en-US" dirty="0"/>
          </a:p>
        </p:txBody>
      </p:sp>
      <p:sp>
        <p:nvSpPr>
          <p:cNvPr id="4" name="Slide Number Placeholder 3">
            <a:extLst>
              <a:ext uri="{FF2B5EF4-FFF2-40B4-BE49-F238E27FC236}">
                <a16:creationId xmlns:a16="http://schemas.microsoft.com/office/drawing/2014/main" id="{A2DA8579-B4C9-E01D-6A0C-D172857EBBBD}"/>
              </a:ext>
            </a:extLst>
          </p:cNvPr>
          <p:cNvSpPr>
            <a:spLocks noGrp="1"/>
          </p:cNvSpPr>
          <p:nvPr>
            <p:ph type="sldNum" sz="quarter" idx="4"/>
          </p:nvPr>
        </p:nvSpPr>
        <p:spPr/>
        <p:txBody>
          <a:bodyPr/>
          <a:lstStyle/>
          <a:p>
            <a:fld id="{58FB4751-880F-D840-AAA9-3A15815CC996}" type="slidenum">
              <a:rPr lang="en-US" smtClean="0"/>
              <a:pPr/>
              <a:t>13</a:t>
            </a:fld>
            <a:endParaRPr lang="en-US" dirty="0"/>
          </a:p>
        </p:txBody>
      </p:sp>
    </p:spTree>
    <p:extLst>
      <p:ext uri="{BB962C8B-B14F-4D97-AF65-F5344CB8AC3E}">
        <p14:creationId xmlns:p14="http://schemas.microsoft.com/office/powerpoint/2010/main" val="718547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27BC1-B5A8-7DB5-1DD1-AB92E072A938}"/>
              </a:ext>
            </a:extLst>
          </p:cNvPr>
          <p:cNvSpPr>
            <a:spLocks noGrp="1"/>
          </p:cNvSpPr>
          <p:nvPr>
            <p:ph type="title"/>
          </p:nvPr>
        </p:nvSpPr>
        <p:spPr>
          <a:xfrm>
            <a:off x="828338" y="215153"/>
            <a:ext cx="7534656" cy="914400"/>
          </a:xfrm>
        </p:spPr>
        <p:txBody>
          <a:bodyPr/>
          <a:lstStyle/>
          <a:p>
            <a:r>
              <a:rPr lang="en-US" dirty="0"/>
              <a:t>Wave Parameters</a:t>
            </a:r>
          </a:p>
        </p:txBody>
      </p:sp>
      <p:pic>
        <p:nvPicPr>
          <p:cNvPr id="6" name="Content Placeholder 5">
            <a:extLst>
              <a:ext uri="{FF2B5EF4-FFF2-40B4-BE49-F238E27FC236}">
                <a16:creationId xmlns:a16="http://schemas.microsoft.com/office/drawing/2014/main" id="{43DE967D-FBB1-EB5A-A8F8-74EF0D356328}"/>
              </a:ext>
            </a:extLst>
          </p:cNvPr>
          <p:cNvPicPr>
            <a:picLocks noGrp="1" noChangeAspect="1"/>
          </p:cNvPicPr>
          <p:nvPr>
            <p:ph sz="quarter" idx="10"/>
          </p:nvPr>
        </p:nvPicPr>
        <p:blipFill>
          <a:blip r:embed="rId2"/>
          <a:stretch>
            <a:fillRect/>
          </a:stretch>
        </p:blipFill>
        <p:spPr>
          <a:xfrm>
            <a:off x="1887947" y="1379928"/>
            <a:ext cx="8073633" cy="5210016"/>
          </a:xfrm>
          <a:prstGeom prst="rect">
            <a:avLst/>
          </a:prstGeom>
        </p:spPr>
      </p:pic>
      <p:sp>
        <p:nvSpPr>
          <p:cNvPr id="4" name="Slide Number Placeholder 3">
            <a:extLst>
              <a:ext uri="{FF2B5EF4-FFF2-40B4-BE49-F238E27FC236}">
                <a16:creationId xmlns:a16="http://schemas.microsoft.com/office/drawing/2014/main" id="{2519A615-D4E3-0447-18A3-078BE3A34370}"/>
              </a:ext>
            </a:extLst>
          </p:cNvPr>
          <p:cNvSpPr>
            <a:spLocks noGrp="1"/>
          </p:cNvSpPr>
          <p:nvPr>
            <p:ph type="sldNum" sz="quarter" idx="4"/>
          </p:nvPr>
        </p:nvSpPr>
        <p:spPr/>
        <p:txBody>
          <a:bodyPr/>
          <a:lstStyle/>
          <a:p>
            <a:fld id="{58FB4751-880F-D840-AAA9-3A15815CC996}" type="slidenum">
              <a:rPr lang="en-US" smtClean="0"/>
              <a:pPr/>
              <a:t>14</a:t>
            </a:fld>
            <a:endParaRPr lang="en-US" dirty="0"/>
          </a:p>
        </p:txBody>
      </p:sp>
    </p:spTree>
    <p:extLst>
      <p:ext uri="{BB962C8B-B14F-4D97-AF65-F5344CB8AC3E}">
        <p14:creationId xmlns:p14="http://schemas.microsoft.com/office/powerpoint/2010/main" val="416181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F282D-F0AC-FFC2-A8C9-4737DD74F592}"/>
              </a:ext>
            </a:extLst>
          </p:cNvPr>
          <p:cNvSpPr>
            <a:spLocks noGrp="1"/>
          </p:cNvSpPr>
          <p:nvPr>
            <p:ph type="title"/>
          </p:nvPr>
        </p:nvSpPr>
        <p:spPr/>
        <p:txBody>
          <a:bodyPr/>
          <a:lstStyle/>
          <a:p>
            <a:r>
              <a:rPr lang="en-US" b="1" i="0" u="none" strike="noStrike" kern="100" baseline="0" dirty="0">
                <a:latin typeface="Arial" panose="020B0604020202020204" pitchFamily="34" charset="0"/>
              </a:rPr>
              <a:t>Mid-20th Century:</a:t>
            </a:r>
            <a:endParaRPr lang="en-US" dirty="0"/>
          </a:p>
        </p:txBody>
      </p:sp>
      <p:sp>
        <p:nvSpPr>
          <p:cNvPr id="3" name="Content Placeholder 2">
            <a:extLst>
              <a:ext uri="{FF2B5EF4-FFF2-40B4-BE49-F238E27FC236}">
                <a16:creationId xmlns:a16="http://schemas.microsoft.com/office/drawing/2014/main" id="{D5A213FB-6798-AC85-2BF1-6B3F3CFE0968}"/>
              </a:ext>
            </a:extLst>
          </p:cNvPr>
          <p:cNvSpPr>
            <a:spLocks noGrp="1"/>
          </p:cNvSpPr>
          <p:nvPr>
            <p:ph sz="quarter" idx="10"/>
          </p:nvPr>
        </p:nvSpPr>
        <p:spPr>
          <a:xfrm>
            <a:off x="914399" y="2039111"/>
            <a:ext cx="8984343" cy="4736591"/>
          </a:xfrm>
        </p:spPr>
        <p:txBody>
          <a:bodyPr/>
          <a:lstStyle/>
          <a:p>
            <a:pPr marL="0" marR="0" indent="0" algn="l" rtl="0">
              <a:buNone/>
            </a:pPr>
            <a:r>
              <a:rPr lang="en-US" b="1" i="0" u="none" strike="noStrike" kern="100" baseline="0" dirty="0">
                <a:latin typeface="Arial" panose="020B0604020202020204" pitchFamily="34" charset="0"/>
              </a:rPr>
              <a:t>Seeds of Quantum Computation</a:t>
            </a:r>
          </a:p>
          <a:p>
            <a:pPr marR="0" algn="l" rtl="0">
              <a:buFont typeface="Calibri" panose="020F0502020204030204" pitchFamily="34" charset="0"/>
              <a:buChar char="5"/>
            </a:pPr>
            <a:r>
              <a:rPr lang="en-US" b="1" i="0" u="none" strike="noStrike" kern="100" baseline="0" dirty="0">
                <a:latin typeface="Arial" panose="020B0604020202020204" pitchFamily="34" charset="0"/>
              </a:rPr>
              <a:t>1960s - Superposition and Quantum Systems</a:t>
            </a:r>
            <a:r>
              <a:rPr lang="en-US"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000" b="0" i="0" u="none" strike="noStrike" kern="100" baseline="0" dirty="0">
                <a:latin typeface="Arial" panose="020B0604020202020204" pitchFamily="34" charset="0"/>
              </a:rPr>
              <a:t>Researchers began exploring superposition and its implications for computation.</a:t>
            </a:r>
          </a:p>
          <a:p>
            <a:pPr marR="0" algn="l" rtl="0">
              <a:buFont typeface="Calibri" panose="020F0502020204030204" pitchFamily="34" charset="0"/>
              <a:buChar char="6"/>
            </a:pPr>
            <a:r>
              <a:rPr lang="en-US" b="1" i="0" u="none" strike="noStrike" kern="100" baseline="0" dirty="0">
                <a:latin typeface="Arial" panose="020B0604020202020204" pitchFamily="34" charset="0"/>
              </a:rPr>
              <a:t>1980 - Feynman's Vision</a:t>
            </a:r>
            <a:r>
              <a:rPr lang="en-US"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000" b="0" i="0" u="none" strike="noStrike" kern="100" baseline="0" dirty="0">
                <a:solidFill>
                  <a:srgbClr val="0000FF"/>
                </a:solidFill>
                <a:latin typeface="Arial" panose="020B0604020202020204" pitchFamily="34" charset="0"/>
              </a:rPr>
              <a:t>Richard Feynman proposed the idea of quantum computers to simulate quantum systems, emphasizing that classical computers struggle with quantum phenomena.</a:t>
            </a:r>
          </a:p>
          <a:p>
            <a:pPr marR="0" algn="l" rtl="0">
              <a:buFont typeface="Calibri" panose="020F0502020204030204" pitchFamily="34" charset="0"/>
              <a:buChar char="7"/>
            </a:pPr>
            <a:r>
              <a:rPr lang="de-DE" b="1" i="0" u="none" strike="noStrike" kern="100" baseline="0" dirty="0">
                <a:latin typeface="Arial" panose="020B0604020202020204" pitchFamily="34" charset="0"/>
              </a:rPr>
              <a:t>1985 - Deutsch's Quantum Turing Machine</a:t>
            </a:r>
            <a:r>
              <a:rPr lang="de-DE"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000" b="0" i="0" u="none" strike="noStrike" kern="100" baseline="0" dirty="0">
                <a:latin typeface="Arial" panose="020B0604020202020204" pitchFamily="34" charset="0"/>
              </a:rPr>
              <a:t>David Deutsch formulated the concept of a quantum Turing machine and showed how it could perform any physically realizable computation.</a:t>
            </a:r>
          </a:p>
          <a:p>
            <a:endParaRPr lang="en-US" dirty="0"/>
          </a:p>
        </p:txBody>
      </p:sp>
      <p:sp>
        <p:nvSpPr>
          <p:cNvPr id="4" name="Slide Number Placeholder 3">
            <a:extLst>
              <a:ext uri="{FF2B5EF4-FFF2-40B4-BE49-F238E27FC236}">
                <a16:creationId xmlns:a16="http://schemas.microsoft.com/office/drawing/2014/main" id="{0ED04FA9-2B94-07FF-806A-C0934C7748B7}"/>
              </a:ext>
            </a:extLst>
          </p:cNvPr>
          <p:cNvSpPr>
            <a:spLocks noGrp="1"/>
          </p:cNvSpPr>
          <p:nvPr>
            <p:ph type="sldNum" sz="quarter" idx="4"/>
          </p:nvPr>
        </p:nvSpPr>
        <p:spPr/>
        <p:txBody>
          <a:bodyPr/>
          <a:lstStyle/>
          <a:p>
            <a:fld id="{58FB4751-880F-D840-AAA9-3A15815CC996}" type="slidenum">
              <a:rPr lang="en-US" smtClean="0"/>
              <a:pPr/>
              <a:t>15</a:t>
            </a:fld>
            <a:endParaRPr lang="en-US" dirty="0"/>
          </a:p>
        </p:txBody>
      </p:sp>
    </p:spTree>
    <p:extLst>
      <p:ext uri="{BB962C8B-B14F-4D97-AF65-F5344CB8AC3E}">
        <p14:creationId xmlns:p14="http://schemas.microsoft.com/office/powerpoint/2010/main" val="8287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0B2E7-7FAE-522B-FBFC-BA2CCA8CDB29}"/>
              </a:ext>
            </a:extLst>
          </p:cNvPr>
          <p:cNvSpPr>
            <a:spLocks noGrp="1"/>
          </p:cNvSpPr>
          <p:nvPr>
            <p:ph type="title"/>
          </p:nvPr>
        </p:nvSpPr>
        <p:spPr>
          <a:xfrm>
            <a:off x="914399" y="914400"/>
            <a:ext cx="9151257" cy="914400"/>
          </a:xfrm>
        </p:spPr>
        <p:txBody>
          <a:bodyPr/>
          <a:lstStyle/>
          <a:p>
            <a:r>
              <a:rPr lang="en-US" sz="2800" b="1" i="0" u="none" strike="noStrike" kern="100" baseline="0" dirty="0">
                <a:latin typeface="Arial" panose="020B0604020202020204" pitchFamily="34" charset="0"/>
              </a:rPr>
              <a:t>1990s: Early Algorithms and Experimental Progress</a:t>
            </a:r>
            <a:br>
              <a:rPr lang="en-US" sz="2800" b="1" i="0" u="none" strike="noStrike" kern="100" baseline="0" dirty="0">
                <a:latin typeface="Arial" panose="020B0604020202020204" pitchFamily="34" charset="0"/>
              </a:rPr>
            </a:br>
            <a:endParaRPr lang="en-US" sz="2800" dirty="0"/>
          </a:p>
        </p:txBody>
      </p:sp>
      <p:sp>
        <p:nvSpPr>
          <p:cNvPr id="3" name="Content Placeholder 2">
            <a:extLst>
              <a:ext uri="{FF2B5EF4-FFF2-40B4-BE49-F238E27FC236}">
                <a16:creationId xmlns:a16="http://schemas.microsoft.com/office/drawing/2014/main" id="{123573F1-3955-FCEF-722B-F2B67CED2219}"/>
              </a:ext>
            </a:extLst>
          </p:cNvPr>
          <p:cNvSpPr>
            <a:spLocks noGrp="1"/>
          </p:cNvSpPr>
          <p:nvPr>
            <p:ph sz="quarter" idx="10"/>
          </p:nvPr>
        </p:nvSpPr>
        <p:spPr>
          <a:xfrm>
            <a:off x="435429" y="2039111"/>
            <a:ext cx="11117941" cy="4644718"/>
          </a:xfrm>
        </p:spPr>
        <p:txBody>
          <a:bodyPr/>
          <a:lstStyle/>
          <a:p>
            <a:pPr marL="0" marR="0" indent="0" algn="l" rtl="0">
              <a:buNone/>
            </a:pPr>
            <a:r>
              <a:rPr lang="en-US" b="1" i="0" u="none" strike="noStrike" kern="100" baseline="0" dirty="0">
                <a:latin typeface="Arial" panose="020B0604020202020204" pitchFamily="34" charset="0"/>
              </a:rPr>
              <a:t>1990s: Early Algorithms and Experimental Progress</a:t>
            </a:r>
          </a:p>
          <a:p>
            <a:pPr marR="0" algn="l" rtl="0">
              <a:buFont typeface="Calibri" panose="020F0502020204030204" pitchFamily="34" charset="0"/>
              <a:buChar char="8"/>
            </a:pPr>
            <a:r>
              <a:rPr lang="en-US" b="1" i="0" u="none" strike="noStrike" kern="100" baseline="0" dirty="0">
                <a:latin typeface="Arial" panose="020B0604020202020204" pitchFamily="34" charset="0"/>
              </a:rPr>
              <a:t>1994 - Shor's Algorithm</a:t>
            </a:r>
            <a:r>
              <a:rPr lang="en-US"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000" b="0" i="0" u="none" strike="noStrike" kern="100" baseline="0" dirty="0">
                <a:latin typeface="Arial" panose="020B0604020202020204" pitchFamily="34" charset="0"/>
              </a:rPr>
              <a:t>Peter Shor developed a quantum algorithm for factoring integers exponentially faster than classical algorithms, sparking interest in quantum computing.</a:t>
            </a:r>
          </a:p>
          <a:p>
            <a:pPr marR="0" algn="l" rtl="0">
              <a:buFont typeface="Calibri" panose="020F0502020204030204" pitchFamily="34" charset="0"/>
              <a:buChar char="9"/>
            </a:pPr>
            <a:r>
              <a:rPr lang="en-US" b="1" i="0" u="none" strike="noStrike" kern="100" baseline="0" dirty="0">
                <a:latin typeface="Arial" panose="020B0604020202020204" pitchFamily="34" charset="0"/>
              </a:rPr>
              <a:t>1995 - Quantum Error Correction</a:t>
            </a:r>
            <a:r>
              <a:rPr lang="en-US"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000" b="0" i="0" u="none" strike="noStrike" kern="100" baseline="0" dirty="0">
                <a:latin typeface="Arial" panose="020B0604020202020204" pitchFamily="34" charset="0"/>
              </a:rPr>
              <a:t>Shor and Andrew Steane independently proposed quantum error correction techniques to combat decoherence.</a:t>
            </a:r>
          </a:p>
          <a:p>
            <a:pPr marL="0" marR="0" indent="0" algn="l" rtl="0">
              <a:buNone/>
            </a:pPr>
            <a:r>
              <a:rPr lang="en-US" b="1" kern="100" dirty="0">
                <a:latin typeface="Arial" panose="020B0604020202020204" pitchFamily="34" charset="0"/>
              </a:rPr>
              <a:t>10. </a:t>
            </a:r>
            <a:r>
              <a:rPr lang="en-US" b="1" i="0" u="none" strike="noStrike" kern="100" baseline="0" dirty="0">
                <a:latin typeface="Arial" panose="020B0604020202020204" pitchFamily="34" charset="0"/>
              </a:rPr>
              <a:t>1996 - Grover's Algorithm</a:t>
            </a:r>
            <a:r>
              <a:rPr lang="en-US"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000" b="0" i="0" u="none" strike="noStrike" kern="100" baseline="0" dirty="0">
                <a:latin typeface="Arial" panose="020B0604020202020204" pitchFamily="34" charset="0"/>
              </a:rPr>
              <a:t>Lov Grover introduced a quantum algorithm for searching unsorted databases quadratically faster than classical methods.</a:t>
            </a:r>
          </a:p>
          <a:p>
            <a:pPr marL="0" marR="0" indent="0" algn="l" rtl="0">
              <a:buNone/>
            </a:pPr>
            <a:r>
              <a:rPr lang="pt-BR" b="1" i="0" u="none" strike="noStrike" kern="100" baseline="0" dirty="0">
                <a:latin typeface="Arial" panose="020B0604020202020204" pitchFamily="34" charset="0"/>
              </a:rPr>
              <a:t>11. 1998 - First Experimental Quantum Computer</a:t>
            </a:r>
            <a:r>
              <a:rPr lang="pt-BR"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000" b="0" i="0" u="none" strike="noStrike" kern="100" baseline="0" dirty="0">
                <a:latin typeface="Arial" panose="020B0604020202020204" pitchFamily="34" charset="0"/>
              </a:rPr>
              <a:t>IBM and Stanford researchers built a 2-qubit quantum computer using nuclear magnetic resonance (NMR).</a:t>
            </a:r>
          </a:p>
          <a:p>
            <a:endParaRPr lang="en-US" dirty="0"/>
          </a:p>
        </p:txBody>
      </p:sp>
      <p:sp>
        <p:nvSpPr>
          <p:cNvPr id="4" name="Slide Number Placeholder 3">
            <a:extLst>
              <a:ext uri="{FF2B5EF4-FFF2-40B4-BE49-F238E27FC236}">
                <a16:creationId xmlns:a16="http://schemas.microsoft.com/office/drawing/2014/main" id="{F6E3B4FE-6A4A-B0B1-ABC5-7A63806EB15B}"/>
              </a:ext>
            </a:extLst>
          </p:cNvPr>
          <p:cNvSpPr>
            <a:spLocks noGrp="1"/>
          </p:cNvSpPr>
          <p:nvPr>
            <p:ph type="sldNum" sz="quarter" idx="4"/>
          </p:nvPr>
        </p:nvSpPr>
        <p:spPr/>
        <p:txBody>
          <a:bodyPr/>
          <a:lstStyle/>
          <a:p>
            <a:fld id="{58FB4751-880F-D840-AAA9-3A15815CC996}" type="slidenum">
              <a:rPr lang="en-US" smtClean="0"/>
              <a:pPr/>
              <a:t>16</a:t>
            </a:fld>
            <a:endParaRPr lang="en-US" dirty="0"/>
          </a:p>
        </p:txBody>
      </p:sp>
    </p:spTree>
    <p:extLst>
      <p:ext uri="{BB962C8B-B14F-4D97-AF65-F5344CB8AC3E}">
        <p14:creationId xmlns:p14="http://schemas.microsoft.com/office/powerpoint/2010/main" val="4074137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5F088-9914-3A00-65A2-2CD93F711C86}"/>
              </a:ext>
            </a:extLst>
          </p:cNvPr>
          <p:cNvSpPr>
            <a:spLocks noGrp="1"/>
          </p:cNvSpPr>
          <p:nvPr>
            <p:ph type="title"/>
          </p:nvPr>
        </p:nvSpPr>
        <p:spPr>
          <a:xfrm>
            <a:off x="914399" y="914400"/>
            <a:ext cx="9622971" cy="914400"/>
          </a:xfrm>
        </p:spPr>
        <p:txBody>
          <a:bodyPr/>
          <a:lstStyle/>
          <a:p>
            <a:r>
              <a:rPr lang="en-US" sz="2800" b="1" i="0" u="none" strike="noStrike" kern="100" baseline="0" dirty="0">
                <a:latin typeface="Arial" panose="020B0604020202020204" pitchFamily="34" charset="0"/>
              </a:rPr>
              <a:t>2000s: Building Blocks of Scalable Systems</a:t>
            </a:r>
            <a:br>
              <a:rPr lang="en-US" sz="3200" b="1" i="0" u="none" strike="noStrike" kern="100" baseline="0" dirty="0">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B249C2D0-6053-C8D4-1071-5590F18381CE}"/>
              </a:ext>
            </a:extLst>
          </p:cNvPr>
          <p:cNvSpPr>
            <a:spLocks noGrp="1"/>
          </p:cNvSpPr>
          <p:nvPr>
            <p:ph sz="quarter" idx="10"/>
          </p:nvPr>
        </p:nvSpPr>
        <p:spPr>
          <a:xfrm>
            <a:off x="914400" y="2039111"/>
            <a:ext cx="9942286" cy="4485059"/>
          </a:xfrm>
        </p:spPr>
        <p:txBody>
          <a:bodyPr>
            <a:normAutofit/>
          </a:bodyPr>
          <a:lstStyle/>
          <a:p>
            <a:pPr marL="0" marR="0" indent="0" algn="l" rtl="0">
              <a:buNone/>
            </a:pPr>
            <a:r>
              <a:rPr lang="en-US" sz="2400" b="1" i="0" u="none" strike="noStrike" kern="100" baseline="0" dirty="0">
                <a:latin typeface="Arial" panose="020B0604020202020204" pitchFamily="34" charset="0"/>
              </a:rPr>
              <a:t>2000s: Building Blocks of Scalable Systems</a:t>
            </a:r>
          </a:p>
          <a:p>
            <a:pPr marL="0" marR="0" indent="0" algn="l" rtl="0">
              <a:buNone/>
            </a:pPr>
            <a:r>
              <a:rPr lang="en-US" sz="2400" b="1" i="0" u="none" strike="noStrike" kern="100" baseline="0" dirty="0">
                <a:latin typeface="Arial" panose="020B0604020202020204" pitchFamily="34" charset="0"/>
              </a:rPr>
              <a:t>12. 2001 - Shor's Algorithm Demonstrated</a:t>
            </a:r>
            <a:r>
              <a:rPr lang="en-US" sz="2400"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400" b="0" i="0" u="none" strike="noStrike" kern="100" baseline="0" dirty="0">
                <a:latin typeface="Arial" panose="020B0604020202020204" pitchFamily="34" charset="0"/>
              </a:rPr>
              <a:t>A 7-qubit quantum computer executed Shor's algorithm to factorize 151515.</a:t>
            </a:r>
          </a:p>
          <a:p>
            <a:pPr marL="0" marR="0" indent="0" algn="l" rtl="0">
              <a:buNone/>
            </a:pPr>
            <a:r>
              <a:rPr lang="es-ES" sz="2400" b="1" i="0" u="none" strike="noStrike" kern="100" baseline="0" dirty="0">
                <a:latin typeface="Arial" panose="020B0604020202020204" pitchFamily="34" charset="0"/>
              </a:rPr>
              <a:t>13. 2005 - Quantum Error Corrección Miles tones</a:t>
            </a:r>
            <a:r>
              <a:rPr lang="es-ES" sz="2400"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400" b="0" i="0" u="none" strike="noStrike" kern="100" baseline="0" dirty="0">
                <a:latin typeface="Arial" panose="020B0604020202020204" pitchFamily="34" charset="0"/>
              </a:rPr>
              <a:t>Advances in error correction codes, such as surface codes, laid the groundwork for fault-tolerant quantum computing.</a:t>
            </a:r>
          </a:p>
          <a:p>
            <a:pPr marL="0" marR="0" indent="0" algn="l" rtl="0">
              <a:buNone/>
            </a:pPr>
            <a:r>
              <a:rPr lang="en-US" sz="2400" b="1" i="0" u="none" strike="noStrike" kern="100" baseline="0" dirty="0">
                <a:latin typeface="Arial" panose="020B0604020202020204" pitchFamily="34" charset="0"/>
              </a:rPr>
              <a:t>14. 2007 - D-Wave's Quantum Annealing Machine</a:t>
            </a:r>
            <a:r>
              <a:rPr lang="en-US" sz="2400" b="0" i="0" u="none" strike="noStrike" kern="100" baseline="0" dirty="0">
                <a:latin typeface="Arial" panose="020B0604020202020204" pitchFamily="34" charset="0"/>
              </a:rPr>
              <a:t>:</a:t>
            </a:r>
          </a:p>
          <a:p>
            <a:pPr lvl="1"/>
            <a:r>
              <a:rPr lang="en-US" sz="2200" b="0" i="0" u="none" strike="noStrike" kern="100" baseline="0" dirty="0">
                <a:latin typeface="Arial" panose="020B0604020202020204" pitchFamily="34" charset="0"/>
              </a:rPr>
              <a:t>D-Wave Systems announced the first commercially available quantum computer based on quantum annealing</a:t>
            </a:r>
            <a:endParaRPr lang="en-US" sz="2200" dirty="0"/>
          </a:p>
        </p:txBody>
      </p:sp>
      <p:sp>
        <p:nvSpPr>
          <p:cNvPr id="4" name="Slide Number Placeholder 3">
            <a:extLst>
              <a:ext uri="{FF2B5EF4-FFF2-40B4-BE49-F238E27FC236}">
                <a16:creationId xmlns:a16="http://schemas.microsoft.com/office/drawing/2014/main" id="{7E1A1273-3483-D8B6-90B2-7252311F2911}"/>
              </a:ext>
            </a:extLst>
          </p:cNvPr>
          <p:cNvSpPr>
            <a:spLocks noGrp="1"/>
          </p:cNvSpPr>
          <p:nvPr>
            <p:ph type="sldNum" sz="quarter" idx="4"/>
          </p:nvPr>
        </p:nvSpPr>
        <p:spPr/>
        <p:txBody>
          <a:bodyPr/>
          <a:lstStyle/>
          <a:p>
            <a:fld id="{58FB4751-880F-D840-AAA9-3A15815CC996}" type="slidenum">
              <a:rPr lang="en-US" smtClean="0"/>
              <a:pPr/>
              <a:t>17</a:t>
            </a:fld>
            <a:endParaRPr lang="en-US" dirty="0"/>
          </a:p>
        </p:txBody>
      </p:sp>
    </p:spTree>
    <p:extLst>
      <p:ext uri="{BB962C8B-B14F-4D97-AF65-F5344CB8AC3E}">
        <p14:creationId xmlns:p14="http://schemas.microsoft.com/office/powerpoint/2010/main" val="489441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5EA0A-00AF-B440-2907-336DEBB4965C}"/>
              </a:ext>
            </a:extLst>
          </p:cNvPr>
          <p:cNvSpPr>
            <a:spLocks noGrp="1"/>
          </p:cNvSpPr>
          <p:nvPr>
            <p:ph type="title"/>
          </p:nvPr>
        </p:nvSpPr>
        <p:spPr>
          <a:xfrm>
            <a:off x="914400" y="914400"/>
            <a:ext cx="9550400" cy="914400"/>
          </a:xfrm>
        </p:spPr>
        <p:txBody>
          <a:bodyPr/>
          <a:lstStyle/>
          <a:p>
            <a:r>
              <a:rPr lang="en-US" sz="2800" b="1" i="0" u="none" strike="noStrike" kern="100" baseline="0" dirty="0">
                <a:latin typeface="Arial" panose="020B0604020202020204" pitchFamily="34" charset="0"/>
              </a:rPr>
              <a:t>2010s: Industry Entry and Quantum Supremacy</a:t>
            </a:r>
            <a:br>
              <a:rPr lang="en-US" sz="3200" b="1" i="0" u="none" strike="noStrike" kern="100" baseline="0" dirty="0">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658D269C-E56F-E1AD-C4A8-4C7C3FBCCA12}"/>
              </a:ext>
            </a:extLst>
          </p:cNvPr>
          <p:cNvSpPr>
            <a:spLocks noGrp="1"/>
          </p:cNvSpPr>
          <p:nvPr>
            <p:ph sz="quarter" idx="10"/>
          </p:nvPr>
        </p:nvSpPr>
        <p:spPr>
          <a:xfrm>
            <a:off x="914399" y="2039111"/>
            <a:ext cx="9702801" cy="4681003"/>
          </a:xfrm>
        </p:spPr>
        <p:txBody>
          <a:bodyPr>
            <a:noAutofit/>
          </a:bodyPr>
          <a:lstStyle/>
          <a:p>
            <a:pPr marL="0" marR="0" indent="0" algn="l" rtl="0">
              <a:buNone/>
            </a:pPr>
            <a:r>
              <a:rPr lang="en-US" sz="2400" b="1" i="0" u="none" strike="noStrike" kern="100" baseline="0" dirty="0">
                <a:latin typeface="Arial" panose="020B0604020202020204" pitchFamily="34" charset="0"/>
              </a:rPr>
              <a:t>2010s: Industry Entry and Quantum Supremacy</a:t>
            </a:r>
          </a:p>
          <a:p>
            <a:pPr marL="0" marR="0" indent="0" algn="l" rtl="0">
              <a:buNone/>
            </a:pPr>
            <a:r>
              <a:rPr lang="en-US" sz="2400" b="1" i="0" u="none" strike="noStrike" kern="100" baseline="0" dirty="0">
                <a:latin typeface="Arial" panose="020B0604020202020204" pitchFamily="34" charset="0"/>
              </a:rPr>
              <a:t>15. 2011 - IBM and Google Invest in Quantum</a:t>
            </a:r>
            <a:r>
              <a:rPr lang="en-US" sz="2400"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400" b="0" i="0" u="none" strike="noStrike" kern="100" baseline="0" dirty="0">
                <a:latin typeface="Arial" panose="020B0604020202020204" pitchFamily="34" charset="0"/>
              </a:rPr>
              <a:t>IBM and Google began significant investments in quantum computing research.</a:t>
            </a:r>
          </a:p>
          <a:p>
            <a:pPr marL="0" marR="0" indent="0" algn="l" rtl="0">
              <a:buNone/>
            </a:pPr>
            <a:r>
              <a:rPr lang="en-US" sz="2400" b="1" i="0" u="none" strike="noStrike" kern="100" baseline="0" dirty="0">
                <a:latin typeface="Arial" panose="020B0604020202020204" pitchFamily="34" charset="0"/>
              </a:rPr>
              <a:t>16. 2017 - IBM Q Experience</a:t>
            </a:r>
            <a:r>
              <a:rPr lang="en-US" sz="2400"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400" b="0" i="0" u="none" strike="noStrike" kern="100" baseline="0" dirty="0">
                <a:latin typeface="Arial" panose="020B0604020202020204" pitchFamily="34" charset="0"/>
              </a:rPr>
              <a:t>IBM made a 5-qubit quantum computer accessible to the public via the cloud.</a:t>
            </a:r>
          </a:p>
          <a:p>
            <a:pPr marL="0" marR="0" indent="0" algn="l" rtl="0">
              <a:buNone/>
            </a:pPr>
            <a:r>
              <a:rPr lang="en-US" sz="2400" b="1" i="0" u="none" strike="noStrike" kern="100" baseline="0" dirty="0">
                <a:latin typeface="Arial" panose="020B0604020202020204" pitchFamily="34" charset="0"/>
              </a:rPr>
              <a:t>17. 2019 - Google's Quantum Supremacy</a:t>
            </a:r>
            <a:r>
              <a:rPr lang="en-US" sz="2400" b="0" i="0" u="none" strike="noStrike" kern="100" baseline="0" dirty="0">
                <a:latin typeface="Arial" panose="020B0604020202020204" pitchFamily="34" charset="0"/>
              </a:rPr>
              <a:t>:</a:t>
            </a:r>
          </a:p>
          <a:p>
            <a:pPr lvl="1"/>
            <a:r>
              <a:rPr lang="en-US" sz="2200" b="0" i="0" u="none" strike="noStrike" kern="100" baseline="0" dirty="0">
                <a:latin typeface="Arial" panose="020B0604020202020204" pitchFamily="34" charset="0"/>
              </a:rPr>
              <a:t>Google claimed quantum supremacy with their 53-qubit "Sycamore" processor, performing a computation in seconds that would take classical supercomputers thousands of years.</a:t>
            </a:r>
            <a:endParaRPr lang="en-US" sz="2200" dirty="0"/>
          </a:p>
        </p:txBody>
      </p:sp>
      <p:sp>
        <p:nvSpPr>
          <p:cNvPr id="4" name="Slide Number Placeholder 3">
            <a:extLst>
              <a:ext uri="{FF2B5EF4-FFF2-40B4-BE49-F238E27FC236}">
                <a16:creationId xmlns:a16="http://schemas.microsoft.com/office/drawing/2014/main" id="{EB9A5751-B82B-52B9-FCA0-D0C1F6E5678E}"/>
              </a:ext>
            </a:extLst>
          </p:cNvPr>
          <p:cNvSpPr>
            <a:spLocks noGrp="1"/>
          </p:cNvSpPr>
          <p:nvPr>
            <p:ph type="sldNum" sz="quarter" idx="4"/>
          </p:nvPr>
        </p:nvSpPr>
        <p:spPr/>
        <p:txBody>
          <a:bodyPr/>
          <a:lstStyle/>
          <a:p>
            <a:fld id="{58FB4751-880F-D840-AAA9-3A15815CC996}" type="slidenum">
              <a:rPr lang="en-US" smtClean="0"/>
              <a:pPr/>
              <a:t>18</a:t>
            </a:fld>
            <a:endParaRPr lang="en-US" dirty="0"/>
          </a:p>
        </p:txBody>
      </p:sp>
    </p:spTree>
    <p:extLst>
      <p:ext uri="{BB962C8B-B14F-4D97-AF65-F5344CB8AC3E}">
        <p14:creationId xmlns:p14="http://schemas.microsoft.com/office/powerpoint/2010/main" val="3692228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39EEF-641E-0439-EA10-8B42B9AEC2B1}"/>
              </a:ext>
            </a:extLst>
          </p:cNvPr>
          <p:cNvSpPr>
            <a:spLocks noGrp="1"/>
          </p:cNvSpPr>
          <p:nvPr>
            <p:ph type="title"/>
          </p:nvPr>
        </p:nvSpPr>
        <p:spPr>
          <a:xfrm>
            <a:off x="914399" y="914400"/>
            <a:ext cx="9122229" cy="914400"/>
          </a:xfrm>
        </p:spPr>
        <p:txBody>
          <a:bodyPr/>
          <a:lstStyle/>
          <a:p>
            <a:r>
              <a:rPr lang="en-US" sz="3200" b="1" i="0" u="none" strike="noStrike" kern="100" baseline="0" dirty="0">
                <a:latin typeface="Arial" panose="020B0604020202020204" pitchFamily="34" charset="0"/>
              </a:rPr>
              <a:t>2020s: Commercialization and Scaling</a:t>
            </a:r>
            <a:br>
              <a:rPr lang="en-US" sz="3200" b="1" i="0" u="none" strike="noStrike" kern="100" baseline="0" dirty="0">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055576F2-19DC-875F-9263-9391ED57CEE3}"/>
              </a:ext>
            </a:extLst>
          </p:cNvPr>
          <p:cNvSpPr>
            <a:spLocks noGrp="1"/>
          </p:cNvSpPr>
          <p:nvPr>
            <p:ph sz="quarter" idx="10"/>
          </p:nvPr>
        </p:nvSpPr>
        <p:spPr>
          <a:xfrm>
            <a:off x="914400" y="2039111"/>
            <a:ext cx="10022114" cy="4608431"/>
          </a:xfrm>
        </p:spPr>
        <p:txBody>
          <a:bodyPr/>
          <a:lstStyle/>
          <a:p>
            <a:pPr marL="0" marR="0" indent="0" algn="l" rtl="0">
              <a:buNone/>
            </a:pPr>
            <a:r>
              <a:rPr lang="en-US" sz="2400" b="1" i="0" u="none" strike="noStrike" kern="100" baseline="0" dirty="0">
                <a:latin typeface="Arial" panose="020B0604020202020204" pitchFamily="34" charset="0"/>
              </a:rPr>
              <a:t>2020s: Commercialization and Scaling</a:t>
            </a:r>
          </a:p>
          <a:p>
            <a:pPr marL="0" marR="0" indent="0" algn="l" rtl="0">
              <a:buNone/>
            </a:pPr>
            <a:r>
              <a:rPr lang="en-US" sz="2400" b="1" kern="100" dirty="0">
                <a:latin typeface="Arial" panose="020B0604020202020204" pitchFamily="34" charset="0"/>
              </a:rPr>
              <a:t>18. </a:t>
            </a:r>
            <a:r>
              <a:rPr lang="en-US" sz="2400" b="1" i="0" u="none" strike="noStrike" kern="100" baseline="0" dirty="0">
                <a:latin typeface="Arial" panose="020B0604020202020204" pitchFamily="34" charset="0"/>
              </a:rPr>
              <a:t>2020 - Quantum Volume and Practical Applications</a:t>
            </a:r>
            <a:r>
              <a:rPr lang="en-US" sz="2400"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400" b="0" i="0" u="none" strike="noStrike" kern="100" baseline="0" dirty="0">
                <a:latin typeface="Arial" panose="020B0604020202020204" pitchFamily="34" charset="0"/>
              </a:rPr>
              <a:t>IBM introduced the concept of "quantum volume" to measure a quantum computer's capability. Applications in optimization, chemistry, and machine learning gained traction.</a:t>
            </a:r>
          </a:p>
          <a:p>
            <a:pPr marL="0" marR="0" indent="0" algn="l" rtl="0">
              <a:buNone/>
            </a:pPr>
            <a:r>
              <a:rPr lang="en-US" sz="2400" b="1" kern="100" dirty="0">
                <a:latin typeface="Arial" panose="020B0604020202020204" pitchFamily="34" charset="0"/>
              </a:rPr>
              <a:t>19</a:t>
            </a:r>
            <a:r>
              <a:rPr lang="en-US" sz="2400" b="1" i="0" u="none" strike="noStrike" kern="100" baseline="0" dirty="0">
                <a:latin typeface="Arial" panose="020B0604020202020204" pitchFamily="34" charset="0"/>
              </a:rPr>
              <a:t>. 2021 - Quantum Advantage Claims</a:t>
            </a:r>
            <a:r>
              <a:rPr lang="en-US" sz="2400"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400" b="0" i="0" u="none" strike="noStrike" kern="100" baseline="0" dirty="0">
                <a:latin typeface="Arial" panose="020B0604020202020204" pitchFamily="34" charset="0"/>
              </a:rPr>
              <a:t>Companies like Xanadu and Honeywell made advances toward demonstrating quantum advantage.</a:t>
            </a:r>
          </a:p>
          <a:p>
            <a:pPr marL="0" marR="0" indent="0" algn="l" rtl="0">
              <a:buNone/>
            </a:pPr>
            <a:r>
              <a:rPr lang="en-US" sz="2400" b="1" kern="100" dirty="0">
                <a:latin typeface="Arial" panose="020B0604020202020204" pitchFamily="34" charset="0"/>
              </a:rPr>
              <a:t>20</a:t>
            </a:r>
            <a:r>
              <a:rPr lang="en-US" sz="2400" b="1" i="0" u="none" strike="noStrike" kern="100" baseline="0" dirty="0">
                <a:latin typeface="Arial" panose="020B0604020202020204" pitchFamily="34" charset="0"/>
              </a:rPr>
              <a:t>. 2022 - Fault-Tolerant Architectures</a:t>
            </a:r>
            <a:r>
              <a:rPr lang="en-US" sz="2400"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400" b="0" i="0" u="none" strike="noStrike" kern="100" baseline="0" dirty="0">
                <a:latin typeface="Arial" panose="020B0604020202020204" pitchFamily="34" charset="0"/>
              </a:rPr>
              <a:t>Progress in developing error-corrected qubits moved quantum computing closer to scalability.</a:t>
            </a:r>
          </a:p>
          <a:p>
            <a:endParaRPr lang="en-US" dirty="0"/>
          </a:p>
        </p:txBody>
      </p:sp>
      <p:sp>
        <p:nvSpPr>
          <p:cNvPr id="4" name="Slide Number Placeholder 3">
            <a:extLst>
              <a:ext uri="{FF2B5EF4-FFF2-40B4-BE49-F238E27FC236}">
                <a16:creationId xmlns:a16="http://schemas.microsoft.com/office/drawing/2014/main" id="{2BA905BF-59CE-D80D-1800-61A0C4A19C0E}"/>
              </a:ext>
            </a:extLst>
          </p:cNvPr>
          <p:cNvSpPr>
            <a:spLocks noGrp="1"/>
          </p:cNvSpPr>
          <p:nvPr>
            <p:ph type="sldNum" sz="quarter" idx="4"/>
          </p:nvPr>
        </p:nvSpPr>
        <p:spPr/>
        <p:txBody>
          <a:bodyPr/>
          <a:lstStyle/>
          <a:p>
            <a:fld id="{58FB4751-880F-D840-AAA9-3A15815CC996}" type="slidenum">
              <a:rPr lang="en-US" smtClean="0"/>
              <a:pPr/>
              <a:t>19</a:t>
            </a:fld>
            <a:endParaRPr lang="en-US" dirty="0"/>
          </a:p>
        </p:txBody>
      </p:sp>
    </p:spTree>
    <p:extLst>
      <p:ext uri="{BB962C8B-B14F-4D97-AF65-F5344CB8AC3E}">
        <p14:creationId xmlns:p14="http://schemas.microsoft.com/office/powerpoint/2010/main" val="3930515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6CB17-1494-3C42-5BB4-32838E74901B}"/>
              </a:ext>
            </a:extLst>
          </p:cNvPr>
          <p:cNvSpPr>
            <a:spLocks noGrp="1"/>
          </p:cNvSpPr>
          <p:nvPr>
            <p:ph type="title"/>
          </p:nvPr>
        </p:nvSpPr>
        <p:spPr/>
        <p:txBody>
          <a:bodyPr/>
          <a:lstStyle/>
          <a:p>
            <a:r>
              <a:rPr lang="en-US" dirty="0"/>
              <a:t>2020’s ……</a:t>
            </a:r>
          </a:p>
        </p:txBody>
      </p:sp>
      <p:sp>
        <p:nvSpPr>
          <p:cNvPr id="3" name="Content Placeholder 2">
            <a:extLst>
              <a:ext uri="{FF2B5EF4-FFF2-40B4-BE49-F238E27FC236}">
                <a16:creationId xmlns:a16="http://schemas.microsoft.com/office/drawing/2014/main" id="{9E33820C-F3C5-8646-6B8B-30F2DC3B840B}"/>
              </a:ext>
            </a:extLst>
          </p:cNvPr>
          <p:cNvSpPr>
            <a:spLocks noGrp="1"/>
          </p:cNvSpPr>
          <p:nvPr>
            <p:ph sz="quarter" idx="10"/>
          </p:nvPr>
        </p:nvSpPr>
        <p:spPr>
          <a:xfrm>
            <a:off x="914399" y="2039112"/>
            <a:ext cx="8694057" cy="3356576"/>
          </a:xfrm>
        </p:spPr>
        <p:txBody>
          <a:bodyPr/>
          <a:lstStyle/>
          <a:p>
            <a:pPr marL="0" marR="0" indent="0" algn="l" rtl="0">
              <a:buNone/>
            </a:pPr>
            <a:r>
              <a:rPr lang="en-US" sz="2400" b="1" kern="100" dirty="0">
                <a:latin typeface="Arial" panose="020B0604020202020204" pitchFamily="34" charset="0"/>
              </a:rPr>
              <a:t>23</a:t>
            </a:r>
            <a:r>
              <a:rPr lang="en-US" sz="2400" b="1" i="0" u="none" strike="noStrike" kern="100" baseline="0" dirty="0">
                <a:latin typeface="Arial" panose="020B0604020202020204" pitchFamily="34" charset="0"/>
              </a:rPr>
              <a:t>. 2023 - Modular Quantum Systems</a:t>
            </a:r>
            <a:r>
              <a:rPr lang="en-US" sz="2400"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400" b="0" i="0" u="none" strike="noStrike" kern="100" baseline="0" dirty="0">
                <a:latin typeface="Arial" panose="020B0604020202020204" pitchFamily="34" charset="0"/>
              </a:rPr>
              <a:t>Efforts in modular quantum architectures began to focus on connecting quantum processors to scale systems.</a:t>
            </a:r>
          </a:p>
          <a:p>
            <a:pPr marL="0" marR="0" indent="0" algn="l" rtl="0">
              <a:buNone/>
            </a:pPr>
            <a:r>
              <a:rPr lang="en-US" sz="2400" b="1" kern="100" dirty="0">
                <a:latin typeface="Arial" panose="020B0604020202020204" pitchFamily="34" charset="0"/>
              </a:rPr>
              <a:t>24</a:t>
            </a:r>
            <a:r>
              <a:rPr lang="en-US" sz="2400" b="1" i="0" u="none" strike="noStrike" kern="100" baseline="0" dirty="0">
                <a:latin typeface="Arial" panose="020B0604020202020204" pitchFamily="34" charset="0"/>
              </a:rPr>
              <a:t>. 2024 and Beyond</a:t>
            </a:r>
            <a:r>
              <a:rPr lang="en-US" sz="2400" b="0" i="0" u="none" strike="noStrike" kern="100" baseline="0" dirty="0">
                <a:latin typeface="Arial" panose="020B0604020202020204" pitchFamily="34" charset="0"/>
              </a:rPr>
              <a:t>:</a:t>
            </a:r>
          </a:p>
          <a:p>
            <a:pPr marR="0" lvl="1" algn="l" rtl="0">
              <a:buFont typeface="Courier New" panose="02070309020205020404" pitchFamily="49" charset="0"/>
              <a:buChar char="o"/>
            </a:pPr>
            <a:r>
              <a:rPr lang="en-US" sz="2400" b="0" i="0" u="none" strike="noStrike" kern="100" baseline="0" dirty="0">
                <a:latin typeface="Arial" panose="020B0604020202020204" pitchFamily="34" charset="0"/>
              </a:rPr>
              <a:t>The quantum computing industry is focused on achieving fault-tolerant quantum computers, integrating quantum computing into hybrid workflows with classical systems, and broadening quantum education.</a:t>
            </a:r>
          </a:p>
          <a:p>
            <a:endParaRPr lang="en-US" dirty="0"/>
          </a:p>
        </p:txBody>
      </p:sp>
      <p:sp>
        <p:nvSpPr>
          <p:cNvPr id="4" name="Slide Number Placeholder 3">
            <a:extLst>
              <a:ext uri="{FF2B5EF4-FFF2-40B4-BE49-F238E27FC236}">
                <a16:creationId xmlns:a16="http://schemas.microsoft.com/office/drawing/2014/main" id="{9049992B-6609-E891-727B-FC992787EE83}"/>
              </a:ext>
            </a:extLst>
          </p:cNvPr>
          <p:cNvSpPr>
            <a:spLocks noGrp="1"/>
          </p:cNvSpPr>
          <p:nvPr>
            <p:ph type="sldNum" sz="quarter" idx="4"/>
          </p:nvPr>
        </p:nvSpPr>
        <p:spPr/>
        <p:txBody>
          <a:bodyPr/>
          <a:lstStyle/>
          <a:p>
            <a:fld id="{58FB4751-880F-D840-AAA9-3A15815CC996}" type="slidenum">
              <a:rPr lang="en-US" smtClean="0"/>
              <a:pPr/>
              <a:t>20</a:t>
            </a:fld>
            <a:endParaRPr lang="en-US" dirty="0"/>
          </a:p>
        </p:txBody>
      </p:sp>
    </p:spTree>
    <p:extLst>
      <p:ext uri="{BB962C8B-B14F-4D97-AF65-F5344CB8AC3E}">
        <p14:creationId xmlns:p14="http://schemas.microsoft.com/office/powerpoint/2010/main" val="3888158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2B930-B8FF-3B6E-916B-87439C071720}"/>
              </a:ext>
            </a:extLst>
          </p:cNvPr>
          <p:cNvSpPr>
            <a:spLocks noGrp="1"/>
          </p:cNvSpPr>
          <p:nvPr>
            <p:ph type="title"/>
          </p:nvPr>
        </p:nvSpPr>
        <p:spPr/>
        <p:txBody>
          <a:bodyPr/>
          <a:lstStyle/>
          <a:p>
            <a:r>
              <a:rPr lang="en-US" dirty="0"/>
              <a:t>IBM Eagle Quantum Chip</a:t>
            </a:r>
          </a:p>
        </p:txBody>
      </p:sp>
      <p:sp>
        <p:nvSpPr>
          <p:cNvPr id="4" name="Slide Number Placeholder 3">
            <a:extLst>
              <a:ext uri="{FF2B5EF4-FFF2-40B4-BE49-F238E27FC236}">
                <a16:creationId xmlns:a16="http://schemas.microsoft.com/office/drawing/2014/main" id="{4733BFE0-2A7D-6BFE-2F8E-3A8AA8346083}"/>
              </a:ext>
            </a:extLst>
          </p:cNvPr>
          <p:cNvSpPr>
            <a:spLocks noGrp="1"/>
          </p:cNvSpPr>
          <p:nvPr>
            <p:ph type="sldNum" sz="quarter" idx="4"/>
          </p:nvPr>
        </p:nvSpPr>
        <p:spPr/>
        <p:txBody>
          <a:bodyPr/>
          <a:lstStyle/>
          <a:p>
            <a:fld id="{58FB4751-880F-D840-AAA9-3A15815CC996}" type="slidenum">
              <a:rPr lang="en-US" smtClean="0"/>
              <a:pPr/>
              <a:t>21</a:t>
            </a:fld>
            <a:endParaRPr lang="en-US" dirty="0"/>
          </a:p>
        </p:txBody>
      </p:sp>
      <p:pic>
        <p:nvPicPr>
          <p:cNvPr id="1026" name="Picture 2" descr="Image">
            <a:extLst>
              <a:ext uri="{FF2B5EF4-FFF2-40B4-BE49-F238E27FC236}">
                <a16:creationId xmlns:a16="http://schemas.microsoft.com/office/drawing/2014/main" id="{3DCB9A00-DF00-E4EA-CBBF-A6EEEFFAD32E}"/>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1364341" y="2073003"/>
            <a:ext cx="6480629" cy="4340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5976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FE21E-8505-20C9-8A00-EC2DCFD1C85D}"/>
              </a:ext>
            </a:extLst>
          </p:cNvPr>
          <p:cNvSpPr>
            <a:spLocks noGrp="1"/>
          </p:cNvSpPr>
          <p:nvPr>
            <p:ph type="title"/>
          </p:nvPr>
        </p:nvSpPr>
        <p:spPr>
          <a:xfrm>
            <a:off x="904671" y="914400"/>
            <a:ext cx="9241277" cy="914400"/>
          </a:xfrm>
        </p:spPr>
        <p:txBody>
          <a:bodyPr/>
          <a:lstStyle/>
          <a:p>
            <a:r>
              <a:rPr lang="en-US" dirty="0"/>
              <a:t>IBM Quantum Chip: Eagle interior -127 Qubits</a:t>
            </a:r>
          </a:p>
        </p:txBody>
      </p:sp>
      <p:sp>
        <p:nvSpPr>
          <p:cNvPr id="4" name="Slide Number Placeholder 3">
            <a:extLst>
              <a:ext uri="{FF2B5EF4-FFF2-40B4-BE49-F238E27FC236}">
                <a16:creationId xmlns:a16="http://schemas.microsoft.com/office/drawing/2014/main" id="{534E7B95-96AA-645B-122C-77419544A422}"/>
              </a:ext>
            </a:extLst>
          </p:cNvPr>
          <p:cNvSpPr>
            <a:spLocks noGrp="1"/>
          </p:cNvSpPr>
          <p:nvPr>
            <p:ph type="sldNum" sz="quarter" idx="4"/>
          </p:nvPr>
        </p:nvSpPr>
        <p:spPr/>
        <p:txBody>
          <a:bodyPr/>
          <a:lstStyle/>
          <a:p>
            <a:fld id="{58FB4751-880F-D840-AAA9-3A15815CC996}" type="slidenum">
              <a:rPr lang="en-US" smtClean="0"/>
              <a:pPr/>
              <a:t>22</a:t>
            </a:fld>
            <a:endParaRPr lang="en-US" dirty="0"/>
          </a:p>
        </p:txBody>
      </p:sp>
      <p:pic>
        <p:nvPicPr>
          <p:cNvPr id="2050" name="Picture 2" descr="IBM quantum eagle chip">
            <a:extLst>
              <a:ext uri="{FF2B5EF4-FFF2-40B4-BE49-F238E27FC236}">
                <a16:creationId xmlns:a16="http://schemas.microsoft.com/office/drawing/2014/main" id="{22C30B14-C88A-C6EB-0DBB-3180C6699F97}"/>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1504950" y="2038350"/>
            <a:ext cx="5969000" cy="3357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830836"/>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{FE5D5B54-BA60-481A-8430-5BF22263AF6F}tf11964407_win32</Template>
  <TotalTime>13035</TotalTime>
  <Words>2036</Words>
  <Application>Microsoft Office PowerPoint</Application>
  <PresentationFormat>Widescreen</PresentationFormat>
  <Paragraphs>138</Paragraphs>
  <Slides>22</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Abadi</vt:lpstr>
      <vt:lpstr>Arial</vt:lpstr>
      <vt:lpstr>Calibri</vt:lpstr>
      <vt:lpstr>Courier New</vt:lpstr>
      <vt:lpstr>Gill Sans Nova Light</vt:lpstr>
      <vt:lpstr>Noto Serif</vt:lpstr>
      <vt:lpstr>Roboto</vt:lpstr>
      <vt:lpstr>Sagona Book</vt:lpstr>
      <vt:lpstr>Symbol</vt:lpstr>
      <vt:lpstr>Custom</vt:lpstr>
      <vt:lpstr>Principles and Roots of Quantum Computing </vt:lpstr>
      <vt:lpstr>Before we get started</vt:lpstr>
      <vt:lpstr>The Roots of Quantum Computing</vt:lpstr>
      <vt:lpstr>Quantization, Uncertainty, Coherence</vt:lpstr>
      <vt:lpstr>Coherence</vt:lpstr>
      <vt:lpstr>Definition of Coherence</vt:lpstr>
      <vt:lpstr>Early Theoretical Roots</vt:lpstr>
      <vt:lpstr>Superposition</vt:lpstr>
      <vt:lpstr>Quantum Entanglement </vt:lpstr>
      <vt:lpstr>Quantum Interference</vt:lpstr>
      <vt:lpstr>Constructive and destructive Interference</vt:lpstr>
      <vt:lpstr>Quantum Pertiles wave behavior</vt:lpstr>
      <vt:lpstr>What is a wave function</vt:lpstr>
      <vt:lpstr>Wave Parameters</vt:lpstr>
      <vt:lpstr>Mid-20th Century:</vt:lpstr>
      <vt:lpstr>1990s: Early Algorithms and Experimental Progress </vt:lpstr>
      <vt:lpstr>2000s: Building Blocks of Scalable Systems </vt:lpstr>
      <vt:lpstr>2010s: Industry Entry and Quantum Supremacy </vt:lpstr>
      <vt:lpstr>2020s: Commercialization and Scaling </vt:lpstr>
      <vt:lpstr>2020’s ……</vt:lpstr>
      <vt:lpstr>IBM Eagle Quantum Chip</vt:lpstr>
      <vt:lpstr>IBM Quantum Chip: Eagle interior -127 Qubits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Prof Mohammed ELAffendi</dc:creator>
  <cp:lastModifiedBy>Prof Mohammed ELAffendi</cp:lastModifiedBy>
  <cp:revision>16</cp:revision>
  <dcterms:created xsi:type="dcterms:W3CDTF">2024-12-30T08:23:40Z</dcterms:created>
  <dcterms:modified xsi:type="dcterms:W3CDTF">2025-12-23T09:42:46Z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