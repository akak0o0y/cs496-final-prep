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handoutMasterIdLst>
    <p:handoutMasterId r:id="rId30"/>
  </p:handoutMasterIdLst>
  <p:sldIdLst>
    <p:sldId id="317" r:id="rId5"/>
    <p:sldId id="328" r:id="rId6"/>
    <p:sldId id="333" r:id="rId7"/>
    <p:sldId id="334" r:id="rId8"/>
    <p:sldId id="340" r:id="rId9"/>
    <p:sldId id="343" r:id="rId10"/>
    <p:sldId id="341" r:id="rId11"/>
    <p:sldId id="338" r:id="rId12"/>
    <p:sldId id="335" r:id="rId13"/>
    <p:sldId id="330" r:id="rId14"/>
    <p:sldId id="331" r:id="rId15"/>
    <p:sldId id="332" r:id="rId16"/>
    <p:sldId id="344" r:id="rId17"/>
    <p:sldId id="318" r:id="rId18"/>
    <p:sldId id="319" r:id="rId19"/>
    <p:sldId id="320" r:id="rId20"/>
    <p:sldId id="321" r:id="rId21"/>
    <p:sldId id="322" r:id="rId22"/>
    <p:sldId id="323" r:id="rId23"/>
    <p:sldId id="324" r:id="rId24"/>
    <p:sldId id="325" r:id="rId25"/>
    <p:sldId id="326" r:id="rId26"/>
    <p:sldId id="327" r:id="rId27"/>
    <p:sldId id="34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5405" autoAdjust="0"/>
  </p:normalViewPr>
  <p:slideViewPr>
    <p:cSldViewPr snapToGrid="0">
      <p:cViewPr varScale="1">
        <p:scale>
          <a:sx n="80" d="100"/>
          <a:sy n="80" d="100"/>
        </p:scale>
        <p:origin x="739" y="28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1/4/2026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Entanglement, Bell States, and Multi-Qubit Systems</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B755-7B52-3A4F-FAB1-97E2EB0E12E2}"/>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DE20B1A5-115D-0693-19B0-D530DDDF8A76}"/>
              </a:ext>
            </a:extLst>
          </p:cNvPr>
          <p:cNvSpPr>
            <a:spLocks noGrp="1"/>
          </p:cNvSpPr>
          <p:nvPr>
            <p:ph sz="quarter" idx="10"/>
          </p:nvPr>
        </p:nvSpPr>
        <p:spPr>
          <a:xfrm>
            <a:off x="914400" y="2039112"/>
            <a:ext cx="8885382" cy="4250852"/>
          </a:xfrm>
        </p:spPr>
        <p:txBody>
          <a:bodyPr>
            <a:normAutofit/>
          </a:bodyPr>
          <a:lstStyle/>
          <a:p>
            <a:r>
              <a:rPr lang="en-US" sz="2800" dirty="0">
                <a:latin typeface="Abadi" panose="020B0604020104020204" pitchFamily="34" charset="0"/>
              </a:rPr>
              <a:t>Illustrate how multi-Qubit Systems work</a:t>
            </a:r>
          </a:p>
          <a:p>
            <a:r>
              <a:rPr lang="en-US" sz="2800" dirty="0">
                <a:latin typeface="Abadi" panose="020B0604020104020204" pitchFamily="34" charset="0"/>
              </a:rPr>
              <a:t>The Role of the CNOT  gate (operator)</a:t>
            </a:r>
          </a:p>
          <a:p>
            <a:r>
              <a:rPr lang="en-US" sz="2800" dirty="0">
                <a:latin typeface="Abadi" panose="020B0604020104020204" pitchFamily="34" charset="0"/>
              </a:rPr>
              <a:t>Understand How Entanglement Works</a:t>
            </a:r>
          </a:p>
          <a:p>
            <a:r>
              <a:rPr lang="en-US" sz="2800" dirty="0">
                <a:latin typeface="Abadi" panose="020B0604020104020204" pitchFamily="34" charset="0"/>
              </a:rPr>
              <a:t>Be familiar with Quantum circuits</a:t>
            </a:r>
          </a:p>
          <a:p>
            <a:r>
              <a:rPr lang="en-US" sz="2800" dirty="0">
                <a:latin typeface="Abadi" panose="020B0604020104020204" pitchFamily="34" charset="0"/>
              </a:rPr>
              <a:t>Introduce quantum gates (operators) and explain their roles</a:t>
            </a:r>
          </a:p>
        </p:txBody>
      </p:sp>
      <p:sp>
        <p:nvSpPr>
          <p:cNvPr id="4" name="Slide Number Placeholder 3">
            <a:extLst>
              <a:ext uri="{FF2B5EF4-FFF2-40B4-BE49-F238E27FC236}">
                <a16:creationId xmlns:a16="http://schemas.microsoft.com/office/drawing/2014/main" id="{6E9F02EC-9816-3FA9-2A2A-64E39970DFD1}"/>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3276082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09FBE-0191-8401-6E95-30C41E911678}"/>
              </a:ext>
            </a:extLst>
          </p:cNvPr>
          <p:cNvSpPr>
            <a:spLocks noGrp="1"/>
          </p:cNvSpPr>
          <p:nvPr>
            <p:ph type="title"/>
          </p:nvPr>
        </p:nvSpPr>
        <p:spPr/>
        <p:txBody>
          <a:bodyPr/>
          <a:lstStyle/>
          <a:p>
            <a:r>
              <a:rPr lang="en-US" dirty="0"/>
              <a:t>Initializing Using Hadamard</a:t>
            </a:r>
          </a:p>
        </p:txBody>
      </p:sp>
      <p:sp>
        <p:nvSpPr>
          <p:cNvPr id="3" name="Content Placeholder 2">
            <a:extLst>
              <a:ext uri="{FF2B5EF4-FFF2-40B4-BE49-F238E27FC236}">
                <a16:creationId xmlns:a16="http://schemas.microsoft.com/office/drawing/2014/main" id="{0FD620C4-0E04-8CDF-A83C-1B5CA54B2D30}"/>
              </a:ext>
            </a:extLst>
          </p:cNvPr>
          <p:cNvSpPr>
            <a:spLocks noGrp="1"/>
          </p:cNvSpPr>
          <p:nvPr>
            <p:ph sz="quarter" idx="10"/>
          </p:nvPr>
        </p:nvSpPr>
        <p:spPr>
          <a:xfrm>
            <a:off x="447675" y="2039111"/>
            <a:ext cx="11401425" cy="4542663"/>
          </a:xfrm>
        </p:spPr>
        <p:txBody>
          <a:bodyPr>
            <a:normAutofit/>
          </a:bodyPr>
          <a:lstStyle/>
          <a:p>
            <a:r>
              <a:rPr lang="en-US" sz="2800" dirty="0">
                <a:latin typeface="Abadi" panose="020B0604020104020204" pitchFamily="34" charset="0"/>
              </a:rPr>
              <a:t>A remarkable property of </a:t>
            </a:r>
            <a:r>
              <a:rPr lang="en-US" sz="2800" i="1" dirty="0">
                <a:latin typeface="Abadi" panose="020B0604020104020204" pitchFamily="34" charset="0"/>
              </a:rPr>
              <a:t>H</a:t>
            </a:r>
            <a:r>
              <a:rPr lang="en-US" sz="2800" dirty="0">
                <a:latin typeface="Abadi" panose="020B0604020104020204" pitchFamily="34" charset="0"/>
              </a:rPr>
              <a:t> is that it creates a superposition state out of either |0⟩ or |1⟩. </a:t>
            </a:r>
          </a:p>
          <a:p>
            <a:r>
              <a:rPr lang="en-US" sz="2800" dirty="0">
                <a:latin typeface="Abadi" panose="020B0604020104020204" pitchFamily="34" charset="0"/>
              </a:rPr>
              <a:t>Creating superpositions from basis states is of great practical value, because quantum computing hardware usually encourages intituling qubits to |0⟩.</a:t>
            </a:r>
          </a:p>
          <a:p>
            <a:r>
              <a:rPr lang="en-US" sz="2800" dirty="0">
                <a:latin typeface="Abadi" panose="020B0604020104020204" pitchFamily="34" charset="0"/>
              </a:rPr>
              <a:t> Running those qubits through an </a:t>
            </a:r>
            <a:r>
              <a:rPr lang="en-US" sz="2800" i="1" dirty="0">
                <a:latin typeface="Abadi" panose="020B0604020104020204" pitchFamily="34" charset="0"/>
              </a:rPr>
              <a:t>H</a:t>
            </a:r>
            <a:r>
              <a:rPr lang="en-US" sz="2800" dirty="0">
                <a:latin typeface="Abadi" panose="020B0604020104020204" pitchFamily="34" charset="0"/>
              </a:rPr>
              <a:t> gate turns each |0⟩ into a |+⟩, which is an equal superposition of |0⟩ and |1⟩. </a:t>
            </a:r>
          </a:p>
          <a:p>
            <a:r>
              <a:rPr lang="en-US" sz="2800" dirty="0">
                <a:latin typeface="Abadi" panose="020B0604020104020204" pitchFamily="34" charset="0"/>
              </a:rPr>
              <a:t>Putting each of our input qubits into superposition is the key step that enables many of the other useful properties of quantum computing.</a:t>
            </a:r>
          </a:p>
        </p:txBody>
      </p:sp>
      <p:sp>
        <p:nvSpPr>
          <p:cNvPr id="4" name="Slide Number Placeholder 3">
            <a:extLst>
              <a:ext uri="{FF2B5EF4-FFF2-40B4-BE49-F238E27FC236}">
                <a16:creationId xmlns:a16="http://schemas.microsoft.com/office/drawing/2014/main" id="{F6819716-B908-45D2-126D-907A1533DBC8}"/>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85904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9C08D-E05F-76BF-8162-384F9952A711}"/>
              </a:ext>
            </a:extLst>
          </p:cNvPr>
          <p:cNvSpPr>
            <a:spLocks noGrp="1"/>
          </p:cNvSpPr>
          <p:nvPr>
            <p:ph type="title"/>
          </p:nvPr>
        </p:nvSpPr>
        <p:spPr>
          <a:xfrm>
            <a:off x="952499" y="152400"/>
            <a:ext cx="8924925" cy="914400"/>
          </a:xfrm>
        </p:spPr>
        <p:txBody>
          <a:bodyPr/>
          <a:lstStyle/>
          <a:p>
            <a:r>
              <a:rPr lang="en-US" dirty="0"/>
              <a:t>Most Algorithms Initialize qubits to |0&gt; then go into H</a:t>
            </a:r>
          </a:p>
        </p:txBody>
      </p:sp>
      <p:sp>
        <p:nvSpPr>
          <p:cNvPr id="3" name="Content Placeholder 2">
            <a:extLst>
              <a:ext uri="{FF2B5EF4-FFF2-40B4-BE49-F238E27FC236}">
                <a16:creationId xmlns:a16="http://schemas.microsoft.com/office/drawing/2014/main" id="{FD73E16A-F7C1-B7A2-A341-CFEE34A352DE}"/>
              </a:ext>
            </a:extLst>
          </p:cNvPr>
          <p:cNvSpPr>
            <a:spLocks noGrp="1"/>
          </p:cNvSpPr>
          <p:nvPr>
            <p:ph sz="quarter" idx="10"/>
          </p:nvPr>
        </p:nvSpPr>
        <p:spPr>
          <a:xfrm>
            <a:off x="0" y="1495425"/>
            <a:ext cx="11029949" cy="5623177"/>
          </a:xfrm>
        </p:spPr>
        <p:txBody>
          <a:bodyPr/>
          <a:lstStyle/>
          <a:p>
            <a:pPr marL="0" indent="0">
              <a:buNone/>
            </a:pPr>
            <a:r>
              <a:rPr lang="en-US" sz="2400" dirty="0">
                <a:latin typeface="Abadi" panose="020B0604020104020204" pitchFamily="34" charset="0"/>
              </a:rPr>
              <a:t>As a result, many quantum algorithms begin with a bunch of qubits initialized to |0⟩, which immediately go into </a:t>
            </a:r>
            <a:r>
              <a:rPr lang="en-US" sz="2400" i="1" dirty="0">
                <a:latin typeface="Abadi" panose="020B0604020104020204" pitchFamily="34" charset="0"/>
              </a:rPr>
              <a:t>H</a:t>
            </a:r>
            <a:r>
              <a:rPr lang="en-US" sz="2400" dirty="0">
                <a:latin typeface="Abadi" panose="020B0604020104020204" pitchFamily="34" charset="0"/>
              </a:rPr>
              <a:t> gates. Then we do some computing and finally measure the qubits. The Figure Below</a:t>
            </a:r>
            <a:r>
              <a:rPr lang="en-US" sz="2400" b="1" u="sng" dirty="0">
                <a:latin typeface="Abadi" panose="020B0604020104020204" pitchFamily="34" charset="0"/>
              </a:rPr>
              <a:t> </a:t>
            </a:r>
            <a:r>
              <a:rPr lang="en-US" sz="2400" dirty="0">
                <a:latin typeface="Abadi" panose="020B0604020104020204" pitchFamily="34" charset="0"/>
              </a:rPr>
              <a:t>shows this common architecture using </a:t>
            </a:r>
            <a:r>
              <a:rPr lang="en-US" sz="2400" i="1" dirty="0">
                <a:latin typeface="Abadi" panose="020B0604020104020204" pitchFamily="34" charset="0"/>
              </a:rPr>
              <a:t>k</a:t>
            </a:r>
            <a:r>
              <a:rPr lang="en-US" sz="2400" dirty="0">
                <a:latin typeface="Abadi" panose="020B0604020104020204" pitchFamily="34" charset="0"/>
              </a:rPr>
              <a:t> qubits.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F7272F2-91CF-C353-CAC9-E097D144EE68}"/>
              </a:ext>
            </a:extLst>
          </p:cNvPr>
          <p:cNvSpPr>
            <a:spLocks noGrp="1"/>
          </p:cNvSpPr>
          <p:nvPr>
            <p:ph type="sldNum" sz="quarter" idx="4"/>
          </p:nvPr>
        </p:nvSpPr>
        <p:spPr/>
        <p:txBody>
          <a:bodyPr/>
          <a:lstStyle/>
          <a:p>
            <a:fld id="{58FB4751-880F-D840-AAA9-3A15815CC996}" type="slidenum">
              <a:rPr lang="en-US" smtClean="0"/>
              <a:pPr/>
              <a:t>4</a:t>
            </a:fld>
            <a:endParaRPr lang="en-US" dirty="0"/>
          </a:p>
        </p:txBody>
      </p:sp>
      <p:pic>
        <p:nvPicPr>
          <p:cNvPr id="2050" name="Picture 2" descr="A stack of k qubits as ket 0, each entering a box marked H, then all going into a big box, then getting measured.">
            <a:extLst>
              <a:ext uri="{FF2B5EF4-FFF2-40B4-BE49-F238E27FC236}">
                <a16:creationId xmlns:a16="http://schemas.microsoft.com/office/drawing/2014/main" id="{FA62900F-C923-A954-838B-4D5505908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499" y="2771775"/>
            <a:ext cx="9115425" cy="3833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255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8EBB-46B1-6B98-8CAA-D16C8656EC1B}"/>
              </a:ext>
            </a:extLst>
          </p:cNvPr>
          <p:cNvSpPr>
            <a:spLocks noGrp="1"/>
          </p:cNvSpPr>
          <p:nvPr>
            <p:ph type="title"/>
          </p:nvPr>
        </p:nvSpPr>
        <p:spPr>
          <a:xfrm>
            <a:off x="696190" y="124690"/>
            <a:ext cx="9403773" cy="914400"/>
          </a:xfrm>
        </p:spPr>
        <p:txBody>
          <a:bodyPr/>
          <a:lstStyle/>
          <a:p>
            <a:r>
              <a:rPr lang="en-US" dirty="0"/>
              <a:t>Quantum Entanglement</a:t>
            </a:r>
          </a:p>
        </p:txBody>
      </p:sp>
      <p:sp>
        <p:nvSpPr>
          <p:cNvPr id="3" name="Content Placeholder 2">
            <a:extLst>
              <a:ext uri="{FF2B5EF4-FFF2-40B4-BE49-F238E27FC236}">
                <a16:creationId xmlns:a16="http://schemas.microsoft.com/office/drawing/2014/main" id="{50D61FD2-82BE-C44C-7B32-26AF228125EA}"/>
              </a:ext>
            </a:extLst>
          </p:cNvPr>
          <p:cNvSpPr>
            <a:spLocks noGrp="1"/>
          </p:cNvSpPr>
          <p:nvPr>
            <p:ph sz="quarter" idx="10"/>
          </p:nvPr>
        </p:nvSpPr>
        <p:spPr>
          <a:xfrm>
            <a:off x="102178" y="1330902"/>
            <a:ext cx="11913038" cy="5320146"/>
          </a:xfrm>
        </p:spPr>
        <p:txBody>
          <a:bodyPr>
            <a:normAutofit lnSpcReduction="10000"/>
          </a:bodyPr>
          <a:lstStyle/>
          <a:p>
            <a:pPr>
              <a:buNone/>
            </a:pPr>
            <a:r>
              <a:rPr lang="en-US" sz="2400" i="1" dirty="0">
                <a:latin typeface="Roboto" panose="02000000000000000000" pitchFamily="2" charset="0"/>
              </a:rPr>
              <a:t>As per our previous definition of entanglement:</a:t>
            </a:r>
          </a:p>
          <a:p>
            <a:pPr>
              <a:buNone/>
            </a:pPr>
            <a:endParaRPr lang="en-US" sz="2400" dirty="0">
              <a:latin typeface="Roboto" panose="02000000000000000000" pitchFamily="2" charset="0"/>
            </a:endParaRPr>
          </a:p>
          <a:p>
            <a:pPr>
              <a:buNone/>
            </a:pPr>
            <a:r>
              <a:rPr lang="en-US" sz="2400" dirty="0">
                <a:latin typeface="Roboto" panose="02000000000000000000" pitchFamily="2" charset="0"/>
              </a:rPr>
              <a:t>Quantum entanglement is a phenomenon in </a:t>
            </a:r>
            <a:r>
              <a:rPr lang="en-US" sz="2400" b="1" dirty="0">
                <a:latin typeface="Roboto" panose="02000000000000000000" pitchFamily="2" charset="0"/>
              </a:rPr>
              <a:t>quantum physics</a:t>
            </a:r>
            <a:r>
              <a:rPr lang="en-US" sz="2400" dirty="0">
                <a:latin typeface="Roboto" panose="02000000000000000000" pitchFamily="2" charset="0"/>
              </a:rPr>
              <a:t> where two or more particles     become </a:t>
            </a:r>
            <a:r>
              <a:rPr lang="en-US" sz="2400" b="1" dirty="0">
                <a:latin typeface="Roboto" panose="02000000000000000000" pitchFamily="2" charset="0"/>
              </a:rPr>
              <a:t>connected</a:t>
            </a:r>
            <a:r>
              <a:rPr lang="en-US" sz="2400" dirty="0">
                <a:latin typeface="Roboto" panose="02000000000000000000" pitchFamily="2" charset="0"/>
              </a:rPr>
              <a:t> in such a way that the state of one particle </a:t>
            </a:r>
            <a:r>
              <a:rPr lang="en-US" sz="2400" b="1" dirty="0">
                <a:latin typeface="Roboto" panose="02000000000000000000" pitchFamily="2" charset="0"/>
              </a:rPr>
              <a:t>instantly       influences</a:t>
            </a:r>
            <a:r>
              <a:rPr lang="en-US" sz="2400" dirty="0">
                <a:latin typeface="Roboto" panose="02000000000000000000" pitchFamily="2" charset="0"/>
              </a:rPr>
              <a:t> the  state of the other, no matter how far apart they are.</a:t>
            </a:r>
          </a:p>
          <a:p>
            <a:pPr>
              <a:lnSpc>
                <a:spcPts val="1950"/>
              </a:lnSpc>
              <a:buNone/>
            </a:pPr>
            <a:r>
              <a:rPr lang="en-US" sz="2400" b="1" dirty="0">
                <a:latin typeface="Roboto" panose="02000000000000000000" pitchFamily="2" charset="0"/>
              </a:rPr>
              <a:t>Key Points:</a:t>
            </a:r>
          </a:p>
          <a:p>
            <a:pPr>
              <a:buFont typeface="+mj-lt"/>
              <a:buAutoNum type="arabicPeriod"/>
            </a:pPr>
            <a:r>
              <a:rPr lang="en-US" sz="2400" b="1" dirty="0">
                <a:latin typeface="Roboto" panose="02000000000000000000" pitchFamily="2" charset="0"/>
              </a:rPr>
              <a:t>Connection Beyond Distance</a:t>
            </a:r>
            <a:r>
              <a:rPr lang="en-US" sz="2400" dirty="0">
                <a:latin typeface="Roboto" panose="02000000000000000000" pitchFamily="2" charset="0"/>
              </a:rPr>
              <a:t>: If two particles are entangled, measuring a property (like spin or polarization) of one particle immediately determines the corresponding property of the    other, even if they are light-years apart.</a:t>
            </a:r>
          </a:p>
          <a:p>
            <a:pPr>
              <a:buFont typeface="+mj-lt"/>
              <a:buAutoNum type="arabicPeriod"/>
            </a:pPr>
            <a:r>
              <a:rPr lang="en-US" sz="2400" b="1" dirty="0">
                <a:latin typeface="Roboto" panose="02000000000000000000" pitchFamily="2" charset="0"/>
              </a:rPr>
              <a:t>Shared Quantum State</a:t>
            </a:r>
            <a:r>
              <a:rPr lang="en-US" sz="2400" dirty="0">
                <a:latin typeface="Roboto" panose="02000000000000000000" pitchFamily="2" charset="0"/>
              </a:rPr>
              <a:t>: Entangled particles share a </a:t>
            </a:r>
            <a:r>
              <a:rPr lang="en-US" sz="2400" b="1" dirty="0">
                <a:latin typeface="Roboto" panose="02000000000000000000" pitchFamily="2" charset="0"/>
              </a:rPr>
              <a:t>single quantum state</a:t>
            </a:r>
            <a:r>
              <a:rPr lang="en-US" sz="2400" dirty="0">
                <a:latin typeface="Roboto" panose="02000000000000000000" pitchFamily="2" charset="0"/>
              </a:rPr>
              <a:t>. They cannot be  described independently; their properties are linked.</a:t>
            </a:r>
          </a:p>
          <a:p>
            <a:pPr>
              <a:buFont typeface="+mj-lt"/>
              <a:buAutoNum type="arabicPeriod"/>
            </a:pPr>
            <a:r>
              <a:rPr lang="en-US" sz="2400" b="1" dirty="0">
                <a:latin typeface="Roboto" panose="02000000000000000000" pitchFamily="2" charset="0"/>
              </a:rPr>
              <a:t>Counterintuitive Behavior</a:t>
            </a:r>
            <a:r>
              <a:rPr lang="en-US" sz="2400" dirty="0">
                <a:latin typeface="Roboto" panose="02000000000000000000" pitchFamily="2" charset="0"/>
              </a:rPr>
              <a:t>: This seems to </a:t>
            </a:r>
            <a:r>
              <a:rPr lang="en-US" sz="2400" b="1" dirty="0">
                <a:latin typeface="Roboto" panose="02000000000000000000" pitchFamily="2" charset="0"/>
              </a:rPr>
              <a:t>violate common sense</a:t>
            </a:r>
            <a:r>
              <a:rPr lang="en-US" sz="2400" dirty="0">
                <a:latin typeface="Roboto" panose="02000000000000000000" pitchFamily="2" charset="0"/>
              </a:rPr>
              <a:t>, because the effect is         instantaneous. However, it does </a:t>
            </a:r>
            <a:r>
              <a:rPr lang="en-US" sz="2400" b="1" dirty="0">
                <a:latin typeface="Roboto" panose="02000000000000000000" pitchFamily="2" charset="0"/>
              </a:rPr>
              <a:t>not allow faster-than-light communication</a:t>
            </a:r>
            <a:r>
              <a:rPr lang="en-US" sz="2400" dirty="0">
                <a:latin typeface="Roboto" panose="02000000000000000000" pitchFamily="2" charset="0"/>
              </a:rPr>
              <a:t>, but it does challenge classical ideas of locality.</a:t>
            </a:r>
          </a:p>
          <a:p>
            <a:endParaRPr lang="en-US" sz="2400" dirty="0"/>
          </a:p>
        </p:txBody>
      </p:sp>
      <p:sp>
        <p:nvSpPr>
          <p:cNvPr id="4" name="Slide Number Placeholder 3">
            <a:extLst>
              <a:ext uri="{FF2B5EF4-FFF2-40B4-BE49-F238E27FC236}">
                <a16:creationId xmlns:a16="http://schemas.microsoft.com/office/drawing/2014/main" id="{56C653AD-52DD-3827-EA3A-AF9DD551FB0B}"/>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732119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5737A-9E17-5353-2847-AEBCE9475DB2}"/>
              </a:ext>
            </a:extLst>
          </p:cNvPr>
          <p:cNvSpPr>
            <a:spLocks noGrp="1"/>
          </p:cNvSpPr>
          <p:nvPr>
            <p:ph type="title"/>
          </p:nvPr>
        </p:nvSpPr>
        <p:spPr>
          <a:xfrm>
            <a:off x="989704" y="136673"/>
            <a:ext cx="9007736" cy="914400"/>
          </a:xfrm>
        </p:spPr>
        <p:txBody>
          <a:bodyPr/>
          <a:lstStyle/>
          <a:p>
            <a:r>
              <a:rPr lang="en-US" dirty="0"/>
              <a:t>The CNOT Gate (The  XNOT  gate)</a:t>
            </a:r>
          </a:p>
        </p:txBody>
      </p:sp>
      <p:sp>
        <p:nvSpPr>
          <p:cNvPr id="3" name="Content Placeholder 2">
            <a:extLst>
              <a:ext uri="{FF2B5EF4-FFF2-40B4-BE49-F238E27FC236}">
                <a16:creationId xmlns:a16="http://schemas.microsoft.com/office/drawing/2014/main" id="{23F2101E-9DB3-54B8-7E2D-9243D56971F0}"/>
              </a:ext>
            </a:extLst>
          </p:cNvPr>
          <p:cNvSpPr>
            <a:spLocks noGrp="1"/>
          </p:cNvSpPr>
          <p:nvPr>
            <p:ph sz="quarter" idx="10"/>
          </p:nvPr>
        </p:nvSpPr>
        <p:spPr>
          <a:xfrm>
            <a:off x="176785" y="1301676"/>
            <a:ext cx="11838432" cy="5077610"/>
          </a:xfrm>
        </p:spPr>
        <p:txBody>
          <a:bodyPr>
            <a:normAutofit/>
          </a:bodyPr>
          <a:lstStyle/>
          <a:p>
            <a:r>
              <a:rPr lang="en-US" sz="2400" dirty="0">
                <a:latin typeface="Abadi" panose="020B0604020104020204" pitchFamily="34" charset="0"/>
              </a:rPr>
              <a:t>As we are going to see in a while, Entanglement is implemented using the two-qubit</a:t>
            </a:r>
          </a:p>
          <a:p>
            <a:r>
              <a:rPr lang="en-US" sz="2400" dirty="0">
                <a:latin typeface="Abadi" panose="020B0604020104020204" pitchFamily="34" charset="0"/>
              </a:rPr>
              <a:t>In the first two diagrams, the first qubit in the control gate, while the lower is the target gate </a:t>
            </a:r>
          </a:p>
          <a:p>
            <a:r>
              <a:rPr lang="en-US" sz="2400" dirty="0">
                <a:latin typeface="Abadi" panose="020B0604020104020204" pitchFamily="34" charset="0"/>
              </a:rPr>
              <a:t>In the third diagram, the lower qubit is the control gate, while the upper is the target</a:t>
            </a:r>
          </a:p>
          <a:p>
            <a:endParaRPr lang="en-US" dirty="0">
              <a:latin typeface="Abadi" panose="020B0604020104020204" pitchFamily="34" charset="0"/>
            </a:endParaRPr>
          </a:p>
          <a:p>
            <a:endParaRPr lang="en-US" dirty="0">
              <a:latin typeface="Abadi" panose="020B0604020104020204" pitchFamily="34" charset="0"/>
            </a:endParaRPr>
          </a:p>
          <a:p>
            <a:endParaRPr lang="en-US" dirty="0">
              <a:latin typeface="Abadi" panose="020B0604020104020204" pitchFamily="34" charset="0"/>
            </a:endParaRPr>
          </a:p>
          <a:p>
            <a:endParaRPr lang="en-US" dirty="0">
              <a:latin typeface="Abadi" panose="020B0604020104020204" pitchFamily="34" charset="0"/>
            </a:endParaRPr>
          </a:p>
          <a:p>
            <a:r>
              <a:rPr lang="en-US" dirty="0">
                <a:latin typeface="Abadi" panose="020B0604020104020204" pitchFamily="34" charset="0"/>
              </a:rPr>
              <a:t>We have seen the unitary representation of the X gate before</a:t>
            </a:r>
          </a:p>
          <a:p>
            <a:r>
              <a:rPr lang="en-US" dirty="0">
                <a:latin typeface="Abadi" panose="020B0604020104020204" pitchFamily="34" charset="0"/>
              </a:rPr>
              <a:t>Here the CNOT gate flips the output of the target qubit if the state of the first qubit is |0&gt;, other wise it leaves the state of the target qubit s is</a:t>
            </a:r>
          </a:p>
        </p:txBody>
      </p:sp>
      <p:sp>
        <p:nvSpPr>
          <p:cNvPr id="4" name="Slide Number Placeholder 3">
            <a:extLst>
              <a:ext uri="{FF2B5EF4-FFF2-40B4-BE49-F238E27FC236}">
                <a16:creationId xmlns:a16="http://schemas.microsoft.com/office/drawing/2014/main" id="{873242D8-6F01-5AFE-E788-BC7D067680AE}"/>
              </a:ext>
            </a:extLst>
          </p:cNvPr>
          <p:cNvSpPr>
            <a:spLocks noGrp="1"/>
          </p:cNvSpPr>
          <p:nvPr>
            <p:ph type="sldNum" sz="quarter" idx="4"/>
          </p:nvPr>
        </p:nvSpPr>
        <p:spPr/>
        <p:txBody>
          <a:bodyPr/>
          <a:lstStyle/>
          <a:p>
            <a:fld id="{58FB4751-880F-D840-AAA9-3A15815CC996}" type="slidenum">
              <a:rPr lang="en-US" smtClean="0"/>
              <a:pPr/>
              <a:t>6</a:t>
            </a:fld>
            <a:endParaRPr lang="en-US" dirty="0"/>
          </a:p>
        </p:txBody>
      </p:sp>
      <p:pic>
        <p:nvPicPr>
          <p:cNvPr id="5" name="Picture 2" descr=" ">
            <a:extLst>
              <a:ext uri="{FF2B5EF4-FFF2-40B4-BE49-F238E27FC236}">
                <a16:creationId xmlns:a16="http://schemas.microsoft.com/office/drawing/2014/main" id="{D2BA22BA-1550-8671-EACE-E50277C51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685" y="3185268"/>
            <a:ext cx="1554887" cy="11355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X ">
            <a:extLst>
              <a:ext uri="{FF2B5EF4-FFF2-40B4-BE49-F238E27FC236}">
                <a16:creationId xmlns:a16="http://schemas.microsoft.com/office/drawing/2014/main" id="{8F767B39-A894-39B1-BF5A-B1D2E74B0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809" y="3185268"/>
            <a:ext cx="1504291" cy="11355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 ">
            <a:extLst>
              <a:ext uri="{FF2B5EF4-FFF2-40B4-BE49-F238E27FC236}">
                <a16:creationId xmlns:a16="http://schemas.microsoft.com/office/drawing/2014/main" id="{3C98D0EE-44C3-D8AD-6D6A-36AF3E16D5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639" y="3272685"/>
            <a:ext cx="1543695" cy="1135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48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96F3-57C2-2675-6FB2-9B5243B1809A}"/>
              </a:ext>
            </a:extLst>
          </p:cNvPr>
          <p:cNvSpPr>
            <a:spLocks noGrp="1"/>
          </p:cNvSpPr>
          <p:nvPr>
            <p:ph type="title"/>
          </p:nvPr>
        </p:nvSpPr>
        <p:spPr>
          <a:xfrm>
            <a:off x="1198179" y="273269"/>
            <a:ext cx="8671034" cy="914400"/>
          </a:xfrm>
        </p:spPr>
        <p:txBody>
          <a:bodyPr/>
          <a:lstStyle/>
          <a:p>
            <a:r>
              <a:rPr lang="en-US" dirty="0"/>
              <a:t>Circuit Implementation of Entanglement </a:t>
            </a:r>
          </a:p>
        </p:txBody>
      </p:sp>
      <p:sp>
        <p:nvSpPr>
          <p:cNvPr id="3" name="Content Placeholder 2">
            <a:extLst>
              <a:ext uri="{FF2B5EF4-FFF2-40B4-BE49-F238E27FC236}">
                <a16:creationId xmlns:a16="http://schemas.microsoft.com/office/drawing/2014/main" id="{0C115F5D-75D9-F936-8C7B-346E9A5005B1}"/>
              </a:ext>
            </a:extLst>
          </p:cNvPr>
          <p:cNvSpPr>
            <a:spLocks noGrp="1"/>
          </p:cNvSpPr>
          <p:nvPr>
            <p:ph sz="quarter" idx="10"/>
          </p:nvPr>
        </p:nvSpPr>
        <p:spPr>
          <a:xfrm>
            <a:off x="176785" y="1397877"/>
            <a:ext cx="11678142" cy="5276192"/>
          </a:xfrm>
        </p:spPr>
        <p:txBody>
          <a:bodyPr/>
          <a:lstStyle/>
          <a:p>
            <a:r>
              <a:rPr lang="en-US" sz="2400" dirty="0">
                <a:latin typeface="Abadi" panose="020B0604020104020204" pitchFamily="34" charset="0"/>
              </a:rPr>
              <a:t>As apparent from the diagram below, Entanglement is implemented using the Hadamard gate, followed by the cross-qubit CNOT Gate</a:t>
            </a:r>
          </a:p>
          <a:p>
            <a:r>
              <a:rPr lang="en-US" sz="2400" dirty="0">
                <a:latin typeface="Abadi" panose="020B0604020104020204" pitchFamily="34" charset="0"/>
              </a:rPr>
              <a:t>The Hadamard gate   puts the first qubit in superposition mode, while the CNOT gate controls  the output of the second qubit to provide a shared entanglement state </a:t>
            </a:r>
          </a:p>
          <a:p>
            <a:pPr marL="0" indent="0">
              <a:buNone/>
            </a:pPr>
            <a:endParaRPr lang="en-US" dirty="0"/>
          </a:p>
        </p:txBody>
      </p:sp>
      <p:sp>
        <p:nvSpPr>
          <p:cNvPr id="4" name="Slide Number Placeholder 3">
            <a:extLst>
              <a:ext uri="{FF2B5EF4-FFF2-40B4-BE49-F238E27FC236}">
                <a16:creationId xmlns:a16="http://schemas.microsoft.com/office/drawing/2014/main" id="{6CEE1EE5-1738-475A-6CD0-B4B41BBAAFFA}"/>
              </a:ext>
            </a:extLst>
          </p:cNvPr>
          <p:cNvSpPr>
            <a:spLocks noGrp="1"/>
          </p:cNvSpPr>
          <p:nvPr>
            <p:ph type="sldNum" sz="quarter" idx="4"/>
          </p:nvPr>
        </p:nvSpPr>
        <p:spPr/>
        <p:txBody>
          <a:bodyPr/>
          <a:lstStyle/>
          <a:p>
            <a:fld id="{58FB4751-880F-D840-AAA9-3A15815CC996}" type="slidenum">
              <a:rPr lang="en-US" smtClean="0"/>
              <a:pPr/>
              <a:t>7</a:t>
            </a:fld>
            <a:endParaRPr lang="en-US" dirty="0"/>
          </a:p>
        </p:txBody>
      </p:sp>
      <p:pic>
        <p:nvPicPr>
          <p:cNvPr id="5" name="Picture 2" descr="Ket kappa in ket 0 enters an H, then is the control on a CX with target ket tau. The result is ket psi 0.">
            <a:extLst>
              <a:ext uri="{FF2B5EF4-FFF2-40B4-BE49-F238E27FC236}">
                <a16:creationId xmlns:a16="http://schemas.microsoft.com/office/drawing/2014/main" id="{FECCD0A8-5690-14AE-BF40-336206918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6571" y="3449765"/>
            <a:ext cx="6457725" cy="327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38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201B-B938-3721-0D17-3F02B0743A58}"/>
              </a:ext>
            </a:extLst>
          </p:cNvPr>
          <p:cNvSpPr>
            <a:spLocks noGrp="1"/>
          </p:cNvSpPr>
          <p:nvPr>
            <p:ph type="title"/>
          </p:nvPr>
        </p:nvSpPr>
        <p:spPr>
          <a:xfrm>
            <a:off x="932247" y="0"/>
            <a:ext cx="9707066" cy="914400"/>
          </a:xfrm>
        </p:spPr>
        <p:txBody>
          <a:bodyPr/>
          <a:lstStyle/>
          <a:p>
            <a:r>
              <a:rPr lang="en-US" sz="2800" b="1" dirty="0"/>
              <a:t>Important Note:</a:t>
            </a:r>
            <a:r>
              <a:rPr lang="en-US" sz="2800" dirty="0"/>
              <a:t> Two-qubit states are tensor products of the individual qubit states </a:t>
            </a:r>
          </a:p>
        </p:txBody>
      </p:sp>
      <p:sp>
        <p:nvSpPr>
          <p:cNvPr id="3" name="Content Placeholder 2">
            <a:extLst>
              <a:ext uri="{FF2B5EF4-FFF2-40B4-BE49-F238E27FC236}">
                <a16:creationId xmlns:a16="http://schemas.microsoft.com/office/drawing/2014/main" id="{80C1CBC2-CCD9-2571-7FB8-A8A05EEF7C33}"/>
              </a:ext>
            </a:extLst>
          </p:cNvPr>
          <p:cNvSpPr>
            <a:spLocks noGrp="1"/>
          </p:cNvSpPr>
          <p:nvPr>
            <p:ph sz="quarter" idx="10"/>
          </p:nvPr>
        </p:nvSpPr>
        <p:spPr>
          <a:xfrm>
            <a:off x="176784" y="1043493"/>
            <a:ext cx="11838431" cy="5814508"/>
          </a:xfrm>
        </p:spPr>
        <p:txBody>
          <a:bodyPr>
            <a:normAutofit/>
          </a:bodyPr>
          <a:lstStyle/>
          <a:p>
            <a:r>
              <a:rPr lang="en-US" sz="2400" dirty="0">
                <a:latin typeface="Abadi" panose="020B0604020104020204" pitchFamily="34" charset="0"/>
              </a:rPr>
              <a:t> The tensor product of two one-qubit states always yields a two-qubit state.</a:t>
            </a:r>
          </a:p>
          <a:p>
            <a:r>
              <a:rPr lang="en-US" sz="2400" dirty="0">
                <a:latin typeface="Abadi" panose="020B0604020104020204" pitchFamily="34" charset="0"/>
              </a:rPr>
              <a:t> Such states, which can be decomposed as the tensor product of other states, are said to be product states.  For example, |00⟩ is a product state because its just a shortened way of writing |0⟩⊗|0⟩. </a:t>
            </a:r>
          </a:p>
          <a:p>
            <a:r>
              <a:rPr lang="en-US" sz="2400" dirty="0">
                <a:latin typeface="Abadi" panose="020B0604020104020204" pitchFamily="34" charset="0"/>
              </a:rPr>
              <a:t>Likewise, the following state is also a product state</a:t>
            </a:r>
          </a:p>
          <a:p>
            <a:endParaRPr lang="en-US" sz="2400" dirty="0">
              <a:latin typeface="Abadi" panose="020B0604020104020204" pitchFamily="34" charset="0"/>
            </a:endParaRPr>
          </a:p>
          <a:p>
            <a:endParaRPr lang="en-US" sz="2400" dirty="0">
              <a:latin typeface="Abadi" panose="020B0604020104020204" pitchFamily="34" charset="0"/>
            </a:endParaRPr>
          </a:p>
          <a:p>
            <a:pPr marL="0" indent="0">
              <a:buNone/>
            </a:pPr>
            <a:r>
              <a:rPr lang="en-US" sz="2400" dirty="0">
                <a:latin typeface="Abadi" panose="020B0604020104020204" pitchFamily="34" charset="0"/>
              </a:rPr>
              <a:t>is also a product state, because it is equal to |+ ⟩|+ ⟩. </a:t>
            </a:r>
          </a:p>
          <a:p>
            <a:pPr marL="0" indent="0">
              <a:buNone/>
            </a:pPr>
            <a:r>
              <a:rPr lang="en-US" sz="2400" dirty="0">
                <a:latin typeface="Abadi" panose="020B0604020104020204" pitchFamily="34" charset="0"/>
              </a:rPr>
              <a:t>Similarly, the state below is a product state</a:t>
            </a:r>
          </a:p>
          <a:p>
            <a:pPr marL="0" indent="0">
              <a:buNone/>
            </a:pPr>
            <a:r>
              <a:rPr lang="en-US" sz="2400" dirty="0">
                <a:latin typeface="Abadi" panose="020B0604020104020204" pitchFamily="34" charset="0"/>
              </a:rPr>
              <a:t>which is the same state as |0⟩|+ ⟩.</a:t>
            </a:r>
          </a:p>
          <a:p>
            <a:pPr marL="0" indent="0">
              <a:buNone/>
            </a:pPr>
            <a:endParaRPr lang="en-US" sz="2400" dirty="0">
              <a:latin typeface="Abadi" panose="020B0604020104020204" pitchFamily="34" charset="0"/>
            </a:endParaRPr>
          </a:p>
          <a:p>
            <a:pPr marL="0" indent="0">
              <a:buNone/>
            </a:pPr>
            <a:r>
              <a:rPr lang="en-US" sz="2400" b="1" dirty="0">
                <a:latin typeface="Abadi" panose="020B0604020104020204" pitchFamily="34" charset="0"/>
              </a:rPr>
              <a:t>One Exception is the Entanglement State: cannot be obtained as a product state</a:t>
            </a:r>
          </a:p>
        </p:txBody>
      </p:sp>
      <p:sp>
        <p:nvSpPr>
          <p:cNvPr id="4" name="Slide Number Placeholder 3">
            <a:extLst>
              <a:ext uri="{FF2B5EF4-FFF2-40B4-BE49-F238E27FC236}">
                <a16:creationId xmlns:a16="http://schemas.microsoft.com/office/drawing/2014/main" id="{0B6792E6-2B1B-428B-14FE-620139518D70}"/>
              </a:ext>
            </a:extLst>
          </p:cNvPr>
          <p:cNvSpPr>
            <a:spLocks noGrp="1"/>
          </p:cNvSpPr>
          <p:nvPr>
            <p:ph type="sldNum" sz="quarter" idx="4"/>
          </p:nvPr>
        </p:nvSpPr>
        <p:spPr/>
        <p:txBody>
          <a:bodyPr/>
          <a:lstStyle/>
          <a:p>
            <a:fld id="{58FB4751-880F-D840-AAA9-3A15815CC996}" type="slidenum">
              <a:rPr lang="en-US" smtClean="0"/>
              <a:pPr/>
              <a:t>8</a:t>
            </a:fld>
            <a:endParaRPr lang="en-US" dirty="0"/>
          </a:p>
        </p:txBody>
      </p:sp>
      <p:pic>
        <p:nvPicPr>
          <p:cNvPr id="5136" name="Picture 16" descr="-1- √2-(|00⟩ + |01⟩), ">
            <a:extLst>
              <a:ext uri="{FF2B5EF4-FFF2-40B4-BE49-F238E27FC236}">
                <a16:creationId xmlns:a16="http://schemas.microsoft.com/office/drawing/2014/main" id="{DFD4E2F1-2A51-F810-18D5-64032CD16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8873" y="4489457"/>
            <a:ext cx="2636259" cy="824952"/>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descr="1(|00 ⟩+ |01⟩+ |10⟩+ |11⟩) 2 ">
            <a:extLst>
              <a:ext uri="{FF2B5EF4-FFF2-40B4-BE49-F238E27FC236}">
                <a16:creationId xmlns:a16="http://schemas.microsoft.com/office/drawing/2014/main" id="{D290A5F2-D287-1E97-CF45-444439DE0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0708" y="3087182"/>
            <a:ext cx="4101810" cy="683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86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6A06-D4CA-F833-1F35-1EC32E1D4367}"/>
              </a:ext>
            </a:extLst>
          </p:cNvPr>
          <p:cNvSpPr>
            <a:spLocks noGrp="1"/>
          </p:cNvSpPr>
          <p:nvPr>
            <p:ph type="title"/>
          </p:nvPr>
        </p:nvSpPr>
        <p:spPr>
          <a:xfrm>
            <a:off x="1000125" y="82298"/>
            <a:ext cx="7534656" cy="794002"/>
          </a:xfrm>
        </p:spPr>
        <p:txBody>
          <a:bodyPr/>
          <a:lstStyle/>
          <a:p>
            <a:r>
              <a:rPr lang="en-US" dirty="0"/>
              <a:t>The CNOT Gate</a:t>
            </a:r>
          </a:p>
        </p:txBody>
      </p:sp>
      <p:sp>
        <p:nvSpPr>
          <p:cNvPr id="3" name="Content Placeholder 2">
            <a:extLst>
              <a:ext uri="{FF2B5EF4-FFF2-40B4-BE49-F238E27FC236}">
                <a16:creationId xmlns:a16="http://schemas.microsoft.com/office/drawing/2014/main" id="{A546E1B8-242E-C297-623E-FA4CA2F423F9}"/>
              </a:ext>
            </a:extLst>
          </p:cNvPr>
          <p:cNvSpPr>
            <a:spLocks noGrp="1"/>
          </p:cNvSpPr>
          <p:nvPr>
            <p:ph sz="quarter" idx="10"/>
          </p:nvPr>
        </p:nvSpPr>
        <p:spPr>
          <a:xfrm>
            <a:off x="352425" y="996698"/>
            <a:ext cx="11563350" cy="5779005"/>
          </a:xfrm>
        </p:spPr>
        <p:txBody>
          <a:bodyPr>
            <a:normAutofit fontScale="92500"/>
          </a:bodyPr>
          <a:lstStyle/>
          <a:p>
            <a:pPr marL="0" indent="0">
              <a:buNone/>
            </a:pPr>
            <a:r>
              <a:rPr lang="en-US" sz="2400" dirty="0">
                <a:latin typeface="Abadi" panose="020B0604020104020204" pitchFamily="34" charset="0"/>
              </a:rPr>
              <a:t>The CNOT, controlled-NOT, or controlled-X gate is a two-qubit gate that </a:t>
            </a:r>
            <a:r>
              <a:rPr lang="en-US" sz="2600" b="1" dirty="0">
                <a:latin typeface="Abadi" panose="020B0604020104020204" pitchFamily="34" charset="0"/>
              </a:rPr>
              <a:t>cannot be obtained </a:t>
            </a:r>
            <a:r>
              <a:rPr lang="en-US" sz="2400" dirty="0">
                <a:latin typeface="Abadi" panose="020B0604020104020204" pitchFamily="34" charset="0"/>
              </a:rPr>
              <a:t>as the tensor product of two one-qubit gates. </a:t>
            </a:r>
          </a:p>
          <a:p>
            <a:pPr marL="0" indent="0">
              <a:buNone/>
            </a:pPr>
            <a:r>
              <a:rPr lang="en-US" sz="2400" dirty="0">
                <a:latin typeface="Abadi" panose="020B0604020104020204" pitchFamily="34" charset="0"/>
              </a:rPr>
              <a:t>Its name is derived from the way it acts on the computational basis, which is the following:</a:t>
            </a:r>
          </a:p>
          <a:p>
            <a:pPr marL="0" indent="0">
              <a:buNone/>
            </a:pPr>
            <a:endParaRPr lang="en-US" sz="2400" dirty="0">
              <a:latin typeface="Abadi" panose="020B0604020104020204" pitchFamily="34" charset="0"/>
            </a:endParaRPr>
          </a:p>
          <a:p>
            <a:pPr marL="0" indent="0">
              <a:buNone/>
            </a:pPr>
            <a:r>
              <a:rPr lang="en-US" sz="2400" dirty="0">
                <a:latin typeface="Abadi" panose="020B0604020104020204" pitchFamily="34" charset="0"/>
              </a:rPr>
              <a:t>CNOT |00⟩ = |00⟩, </a:t>
            </a:r>
          </a:p>
          <a:p>
            <a:pPr marL="0" indent="0">
              <a:buNone/>
            </a:pPr>
            <a:r>
              <a:rPr lang="en-US" sz="2400" dirty="0">
                <a:latin typeface="Abadi" panose="020B0604020104020204" pitchFamily="34" charset="0"/>
              </a:rPr>
              <a:t>CNOT |01⟩ = |01⟩, </a:t>
            </a:r>
          </a:p>
          <a:p>
            <a:pPr marL="0" indent="0">
              <a:buNone/>
            </a:pPr>
            <a:r>
              <a:rPr lang="en-US" sz="2400" dirty="0">
                <a:latin typeface="Abadi" panose="020B0604020104020204" pitchFamily="34" charset="0"/>
              </a:rPr>
              <a:t>CNOT |10⟩ = |11⟩, </a:t>
            </a:r>
          </a:p>
          <a:p>
            <a:pPr marL="0" indent="0">
              <a:buNone/>
            </a:pPr>
            <a:r>
              <a:rPr lang="en-US" sz="2400" dirty="0">
                <a:latin typeface="Abadi" panose="020B0604020104020204" pitchFamily="34" charset="0"/>
              </a:rPr>
              <a:t>CNOT |11⟩ = |10⟩. </a:t>
            </a:r>
          </a:p>
          <a:p>
            <a:pPr marL="0" indent="0">
              <a:buNone/>
            </a:pPr>
            <a:r>
              <a:rPr lang="en-US" sz="2400" dirty="0">
                <a:solidFill>
                  <a:srgbClr val="3333FF"/>
                </a:solidFill>
                <a:latin typeface="Abadi" panose="020B0604020104020204" pitchFamily="34" charset="0"/>
              </a:rPr>
              <a:t>As can be observed, the value of the second qubit is reversed (or negated) if and only if the value of the first qubit is 1. </a:t>
            </a:r>
          </a:p>
          <a:p>
            <a:pPr marL="0" indent="0">
              <a:buNone/>
            </a:pPr>
            <a:r>
              <a:rPr lang="en-US" sz="2400" dirty="0">
                <a:latin typeface="Abadi" panose="020B0604020104020204" pitchFamily="34" charset="0"/>
              </a:rPr>
              <a:t>In this way, we can say that the first qubit controls whether an X (also called NOT) gate is applied to the second qubit or not, hence the name of the operation. </a:t>
            </a:r>
          </a:p>
          <a:p>
            <a:pPr marL="0" indent="0">
              <a:buNone/>
            </a:pPr>
            <a:r>
              <a:rPr lang="en-US" sz="2400" dirty="0">
                <a:latin typeface="Abadi" panose="020B0604020104020204" pitchFamily="34" charset="0"/>
              </a:rPr>
              <a:t>Usually, the first qubit is called the control qubit and the second one is called the target qubit. The action on non-basis states is obtained by linearity. Indeed, we have that</a:t>
            </a:r>
          </a:p>
        </p:txBody>
      </p:sp>
      <p:sp>
        <p:nvSpPr>
          <p:cNvPr id="4" name="Slide Number Placeholder 3">
            <a:extLst>
              <a:ext uri="{FF2B5EF4-FFF2-40B4-BE49-F238E27FC236}">
                <a16:creationId xmlns:a16="http://schemas.microsoft.com/office/drawing/2014/main" id="{0FF47873-2043-06EF-61F5-FF5659592596}"/>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3964016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8255-4533-0EEA-C865-BCEAF16A5020}"/>
              </a:ext>
            </a:extLst>
          </p:cNvPr>
          <p:cNvSpPr>
            <a:spLocks noGrp="1"/>
          </p:cNvSpPr>
          <p:nvPr>
            <p:ph type="title"/>
          </p:nvPr>
        </p:nvSpPr>
        <p:spPr>
          <a:xfrm>
            <a:off x="710002" y="76200"/>
            <a:ext cx="10643797" cy="914400"/>
          </a:xfrm>
        </p:spPr>
        <p:txBody>
          <a:bodyPr/>
          <a:lstStyle/>
          <a:p>
            <a:r>
              <a:rPr lang="en-US" dirty="0"/>
              <a:t>Compute the components of the input state |+0⟩ at |</a:t>
            </a:r>
            <a:r>
              <a:rPr lang="en-US" i="1" dirty="0"/>
              <a:t>ψ</a:t>
            </a:r>
            <a:r>
              <a:rPr lang="en-US" b="1" baseline="-25000" dirty="0"/>
              <a:t>0</a:t>
            </a:r>
            <a:r>
              <a:rPr lang="en-US" dirty="0"/>
              <a:t>⟩ </a:t>
            </a:r>
          </a:p>
        </p:txBody>
      </p:sp>
      <p:sp>
        <p:nvSpPr>
          <p:cNvPr id="4" name="Slide Number Placeholder 3">
            <a:extLst>
              <a:ext uri="{FF2B5EF4-FFF2-40B4-BE49-F238E27FC236}">
                <a16:creationId xmlns:a16="http://schemas.microsoft.com/office/drawing/2014/main" id="{AEC3A1C4-8A62-376F-876B-3DFAD1A01162}"/>
              </a:ext>
            </a:extLst>
          </p:cNvPr>
          <p:cNvSpPr>
            <a:spLocks noGrp="1"/>
          </p:cNvSpPr>
          <p:nvPr>
            <p:ph type="sldNum" sz="quarter" idx="4"/>
          </p:nvPr>
        </p:nvSpPr>
        <p:spPr/>
        <p:txBody>
          <a:bodyPr/>
          <a:lstStyle/>
          <a:p>
            <a:fld id="{58FB4751-880F-D840-AAA9-3A15815CC996}" type="slidenum">
              <a:rPr lang="en-US" smtClean="0"/>
              <a:pPr/>
              <a:t>10</a:t>
            </a:fld>
            <a:endParaRPr lang="en-US"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1A6792F6-D8BF-8851-CC98-C37E9B8F8896}"/>
                  </a:ext>
                </a:extLst>
              </p:cNvPr>
              <p:cNvSpPr>
                <a:spLocks noGrp="1"/>
              </p:cNvSpPr>
              <p:nvPr>
                <p:ph sz="quarter" idx="10"/>
              </p:nvPr>
            </p:nvSpPr>
            <p:spPr>
              <a:xfrm>
                <a:off x="591671" y="990601"/>
                <a:ext cx="11026588" cy="5334000"/>
              </a:xfrm>
            </p:spPr>
            <p:txBody>
              <a:bodyPr>
                <a:normAutofit/>
              </a:bodyPr>
              <a:lstStyle/>
              <a:p>
                <a:r>
                  <a:rPr lang="en-US" sz="2800" dirty="0">
                    <a:latin typeface="Abadi" panose="020B0604020104020204" pitchFamily="34" charset="0"/>
                  </a:rPr>
                  <a:t>Compute the input state |+0⟩ at |</a:t>
                </a:r>
                <a:r>
                  <a:rPr lang="en-US" sz="2800" i="1" dirty="0">
                    <a:latin typeface="Abadi" panose="020B0604020104020204" pitchFamily="34" charset="0"/>
                  </a:rPr>
                  <a:t>ψ</a:t>
                </a:r>
                <a:r>
                  <a:rPr lang="en-US" sz="2800" b="1" baseline="-25000" dirty="0">
                    <a:latin typeface="Abadi" panose="020B0604020104020204" pitchFamily="34" charset="0"/>
                  </a:rPr>
                  <a:t>0</a:t>
                </a:r>
                <a:r>
                  <a:rPr lang="en-US" sz="2800" dirty="0">
                    <a:latin typeface="Abadi" panose="020B0604020104020204" pitchFamily="34" charset="0"/>
                  </a:rPr>
                  <a:t>⟩ </a:t>
                </a:r>
              </a:p>
              <a:p>
                <a:pPr marL="0" indent="0">
                  <a:buNone/>
                </a:pPr>
                <a:r>
                  <a:rPr lang="en-US" sz="2800" dirty="0">
                    <a:latin typeface="Abadi" panose="020B0604020104020204" pitchFamily="34" charset="0"/>
                  </a:rPr>
                  <a:t>       noting that</a:t>
                </a:r>
                <a:r>
                  <a:rPr lang="en-US" sz="2800" dirty="0"/>
                  <a:t> </a:t>
                </a:r>
                <a14:m>
                  <m:oMath xmlns:m="http://schemas.openxmlformats.org/officeDocument/2006/math">
                    <m:r>
                      <m:rPr>
                        <m:sty m:val="p"/>
                      </m:rPr>
                      <a:rPr lang="en-US" sz="2800" dirty="0">
                        <a:latin typeface="Cambria Math" panose="02040503050406030204" pitchFamily="18" charset="0"/>
                      </a:rPr>
                      <m:t>V</m:t>
                    </m:r>
                    <m:r>
                      <a:rPr lang="en-US" sz="2800" dirty="0">
                        <a:latin typeface="Cambria Math" panose="02040503050406030204" pitchFamily="18" charset="0"/>
                      </a:rPr>
                      <m:t>=</m:t>
                    </m:r>
                    <m:f>
                      <m:fPr>
                        <m:type m:val="lin"/>
                        <m:ctrlPr>
                          <a:rPr lang="en-US" sz="2800" i="1" dirty="0">
                            <a:latin typeface="Cambria Math" panose="02040503050406030204" pitchFamily="18" charset="0"/>
                          </a:rPr>
                        </m:ctrlPr>
                      </m:fPr>
                      <m:num>
                        <m:r>
                          <a:rPr lang="en-US" sz="2800" dirty="0">
                            <a:latin typeface="Cambria Math" panose="02040503050406030204" pitchFamily="18" charset="0"/>
                          </a:rPr>
                          <m:t>1</m:t>
                        </m:r>
                      </m:num>
                      <m:den>
                        <m:rad>
                          <m:radPr>
                            <m:degHide m:val="on"/>
                            <m:ctrlPr>
                              <a:rPr lang="en-US" sz="2800" i="1" dirty="0">
                                <a:latin typeface="Cambria Math" panose="02040503050406030204" pitchFamily="18" charset="0"/>
                              </a:rPr>
                            </m:ctrlPr>
                          </m:radPr>
                          <m:deg/>
                          <m:e>
                            <m:r>
                              <a:rPr lang="en-US" sz="2800" dirty="0">
                                <a:latin typeface="Cambria Math" panose="02040503050406030204" pitchFamily="18" charset="0"/>
                              </a:rPr>
                              <m:t>2</m:t>
                            </m:r>
                          </m:e>
                        </m:rad>
                      </m:den>
                    </m:f>
                  </m:oMath>
                </a14:m>
                <a:endParaRPr lang="en-US" sz="2800" dirty="0">
                  <a:latin typeface="Abadi" panose="020B0604020104020204" pitchFamily="34" charset="0"/>
                </a:endParaRPr>
              </a:p>
              <a:p>
                <a:pPr marL="0" indent="0">
                  <a:buNone/>
                </a:pPr>
                <a:r>
                  <a:rPr lang="en-US" sz="2800" dirty="0">
                    <a:latin typeface="Abadi" panose="020B0604020104020204" pitchFamily="34" charset="0"/>
                  </a:rPr>
                  <a:t>We compute the state at point |</a:t>
                </a:r>
                <a:r>
                  <a:rPr lang="en-US" sz="2800" i="1" dirty="0">
                    <a:latin typeface="Abadi" panose="020B0604020104020204" pitchFamily="34" charset="0"/>
                  </a:rPr>
                  <a:t>ψ</a:t>
                </a:r>
                <a:r>
                  <a:rPr lang="en-US" sz="2800" b="1" baseline="-25000" dirty="0">
                    <a:latin typeface="Abadi" panose="020B0604020104020204" pitchFamily="34" charset="0"/>
                  </a:rPr>
                  <a:t>0</a:t>
                </a:r>
                <a:r>
                  <a:rPr lang="en-US" sz="2800" dirty="0">
                    <a:latin typeface="Abadi" panose="020B0604020104020204" pitchFamily="34" charset="0"/>
                  </a:rPr>
                  <a:t>⟩ in the diagram below:</a:t>
                </a:r>
              </a:p>
              <a:p>
                <a:pPr marL="0" indent="0">
                  <a:buNone/>
                </a:pPr>
                <a:endParaRPr lang="en-US" sz="2800" dirty="0">
                  <a:latin typeface="Abadi" panose="020B0604020104020204" pitchFamily="34" charset="0"/>
                </a:endParaRPr>
              </a:p>
              <a:p>
                <a:pPr marL="0" indent="0">
                  <a:buNone/>
                </a:pPr>
                <a:endParaRPr lang="en-US" sz="2800" dirty="0">
                  <a:latin typeface="Abadi" panose="020B0604020104020204" pitchFamily="34" charset="0"/>
                </a:endParaRPr>
              </a:p>
              <a:p>
                <a:pPr marL="0" indent="0">
                  <a:buNone/>
                </a:pPr>
                <a:endParaRPr lang="en-US" sz="2800" dirty="0">
                  <a:latin typeface="Abadi" panose="020B0604020104020204" pitchFamily="34" charset="0"/>
                </a:endParaRPr>
              </a:p>
              <a:p>
                <a:pPr marL="0" indent="0">
                  <a:buNone/>
                </a:pPr>
                <a:endParaRPr lang="en-US" sz="2800" dirty="0">
                  <a:latin typeface="Abadi" panose="020B0604020104020204" pitchFamily="34" charset="0"/>
                </a:endParaRPr>
              </a:p>
            </p:txBody>
          </p:sp>
        </mc:Choice>
        <mc:Fallback xmlns="">
          <p:sp>
            <p:nvSpPr>
              <p:cNvPr id="6" name="Content Placeholder 5">
                <a:extLst>
                  <a:ext uri="{FF2B5EF4-FFF2-40B4-BE49-F238E27FC236}">
                    <a16:creationId xmlns:a16="http://schemas.microsoft.com/office/drawing/2014/main" id="{1A6792F6-D8BF-8851-CC98-C37E9B8F8896}"/>
                  </a:ext>
                </a:extLst>
              </p:cNvPr>
              <p:cNvSpPr>
                <a:spLocks noGrp="1" noRot="1" noChangeAspect="1" noMove="1" noResize="1" noEditPoints="1" noAdjustHandles="1" noChangeArrowheads="1" noChangeShapeType="1" noTextEdit="1"/>
              </p:cNvSpPr>
              <p:nvPr>
                <p:ph sz="quarter" idx="10"/>
              </p:nvPr>
            </p:nvSpPr>
            <p:spPr>
              <a:xfrm>
                <a:off x="591671" y="990601"/>
                <a:ext cx="11026588" cy="5334000"/>
              </a:xfrm>
              <a:blipFill>
                <a:blip r:embed="rId2"/>
                <a:stretch>
                  <a:fillRect l="-1106" t="-2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CD11533-E0DA-6109-1BE3-5C93DFE75D87}"/>
                  </a:ext>
                </a:extLst>
              </p:cNvPr>
              <p:cNvSpPr txBox="1"/>
              <p:nvPr/>
            </p:nvSpPr>
            <p:spPr>
              <a:xfrm>
                <a:off x="1366221" y="2395225"/>
                <a:ext cx="8638391" cy="14529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0">
                                      <a:latin typeface="Cambria Math" panose="02040503050406030204" pitchFamily="18" charset="0"/>
                                    </a:rPr>
                                    <m:t>0</m:t>
                                  </m:r>
                                </m:sub>
                              </m:sSub>
                            </m:e>
                          </m:d>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1</m:t>
                                </m:r>
                              </m:e>
                            </m:mr>
                          </m:m>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0</m:t>
                                </m:r>
                              </m:e>
                            </m:mr>
                          </m:m>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0</m:t>
                                </m:r>
                              </m:e>
                            </m:mr>
                            <m:mr>
                              <m:e>
                                <m:r>
                                  <a:rPr lang="en-US" sz="2400" i="0">
                                    <a:latin typeface="Cambria Math" panose="02040503050406030204" pitchFamily="18" charset="0"/>
                                  </a:rPr>
                                  <m:t>1</m:t>
                                </m:r>
                              </m:e>
                            </m:mr>
                            <m:mr>
                              <m:e>
                                <m:r>
                                  <a:rPr lang="en-US" sz="2400" i="0">
                                    <a:latin typeface="Cambria Math" panose="02040503050406030204" pitchFamily="18" charset="0"/>
                                  </a:rPr>
                                  <m:t>0</m:t>
                                </m:r>
                              </m:e>
                            </m:mr>
                          </m:m>
                        </m:e>
                      </m:d>
                    </m:oMath>
                  </m:oMathPara>
                </a14:m>
                <a:endParaRPr lang="en-US" sz="2400" dirty="0"/>
              </a:p>
            </p:txBody>
          </p:sp>
        </mc:Choice>
        <mc:Fallback xmlns="">
          <p:sp>
            <p:nvSpPr>
              <p:cNvPr id="8" name="TextBox 7">
                <a:extLst>
                  <a:ext uri="{FF2B5EF4-FFF2-40B4-BE49-F238E27FC236}">
                    <a16:creationId xmlns:a16="http://schemas.microsoft.com/office/drawing/2014/main" id="{CCD11533-E0DA-6109-1BE3-5C93DFE75D87}"/>
                  </a:ext>
                </a:extLst>
              </p:cNvPr>
              <p:cNvSpPr txBox="1">
                <a:spLocks noRot="1" noChangeAspect="1" noMove="1" noResize="1" noEditPoints="1" noAdjustHandles="1" noChangeArrowheads="1" noChangeShapeType="1" noTextEdit="1"/>
              </p:cNvSpPr>
              <p:nvPr/>
            </p:nvSpPr>
            <p:spPr>
              <a:xfrm>
                <a:off x="1366221" y="2395225"/>
                <a:ext cx="8638391" cy="1452962"/>
              </a:xfrm>
              <a:prstGeom prst="rect">
                <a:avLst/>
              </a:prstGeom>
              <a:blipFill>
                <a:blip r:embed="rId3"/>
                <a:stretch>
                  <a:fillRect/>
                </a:stretch>
              </a:blipFill>
            </p:spPr>
            <p:txBody>
              <a:bodyPr/>
              <a:lstStyle/>
              <a:p>
                <a:r>
                  <a:rPr lang="en-US">
                    <a:noFill/>
                  </a:rPr>
                  <a:t> </a:t>
                </a:r>
              </a:p>
            </p:txBody>
          </p:sp>
        </mc:Fallback>
      </mc:AlternateContent>
      <p:pic>
        <p:nvPicPr>
          <p:cNvPr id="9" name="Picture 2" descr="Ket kappa in ket 0 enters an H, then is the control on a CX with target ket tau. The result is ket psi 0.">
            <a:extLst>
              <a:ext uri="{FF2B5EF4-FFF2-40B4-BE49-F238E27FC236}">
                <a16:creationId xmlns:a16="http://schemas.microsoft.com/office/drawing/2014/main" id="{A04FF38C-385B-4165-B65B-96C424D02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564" y="4156177"/>
            <a:ext cx="4550485" cy="2307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000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A371-8A32-3A56-055A-0EF6CE0C8297}"/>
              </a:ext>
            </a:extLst>
          </p:cNvPr>
          <p:cNvSpPr>
            <a:spLocks noGrp="1"/>
          </p:cNvSpPr>
          <p:nvPr>
            <p:ph type="title"/>
          </p:nvPr>
        </p:nvSpPr>
        <p:spPr>
          <a:xfrm>
            <a:off x="710005" y="225910"/>
            <a:ext cx="9315450" cy="914400"/>
          </a:xfrm>
        </p:spPr>
        <p:txBody>
          <a:bodyPr/>
          <a:lstStyle/>
          <a:p>
            <a:r>
              <a:rPr lang="en-US" dirty="0"/>
              <a:t>Compute the CNOT transformation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D4D10C-3CED-64FB-B2FD-A1FBDCC0589C}"/>
                  </a:ext>
                </a:extLst>
              </p:cNvPr>
              <p:cNvSpPr>
                <a:spLocks noGrp="1"/>
              </p:cNvSpPr>
              <p:nvPr>
                <p:ph sz="quarter" idx="10"/>
              </p:nvPr>
            </p:nvSpPr>
            <p:spPr>
              <a:xfrm>
                <a:off x="613187" y="1441525"/>
                <a:ext cx="10875980" cy="5064049"/>
              </a:xfrm>
            </p:spPr>
            <p:txBody>
              <a:bodyPr/>
              <a:lstStyle/>
              <a:p>
                <a:endParaRPr lang="en-US" dirty="0"/>
              </a:p>
              <a:p>
                <a:r>
                  <a:rPr lang="en-US" sz="2400" dirty="0">
                    <a:latin typeface="Abadi" panose="020B0604020104020204" pitchFamily="34" charset="0"/>
                  </a:rPr>
                  <a:t>Compute the CNOT transformation:</a:t>
                </a:r>
              </a:p>
              <a:p>
                <a:pPr marL="0" indent="0">
                  <a:buNone/>
                </a:pPr>
                <a:r>
                  <a:rPr lang="en-US" dirty="0"/>
                  <a:t>  </a:t>
                </a:r>
                <a14:m>
                  <m:oMath xmlns:m="http://schemas.openxmlformats.org/officeDocument/2006/math">
                    <m:r>
                      <m:rPr>
                        <m:sty m:val="p"/>
                      </m:rPr>
                      <a:rPr lang="en-US" b="0" smtClean="0">
                        <a:latin typeface="Cambria Math" panose="02040503050406030204" pitchFamily="18" charset="0"/>
                      </a:rPr>
                      <m:t>V</m:t>
                    </m:r>
                    <m:r>
                      <a:rPr lang="en-US" b="0" i="0" smtClean="0">
                        <a:latin typeface="Cambria Math" panose="02040503050406030204" pitchFamily="18" charset="0"/>
                      </a:rPr>
                      <m:t>=</m:t>
                    </m:r>
                    <m:f>
                      <m:fPr>
                        <m:type m:val="lin"/>
                        <m:ctrlPr>
                          <a:rPr lang="en-US" b="0" i="1" smtClean="0">
                            <a:latin typeface="Cambria Math" panose="02040503050406030204" pitchFamily="18" charset="0"/>
                          </a:rPr>
                        </m:ctrlPr>
                      </m:fPr>
                      <m:num>
                        <m:r>
                          <a:rPr lang="en-US" b="0" i="0"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0" smtClean="0">
                                <a:latin typeface="Cambria Math" panose="02040503050406030204" pitchFamily="18" charset="0"/>
                              </a:rPr>
                              <m:t>2</m:t>
                            </m:r>
                          </m:e>
                        </m:rad>
                      </m:den>
                    </m:f>
                  </m:oMath>
                </a14:m>
                <a:r>
                  <a:rPr lang="en-US" dirty="0"/>
                  <a:t>    </a:t>
                </a:r>
              </a:p>
              <a:p>
                <a:endParaRPr lang="en-US" sz="2800" dirty="0"/>
              </a:p>
              <a:p>
                <a:pPr marL="0" indent="0">
                  <a:buNone/>
                </a:pPr>
                <a:r>
                  <a:rPr lang="en-US" sz="2800" dirty="0"/>
                  <a:t>        </a:t>
                </a:r>
                <a14:m>
                  <m:oMath xmlns:m="http://schemas.openxmlformats.org/officeDocument/2006/math">
                    <m:r>
                      <a:rPr lang="en-US" sz="2800" i="1" dirty="0" smtClean="0">
                        <a:latin typeface="Cambria Math" panose="02040503050406030204" pitchFamily="18" charset="0"/>
                      </a:rPr>
                      <m:t>𝐶𝑋</m:t>
                    </m:r>
                    <m:d>
                      <m:dPr>
                        <m:begChr m:val="|"/>
                        <m:endChr m:val="⟩"/>
                        <m:ctrlPr>
                          <a:rPr lang="en-US" sz="2800" i="1" dirty="0">
                            <a:latin typeface="Cambria Math" panose="02040503050406030204" pitchFamily="18" charset="0"/>
                          </a:rPr>
                        </m:ctrlPr>
                      </m:dPr>
                      <m:e>
                        <m:r>
                          <a:rPr lang="en-US" sz="2800" i="0" dirty="0">
                            <a:latin typeface="Cambria Math" panose="02040503050406030204" pitchFamily="18" charset="0"/>
                          </a:rPr>
                          <m:t>+0</m:t>
                        </m:r>
                      </m:e>
                    </m:d>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m>
                          <m:mPr>
                            <m:plcHide m:val="on"/>
                            <m:mcs>
                              <m:mc>
                                <m:mcPr>
                                  <m:count m:val="4"/>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1</m:t>
                              </m:r>
                            </m:e>
                            <m:e>
                              <m:r>
                                <a:rPr lang="en-US" sz="2800" i="0" dirty="0">
                                  <a:latin typeface="Cambria Math" panose="02040503050406030204" pitchFamily="18" charset="0"/>
                                </a:rPr>
                                <m:t>0</m:t>
                              </m:r>
                            </m:e>
                            <m:e>
                              <m:r>
                                <a:rPr lang="en-US" sz="2800" i="0" dirty="0">
                                  <a:latin typeface="Cambria Math" panose="02040503050406030204" pitchFamily="18" charset="0"/>
                                </a:rPr>
                                <m:t>0</m:t>
                              </m:r>
                            </m:e>
                            <m:e>
                              <m:r>
                                <a:rPr lang="en-US" sz="2800" i="0" dirty="0">
                                  <a:latin typeface="Cambria Math" panose="02040503050406030204" pitchFamily="18" charset="0"/>
                                </a:rPr>
                                <m:t>0</m:t>
                              </m:r>
                            </m:e>
                          </m:mr>
                          <m:mr>
                            <m:e>
                              <m:r>
                                <a:rPr lang="en-US" sz="2800" i="0" dirty="0">
                                  <a:latin typeface="Cambria Math" panose="02040503050406030204" pitchFamily="18" charset="0"/>
                                </a:rPr>
                                <m:t>0</m:t>
                              </m:r>
                            </m:e>
                            <m:e>
                              <m:r>
                                <a:rPr lang="en-US" sz="2800" i="0" dirty="0">
                                  <a:latin typeface="Cambria Math" panose="02040503050406030204" pitchFamily="18" charset="0"/>
                                </a:rPr>
                                <m:t>1</m:t>
                              </m:r>
                            </m:e>
                            <m:e>
                              <m:r>
                                <a:rPr lang="en-US" sz="2800" i="0" dirty="0">
                                  <a:latin typeface="Cambria Math" panose="02040503050406030204" pitchFamily="18" charset="0"/>
                                </a:rPr>
                                <m:t>0</m:t>
                              </m:r>
                            </m:e>
                            <m:e>
                              <m:r>
                                <a:rPr lang="en-US" sz="2800" i="0" dirty="0">
                                  <a:latin typeface="Cambria Math" panose="02040503050406030204" pitchFamily="18" charset="0"/>
                                </a:rPr>
                                <m:t>0</m:t>
                              </m:r>
                            </m:e>
                          </m:mr>
                          <m:mr>
                            <m:e>
                              <m:r>
                                <a:rPr lang="en-US" sz="2800" i="0" dirty="0">
                                  <a:latin typeface="Cambria Math" panose="02040503050406030204" pitchFamily="18" charset="0"/>
                                </a:rPr>
                                <m:t>0</m:t>
                              </m:r>
                            </m:e>
                            <m:e>
                              <m:r>
                                <a:rPr lang="en-US" sz="2800" i="0" dirty="0">
                                  <a:latin typeface="Cambria Math" panose="02040503050406030204" pitchFamily="18" charset="0"/>
                                </a:rPr>
                                <m:t>0</m:t>
                              </m:r>
                            </m:e>
                            <m:e>
                              <m:r>
                                <a:rPr lang="en-US" sz="2800" i="0" dirty="0">
                                  <a:latin typeface="Cambria Math" panose="02040503050406030204" pitchFamily="18" charset="0"/>
                                </a:rPr>
                                <m:t>0</m:t>
                              </m:r>
                            </m:e>
                            <m:e>
                              <m:r>
                                <a:rPr lang="en-US" sz="2800" i="0" dirty="0">
                                  <a:latin typeface="Cambria Math" panose="02040503050406030204" pitchFamily="18" charset="0"/>
                                </a:rPr>
                                <m:t>1</m:t>
                              </m:r>
                            </m:e>
                          </m:mr>
                          <m:mr>
                            <m:e>
                              <m:r>
                                <a:rPr lang="en-US" sz="2800" i="0" dirty="0">
                                  <a:latin typeface="Cambria Math" panose="02040503050406030204" pitchFamily="18" charset="0"/>
                                </a:rPr>
                                <m:t>0</m:t>
                              </m:r>
                            </m:e>
                            <m:e>
                              <m:r>
                                <a:rPr lang="en-US" sz="2800" i="0" dirty="0">
                                  <a:latin typeface="Cambria Math" panose="02040503050406030204" pitchFamily="18" charset="0"/>
                                </a:rPr>
                                <m:t>0</m:t>
                              </m:r>
                            </m:e>
                            <m:e>
                              <m:r>
                                <a:rPr lang="en-US" sz="2800" i="0" dirty="0">
                                  <a:latin typeface="Cambria Math" panose="02040503050406030204" pitchFamily="18" charset="0"/>
                                </a:rPr>
                                <m:t>1</m:t>
                              </m:r>
                            </m:e>
                            <m:e>
                              <m:r>
                                <a:rPr lang="en-US" sz="2800" i="0" dirty="0">
                                  <a:latin typeface="Cambria Math" panose="02040503050406030204" pitchFamily="18" charset="0"/>
                                </a:rPr>
                                <m:t>0</m:t>
                              </m:r>
                            </m:e>
                          </m:mr>
                        </m:m>
                      </m:e>
                    </m:d>
                    <m:d>
                      <m:dPr>
                        <m:ctrlPr>
                          <a:rPr lang="en-US" sz="2800" i="1" dirty="0">
                            <a:latin typeface="Cambria Math" panose="02040503050406030204" pitchFamily="18" charset="0"/>
                          </a:rPr>
                        </m:ctrlPr>
                      </m:dPr>
                      <m:e>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
                          </m:e>
                        </m:d>
                      </m:e>
                    </m:d>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
                      </m:e>
                    </m:d>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r>
                          <a:rPr lang="en-US" sz="2800" i="1" dirty="0">
                            <a:latin typeface="Cambria Math" panose="02040503050406030204" pitchFamily="18" charset="0"/>
                          </a:rPr>
                          <m:t>𝛾</m:t>
                        </m:r>
                      </m:e>
                    </m:d>
                    <m:m>
                      <m:mPr>
                        <m:plcHide m:val="on"/>
                        <m:mcs>
                          <m:mc>
                            <m:mcPr>
                              <m:count m:val="1"/>
                              <m:mcJc m:val="center"/>
                            </m:mcPr>
                          </m:mc>
                        </m:mcs>
                        <m:ctrlPr>
                          <a:rPr lang="en-US" sz="2800" i="1" dirty="0">
                            <a:latin typeface="Cambria Math" panose="02040503050406030204" pitchFamily="18" charset="0"/>
                          </a:rPr>
                        </m:ctrlPr>
                      </m:mPr>
                      <m:mr>
                        <m:e>
                          <m:r>
                            <a:rPr lang="en-US" sz="2800" b="0" i="1" dirty="0">
                              <a:latin typeface="Cambria Math" panose="02040503050406030204" pitchFamily="18" charset="0"/>
                            </a:rPr>
                            <m:t>     </m:t>
                          </m:r>
                        </m:e>
                      </m:mr>
                    </m:m>
                  </m:oMath>
                </a14:m>
                <a:endParaRPr lang="en-US" sz="2800"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4D4D10C-3CED-64FB-B2FD-A1FBDCC0589C}"/>
                  </a:ext>
                </a:extLst>
              </p:cNvPr>
              <p:cNvSpPr>
                <a:spLocks noGrp="1" noRot="1" noChangeAspect="1" noMove="1" noResize="1" noEditPoints="1" noAdjustHandles="1" noChangeArrowheads="1" noChangeShapeType="1" noTextEdit="1"/>
              </p:cNvSpPr>
              <p:nvPr>
                <p:ph sz="quarter" idx="10"/>
              </p:nvPr>
            </p:nvSpPr>
            <p:spPr>
              <a:xfrm>
                <a:off x="613187" y="1441525"/>
                <a:ext cx="10875980" cy="5064049"/>
              </a:xfrm>
              <a:blipFill>
                <a:blip r:embed="rId2"/>
                <a:stretch>
                  <a:fillRect l="-78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E738FAB-8C2E-E95D-6872-ED1A20AB5D8A}"/>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350750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26F17-939C-1161-E08D-921F30FE0A1C}"/>
              </a:ext>
            </a:extLst>
          </p:cNvPr>
          <p:cNvSpPr>
            <a:spLocks noGrp="1"/>
          </p:cNvSpPr>
          <p:nvPr>
            <p:ph type="title"/>
          </p:nvPr>
        </p:nvSpPr>
        <p:spPr/>
        <p:txBody>
          <a:bodyPr/>
          <a:lstStyle/>
          <a:p>
            <a:r>
              <a:rPr lang="en-US" dirty="0"/>
              <a:t>The Value of Gamma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0C69A3-160B-6454-0A86-A26BCE0EE529}"/>
                  </a:ext>
                </a:extLst>
              </p:cNvPr>
              <p:cNvSpPr>
                <a:spLocks noGrp="1"/>
              </p:cNvSpPr>
              <p:nvPr>
                <p:ph sz="quarter" idx="10"/>
              </p:nvPr>
            </p:nvSpPr>
            <p:spPr>
              <a:xfrm>
                <a:off x="914400" y="2039111"/>
                <a:ext cx="9677400" cy="4542663"/>
              </a:xfrm>
            </p:spPr>
            <p:txBody>
              <a:bodyPr/>
              <a:lstStyle/>
              <a:p>
                <a:pPr marL="0" indent="0">
                  <a:buNone/>
                </a:pPr>
                <a:r>
                  <a:rPr lang="en-US" dirty="0"/>
                  <a:t>  </a:t>
                </a:r>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800" i="1" dirty="0" smtClean="0">
                              <a:latin typeface="Cambria Math" panose="02040503050406030204" pitchFamily="18" charset="0"/>
                            </a:rPr>
                          </m:ctrlPr>
                        </m:mPr>
                        <m:mr>
                          <m:e>
                            <m:m>
                              <m:mPr>
                                <m:plcHide m:val="on"/>
                                <m:mcs>
                                  <m:mc>
                                    <m:mcPr>
                                      <m:count m:val="3"/>
                                      <m:mcJc m:val="center"/>
                                    </m:mcPr>
                                  </m:mc>
                                </m:mcs>
                                <m:ctrlPr>
                                  <a:rPr lang="en-US" sz="2800" i="1" dirty="0">
                                    <a:latin typeface="Cambria Math" panose="02040503050406030204" pitchFamily="18" charset="0"/>
                                  </a:rPr>
                                </m:ctrlPr>
                              </m:mPr>
                              <m:mr>
                                <m:e>
                                  <m:d>
                                    <m:dPr>
                                      <m:begChr m:val="|"/>
                                      <m:endChr m:val="⟩"/>
                                      <m:ctrlPr>
                                        <a:rPr lang="en-US" sz="2800" i="1" dirty="0">
                                          <a:latin typeface="Cambria Math" panose="02040503050406030204" pitchFamily="18" charset="0"/>
                                        </a:rPr>
                                      </m:ctrlPr>
                                    </m:dPr>
                                    <m:e>
                                      <m:r>
                                        <a:rPr lang="en-US" sz="2800" i="1" dirty="0">
                                          <a:latin typeface="Cambria Math" panose="02040503050406030204" pitchFamily="18" charset="0"/>
                                        </a:rPr>
                                        <m:t>𝛾</m:t>
                                      </m:r>
                                    </m:e>
                                  </m:d>
                                </m:e>
                                <m:e>
                                  <m:r>
                                    <a:rPr lang="en-US" sz="2800" i="0" dirty="0">
                                      <a:latin typeface="Cambria Math" panose="02040503050406030204" pitchFamily="18" charset="0"/>
                                    </a:rPr>
                                    <m:t>=</m:t>
                                  </m:r>
                                </m:e>
                                <m:e>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
                                    </m:e>
                                  </m:d>
                                  <m:r>
                                    <a:rPr lang="en-US" sz="2800" i="0" dirty="0">
                                      <a:latin typeface="Cambria Math" panose="02040503050406030204" pitchFamily="18" charset="0"/>
                                    </a:rPr>
                                    <m:t>=∨</m:t>
                                  </m:r>
                                  <m:d>
                                    <m:dPr>
                                      <m:ctrlPr>
                                        <a:rPr lang="en-US" sz="2800" i="1" dirty="0">
                                          <a:latin typeface="Cambria Math" panose="02040503050406030204" pitchFamily="18" charset="0"/>
                                        </a:rPr>
                                      </m:ctrlPr>
                                    </m:dPr>
                                    <m:e>
                                      <m:r>
                                        <a:rPr lang="en-US" sz="2800" i="0" dirty="0">
                                          <a:latin typeface="Cambria Math" panose="02040503050406030204" pitchFamily="18" charset="0"/>
                                        </a:rPr>
                                        <m:t>1</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
                                        </m:e>
                                      </m:d>
                                      <m:r>
                                        <a:rPr lang="en-US" sz="2800" i="0" dirty="0">
                                          <a:latin typeface="Cambria Math" panose="02040503050406030204" pitchFamily="18" charset="0"/>
                                        </a:rPr>
                                        <m:t>+0</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
                                        </m:e>
                                      </m:d>
                                      <m:r>
                                        <a:rPr lang="en-US" sz="2800" i="0" dirty="0">
                                          <a:latin typeface="Cambria Math" panose="02040503050406030204" pitchFamily="18" charset="0"/>
                                        </a:rPr>
                                        <m:t>+0</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r>
                                              <m:e>
                                                <m:r>
                                                  <a:rPr lang="en-US" sz="2800" i="0" dirty="0">
                                                    <a:latin typeface="Cambria Math" panose="02040503050406030204" pitchFamily="18" charset="0"/>
                                                  </a:rPr>
                                                  <m:t>0</m:t>
                                                </m:r>
                                              </m:e>
                                            </m:mr>
                                          </m:m>
                                        </m:e>
                                      </m:d>
                                      <m:r>
                                        <a:rPr lang="en-US" sz="2800" i="0" dirty="0">
                                          <a:latin typeface="Cambria Math" panose="02040503050406030204" pitchFamily="18" charset="0"/>
                                        </a:rPr>
                                        <m:t>+1</m:t>
                                      </m:r>
                                      <m:d>
                                        <m:dPr>
                                          <m:begChr m:val="["/>
                                          <m:endChr m:val="]"/>
                                          <m:ctrlPr>
                                            <a:rPr lang="en-US" sz="2800" i="1" dirty="0">
                                              <a:latin typeface="Cambria Math" panose="02040503050406030204" pitchFamily="18" charset="0"/>
                                            </a:rPr>
                                          </m:ctrlPr>
                                        </m:dPr>
                                        <m:e>
                                          <m:m>
                                            <m:mPr>
                                              <m:plcHide m:val="on"/>
                                              <m:mcs>
                                                <m:mc>
                                                  <m:mcPr>
                                                    <m:count m:val="1"/>
                                                    <m:mcJc m:val="center"/>
                                                  </m:mcPr>
                                                </m:mc>
                                              </m:mcs>
                                              <m:ctrlPr>
                                                <a:rPr lang="en-US" sz="2800" i="1" dirty="0">
                                                  <a:latin typeface="Cambria Math" panose="02040503050406030204" pitchFamily="18" charset="0"/>
                                                </a:rPr>
                                              </m:ctrlPr>
                                            </m:mP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0</m:t>
                                                </m:r>
                                              </m:e>
                                            </m:mr>
                                            <m:mr>
                                              <m:e>
                                                <m:r>
                                                  <a:rPr lang="en-US" sz="2800" i="0" dirty="0">
                                                    <a:latin typeface="Cambria Math" panose="02040503050406030204" pitchFamily="18" charset="0"/>
                                                  </a:rPr>
                                                  <m:t>1</m:t>
                                                </m:r>
                                              </m:e>
                                            </m:mr>
                                          </m:m>
                                        </m:e>
                                      </m:d>
                                    </m:e>
                                  </m:d>
                                </m:e>
                              </m:mr>
                              <m:mr>
                                <m:e/>
                                <m:e>
                                  <m:r>
                                    <a:rPr lang="en-US" sz="2800" i="0" dirty="0">
                                      <a:latin typeface="Cambria Math" panose="02040503050406030204" pitchFamily="18" charset="0"/>
                                    </a:rPr>
                                    <m:t>=</m:t>
                                  </m:r>
                                </m:e>
                                <m:e>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r>
                                        <a:rPr lang="en-US" sz="2800" i="0" dirty="0">
                                          <a:latin typeface="Cambria Math" panose="02040503050406030204" pitchFamily="18" charset="0"/>
                                        </a:rPr>
                                        <m:t>00</m:t>
                                      </m:r>
                                    </m:e>
                                  </m:d>
                                  <m:r>
                                    <a:rPr lang="en-US" sz="2800" i="0" dirty="0">
                                      <a:latin typeface="Cambria Math" panose="02040503050406030204" pitchFamily="18" charset="0"/>
                                    </a:rPr>
                                    <m:t>+0</m:t>
                                  </m:r>
                                  <m:d>
                                    <m:dPr>
                                      <m:begChr m:val="|"/>
                                      <m:endChr m:val="⟩"/>
                                      <m:ctrlPr>
                                        <a:rPr lang="en-US" sz="2800" i="1" dirty="0">
                                          <a:latin typeface="Cambria Math" panose="02040503050406030204" pitchFamily="18" charset="0"/>
                                        </a:rPr>
                                      </m:ctrlPr>
                                    </m:dPr>
                                    <m:e>
                                      <m:r>
                                        <a:rPr lang="en-US" sz="2800" i="0" dirty="0">
                                          <a:latin typeface="Cambria Math" panose="02040503050406030204" pitchFamily="18" charset="0"/>
                                        </a:rPr>
                                        <m:t>01</m:t>
                                      </m:r>
                                    </m:e>
                                  </m:d>
                                  <m:r>
                                    <a:rPr lang="en-US" sz="2800" i="0" dirty="0">
                                      <a:latin typeface="Cambria Math" panose="02040503050406030204" pitchFamily="18" charset="0"/>
                                    </a:rPr>
                                    <m:t>+0</m:t>
                                  </m:r>
                                  <m:d>
                                    <m:dPr>
                                      <m:begChr m:val="|"/>
                                      <m:endChr m:val="⟩"/>
                                      <m:ctrlPr>
                                        <a:rPr lang="en-US" sz="2800" i="1" dirty="0">
                                          <a:latin typeface="Cambria Math" panose="02040503050406030204" pitchFamily="18" charset="0"/>
                                        </a:rPr>
                                      </m:ctrlPr>
                                    </m:dPr>
                                    <m:e>
                                      <m:r>
                                        <a:rPr lang="en-US" sz="2800" i="0" dirty="0">
                                          <a:latin typeface="Cambria Math" panose="02040503050406030204" pitchFamily="18" charset="0"/>
                                        </a:rPr>
                                        <m:t>10</m:t>
                                      </m:r>
                                    </m:e>
                                  </m:d>
                                  <m:r>
                                    <a:rPr lang="en-US" sz="2800" i="0" dirty="0">
                                      <a:latin typeface="Cambria Math" panose="02040503050406030204" pitchFamily="18" charset="0"/>
                                    </a:rPr>
                                    <m:t>+∨</m:t>
                                  </m:r>
                                  <m:d>
                                    <m:dPr>
                                      <m:begChr m:val="|"/>
                                      <m:endChr m:val="⟩"/>
                                      <m:ctrlPr>
                                        <a:rPr lang="en-US" sz="2800" i="1" dirty="0">
                                          <a:latin typeface="Cambria Math" panose="02040503050406030204" pitchFamily="18" charset="0"/>
                                        </a:rPr>
                                      </m:ctrlPr>
                                    </m:dPr>
                                    <m:e>
                                      <m:r>
                                        <a:rPr lang="en-US" sz="2800" i="0" dirty="0">
                                          <a:latin typeface="Cambria Math" panose="02040503050406030204" pitchFamily="18" charset="0"/>
                                        </a:rPr>
                                        <m:t>11</m:t>
                                      </m:r>
                                    </m:e>
                                  </m:d>
                                </m:e>
                              </m:mr>
                            </m:m>
                          </m:e>
                          <m:e>
                            <m:r>
                              <a:rPr lang="en-US" sz="2800" b="0" i="1" dirty="0">
                                <a:latin typeface="Cambria Math" panose="02040503050406030204" pitchFamily="18" charset="0"/>
                              </a:rPr>
                              <m:t>     </m:t>
                            </m:r>
                          </m:e>
                        </m:mr>
                      </m:m>
                    </m:oMath>
                  </m:oMathPara>
                </a14:m>
                <a:endParaRPr lang="en-US" sz="2800" dirty="0"/>
              </a:p>
            </p:txBody>
          </p:sp>
        </mc:Choice>
        <mc:Fallback xmlns="">
          <p:sp>
            <p:nvSpPr>
              <p:cNvPr id="3" name="Content Placeholder 2">
                <a:extLst>
                  <a:ext uri="{FF2B5EF4-FFF2-40B4-BE49-F238E27FC236}">
                    <a16:creationId xmlns:a16="http://schemas.microsoft.com/office/drawing/2014/main" id="{3B0C69A3-160B-6454-0A86-A26BCE0EE529}"/>
                  </a:ext>
                </a:extLst>
              </p:cNvPr>
              <p:cNvSpPr>
                <a:spLocks noGrp="1" noRot="1" noChangeAspect="1" noMove="1" noResize="1" noEditPoints="1" noAdjustHandles="1" noChangeArrowheads="1" noChangeShapeType="1" noTextEdit="1"/>
              </p:cNvSpPr>
              <p:nvPr>
                <p:ph sz="quarter" idx="10"/>
              </p:nvPr>
            </p:nvSpPr>
            <p:spPr>
              <a:xfrm>
                <a:off x="914400" y="2039111"/>
                <a:ext cx="9677400" cy="4542663"/>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5A7B4F0-FB2E-7696-9D7E-78CADD196AD7}"/>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3090536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67F1-8105-9FA9-3D72-4B817C6AE5A7}"/>
              </a:ext>
            </a:extLst>
          </p:cNvPr>
          <p:cNvSpPr>
            <a:spLocks noGrp="1"/>
          </p:cNvSpPr>
          <p:nvPr>
            <p:ph type="title"/>
          </p:nvPr>
        </p:nvSpPr>
        <p:spPr>
          <a:xfrm>
            <a:off x="710005" y="172122"/>
            <a:ext cx="9810974" cy="914400"/>
          </a:xfrm>
        </p:spPr>
        <p:txBody>
          <a:bodyPr/>
          <a:lstStyle/>
          <a:p>
            <a:r>
              <a:rPr lang="en-US" dirty="0"/>
              <a:t>The Bell States: Perfect </a:t>
            </a:r>
            <a:r>
              <a:rPr lang="en-US" dirty="0" err="1"/>
              <a:t>Entaglemnt</a:t>
            </a:r>
            <a:endParaRPr lang="en-US" dirty="0"/>
          </a:p>
        </p:txBody>
      </p:sp>
      <p:sp>
        <p:nvSpPr>
          <p:cNvPr id="3" name="Content Placeholder 2">
            <a:extLst>
              <a:ext uri="{FF2B5EF4-FFF2-40B4-BE49-F238E27FC236}">
                <a16:creationId xmlns:a16="http://schemas.microsoft.com/office/drawing/2014/main" id="{662D53AD-87BF-C54A-36B0-31249801B321}"/>
              </a:ext>
            </a:extLst>
          </p:cNvPr>
          <p:cNvSpPr>
            <a:spLocks noGrp="1"/>
          </p:cNvSpPr>
          <p:nvPr>
            <p:ph sz="quarter" idx="10"/>
          </p:nvPr>
        </p:nvSpPr>
        <p:spPr>
          <a:xfrm>
            <a:off x="176784" y="1376978"/>
            <a:ext cx="11656627" cy="5308899"/>
          </a:xfrm>
        </p:spPr>
        <p:txBody>
          <a:bodyPr>
            <a:normAutofit/>
          </a:bodyPr>
          <a:lstStyle/>
          <a:p>
            <a:r>
              <a:rPr lang="en-US" b="1" dirty="0">
                <a:latin typeface="Abadi" panose="020B0604020104020204" pitchFamily="34" charset="0"/>
              </a:rPr>
              <a:t>Bell states</a:t>
            </a:r>
            <a:r>
              <a:rPr lang="en-US" dirty="0">
                <a:latin typeface="Abadi" panose="020B0604020104020204" pitchFamily="34" charset="0"/>
              </a:rPr>
              <a:t> are a specific type of entangled state that are maximally entangled, meaning that the information shared between the two qubits is perfectly correlated. </a:t>
            </a:r>
          </a:p>
          <a:p>
            <a:r>
              <a:rPr lang="en-US" dirty="0">
                <a:latin typeface="Abadi" panose="020B0604020104020204" pitchFamily="34" charset="0"/>
              </a:rPr>
              <a:t>This unique property is crucial for many areas in quantum physics, especially in quantum information    science.</a:t>
            </a:r>
          </a:p>
          <a:p>
            <a:r>
              <a:rPr lang="en-US" dirty="0">
                <a:latin typeface="Abadi" panose="020B0604020104020204" pitchFamily="34" charset="0"/>
              </a:rPr>
              <a:t>In simple terms, if one qubit of a Bell state is measured, the other qubit will immediately show a         corresponding result, no matter how far apart they are. </a:t>
            </a:r>
          </a:p>
          <a:p>
            <a:r>
              <a:rPr lang="en-US" dirty="0">
                <a:latin typeface="Abadi" panose="020B0604020104020204" pitchFamily="34" charset="0"/>
              </a:rPr>
              <a:t>This relationship is what makes Bell states quite fascinating and a key resource for various quantum      technologies.</a:t>
            </a:r>
            <a:br>
              <a:rPr lang="en-US" dirty="0">
                <a:latin typeface="Abadi" panose="020B0604020104020204" pitchFamily="34" charset="0"/>
              </a:rPr>
            </a:br>
            <a:r>
              <a:rPr lang="en-US" dirty="0">
                <a:latin typeface="Abadi" panose="020B0604020104020204" pitchFamily="34" charset="0"/>
              </a:rPr>
              <a:t>The Bell states are a form of entangled and normalized basis vectors, which implies that the overall probability of the particles being in one of the mentioned states is 1. </a:t>
            </a:r>
          </a:p>
          <a:p>
            <a:r>
              <a:rPr lang="en-US" dirty="0">
                <a:latin typeface="Abadi" panose="020B0604020104020204" pitchFamily="34" charset="0"/>
              </a:rPr>
              <a:t>This entanglement means that the measurement outcomes are correlated, and the state of one particle is dependent on the state of the other particles.</a:t>
            </a:r>
          </a:p>
          <a:p>
            <a:r>
              <a:rPr lang="en-US" dirty="0">
                <a:latin typeface="Abadi" panose="020B0604020104020204" pitchFamily="34" charset="0"/>
              </a:rPr>
              <a:t>Understanding the relationship between Bell states and entanglement is useful in analysis of quantum communication, such as superdense coding and quantum teleportation. These mechanisms cannot transmit information faster than the speed of light, a result known as the no-communication theorem</a:t>
            </a:r>
          </a:p>
          <a:p>
            <a:endParaRPr lang="en-US" dirty="0"/>
          </a:p>
        </p:txBody>
      </p:sp>
      <p:sp>
        <p:nvSpPr>
          <p:cNvPr id="4" name="Slide Number Placeholder 3">
            <a:extLst>
              <a:ext uri="{FF2B5EF4-FFF2-40B4-BE49-F238E27FC236}">
                <a16:creationId xmlns:a16="http://schemas.microsoft.com/office/drawing/2014/main" id="{D208C9ED-2C43-E278-842B-D25AA39BD0FB}"/>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3053052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F7F6B-0D2D-89EB-C9F9-B385DC5400D4}"/>
              </a:ext>
            </a:extLst>
          </p:cNvPr>
          <p:cNvSpPr>
            <a:spLocks noGrp="1"/>
          </p:cNvSpPr>
          <p:nvPr>
            <p:ph type="title"/>
          </p:nvPr>
        </p:nvSpPr>
        <p:spPr/>
        <p:txBody>
          <a:bodyPr/>
          <a:lstStyle/>
          <a:p>
            <a:r>
              <a:rPr lang="en-US" dirty="0"/>
              <a:t>Bell States</a:t>
            </a:r>
          </a:p>
        </p:txBody>
      </p:sp>
      <p:sp>
        <p:nvSpPr>
          <p:cNvPr id="3" name="Content Placeholder 2">
            <a:extLst>
              <a:ext uri="{FF2B5EF4-FFF2-40B4-BE49-F238E27FC236}">
                <a16:creationId xmlns:a16="http://schemas.microsoft.com/office/drawing/2014/main" id="{112CFDD8-8A48-66D0-21BE-470A714007B2}"/>
              </a:ext>
            </a:extLst>
          </p:cNvPr>
          <p:cNvSpPr>
            <a:spLocks noGrp="1"/>
          </p:cNvSpPr>
          <p:nvPr>
            <p:ph sz="quarter" idx="10"/>
          </p:nvPr>
        </p:nvSpPr>
        <p:spPr>
          <a:xfrm>
            <a:off x="489527" y="2039112"/>
            <a:ext cx="10547927" cy="4611070"/>
          </a:xfrm>
        </p:spPr>
        <p:txBody>
          <a:bodyPr/>
          <a:lstStyle/>
          <a:p>
            <a:r>
              <a:rPr lang="en-US" sz="2800" dirty="0">
                <a:latin typeface="Abadi" panose="020B0604020104020204" pitchFamily="34" charset="0"/>
              </a:rPr>
              <a:t>Bell states are the four states that can be created when two qubits are maximally entangled. The four states are represented as follows: :</a:t>
            </a:r>
          </a:p>
          <a:p>
            <a:endParaRPr lang="en-US" dirty="0"/>
          </a:p>
          <a:p>
            <a:endParaRPr lang="en-US" dirty="0"/>
          </a:p>
        </p:txBody>
      </p:sp>
      <p:sp>
        <p:nvSpPr>
          <p:cNvPr id="4" name="Slide Number Placeholder 3">
            <a:extLst>
              <a:ext uri="{FF2B5EF4-FFF2-40B4-BE49-F238E27FC236}">
                <a16:creationId xmlns:a16="http://schemas.microsoft.com/office/drawing/2014/main" id="{66507151-A3E4-B1C2-4FE8-7A0E3361FF3F}"/>
              </a:ext>
            </a:extLst>
          </p:cNvPr>
          <p:cNvSpPr>
            <a:spLocks noGrp="1"/>
          </p:cNvSpPr>
          <p:nvPr>
            <p:ph type="sldNum" sz="quarter" idx="4"/>
          </p:nvPr>
        </p:nvSpPr>
        <p:spPr/>
        <p:txBody>
          <a:bodyPr/>
          <a:lstStyle/>
          <a:p>
            <a:fld id="{58FB4751-880F-D840-AAA9-3A15815CC996}" type="slidenum">
              <a:rPr lang="en-US" smtClean="0"/>
              <a:pPr/>
              <a:t>14</a:t>
            </a:fld>
            <a:endParaRPr lang="en-US" dirty="0"/>
          </a:p>
        </p:txBody>
      </p:sp>
      <p:pic>
        <p:nvPicPr>
          <p:cNvPr id="6" name="Picture 5">
            <a:extLst>
              <a:ext uri="{FF2B5EF4-FFF2-40B4-BE49-F238E27FC236}">
                <a16:creationId xmlns:a16="http://schemas.microsoft.com/office/drawing/2014/main" id="{C8075B67-08CC-89B1-330C-0FD045A065A5}"/>
              </a:ext>
            </a:extLst>
          </p:cNvPr>
          <p:cNvPicPr>
            <a:picLocks noChangeAspect="1"/>
          </p:cNvPicPr>
          <p:nvPr/>
        </p:nvPicPr>
        <p:blipFill>
          <a:blip r:embed="rId2"/>
          <a:stretch>
            <a:fillRect/>
          </a:stretch>
        </p:blipFill>
        <p:spPr>
          <a:xfrm>
            <a:off x="2923082" y="3084657"/>
            <a:ext cx="4317167" cy="3589950"/>
          </a:xfrm>
          <a:prstGeom prst="rect">
            <a:avLst/>
          </a:prstGeom>
        </p:spPr>
      </p:pic>
    </p:spTree>
    <p:extLst>
      <p:ext uri="{BB962C8B-B14F-4D97-AF65-F5344CB8AC3E}">
        <p14:creationId xmlns:p14="http://schemas.microsoft.com/office/powerpoint/2010/main" val="1242647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0D43-6CEC-94A2-9409-7C9CEE30FAAD}"/>
              </a:ext>
            </a:extLst>
          </p:cNvPr>
          <p:cNvSpPr>
            <a:spLocks noGrp="1"/>
          </p:cNvSpPr>
          <p:nvPr>
            <p:ph type="title"/>
          </p:nvPr>
        </p:nvSpPr>
        <p:spPr/>
        <p:txBody>
          <a:bodyPr/>
          <a:lstStyle/>
          <a:p>
            <a:r>
              <a:rPr lang="en-US" dirty="0"/>
              <a:t>The First Bell State</a:t>
            </a:r>
          </a:p>
        </p:txBody>
      </p:sp>
      <p:sp>
        <p:nvSpPr>
          <p:cNvPr id="3" name="Content Placeholder 2">
            <a:extLst>
              <a:ext uri="{FF2B5EF4-FFF2-40B4-BE49-F238E27FC236}">
                <a16:creationId xmlns:a16="http://schemas.microsoft.com/office/drawing/2014/main" id="{24561121-73EE-02AE-2A45-2F3BCE8258D2}"/>
              </a:ext>
            </a:extLst>
          </p:cNvPr>
          <p:cNvSpPr>
            <a:spLocks noGrp="1"/>
          </p:cNvSpPr>
          <p:nvPr>
            <p:ph sz="quarter" idx="10"/>
          </p:nvPr>
        </p:nvSpPr>
        <p:spPr>
          <a:xfrm>
            <a:off x="914399" y="2039111"/>
            <a:ext cx="9365673" cy="4736591"/>
          </a:xfrm>
        </p:spPr>
        <p:txBody>
          <a:bodyPr/>
          <a:lstStyle/>
          <a:p>
            <a:r>
              <a:rPr lang="en-US" sz="2400" dirty="0">
                <a:latin typeface="Abadi" panose="020B0604020104020204" pitchFamily="34" charset="0"/>
              </a:rPr>
              <a:t>The first Bell state is incredibly easy to implement as it can be created using a two qubit circuit consisting of a Hadamard gate and CNOT gate found below: </a:t>
            </a:r>
          </a:p>
          <a:p>
            <a:endParaRPr lang="en-US" dirty="0"/>
          </a:p>
          <a:p>
            <a:endParaRPr lang="en-US" dirty="0"/>
          </a:p>
        </p:txBody>
      </p:sp>
      <p:sp>
        <p:nvSpPr>
          <p:cNvPr id="4" name="Slide Number Placeholder 3">
            <a:extLst>
              <a:ext uri="{FF2B5EF4-FFF2-40B4-BE49-F238E27FC236}">
                <a16:creationId xmlns:a16="http://schemas.microsoft.com/office/drawing/2014/main" id="{6426396E-5439-6679-51CB-0DF65DBA5BB3}"/>
              </a:ext>
            </a:extLst>
          </p:cNvPr>
          <p:cNvSpPr>
            <a:spLocks noGrp="1"/>
          </p:cNvSpPr>
          <p:nvPr>
            <p:ph type="sldNum" sz="quarter" idx="4"/>
          </p:nvPr>
        </p:nvSpPr>
        <p:spPr/>
        <p:txBody>
          <a:bodyPr/>
          <a:lstStyle/>
          <a:p>
            <a:fld id="{58FB4751-880F-D840-AAA9-3A15815CC996}" type="slidenum">
              <a:rPr lang="en-US" smtClean="0"/>
              <a:pPr/>
              <a:t>15</a:t>
            </a:fld>
            <a:endParaRPr lang="en-US" dirty="0"/>
          </a:p>
        </p:txBody>
      </p:sp>
      <p:pic>
        <p:nvPicPr>
          <p:cNvPr id="5" name="Picture 4">
            <a:extLst>
              <a:ext uri="{FF2B5EF4-FFF2-40B4-BE49-F238E27FC236}">
                <a16:creationId xmlns:a16="http://schemas.microsoft.com/office/drawing/2014/main" id="{4AFDAD28-F852-50A3-A103-77205F9C81B2}"/>
              </a:ext>
            </a:extLst>
          </p:cNvPr>
          <p:cNvPicPr>
            <a:picLocks noChangeAspect="1"/>
          </p:cNvPicPr>
          <p:nvPr/>
        </p:nvPicPr>
        <p:blipFill>
          <a:blip r:embed="rId2"/>
          <a:stretch>
            <a:fillRect/>
          </a:stretch>
        </p:blipFill>
        <p:spPr>
          <a:xfrm>
            <a:off x="2511136" y="3163543"/>
            <a:ext cx="6309591" cy="3255730"/>
          </a:xfrm>
          <a:prstGeom prst="rect">
            <a:avLst/>
          </a:prstGeom>
        </p:spPr>
      </p:pic>
    </p:spTree>
    <p:extLst>
      <p:ext uri="{BB962C8B-B14F-4D97-AF65-F5344CB8AC3E}">
        <p14:creationId xmlns:p14="http://schemas.microsoft.com/office/powerpoint/2010/main" val="538206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978F-A473-F143-27B7-D17041EF5E71}"/>
              </a:ext>
            </a:extLst>
          </p:cNvPr>
          <p:cNvSpPr>
            <a:spLocks noGrp="1"/>
          </p:cNvSpPr>
          <p:nvPr>
            <p:ph type="title"/>
          </p:nvPr>
        </p:nvSpPr>
        <p:spPr/>
        <p:txBody>
          <a:bodyPr/>
          <a:lstStyle/>
          <a:p>
            <a:r>
              <a:rPr lang="en-US" dirty="0"/>
              <a:t>The First</a:t>
            </a:r>
          </a:p>
        </p:txBody>
      </p:sp>
      <p:sp>
        <p:nvSpPr>
          <p:cNvPr id="3" name="Content Placeholder 2">
            <a:extLst>
              <a:ext uri="{FF2B5EF4-FFF2-40B4-BE49-F238E27FC236}">
                <a16:creationId xmlns:a16="http://schemas.microsoft.com/office/drawing/2014/main" id="{AABC597A-6FE0-DE5C-F6D4-5739BB59C3AB}"/>
              </a:ext>
            </a:extLst>
          </p:cNvPr>
          <p:cNvSpPr>
            <a:spLocks noGrp="1"/>
          </p:cNvSpPr>
          <p:nvPr>
            <p:ph sz="quarter" idx="10"/>
          </p:nvPr>
        </p:nvSpPr>
        <p:spPr>
          <a:xfrm>
            <a:off x="1533237" y="2250773"/>
            <a:ext cx="8307806" cy="3835233"/>
          </a:xfrm>
        </p:spPr>
        <p:txBody>
          <a:bodyPr/>
          <a:lstStyle/>
          <a:p>
            <a:r>
              <a:rPr lang="en-US" sz="2400" dirty="0">
                <a:latin typeface="Abadi" panose="020B0604020104020204" pitchFamily="34" charset="0"/>
              </a:rPr>
              <a:t>The two qubits will be enabled to this value:</a:t>
            </a:r>
          </a:p>
          <a:p>
            <a:endParaRPr lang="en-US" dirty="0"/>
          </a:p>
        </p:txBody>
      </p:sp>
      <p:sp>
        <p:nvSpPr>
          <p:cNvPr id="4" name="Slide Number Placeholder 3">
            <a:extLst>
              <a:ext uri="{FF2B5EF4-FFF2-40B4-BE49-F238E27FC236}">
                <a16:creationId xmlns:a16="http://schemas.microsoft.com/office/drawing/2014/main" id="{78C1C88B-935F-4C22-8F64-048868D42ADE}"/>
              </a:ext>
            </a:extLst>
          </p:cNvPr>
          <p:cNvSpPr>
            <a:spLocks noGrp="1"/>
          </p:cNvSpPr>
          <p:nvPr>
            <p:ph type="sldNum" sz="quarter" idx="4"/>
          </p:nvPr>
        </p:nvSpPr>
        <p:spPr/>
        <p:txBody>
          <a:bodyPr/>
          <a:lstStyle/>
          <a:p>
            <a:fld id="{58FB4751-880F-D840-AAA9-3A15815CC996}" type="slidenum">
              <a:rPr lang="en-US" smtClean="0"/>
              <a:pPr/>
              <a:t>16</a:t>
            </a:fld>
            <a:endParaRPr lang="en-US" dirty="0"/>
          </a:p>
        </p:txBody>
      </p:sp>
      <p:pic>
        <p:nvPicPr>
          <p:cNvPr id="5" name="Picture 4">
            <a:extLst>
              <a:ext uri="{FF2B5EF4-FFF2-40B4-BE49-F238E27FC236}">
                <a16:creationId xmlns:a16="http://schemas.microsoft.com/office/drawing/2014/main" id="{94140E93-EA62-673F-950A-66F5C38C9956}"/>
              </a:ext>
            </a:extLst>
          </p:cNvPr>
          <p:cNvPicPr>
            <a:picLocks noChangeAspect="1"/>
          </p:cNvPicPr>
          <p:nvPr/>
        </p:nvPicPr>
        <p:blipFill>
          <a:blip r:embed="rId2"/>
          <a:stretch>
            <a:fillRect/>
          </a:stretch>
        </p:blipFill>
        <p:spPr>
          <a:xfrm>
            <a:off x="5243512" y="2928937"/>
            <a:ext cx="2911253" cy="1707718"/>
          </a:xfrm>
          <a:prstGeom prst="rect">
            <a:avLst/>
          </a:prstGeom>
        </p:spPr>
      </p:pic>
    </p:spTree>
    <p:extLst>
      <p:ext uri="{BB962C8B-B14F-4D97-AF65-F5344CB8AC3E}">
        <p14:creationId xmlns:p14="http://schemas.microsoft.com/office/powerpoint/2010/main" val="4020359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1BF62-9C87-862C-ABB9-FBE08441323B}"/>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56D0A189-455B-0B87-F1E7-5FB8CD77B064}"/>
              </a:ext>
            </a:extLst>
          </p:cNvPr>
          <p:cNvSpPr>
            <a:spLocks noGrp="1"/>
          </p:cNvSpPr>
          <p:nvPr>
            <p:ph sz="quarter" idx="10"/>
          </p:nvPr>
        </p:nvSpPr>
        <p:spPr/>
        <p:txBody>
          <a:bodyPr/>
          <a:lstStyle/>
          <a:p>
            <a:r>
              <a:rPr lang="en-US" sz="2400" dirty="0">
                <a:latin typeface="Abadi" panose="020B0604020104020204" pitchFamily="34" charset="0"/>
              </a:rPr>
              <a:t>How it works:. Since the circuit consists of two qubits both initialized to |0〉the initial combined state will be:</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E0BE1C3-061D-473B-9905-EEF6097F9440}"/>
              </a:ext>
            </a:extLst>
          </p:cNvPr>
          <p:cNvSpPr>
            <a:spLocks noGrp="1"/>
          </p:cNvSpPr>
          <p:nvPr>
            <p:ph type="sldNum" sz="quarter" idx="4"/>
          </p:nvPr>
        </p:nvSpPr>
        <p:spPr/>
        <p:txBody>
          <a:bodyPr/>
          <a:lstStyle/>
          <a:p>
            <a:fld id="{58FB4751-880F-D840-AAA9-3A15815CC996}" type="slidenum">
              <a:rPr lang="en-US" smtClean="0"/>
              <a:pPr/>
              <a:t>17</a:t>
            </a:fld>
            <a:endParaRPr lang="en-US" dirty="0"/>
          </a:p>
        </p:txBody>
      </p:sp>
      <p:pic>
        <p:nvPicPr>
          <p:cNvPr id="6" name="Picture 5">
            <a:extLst>
              <a:ext uri="{FF2B5EF4-FFF2-40B4-BE49-F238E27FC236}">
                <a16:creationId xmlns:a16="http://schemas.microsoft.com/office/drawing/2014/main" id="{CF4AD527-8C39-5F70-73FC-C6844E43EB2A}"/>
              </a:ext>
            </a:extLst>
          </p:cNvPr>
          <p:cNvPicPr>
            <a:picLocks noChangeAspect="1"/>
          </p:cNvPicPr>
          <p:nvPr/>
        </p:nvPicPr>
        <p:blipFill>
          <a:blip r:embed="rId2"/>
          <a:stretch>
            <a:fillRect/>
          </a:stretch>
        </p:blipFill>
        <p:spPr>
          <a:xfrm>
            <a:off x="3929253" y="3564659"/>
            <a:ext cx="1504950" cy="1409700"/>
          </a:xfrm>
          <a:prstGeom prst="rect">
            <a:avLst/>
          </a:prstGeom>
        </p:spPr>
      </p:pic>
    </p:spTree>
    <p:extLst>
      <p:ext uri="{BB962C8B-B14F-4D97-AF65-F5344CB8AC3E}">
        <p14:creationId xmlns:p14="http://schemas.microsoft.com/office/powerpoint/2010/main" val="3227552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9769A-9408-D091-8FE8-D9050167E492}"/>
              </a:ext>
            </a:extLst>
          </p:cNvPr>
          <p:cNvSpPr>
            <a:spLocks noGrp="1"/>
          </p:cNvSpPr>
          <p:nvPr>
            <p:ph type="title"/>
          </p:nvPr>
        </p:nvSpPr>
        <p:spPr/>
        <p:txBody>
          <a:bodyPr/>
          <a:lstStyle/>
          <a:p>
            <a:r>
              <a:rPr lang="en-US" dirty="0"/>
              <a:t>Expanding Hadamard (not included)</a:t>
            </a:r>
          </a:p>
        </p:txBody>
      </p:sp>
      <p:sp>
        <p:nvSpPr>
          <p:cNvPr id="3" name="Content Placeholder 2">
            <a:extLst>
              <a:ext uri="{FF2B5EF4-FFF2-40B4-BE49-F238E27FC236}">
                <a16:creationId xmlns:a16="http://schemas.microsoft.com/office/drawing/2014/main" id="{69B146CF-1D9F-A968-FCD0-391D70166F09}"/>
              </a:ext>
            </a:extLst>
          </p:cNvPr>
          <p:cNvSpPr>
            <a:spLocks noGrp="1"/>
          </p:cNvSpPr>
          <p:nvPr>
            <p:ph sz="quarter" idx="10"/>
          </p:nvPr>
        </p:nvSpPr>
        <p:spPr>
          <a:xfrm>
            <a:off x="914400" y="2039112"/>
            <a:ext cx="9653666" cy="3356576"/>
          </a:xfrm>
        </p:spPr>
        <p:txBody>
          <a:bodyPr/>
          <a:lstStyle/>
          <a:p>
            <a:r>
              <a:rPr lang="en-US" sz="2400" dirty="0">
                <a:latin typeface="Abadi" panose="020B0604020104020204" pitchFamily="34" charset="0"/>
              </a:rPr>
              <a:t>Now that we have the two qubits </a:t>
            </a:r>
            <a:r>
              <a:rPr lang="en-US" sz="2400" dirty="0" err="1">
                <a:latin typeface="Abadi" panose="020B0604020104020204" pitchFamily="34" charset="0"/>
              </a:rPr>
              <a:t>initialised</a:t>
            </a:r>
            <a:r>
              <a:rPr lang="en-US" sz="2400" dirty="0">
                <a:latin typeface="Abadi" panose="020B0604020104020204" pitchFamily="34" charset="0"/>
              </a:rPr>
              <a:t> we can now apply a Hadamard gate to our control qubit. </a:t>
            </a:r>
          </a:p>
          <a:p>
            <a:r>
              <a:rPr lang="en-US" sz="2400" dirty="0">
                <a:latin typeface="Abadi" panose="020B0604020104020204" pitchFamily="34" charset="0"/>
              </a:rPr>
              <a:t>However there is a problem. How do we apply a Hadamard gate to our control qubit when it is part of a 2 qubit state? </a:t>
            </a:r>
          </a:p>
          <a:p>
            <a:r>
              <a:rPr lang="en-US" sz="2400" dirty="0">
                <a:latin typeface="Abadi" panose="020B0604020104020204" pitchFamily="34" charset="0"/>
              </a:rPr>
              <a:t>The best solution is to expand out the Hadamard gates matrix so that we can apply it to our two qubit state. </a:t>
            </a:r>
          </a:p>
          <a:p>
            <a:r>
              <a:rPr lang="en-US" sz="2400" dirty="0">
                <a:latin typeface="Abadi" panose="020B0604020104020204" pitchFamily="34" charset="0"/>
              </a:rPr>
              <a:t>This can be done by finding the Kronecker product of the Hadamard gate and identity gate</a:t>
            </a:r>
            <a:r>
              <a:rPr lang="en-US" dirty="0">
                <a:latin typeface="Abadi" panose="020B0604020104020204" pitchFamily="34" charset="0"/>
              </a:rPr>
              <a:t>.</a:t>
            </a:r>
          </a:p>
        </p:txBody>
      </p:sp>
      <p:sp>
        <p:nvSpPr>
          <p:cNvPr id="4" name="Slide Number Placeholder 3">
            <a:extLst>
              <a:ext uri="{FF2B5EF4-FFF2-40B4-BE49-F238E27FC236}">
                <a16:creationId xmlns:a16="http://schemas.microsoft.com/office/drawing/2014/main" id="{014E734E-534E-82E6-CBF4-0A62DB0DAAFC}"/>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4138603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DFE50-FB43-B726-78E9-899986B0EBDF}"/>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23CCC108-7CBD-9437-1256-AF43846EC1A3}"/>
              </a:ext>
            </a:extLst>
          </p:cNvPr>
          <p:cNvSpPr>
            <a:spLocks noGrp="1"/>
          </p:cNvSpPr>
          <p:nvPr>
            <p:ph sz="quarter" idx="10"/>
          </p:nvPr>
        </p:nvSpPr>
        <p:spPr>
          <a:xfrm>
            <a:off x="914399" y="2039112"/>
            <a:ext cx="9772073" cy="4352452"/>
          </a:xfrm>
        </p:spPr>
        <p:txBody>
          <a:bodyPr/>
          <a:lstStyle/>
          <a:p>
            <a:r>
              <a:rPr lang="en-US" sz="2400" dirty="0">
                <a:latin typeface="Abadi" panose="020B0604020104020204" pitchFamily="34" charset="0"/>
              </a:rPr>
              <a:t>The Hadamard Gate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latin typeface="Abadi" panose="020B0604020104020204" pitchFamily="34" charset="0"/>
              </a:rPr>
              <a:t>The Identity Gate:</a:t>
            </a:r>
          </a:p>
          <a:p>
            <a:pPr marL="0" indent="0">
              <a:buNone/>
            </a:pPr>
            <a:endParaRPr lang="en-US" dirty="0"/>
          </a:p>
          <a:p>
            <a:pPr marL="0" indent="0">
              <a:buNone/>
            </a:pPr>
            <a:endParaRPr lang="en-US" dirty="0"/>
          </a:p>
          <a:p>
            <a:pPr marL="0" indent="0">
              <a:buNone/>
            </a:pPr>
            <a:r>
              <a:rPr lang="en-US" dirty="0">
                <a:latin typeface="Abadi" panose="020B0604020104020204" pitchFamily="34" charset="0"/>
              </a:rPr>
              <a:t>The Product:   </a:t>
            </a:r>
          </a:p>
        </p:txBody>
      </p:sp>
      <p:sp>
        <p:nvSpPr>
          <p:cNvPr id="4" name="Slide Number Placeholder 3">
            <a:extLst>
              <a:ext uri="{FF2B5EF4-FFF2-40B4-BE49-F238E27FC236}">
                <a16:creationId xmlns:a16="http://schemas.microsoft.com/office/drawing/2014/main" id="{9E1D2D0B-D0BE-7F6E-216C-B9A25BC876ED}"/>
              </a:ext>
            </a:extLst>
          </p:cNvPr>
          <p:cNvSpPr>
            <a:spLocks noGrp="1"/>
          </p:cNvSpPr>
          <p:nvPr>
            <p:ph type="sldNum" sz="quarter" idx="4"/>
          </p:nvPr>
        </p:nvSpPr>
        <p:spPr/>
        <p:txBody>
          <a:bodyPr/>
          <a:lstStyle/>
          <a:p>
            <a:fld id="{58FB4751-880F-D840-AAA9-3A15815CC996}" type="slidenum">
              <a:rPr lang="en-US" smtClean="0"/>
              <a:pPr/>
              <a:t>19</a:t>
            </a:fld>
            <a:endParaRPr lang="en-US" dirty="0"/>
          </a:p>
        </p:txBody>
      </p:sp>
      <p:pic>
        <p:nvPicPr>
          <p:cNvPr id="6" name="Picture 5">
            <a:extLst>
              <a:ext uri="{FF2B5EF4-FFF2-40B4-BE49-F238E27FC236}">
                <a16:creationId xmlns:a16="http://schemas.microsoft.com/office/drawing/2014/main" id="{99CC8A95-C970-65B1-52D0-C17600A98CDA}"/>
              </a:ext>
            </a:extLst>
          </p:cNvPr>
          <p:cNvPicPr>
            <a:picLocks noChangeAspect="1"/>
          </p:cNvPicPr>
          <p:nvPr/>
        </p:nvPicPr>
        <p:blipFill>
          <a:blip r:embed="rId2"/>
          <a:stretch>
            <a:fillRect/>
          </a:stretch>
        </p:blipFill>
        <p:spPr>
          <a:xfrm>
            <a:off x="3150033" y="2647950"/>
            <a:ext cx="2105025" cy="781050"/>
          </a:xfrm>
          <a:prstGeom prst="rect">
            <a:avLst/>
          </a:prstGeom>
        </p:spPr>
      </p:pic>
      <p:pic>
        <p:nvPicPr>
          <p:cNvPr id="7" name="Picture 6">
            <a:extLst>
              <a:ext uri="{FF2B5EF4-FFF2-40B4-BE49-F238E27FC236}">
                <a16:creationId xmlns:a16="http://schemas.microsoft.com/office/drawing/2014/main" id="{12384D13-87C3-CE70-CFEB-66D652F605E1}"/>
              </a:ext>
            </a:extLst>
          </p:cNvPr>
          <p:cNvPicPr>
            <a:picLocks noChangeAspect="1"/>
          </p:cNvPicPr>
          <p:nvPr/>
        </p:nvPicPr>
        <p:blipFill>
          <a:blip r:embed="rId3"/>
          <a:stretch>
            <a:fillRect/>
          </a:stretch>
        </p:blipFill>
        <p:spPr>
          <a:xfrm>
            <a:off x="4495800" y="3772425"/>
            <a:ext cx="1600200" cy="885825"/>
          </a:xfrm>
          <a:prstGeom prst="rect">
            <a:avLst/>
          </a:prstGeom>
        </p:spPr>
      </p:pic>
      <p:pic>
        <p:nvPicPr>
          <p:cNvPr id="9" name="Picture 8">
            <a:extLst>
              <a:ext uri="{FF2B5EF4-FFF2-40B4-BE49-F238E27FC236}">
                <a16:creationId xmlns:a16="http://schemas.microsoft.com/office/drawing/2014/main" id="{C7ACF1EF-EEFB-C95A-3690-9E0BC6FEEA0B}"/>
              </a:ext>
            </a:extLst>
          </p:cNvPr>
          <p:cNvPicPr>
            <a:picLocks noChangeAspect="1"/>
          </p:cNvPicPr>
          <p:nvPr/>
        </p:nvPicPr>
        <p:blipFill>
          <a:blip r:embed="rId4"/>
          <a:stretch>
            <a:fillRect/>
          </a:stretch>
        </p:blipFill>
        <p:spPr>
          <a:xfrm>
            <a:off x="3616758" y="5162313"/>
            <a:ext cx="3276600" cy="1058941"/>
          </a:xfrm>
          <a:prstGeom prst="rect">
            <a:avLst/>
          </a:prstGeom>
        </p:spPr>
      </p:pic>
    </p:spTree>
    <p:extLst>
      <p:ext uri="{BB962C8B-B14F-4D97-AF65-F5344CB8AC3E}">
        <p14:creationId xmlns:p14="http://schemas.microsoft.com/office/powerpoint/2010/main" val="1812676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D1E0E-81FB-3072-A269-95BCF1E79917}"/>
              </a:ext>
            </a:extLst>
          </p:cNvPr>
          <p:cNvSpPr>
            <a:spLocks noGrp="1"/>
          </p:cNvSpPr>
          <p:nvPr>
            <p:ph type="title"/>
          </p:nvPr>
        </p:nvSpPr>
        <p:spPr/>
        <p:txBody>
          <a:bodyPr/>
          <a:lstStyle/>
          <a:p>
            <a:r>
              <a:rPr lang="en-US" dirty="0"/>
              <a:t>The Result for Bell One</a:t>
            </a:r>
          </a:p>
        </p:txBody>
      </p:sp>
      <p:sp>
        <p:nvSpPr>
          <p:cNvPr id="3" name="Content Placeholder 2">
            <a:extLst>
              <a:ext uri="{FF2B5EF4-FFF2-40B4-BE49-F238E27FC236}">
                <a16:creationId xmlns:a16="http://schemas.microsoft.com/office/drawing/2014/main" id="{98574C5A-DD4B-D743-0D10-FA28E7BA1AE8}"/>
              </a:ext>
            </a:extLst>
          </p:cNvPr>
          <p:cNvSpPr>
            <a:spLocks noGrp="1"/>
          </p:cNvSpPr>
          <p:nvPr>
            <p:ph sz="quarter" idx="10"/>
          </p:nvPr>
        </p:nvSpPr>
        <p:spPr/>
        <p:txBody>
          <a:bodyPr/>
          <a:lstStyle/>
          <a:p>
            <a:r>
              <a:rPr lang="en-US" sz="2400" dirty="0">
                <a:latin typeface="Abadi" panose="020B0604020104020204" pitchFamily="34" charset="0"/>
              </a:rPr>
              <a:t>This leads  to the result of the first bell state</a:t>
            </a:r>
          </a:p>
          <a:p>
            <a:endParaRPr lang="en-US" dirty="0"/>
          </a:p>
        </p:txBody>
      </p:sp>
      <p:sp>
        <p:nvSpPr>
          <p:cNvPr id="4" name="Slide Number Placeholder 3">
            <a:extLst>
              <a:ext uri="{FF2B5EF4-FFF2-40B4-BE49-F238E27FC236}">
                <a16:creationId xmlns:a16="http://schemas.microsoft.com/office/drawing/2014/main" id="{52B837F0-FAB5-E96C-6F2C-7A5B380A0702}"/>
              </a:ext>
            </a:extLst>
          </p:cNvPr>
          <p:cNvSpPr>
            <a:spLocks noGrp="1"/>
          </p:cNvSpPr>
          <p:nvPr>
            <p:ph type="sldNum" sz="quarter" idx="4"/>
          </p:nvPr>
        </p:nvSpPr>
        <p:spPr/>
        <p:txBody>
          <a:bodyPr/>
          <a:lstStyle/>
          <a:p>
            <a:fld id="{58FB4751-880F-D840-AAA9-3A15815CC996}" type="slidenum">
              <a:rPr lang="en-US" smtClean="0"/>
              <a:pPr/>
              <a:t>20</a:t>
            </a:fld>
            <a:endParaRPr lang="en-US" dirty="0"/>
          </a:p>
        </p:txBody>
      </p:sp>
      <p:pic>
        <p:nvPicPr>
          <p:cNvPr id="6" name="Picture 5">
            <a:extLst>
              <a:ext uri="{FF2B5EF4-FFF2-40B4-BE49-F238E27FC236}">
                <a16:creationId xmlns:a16="http://schemas.microsoft.com/office/drawing/2014/main" id="{3FC49255-30B9-E971-2914-ED40F3B1C0D4}"/>
              </a:ext>
            </a:extLst>
          </p:cNvPr>
          <p:cNvPicPr>
            <a:picLocks noChangeAspect="1"/>
          </p:cNvPicPr>
          <p:nvPr/>
        </p:nvPicPr>
        <p:blipFill>
          <a:blip r:embed="rId2"/>
          <a:stretch>
            <a:fillRect/>
          </a:stretch>
        </p:blipFill>
        <p:spPr>
          <a:xfrm>
            <a:off x="3455466" y="2743200"/>
            <a:ext cx="2490346" cy="1407587"/>
          </a:xfrm>
          <a:prstGeom prst="rect">
            <a:avLst/>
          </a:prstGeom>
        </p:spPr>
      </p:pic>
    </p:spTree>
    <p:extLst>
      <p:ext uri="{BB962C8B-B14F-4D97-AF65-F5344CB8AC3E}">
        <p14:creationId xmlns:p14="http://schemas.microsoft.com/office/powerpoint/2010/main" val="2214515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D4806-80CD-6448-85D6-ABBAB350496B}"/>
              </a:ext>
            </a:extLst>
          </p:cNvPr>
          <p:cNvSpPr>
            <a:spLocks noGrp="1"/>
          </p:cNvSpPr>
          <p:nvPr>
            <p:ph type="title"/>
          </p:nvPr>
        </p:nvSpPr>
        <p:spPr/>
        <p:txBody>
          <a:bodyPr/>
          <a:lstStyle/>
          <a:p>
            <a:r>
              <a:rPr lang="en-US" dirty="0"/>
              <a:t>The Second Bell state</a:t>
            </a:r>
          </a:p>
        </p:txBody>
      </p:sp>
      <p:sp>
        <p:nvSpPr>
          <p:cNvPr id="3" name="Content Placeholder 2">
            <a:extLst>
              <a:ext uri="{FF2B5EF4-FFF2-40B4-BE49-F238E27FC236}">
                <a16:creationId xmlns:a16="http://schemas.microsoft.com/office/drawing/2014/main" id="{30BFB64D-035C-9D7C-B60C-ACB9B2528377}"/>
              </a:ext>
            </a:extLst>
          </p:cNvPr>
          <p:cNvSpPr>
            <a:spLocks noGrp="1"/>
          </p:cNvSpPr>
          <p:nvPr>
            <p:ph sz="quarter" idx="10"/>
          </p:nvPr>
        </p:nvSpPr>
        <p:spPr>
          <a:xfrm>
            <a:off x="914399" y="2039111"/>
            <a:ext cx="10076873" cy="4736591"/>
          </a:xfrm>
        </p:spPr>
        <p:txBody>
          <a:bodyPr/>
          <a:lstStyle/>
          <a:p>
            <a:endParaRPr lang="en-US" dirty="0"/>
          </a:p>
          <a:p>
            <a:endParaRPr lang="en-US" dirty="0"/>
          </a:p>
          <a:p>
            <a:endParaRPr lang="en-US" dirty="0"/>
          </a:p>
          <a:p>
            <a:endParaRPr lang="en-US" dirty="0"/>
          </a:p>
          <a:p>
            <a:r>
              <a:rPr lang="en-US" dirty="0">
                <a:latin typeface="Abadi" panose="020B0604020104020204" pitchFamily="34" charset="0"/>
              </a:rPr>
              <a:t>Which is the same as the first Bell state but with a negative phase!. As such this can be implemented easily by using the same circuit as the first Bell state but with the addition of initializing the first qubit to |1〉with a Pauli-X gate::</a:t>
            </a:r>
          </a:p>
          <a:p>
            <a:endParaRPr lang="en-US" dirty="0"/>
          </a:p>
          <a:p>
            <a:endParaRPr lang="en-US" dirty="0"/>
          </a:p>
        </p:txBody>
      </p:sp>
      <p:sp>
        <p:nvSpPr>
          <p:cNvPr id="4" name="Slide Number Placeholder 3">
            <a:extLst>
              <a:ext uri="{FF2B5EF4-FFF2-40B4-BE49-F238E27FC236}">
                <a16:creationId xmlns:a16="http://schemas.microsoft.com/office/drawing/2014/main" id="{AE23110A-E3BC-7C04-7EEF-93DA9D017E0D}"/>
              </a:ext>
            </a:extLst>
          </p:cNvPr>
          <p:cNvSpPr>
            <a:spLocks noGrp="1"/>
          </p:cNvSpPr>
          <p:nvPr>
            <p:ph type="sldNum" sz="quarter" idx="4"/>
          </p:nvPr>
        </p:nvSpPr>
        <p:spPr/>
        <p:txBody>
          <a:bodyPr/>
          <a:lstStyle/>
          <a:p>
            <a:fld id="{58FB4751-880F-D840-AAA9-3A15815CC996}" type="slidenum">
              <a:rPr lang="en-US" smtClean="0"/>
              <a:pPr/>
              <a:t>21</a:t>
            </a:fld>
            <a:endParaRPr lang="en-US" dirty="0"/>
          </a:p>
        </p:txBody>
      </p:sp>
      <p:pic>
        <p:nvPicPr>
          <p:cNvPr id="6" name="Picture 5">
            <a:extLst>
              <a:ext uri="{FF2B5EF4-FFF2-40B4-BE49-F238E27FC236}">
                <a16:creationId xmlns:a16="http://schemas.microsoft.com/office/drawing/2014/main" id="{A6C2EF0E-8AB4-8F64-E109-5C3B75A45A38}"/>
              </a:ext>
            </a:extLst>
          </p:cNvPr>
          <p:cNvPicPr>
            <a:picLocks noChangeAspect="1"/>
          </p:cNvPicPr>
          <p:nvPr/>
        </p:nvPicPr>
        <p:blipFill>
          <a:blip r:embed="rId2"/>
          <a:stretch>
            <a:fillRect/>
          </a:stretch>
        </p:blipFill>
        <p:spPr>
          <a:xfrm>
            <a:off x="2844800" y="1955046"/>
            <a:ext cx="4095605" cy="1338006"/>
          </a:xfrm>
          <a:prstGeom prst="rect">
            <a:avLst/>
          </a:prstGeom>
        </p:spPr>
      </p:pic>
      <p:pic>
        <p:nvPicPr>
          <p:cNvPr id="7" name="Picture 6">
            <a:extLst>
              <a:ext uri="{FF2B5EF4-FFF2-40B4-BE49-F238E27FC236}">
                <a16:creationId xmlns:a16="http://schemas.microsoft.com/office/drawing/2014/main" id="{5D009005-F9D7-9247-6200-8B9F7CF51834}"/>
              </a:ext>
            </a:extLst>
          </p:cNvPr>
          <p:cNvPicPr>
            <a:picLocks noChangeAspect="1"/>
          </p:cNvPicPr>
          <p:nvPr/>
        </p:nvPicPr>
        <p:blipFill>
          <a:blip r:embed="rId3"/>
          <a:stretch>
            <a:fillRect/>
          </a:stretch>
        </p:blipFill>
        <p:spPr>
          <a:xfrm>
            <a:off x="4353452" y="4438860"/>
            <a:ext cx="4095604" cy="2295625"/>
          </a:xfrm>
          <a:prstGeom prst="rect">
            <a:avLst/>
          </a:prstGeom>
        </p:spPr>
      </p:pic>
    </p:spTree>
    <p:extLst>
      <p:ext uri="{BB962C8B-B14F-4D97-AF65-F5344CB8AC3E}">
        <p14:creationId xmlns:p14="http://schemas.microsoft.com/office/powerpoint/2010/main" val="3406248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3B10-560C-46F5-2EB5-165E8A1829B3}"/>
              </a:ext>
            </a:extLst>
          </p:cNvPr>
          <p:cNvSpPr>
            <a:spLocks noGrp="1"/>
          </p:cNvSpPr>
          <p:nvPr>
            <p:ph type="title"/>
          </p:nvPr>
        </p:nvSpPr>
        <p:spPr/>
        <p:txBody>
          <a:bodyPr/>
          <a:lstStyle/>
          <a:p>
            <a:r>
              <a:rPr lang="en-US" dirty="0"/>
              <a:t>Third Bell State</a:t>
            </a:r>
          </a:p>
        </p:txBody>
      </p:sp>
      <p:sp>
        <p:nvSpPr>
          <p:cNvPr id="3" name="Content Placeholder 2">
            <a:extLst>
              <a:ext uri="{FF2B5EF4-FFF2-40B4-BE49-F238E27FC236}">
                <a16:creationId xmlns:a16="http://schemas.microsoft.com/office/drawing/2014/main" id="{83FAE2E9-0947-239B-47F3-079DF507AFEE}"/>
              </a:ext>
            </a:extLst>
          </p:cNvPr>
          <p:cNvSpPr>
            <a:spLocks noGrp="1"/>
          </p:cNvSpPr>
          <p:nvPr>
            <p:ph sz="quarter" idx="10"/>
          </p:nvPr>
        </p:nvSpPr>
        <p:spPr>
          <a:xfrm>
            <a:off x="914399" y="2039111"/>
            <a:ext cx="9938327" cy="4629543"/>
          </a:xfrm>
        </p:spPr>
        <p:txBody>
          <a:bodyPr/>
          <a:lstStyle/>
          <a:p>
            <a:endParaRPr lang="en-US" dirty="0"/>
          </a:p>
          <a:p>
            <a:endParaRPr lang="en-US" dirty="0"/>
          </a:p>
          <a:p>
            <a:endParaRPr lang="en-US" dirty="0"/>
          </a:p>
          <a:p>
            <a:endParaRPr lang="en-US" sz="2400" dirty="0"/>
          </a:p>
          <a:p>
            <a:r>
              <a:rPr lang="en-US" sz="2400" dirty="0"/>
              <a:t>Same as above, but apply a Pauli x-gate to the second qubits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3F79AC5-F7CB-CFA5-0637-B04E8D317C43}"/>
              </a:ext>
            </a:extLst>
          </p:cNvPr>
          <p:cNvSpPr>
            <a:spLocks noGrp="1"/>
          </p:cNvSpPr>
          <p:nvPr>
            <p:ph type="sldNum" sz="quarter" idx="4"/>
          </p:nvPr>
        </p:nvSpPr>
        <p:spPr/>
        <p:txBody>
          <a:bodyPr/>
          <a:lstStyle/>
          <a:p>
            <a:fld id="{58FB4751-880F-D840-AAA9-3A15815CC996}" type="slidenum">
              <a:rPr lang="en-US" smtClean="0"/>
              <a:pPr/>
              <a:t>22</a:t>
            </a:fld>
            <a:endParaRPr lang="en-US" dirty="0"/>
          </a:p>
        </p:txBody>
      </p:sp>
      <p:pic>
        <p:nvPicPr>
          <p:cNvPr id="5" name="Picture 4">
            <a:extLst>
              <a:ext uri="{FF2B5EF4-FFF2-40B4-BE49-F238E27FC236}">
                <a16:creationId xmlns:a16="http://schemas.microsoft.com/office/drawing/2014/main" id="{592D807A-8D73-EC40-7DFE-169FE407EC39}"/>
              </a:ext>
            </a:extLst>
          </p:cNvPr>
          <p:cNvPicPr>
            <a:picLocks noChangeAspect="1"/>
          </p:cNvPicPr>
          <p:nvPr/>
        </p:nvPicPr>
        <p:blipFill>
          <a:blip r:embed="rId2"/>
          <a:stretch>
            <a:fillRect/>
          </a:stretch>
        </p:blipFill>
        <p:spPr>
          <a:xfrm>
            <a:off x="1237239" y="2237220"/>
            <a:ext cx="3544763" cy="1030636"/>
          </a:xfrm>
          <a:prstGeom prst="rect">
            <a:avLst/>
          </a:prstGeom>
        </p:spPr>
      </p:pic>
      <p:pic>
        <p:nvPicPr>
          <p:cNvPr id="6" name="Picture 5">
            <a:extLst>
              <a:ext uri="{FF2B5EF4-FFF2-40B4-BE49-F238E27FC236}">
                <a16:creationId xmlns:a16="http://schemas.microsoft.com/office/drawing/2014/main" id="{7D2C735F-E059-C9A4-344A-BFC0F0ADD800}"/>
              </a:ext>
            </a:extLst>
          </p:cNvPr>
          <p:cNvPicPr>
            <a:picLocks noChangeAspect="1"/>
          </p:cNvPicPr>
          <p:nvPr/>
        </p:nvPicPr>
        <p:blipFill>
          <a:blip r:embed="rId3"/>
          <a:stretch>
            <a:fillRect/>
          </a:stretch>
        </p:blipFill>
        <p:spPr>
          <a:xfrm>
            <a:off x="3150792" y="4428362"/>
            <a:ext cx="4332850" cy="2363175"/>
          </a:xfrm>
          <a:prstGeom prst="rect">
            <a:avLst/>
          </a:prstGeom>
        </p:spPr>
      </p:pic>
    </p:spTree>
    <p:extLst>
      <p:ext uri="{BB962C8B-B14F-4D97-AF65-F5344CB8AC3E}">
        <p14:creationId xmlns:p14="http://schemas.microsoft.com/office/powerpoint/2010/main" val="3913888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75270-55D1-702A-F2C1-1633525C587E}"/>
              </a:ext>
            </a:extLst>
          </p:cNvPr>
          <p:cNvSpPr>
            <a:spLocks noGrp="1"/>
          </p:cNvSpPr>
          <p:nvPr>
            <p:ph type="title"/>
          </p:nvPr>
        </p:nvSpPr>
        <p:spPr/>
        <p:txBody>
          <a:bodyPr/>
          <a:lstStyle/>
          <a:p>
            <a:r>
              <a:rPr lang="en-US" dirty="0"/>
              <a:t>Fourth Bell State</a:t>
            </a:r>
          </a:p>
        </p:txBody>
      </p:sp>
      <p:sp>
        <p:nvSpPr>
          <p:cNvPr id="3" name="Content Placeholder 2">
            <a:extLst>
              <a:ext uri="{FF2B5EF4-FFF2-40B4-BE49-F238E27FC236}">
                <a16:creationId xmlns:a16="http://schemas.microsoft.com/office/drawing/2014/main" id="{0BE5C78E-85EE-DB68-1893-BAD9856EA1DB}"/>
              </a:ext>
            </a:extLst>
          </p:cNvPr>
          <p:cNvSpPr>
            <a:spLocks noGrp="1"/>
          </p:cNvSpPr>
          <p:nvPr>
            <p:ph sz="quarter" idx="10"/>
          </p:nvPr>
        </p:nvSpPr>
        <p:spPr>
          <a:xfrm>
            <a:off x="914400" y="2039112"/>
            <a:ext cx="9034272" cy="4069080"/>
          </a:xfrm>
        </p:spPr>
        <p:txBody>
          <a:bodyPr/>
          <a:lstStyle/>
          <a:p>
            <a:endParaRPr lang="en-US" dirty="0"/>
          </a:p>
          <a:p>
            <a:endParaRPr lang="en-US" dirty="0"/>
          </a:p>
          <a:p>
            <a:endParaRPr lang="en-US" dirty="0"/>
          </a:p>
          <a:p>
            <a:r>
              <a:rPr lang="en-US" dirty="0"/>
              <a:t>Add Pauli Z gate to both qubits</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E24DF6B-BD07-F99A-9893-104277A5D022}"/>
              </a:ext>
            </a:extLst>
          </p:cNvPr>
          <p:cNvSpPr>
            <a:spLocks noGrp="1"/>
          </p:cNvSpPr>
          <p:nvPr>
            <p:ph type="sldNum" sz="quarter" idx="4"/>
          </p:nvPr>
        </p:nvSpPr>
        <p:spPr/>
        <p:txBody>
          <a:bodyPr/>
          <a:lstStyle/>
          <a:p>
            <a:fld id="{58FB4751-880F-D840-AAA9-3A15815CC996}" type="slidenum">
              <a:rPr lang="en-US" smtClean="0"/>
              <a:pPr/>
              <a:t>23</a:t>
            </a:fld>
            <a:endParaRPr lang="en-US" dirty="0"/>
          </a:p>
        </p:txBody>
      </p:sp>
      <p:pic>
        <p:nvPicPr>
          <p:cNvPr id="7" name="Picture 6">
            <a:extLst>
              <a:ext uri="{FF2B5EF4-FFF2-40B4-BE49-F238E27FC236}">
                <a16:creationId xmlns:a16="http://schemas.microsoft.com/office/drawing/2014/main" id="{460A36FE-BBDC-9ABF-6582-66DF18E5A38D}"/>
              </a:ext>
            </a:extLst>
          </p:cNvPr>
          <p:cNvPicPr>
            <a:picLocks noChangeAspect="1"/>
          </p:cNvPicPr>
          <p:nvPr/>
        </p:nvPicPr>
        <p:blipFill>
          <a:blip r:embed="rId2"/>
          <a:stretch>
            <a:fillRect/>
          </a:stretch>
        </p:blipFill>
        <p:spPr>
          <a:xfrm>
            <a:off x="1342159" y="2039113"/>
            <a:ext cx="2796547" cy="841334"/>
          </a:xfrm>
          <a:prstGeom prst="rect">
            <a:avLst/>
          </a:prstGeom>
        </p:spPr>
      </p:pic>
      <p:pic>
        <p:nvPicPr>
          <p:cNvPr id="8" name="Picture 7">
            <a:extLst>
              <a:ext uri="{FF2B5EF4-FFF2-40B4-BE49-F238E27FC236}">
                <a16:creationId xmlns:a16="http://schemas.microsoft.com/office/drawing/2014/main" id="{587C2DE2-271F-88A7-D801-637A5925C5CF}"/>
              </a:ext>
            </a:extLst>
          </p:cNvPr>
          <p:cNvPicPr>
            <a:picLocks noChangeAspect="1"/>
          </p:cNvPicPr>
          <p:nvPr/>
        </p:nvPicPr>
        <p:blipFill>
          <a:blip r:embed="rId3"/>
          <a:stretch>
            <a:fillRect/>
          </a:stretch>
        </p:blipFill>
        <p:spPr>
          <a:xfrm>
            <a:off x="2466110" y="3979863"/>
            <a:ext cx="4544290" cy="2547118"/>
          </a:xfrm>
          <a:prstGeom prst="rect">
            <a:avLst/>
          </a:prstGeom>
        </p:spPr>
      </p:pic>
    </p:spTree>
    <p:extLst>
      <p:ext uri="{BB962C8B-B14F-4D97-AF65-F5344CB8AC3E}">
        <p14:creationId xmlns:p14="http://schemas.microsoft.com/office/powerpoint/2010/main" val="3954933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9D63C-7C0F-F4C7-E11B-2E1A74E3E3A3}"/>
              </a:ext>
            </a:extLst>
          </p:cNvPr>
          <p:cNvSpPr>
            <a:spLocks noGrp="1"/>
          </p:cNvSpPr>
          <p:nvPr>
            <p:ph type="title"/>
          </p:nvPr>
        </p:nvSpPr>
        <p:spPr/>
        <p:txBody>
          <a:bodyPr/>
          <a:lstStyle/>
          <a:p>
            <a:r>
              <a:rPr lang="en-US" dirty="0"/>
              <a:t>The Z Gate</a:t>
            </a:r>
          </a:p>
        </p:txBody>
      </p:sp>
      <p:sp>
        <p:nvSpPr>
          <p:cNvPr id="3" name="Content Placeholder 2">
            <a:extLst>
              <a:ext uri="{FF2B5EF4-FFF2-40B4-BE49-F238E27FC236}">
                <a16:creationId xmlns:a16="http://schemas.microsoft.com/office/drawing/2014/main" id="{1F86AC5A-7752-02F2-3104-5A7DC1DFFFC6}"/>
              </a:ext>
            </a:extLst>
          </p:cNvPr>
          <p:cNvSpPr>
            <a:spLocks noGrp="1"/>
          </p:cNvSpPr>
          <p:nvPr>
            <p:ph sz="quarter" idx="10"/>
          </p:nvPr>
        </p:nvSpPr>
        <p:spPr>
          <a:xfrm>
            <a:off x="475488" y="2039111"/>
            <a:ext cx="11131296" cy="4736591"/>
          </a:xfrm>
        </p:spPr>
        <p:txBody>
          <a:bodyPr>
            <a:normAutofit/>
          </a:bodyPr>
          <a:lstStyle/>
          <a:p>
            <a:r>
              <a:rPr lang="en-US" sz="2800" dirty="0">
                <a:latin typeface="Abadi" panose="020B0604020104020204" pitchFamily="34" charset="0"/>
              </a:rPr>
              <a:t>The Z gate is actually a special case of the phase shift gate where 𝜙  = π  = 180°.</a:t>
            </a:r>
          </a:p>
          <a:p>
            <a:r>
              <a:rPr lang="en-US" sz="2800" dirty="0">
                <a:latin typeface="Abadi" panose="020B0604020104020204" pitchFamily="34" charset="0"/>
              </a:rPr>
              <a:t> It represents a rotation of  around the z axis by π radians.</a:t>
            </a:r>
          </a:p>
          <a:p>
            <a:r>
              <a:rPr lang="en-US" sz="2800" dirty="0">
                <a:latin typeface="Abadi" panose="020B0604020104020204" pitchFamily="34" charset="0"/>
              </a:rPr>
              <a:t> It has no effect on |0〉 but transforms |1〉 to -|1〉.</a:t>
            </a:r>
          </a:p>
          <a:p>
            <a:pPr marL="0" indent="0">
              <a:buNone/>
            </a:pPr>
            <a:endParaRPr lang="en-US" sz="28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A577AB80-FE11-B1B8-90ED-D3431BF8E7CD}"/>
              </a:ext>
            </a:extLst>
          </p:cNvPr>
          <p:cNvSpPr>
            <a:spLocks noGrp="1"/>
          </p:cNvSpPr>
          <p:nvPr>
            <p:ph type="sldNum" sz="quarter" idx="4"/>
          </p:nvPr>
        </p:nvSpPr>
        <p:spPr/>
        <p:txBody>
          <a:bodyPr/>
          <a:lstStyle/>
          <a:p>
            <a:fld id="{58FB4751-880F-D840-AAA9-3A15815CC996}" type="slidenum">
              <a:rPr lang="en-US" smtClean="0"/>
              <a:pPr/>
              <a:t>24</a:t>
            </a:fld>
            <a:endParaRPr lang="en-US" dirty="0"/>
          </a:p>
        </p:txBody>
      </p:sp>
      <p:pic>
        <p:nvPicPr>
          <p:cNvPr id="5" name="Picture 4" descr="z.png">
            <a:extLst>
              <a:ext uri="{FF2B5EF4-FFF2-40B4-BE49-F238E27FC236}">
                <a16:creationId xmlns:a16="http://schemas.microsoft.com/office/drawing/2014/main" id="{83266E62-D140-C98F-F106-0DDDC4CE9AF2}"/>
              </a:ext>
            </a:extLst>
          </p:cNvPr>
          <p:cNvPicPr>
            <a:picLocks noChangeAspect="1"/>
          </p:cNvPicPr>
          <p:nvPr/>
        </p:nvPicPr>
        <p:blipFill>
          <a:blip r:embed="rId2" cstate="print"/>
          <a:stretch>
            <a:fillRect/>
          </a:stretch>
        </p:blipFill>
        <p:spPr>
          <a:xfrm>
            <a:off x="3009900" y="4532377"/>
            <a:ext cx="6172200" cy="1057275"/>
          </a:xfrm>
          <a:prstGeom prst="rect">
            <a:avLst/>
          </a:prstGeom>
        </p:spPr>
      </p:pic>
    </p:spTree>
    <p:extLst>
      <p:ext uri="{BB962C8B-B14F-4D97-AF65-F5344CB8AC3E}">
        <p14:creationId xmlns:p14="http://schemas.microsoft.com/office/powerpoint/2010/main" val="4016473653"/>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{CF403958-4D04-4470-8546-A7CE31720967}TF1ed9553b-00c4-4092-846a-c8f7f2908f3beecd942f_win32-8e33096c3cfc</Template>
  <TotalTime>8457</TotalTime>
  <Words>1502</Words>
  <Application>Microsoft Office PowerPoint</Application>
  <PresentationFormat>Widescreen</PresentationFormat>
  <Paragraphs>159</Paragraphs>
  <Slides>24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Abadi</vt:lpstr>
      <vt:lpstr>Arial</vt:lpstr>
      <vt:lpstr>Calibri</vt:lpstr>
      <vt:lpstr>Cambria Math</vt:lpstr>
      <vt:lpstr>Courier New</vt:lpstr>
      <vt:lpstr>Gill Sans Nova Light</vt:lpstr>
      <vt:lpstr>Roboto</vt:lpstr>
      <vt:lpstr>Sagona Book</vt:lpstr>
      <vt:lpstr>Custom</vt:lpstr>
      <vt:lpstr>Entanglement, Bell States, and Multi-Qubit Systems</vt:lpstr>
      <vt:lpstr>Objectives</vt:lpstr>
      <vt:lpstr>Initializing Using Hadamard</vt:lpstr>
      <vt:lpstr>Most Algorithms Initialize qubits to |0&gt; then go into H</vt:lpstr>
      <vt:lpstr>Quantum Entanglement</vt:lpstr>
      <vt:lpstr>The CNOT Gate (The  XNOT  gate)</vt:lpstr>
      <vt:lpstr>Circuit Implementation of Entanglement </vt:lpstr>
      <vt:lpstr>Important Note: Two-qubit states are tensor products of the individual qubit states </vt:lpstr>
      <vt:lpstr>The CNOT Gate</vt:lpstr>
      <vt:lpstr>Compute the components of the input state |+0⟩ at |ψ0⟩ </vt:lpstr>
      <vt:lpstr>Compute the CNOT transformation</vt:lpstr>
      <vt:lpstr>The Value of Gamma</vt:lpstr>
      <vt:lpstr>The Bell States: Perfect Entaglemnt</vt:lpstr>
      <vt:lpstr>Bell States</vt:lpstr>
      <vt:lpstr>The First Bell State</vt:lpstr>
      <vt:lpstr>The First</vt:lpstr>
      <vt:lpstr>How it works</vt:lpstr>
      <vt:lpstr>Expanding Hadamard (not included)</vt:lpstr>
      <vt:lpstr>How it Works?</vt:lpstr>
      <vt:lpstr>The Result for Bell One</vt:lpstr>
      <vt:lpstr>The Second Bell state</vt:lpstr>
      <vt:lpstr>Third Bell State</vt:lpstr>
      <vt:lpstr>Fourth Bell State</vt:lpstr>
      <vt:lpstr>The Z Gate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18</cp:revision>
  <dcterms:created xsi:type="dcterms:W3CDTF">2025-08-25T07:01:50Z</dcterms:created>
  <dcterms:modified xsi:type="dcterms:W3CDTF">2026-01-04T09:29:36Z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