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60" r:id="rId4"/>
    <p:sldId id="271" r:id="rId5"/>
    <p:sldId id="257" r:id="rId6"/>
    <p:sldId id="258" r:id="rId7"/>
    <p:sldId id="259" r:id="rId8"/>
    <p:sldId id="261" r:id="rId9"/>
    <p:sldId id="262" r:id="rId10"/>
    <p:sldId id="264" r:id="rId11"/>
    <p:sldId id="265" r:id="rId12"/>
    <p:sldId id="266" r:id="rId13"/>
    <p:sldId id="267" r:id="rId14"/>
    <p:sldId id="268" r:id="rId15"/>
    <p:sldId id="269" r:id="rId16"/>
    <p:sldId id="270"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4" d="100"/>
          <a:sy n="84" d="100"/>
        </p:scale>
        <p:origin x="65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The Context: Deep Learning, AI and Machine Learning</a:t>
            </a:r>
          </a:p>
        </p:txBody>
      </p:sp>
      <p:sp>
        <p:nvSpPr>
          <p:cNvPr id="3" name="Subtitle 2"/>
          <p:cNvSpPr>
            <a:spLocks noGrp="1"/>
          </p:cNvSpPr>
          <p:nvPr>
            <p:ph type="subTitle" idx="1"/>
          </p:nvPr>
        </p:nvSpPr>
        <p:spPr/>
        <p:txBody>
          <a:bodyPr/>
          <a:lstStyle/>
          <a:p>
            <a:r>
              <a:rPr lang="en-US" dirty="0"/>
              <a:t>Mohammed ELAffendi</a:t>
            </a:r>
          </a:p>
        </p:txBody>
      </p:sp>
    </p:spTree>
    <p:extLst>
      <p:ext uri="{BB962C8B-B14F-4D97-AF65-F5344CB8AC3E}">
        <p14:creationId xmlns:p14="http://schemas.microsoft.com/office/powerpoint/2010/main" val="270033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1D32-DD6E-40F0-A66B-2FDC0562B9E5}"/>
              </a:ext>
            </a:extLst>
          </p:cNvPr>
          <p:cNvSpPr>
            <a:spLocks noGrp="1"/>
          </p:cNvSpPr>
          <p:nvPr>
            <p:ph type="title"/>
          </p:nvPr>
        </p:nvSpPr>
        <p:spPr/>
        <p:txBody>
          <a:bodyPr/>
          <a:lstStyle/>
          <a:p>
            <a:r>
              <a:rPr lang="en-US" dirty="0"/>
              <a:t>Foreword</a:t>
            </a:r>
          </a:p>
        </p:txBody>
      </p:sp>
      <p:sp>
        <p:nvSpPr>
          <p:cNvPr id="3" name="Content Placeholder 2">
            <a:extLst>
              <a:ext uri="{FF2B5EF4-FFF2-40B4-BE49-F238E27FC236}">
                <a16:creationId xmlns:a16="http://schemas.microsoft.com/office/drawing/2014/main" id="{A40F7A33-8750-4330-A2A2-342C2993C899}"/>
              </a:ext>
            </a:extLst>
          </p:cNvPr>
          <p:cNvSpPr>
            <a:spLocks noGrp="1"/>
          </p:cNvSpPr>
          <p:nvPr>
            <p:ph idx="1"/>
          </p:nvPr>
        </p:nvSpPr>
        <p:spPr>
          <a:xfrm>
            <a:off x="1371600" y="2285999"/>
            <a:ext cx="9601200" cy="4377937"/>
          </a:xfrm>
        </p:spPr>
        <p:txBody>
          <a:bodyPr/>
          <a:lstStyle/>
          <a:p>
            <a:r>
              <a:rPr lang="en-US" dirty="0"/>
              <a:t>The Context: AI, Machine Learning  &amp; Deep Learning</a:t>
            </a:r>
          </a:p>
          <a:p>
            <a:r>
              <a:rPr lang="en-US" dirty="0"/>
              <a:t>Building and Implementing Deep Learning Models</a:t>
            </a:r>
          </a:p>
          <a:p>
            <a:r>
              <a:rPr lang="en-US" dirty="0"/>
              <a:t>Python &amp; Keras</a:t>
            </a:r>
          </a:p>
          <a:p>
            <a:r>
              <a:rPr lang="en-US" dirty="0"/>
              <a:t>Configuration and Model Parameters: Activation Functions, Loss Functions, Optimization, ….</a:t>
            </a:r>
            <a:r>
              <a:rPr lang="en-US" dirty="0" err="1"/>
              <a:t>etc</a:t>
            </a:r>
            <a:endParaRPr lang="en-US" dirty="0"/>
          </a:p>
          <a:p>
            <a:r>
              <a:rPr lang="en-US" dirty="0"/>
              <a:t>Gradient Descent and Backpropagation</a:t>
            </a:r>
          </a:p>
          <a:p>
            <a:r>
              <a:rPr lang="en-US" dirty="0"/>
              <a:t>Examples of Applying Deep Learning Models to Solve Problems in Different Areas – a repeating task  (Seeing is Believing, Doing is Learning)</a:t>
            </a:r>
          </a:p>
        </p:txBody>
      </p:sp>
    </p:spTree>
    <p:extLst>
      <p:ext uri="{BB962C8B-B14F-4D97-AF65-F5344CB8AC3E}">
        <p14:creationId xmlns:p14="http://schemas.microsoft.com/office/powerpoint/2010/main" val="2435643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is  Subfield of AI</a:t>
            </a:r>
          </a:p>
        </p:txBody>
      </p:sp>
      <p:pic>
        <p:nvPicPr>
          <p:cNvPr id="4" name="Content Placeholder 3" descr="https://www.safaribooksonline.com/library/view/deep-learning-with/9781617294433/01fig0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5562" y="2171699"/>
            <a:ext cx="6055744" cy="3918549"/>
          </a:xfrm>
          <a:prstGeom prst="rect">
            <a:avLst/>
          </a:prstGeom>
          <a:noFill/>
          <a:ln>
            <a:noFill/>
          </a:ln>
        </p:spPr>
      </p:pic>
    </p:spTree>
    <p:extLst>
      <p:ext uri="{BB962C8B-B14F-4D97-AF65-F5344CB8AC3E}">
        <p14:creationId xmlns:p14="http://schemas.microsoft.com/office/powerpoint/2010/main" val="637034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0195-3AC2-4B8D-96A6-27C448B790FD}"/>
              </a:ext>
            </a:extLst>
          </p:cNvPr>
          <p:cNvSpPr>
            <a:spLocks noGrp="1"/>
          </p:cNvSpPr>
          <p:nvPr>
            <p:ph type="title"/>
          </p:nvPr>
        </p:nvSpPr>
        <p:spPr>
          <a:xfrm>
            <a:off x="1233453" y="159747"/>
            <a:ext cx="9601200" cy="1485900"/>
          </a:xfrm>
        </p:spPr>
        <p:txBody>
          <a:bodyPr>
            <a:normAutofit/>
          </a:bodyPr>
          <a:lstStyle/>
          <a:p>
            <a:r>
              <a:rPr lang="en-US" dirty="0"/>
              <a:t>It is not that new – Revival Due to Advances in Technology</a:t>
            </a:r>
          </a:p>
        </p:txBody>
      </p:sp>
      <p:sp>
        <p:nvSpPr>
          <p:cNvPr id="3" name="Content Placeholder 2">
            <a:extLst>
              <a:ext uri="{FF2B5EF4-FFF2-40B4-BE49-F238E27FC236}">
                <a16:creationId xmlns:a16="http://schemas.microsoft.com/office/drawing/2014/main" id="{4F87A090-B09B-4481-8391-C7DE8E3354A3}"/>
              </a:ext>
            </a:extLst>
          </p:cNvPr>
          <p:cNvSpPr>
            <a:spLocks noGrp="1"/>
          </p:cNvSpPr>
          <p:nvPr>
            <p:ph idx="1"/>
          </p:nvPr>
        </p:nvSpPr>
        <p:spPr/>
        <p:txBody>
          <a:bodyPr/>
          <a:lstStyle/>
          <a:p>
            <a:pPr marL="0" indent="0">
              <a:buNone/>
            </a:pPr>
            <a:r>
              <a:rPr lang="en-US" dirty="0"/>
              <a:t>       </a:t>
            </a:r>
          </a:p>
        </p:txBody>
      </p:sp>
      <p:graphicFrame>
        <p:nvGraphicFramePr>
          <p:cNvPr id="4" name="Table 3">
            <a:extLst>
              <a:ext uri="{FF2B5EF4-FFF2-40B4-BE49-F238E27FC236}">
                <a16:creationId xmlns:a16="http://schemas.microsoft.com/office/drawing/2014/main" id="{131E2B45-ECC3-43CC-B21A-7F3E9805C98A}"/>
              </a:ext>
            </a:extLst>
          </p:cNvPr>
          <p:cNvGraphicFramePr>
            <a:graphicFrameLocks noGrp="1"/>
          </p:cNvGraphicFramePr>
          <p:nvPr>
            <p:extLst>
              <p:ext uri="{D42A27DB-BD31-4B8C-83A1-F6EECF244321}">
                <p14:modId xmlns:p14="http://schemas.microsoft.com/office/powerpoint/2010/main" val="3956286414"/>
              </p:ext>
            </p:extLst>
          </p:nvPr>
        </p:nvGraphicFramePr>
        <p:xfrm>
          <a:off x="2164300" y="1524277"/>
          <a:ext cx="7617807" cy="5002801"/>
        </p:xfrm>
        <a:graphic>
          <a:graphicData uri="http://schemas.openxmlformats.org/drawingml/2006/table">
            <a:tbl>
              <a:tblPr/>
              <a:tblGrid>
                <a:gridCol w="4838351">
                  <a:extLst>
                    <a:ext uri="{9D8B030D-6E8A-4147-A177-3AD203B41FA5}">
                      <a16:colId xmlns:a16="http://schemas.microsoft.com/office/drawing/2014/main" val="1591488228"/>
                    </a:ext>
                  </a:extLst>
                </a:gridCol>
                <a:gridCol w="2779456">
                  <a:extLst>
                    <a:ext uri="{9D8B030D-6E8A-4147-A177-3AD203B41FA5}">
                      <a16:colId xmlns:a16="http://schemas.microsoft.com/office/drawing/2014/main" val="635028382"/>
                    </a:ext>
                  </a:extLst>
                </a:gridCol>
              </a:tblGrid>
              <a:tr h="574259">
                <a:tc>
                  <a:txBody>
                    <a:bodyPr/>
                    <a:lstStyle/>
                    <a:p>
                      <a:pPr algn="l"/>
                      <a:r>
                        <a:rPr lang="en-US" b="1" i="0" dirty="0">
                          <a:solidFill>
                            <a:srgbClr val="000000"/>
                          </a:solidFill>
                          <a:effectLst/>
                          <a:latin typeface="&amp;quot"/>
                        </a:rPr>
                        <a:t>Techniques</a:t>
                      </a:r>
                      <a:endParaRPr lang="en-US" dirty="0">
                        <a:solidFill>
                          <a:srgbClr val="000000"/>
                        </a:solidFill>
                        <a:effectLst/>
                        <a:latin typeface="&amp;quot"/>
                      </a:endParaRP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b="1" i="0">
                          <a:solidFill>
                            <a:srgbClr val="000000"/>
                          </a:solidFill>
                          <a:effectLst/>
                          <a:latin typeface="&amp;quot"/>
                        </a:rPr>
                        <a:t>Year</a:t>
                      </a:r>
                      <a:endParaRPr lang="en-US">
                        <a:solidFill>
                          <a:srgbClr val="000000"/>
                        </a:solidFill>
                        <a:effectLst/>
                        <a:latin typeface="&amp;quot"/>
                      </a:endParaRP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756958964"/>
                  </a:ext>
                </a:extLst>
              </a:tr>
              <a:tr h="607610">
                <a:tc>
                  <a:txBody>
                    <a:bodyPr/>
                    <a:lstStyle/>
                    <a:p>
                      <a:pPr algn="l"/>
                      <a:r>
                        <a:rPr lang="en-US" dirty="0">
                          <a:solidFill>
                            <a:srgbClr val="000000"/>
                          </a:solidFill>
                          <a:effectLst/>
                          <a:latin typeface="&amp;quot"/>
                        </a:rPr>
                        <a:t>Neural networks </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algn="l"/>
                      <a:r>
                        <a:rPr lang="en-US" dirty="0">
                          <a:solidFill>
                            <a:srgbClr val="000000"/>
                          </a:solidFill>
                          <a:effectLst/>
                          <a:latin typeface="&amp;quot"/>
                        </a:rPr>
                        <a:t>1943</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744073963"/>
                  </a:ext>
                </a:extLst>
              </a:tr>
              <a:tr h="572556">
                <a:tc>
                  <a:txBody>
                    <a:bodyPr/>
                    <a:lstStyle/>
                    <a:p>
                      <a:pPr algn="l"/>
                      <a:r>
                        <a:rPr lang="en-US" dirty="0">
                          <a:solidFill>
                            <a:srgbClr val="000000"/>
                          </a:solidFill>
                          <a:effectLst/>
                          <a:latin typeface="&amp;quot"/>
                        </a:rPr>
                        <a:t>Backpropagation </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algn="l"/>
                      <a:r>
                        <a:rPr lang="en-US" dirty="0">
                          <a:solidFill>
                            <a:srgbClr val="000000"/>
                          </a:solidFill>
                          <a:effectLst/>
                          <a:latin typeface="&amp;quot"/>
                        </a:rPr>
                        <a:t>1962?</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76036340"/>
                  </a:ext>
                </a:extLst>
              </a:tr>
              <a:tr h="1082792">
                <a:tc>
                  <a:txBody>
                    <a:bodyPr/>
                    <a:lstStyle/>
                    <a:p>
                      <a:pPr algn="l"/>
                      <a:r>
                        <a:rPr lang="en-US" dirty="0">
                          <a:solidFill>
                            <a:srgbClr val="000000"/>
                          </a:solidFill>
                          <a:effectLst/>
                          <a:latin typeface="&amp;quot"/>
                        </a:rPr>
                        <a:t>Convolutional Neural Networks</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algn="l"/>
                      <a:r>
                        <a:rPr lang="en-US" dirty="0">
                          <a:solidFill>
                            <a:srgbClr val="000000"/>
                          </a:solidFill>
                          <a:effectLst/>
                          <a:latin typeface="&amp;quot"/>
                        </a:rPr>
                        <a:t>1979</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61910451"/>
                  </a:ext>
                </a:extLst>
              </a:tr>
              <a:tr h="1082792">
                <a:tc>
                  <a:txBody>
                    <a:bodyPr/>
                    <a:lstStyle/>
                    <a:p>
                      <a:pPr algn="l"/>
                      <a:r>
                        <a:rPr lang="en-US" dirty="0">
                          <a:solidFill>
                            <a:srgbClr val="000000"/>
                          </a:solidFill>
                          <a:effectLst/>
                          <a:latin typeface="&amp;quot"/>
                        </a:rPr>
                        <a:t>Recurrent Neural Networks</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algn="l"/>
                      <a:r>
                        <a:rPr lang="en-US" dirty="0">
                          <a:solidFill>
                            <a:srgbClr val="000000"/>
                          </a:solidFill>
                          <a:effectLst/>
                          <a:latin typeface="&amp;quot"/>
                        </a:rPr>
                        <a:t>1980</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2137674981"/>
                  </a:ext>
                </a:extLst>
              </a:tr>
              <a:tr h="1082792">
                <a:tc>
                  <a:txBody>
                    <a:bodyPr/>
                    <a:lstStyle/>
                    <a:p>
                      <a:pPr algn="l"/>
                      <a:r>
                        <a:rPr lang="en-US" dirty="0">
                          <a:solidFill>
                            <a:srgbClr val="000000"/>
                          </a:solidFill>
                          <a:effectLst/>
                          <a:latin typeface="&amp;quot"/>
                        </a:rPr>
                        <a:t>Long-Short-Term-Memory</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algn="l"/>
                      <a:r>
                        <a:rPr lang="en-US" dirty="0">
                          <a:solidFill>
                            <a:srgbClr val="000000"/>
                          </a:solidFill>
                          <a:effectLst/>
                          <a:latin typeface="&amp;quot"/>
                        </a:rPr>
                        <a:t>1997</a:t>
                      </a:r>
                    </a:p>
                  </a:txBody>
                  <a:tcPr marL="63500" marR="63500" marT="63500" marB="635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2848449019"/>
                  </a:ext>
                </a:extLst>
              </a:tr>
            </a:tbl>
          </a:graphicData>
        </a:graphic>
      </p:graphicFrame>
    </p:spTree>
    <p:extLst>
      <p:ext uri="{BB962C8B-B14F-4D97-AF65-F5344CB8AC3E}">
        <p14:creationId xmlns:p14="http://schemas.microsoft.com/office/powerpoint/2010/main" val="1934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the Parent Field</a:t>
            </a:r>
          </a:p>
        </p:txBody>
      </p:sp>
      <p:sp>
        <p:nvSpPr>
          <p:cNvPr id="3" name="Content Placeholder 2"/>
          <p:cNvSpPr>
            <a:spLocks noGrp="1"/>
          </p:cNvSpPr>
          <p:nvPr>
            <p:ph idx="1"/>
          </p:nvPr>
        </p:nvSpPr>
        <p:spPr>
          <a:xfrm>
            <a:off x="1371600" y="1552507"/>
            <a:ext cx="9601200" cy="5078538"/>
          </a:xfrm>
        </p:spPr>
        <p:txBody>
          <a:bodyPr>
            <a:normAutofit lnSpcReduction="10000"/>
          </a:bodyPr>
          <a:lstStyle/>
          <a:p>
            <a:r>
              <a:rPr lang="en-US" sz="2400" dirty="0"/>
              <a:t>Born in the 1950’s as an attempt to answer the question: Can Machines Think? </a:t>
            </a:r>
          </a:p>
          <a:p>
            <a:r>
              <a:rPr lang="en-US" sz="2400" dirty="0">
                <a:solidFill>
                  <a:srgbClr val="7030A0"/>
                </a:solidFill>
              </a:rPr>
              <a:t>One popular definition of AI : </a:t>
            </a:r>
            <a:r>
              <a:rPr lang="en-US" sz="2400" i="1" dirty="0">
                <a:solidFill>
                  <a:srgbClr val="7030A0"/>
                </a:solidFill>
              </a:rPr>
              <a:t>the effort to automate intellectual tasks normally performed by humans</a:t>
            </a:r>
            <a:r>
              <a:rPr lang="en-US" sz="2400" dirty="0">
                <a:solidFill>
                  <a:srgbClr val="7030A0"/>
                </a:solidFill>
              </a:rPr>
              <a:t>. </a:t>
            </a:r>
          </a:p>
          <a:p>
            <a:r>
              <a:rPr lang="en-US" sz="2400" dirty="0"/>
              <a:t>Traditional symbolic AI is based on the assumption that computers  (machines) can achieve human level intelligence by having programmers (developers) hand-craft a large set of rules that manipulate knowledge and conditions (examples: playing chess- Expert Systems- Syntax and Semantic Rules for NLP, Sentiment Analysis)</a:t>
            </a:r>
          </a:p>
          <a:p>
            <a:r>
              <a:rPr lang="en-US" sz="2400" dirty="0">
                <a:solidFill>
                  <a:srgbClr val="7030A0"/>
                </a:solidFill>
              </a:rPr>
              <a:t>Accordingly,  symbolic AI  systems are rule based and rely on human beings to build rule-bases or knowledge bases</a:t>
            </a:r>
          </a:p>
          <a:p>
            <a:r>
              <a:rPr lang="en-US" sz="2400" dirty="0"/>
              <a:t>Examples are chess playing programs and expert systems</a:t>
            </a:r>
          </a:p>
          <a:p>
            <a:endParaRPr lang="en-US" sz="2400" dirty="0"/>
          </a:p>
          <a:p>
            <a:endParaRPr lang="en-US" dirty="0"/>
          </a:p>
        </p:txBody>
      </p:sp>
    </p:spTree>
    <p:extLst>
      <p:ext uri="{BB962C8B-B14F-4D97-AF65-F5344CB8AC3E}">
        <p14:creationId xmlns:p14="http://schemas.microsoft.com/office/powerpoint/2010/main" val="4007333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sp>
        <p:nvSpPr>
          <p:cNvPr id="3" name="Content Placeholder 2"/>
          <p:cNvSpPr>
            <a:spLocks noGrp="1"/>
          </p:cNvSpPr>
          <p:nvPr>
            <p:ph idx="1"/>
          </p:nvPr>
        </p:nvSpPr>
        <p:spPr>
          <a:xfrm>
            <a:off x="1371600" y="1723545"/>
            <a:ext cx="10134052" cy="4703569"/>
          </a:xfrm>
        </p:spPr>
        <p:txBody>
          <a:bodyPr>
            <a:normAutofit/>
          </a:bodyPr>
          <a:lstStyle/>
          <a:p>
            <a:r>
              <a:rPr lang="en-US" sz="2400" dirty="0"/>
              <a:t>In 1843, Ada Lovelace commented on the intelligence  of the Mechanical Engine (Computer)  invented by Babbage  (the first Mechanical Computer) : “</a:t>
            </a:r>
            <a:r>
              <a:rPr lang="en-US" sz="2400" dirty="0">
                <a:solidFill>
                  <a:srgbClr val="7030A0"/>
                </a:solidFill>
              </a:rPr>
              <a:t>The Analytical Engine has no pretensions whatever to originate anything. It can do whatever we know how to order it to perform.... Its province is to assist us in making available what we’re already acquainted with.”</a:t>
            </a:r>
          </a:p>
          <a:p>
            <a:r>
              <a:rPr lang="en-US" sz="2400" dirty="0"/>
              <a:t>Turing, 1950 commented on Ada objection and concluded that general purpose machines (computers)  are capable of learning and originality.</a:t>
            </a:r>
          </a:p>
          <a:p>
            <a:r>
              <a:rPr lang="en-US" sz="2400" dirty="0"/>
              <a:t>Later, machine learning emerged as an answer to the same Ada objection: could a computer go beyond </a:t>
            </a:r>
            <a:r>
              <a:rPr lang="en-US" sz="2400" dirty="0">
                <a:solidFill>
                  <a:srgbClr val="7030A0"/>
                </a:solidFill>
              </a:rPr>
              <a:t>“what we know how to order it to perform</a:t>
            </a:r>
            <a:r>
              <a:rPr lang="en-US" sz="2400" dirty="0"/>
              <a:t>” and </a:t>
            </a:r>
            <a:r>
              <a:rPr lang="en-US" sz="2400" dirty="0">
                <a:solidFill>
                  <a:srgbClr val="C00000"/>
                </a:solidFill>
              </a:rPr>
              <a:t>learn on its own how to perform a specified task</a:t>
            </a:r>
            <a:r>
              <a:rPr lang="en-US" sz="2400" dirty="0"/>
              <a:t>? </a:t>
            </a:r>
          </a:p>
        </p:txBody>
      </p:sp>
    </p:spTree>
    <p:extLst>
      <p:ext uri="{BB962C8B-B14F-4D97-AF65-F5344CB8AC3E}">
        <p14:creationId xmlns:p14="http://schemas.microsoft.com/office/powerpoint/2010/main" val="1641574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Systems Discover Rules From Data</a:t>
            </a:r>
          </a:p>
        </p:txBody>
      </p:sp>
      <p:sp>
        <p:nvSpPr>
          <p:cNvPr id="3" name="Content Placeholder 2"/>
          <p:cNvSpPr>
            <a:spLocks noGrp="1"/>
          </p:cNvSpPr>
          <p:nvPr>
            <p:ph idx="1"/>
          </p:nvPr>
        </p:nvSpPr>
        <p:spPr>
          <a:xfrm>
            <a:off x="1371600" y="1907741"/>
            <a:ext cx="9601200" cy="4950259"/>
          </a:xfrm>
        </p:spPr>
        <p:txBody>
          <a:bodyPr/>
          <a:lstStyle/>
          <a:p>
            <a:r>
              <a:rPr lang="en-US" sz="2400" dirty="0"/>
              <a:t>Machine-learning systems are </a:t>
            </a:r>
            <a:r>
              <a:rPr lang="en-US" sz="2400" i="1" dirty="0"/>
              <a:t>trained</a:t>
            </a:r>
            <a:r>
              <a:rPr lang="en-US" sz="2400" dirty="0"/>
              <a:t> rather than explicitly programmed. </a:t>
            </a:r>
          </a:p>
          <a:p>
            <a:r>
              <a:rPr lang="en-US" sz="2400" dirty="0"/>
              <a:t>They are  presented with many examples and patterns relevant to the problem, and they discover some structures in these examples that makes  the system capable of generating rules that automate the solution of the problem and the performance of a general task. For example image recognition.</a:t>
            </a:r>
          </a:p>
          <a:p>
            <a:endParaRPr lang="en-US" dirty="0"/>
          </a:p>
          <a:p>
            <a:endParaRPr lang="en-US" dirty="0"/>
          </a:p>
          <a:p>
            <a:endParaRPr lang="en-US" dirty="0"/>
          </a:p>
        </p:txBody>
      </p:sp>
      <p:pic>
        <p:nvPicPr>
          <p:cNvPr id="4" name="Picture 3" descr="https://www.safaribooksonline.com/library/view/deep-learning-with/9781617294433/01fig02.jpg"/>
          <p:cNvPicPr/>
          <p:nvPr/>
        </p:nvPicPr>
        <p:blipFill>
          <a:blip r:embed="rId2">
            <a:extLst>
              <a:ext uri="{28A0092B-C50C-407E-A947-70E740481C1C}">
                <a14:useLocalDpi xmlns:a14="http://schemas.microsoft.com/office/drawing/2010/main" val="0"/>
              </a:ext>
            </a:extLst>
          </a:blip>
          <a:srcRect/>
          <a:stretch>
            <a:fillRect/>
          </a:stretch>
        </p:blipFill>
        <p:spPr bwMode="auto">
          <a:xfrm>
            <a:off x="3678045" y="4585839"/>
            <a:ext cx="4339991" cy="2078967"/>
          </a:xfrm>
          <a:prstGeom prst="rect">
            <a:avLst/>
          </a:prstGeom>
          <a:noFill/>
          <a:ln>
            <a:noFill/>
          </a:ln>
        </p:spPr>
      </p:pic>
    </p:spTree>
    <p:extLst>
      <p:ext uri="{BB962C8B-B14F-4D97-AF65-F5344CB8AC3E}">
        <p14:creationId xmlns:p14="http://schemas.microsoft.com/office/powerpoint/2010/main" val="3591415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a:t>
            </a:r>
          </a:p>
        </p:txBody>
      </p:sp>
      <p:sp>
        <p:nvSpPr>
          <p:cNvPr id="3" name="Content Placeholder 2"/>
          <p:cNvSpPr>
            <a:spLocks noGrp="1"/>
          </p:cNvSpPr>
          <p:nvPr>
            <p:ph idx="1"/>
          </p:nvPr>
        </p:nvSpPr>
        <p:spPr/>
        <p:txBody>
          <a:bodyPr>
            <a:normAutofit/>
          </a:bodyPr>
          <a:lstStyle/>
          <a:p>
            <a:r>
              <a:rPr lang="en-US" sz="2800" dirty="0"/>
              <a:t>Machine Learning is:  “searching for useful representations of some input data, within a predefined space of possibilities, using guidance from a feedback signal”. </a:t>
            </a:r>
          </a:p>
          <a:p>
            <a:r>
              <a:rPr lang="en-US" sz="2800" dirty="0"/>
              <a:t>This simple idea makes it possible to solve a broad range of intellectual tasks, from speech recognition to autonomous car driving. </a:t>
            </a:r>
          </a:p>
        </p:txBody>
      </p:sp>
    </p:spTree>
    <p:extLst>
      <p:ext uri="{BB962C8B-B14F-4D97-AF65-F5344CB8AC3E}">
        <p14:creationId xmlns:p14="http://schemas.microsoft.com/office/powerpoint/2010/main" val="3789933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 Learning</a:t>
            </a:r>
          </a:p>
        </p:txBody>
      </p:sp>
      <p:sp>
        <p:nvSpPr>
          <p:cNvPr id="3" name="Content Placeholder 2"/>
          <p:cNvSpPr>
            <a:spLocks noGrp="1"/>
          </p:cNvSpPr>
          <p:nvPr>
            <p:ph idx="1"/>
          </p:nvPr>
        </p:nvSpPr>
        <p:spPr>
          <a:xfrm>
            <a:off x="1371600" y="1368311"/>
            <a:ext cx="9601200" cy="5144321"/>
          </a:xfrm>
        </p:spPr>
        <p:txBody>
          <a:bodyPr>
            <a:normAutofit/>
          </a:bodyPr>
          <a:lstStyle/>
          <a:p>
            <a:r>
              <a:rPr lang="en-US" sz="2400" dirty="0"/>
              <a:t>a new approach on learning representations from data that puts an emphasis on learning successive </a:t>
            </a:r>
            <a:r>
              <a:rPr lang="en-US" sz="2400" i="1" dirty="0"/>
              <a:t>layers</a:t>
            </a:r>
            <a:r>
              <a:rPr lang="en-US" sz="2400" dirty="0"/>
              <a:t> of increasingly meaningful representations.</a:t>
            </a:r>
          </a:p>
          <a:p>
            <a:r>
              <a:rPr lang="en-US" sz="2400" dirty="0">
                <a:solidFill>
                  <a:srgbClr val="7030A0"/>
                </a:solidFill>
              </a:rPr>
              <a:t>Deep learning is a variation and subfield of machine learning where the emphasis is on learning representations using multi-layer neural networks</a:t>
            </a:r>
          </a:p>
          <a:p>
            <a:r>
              <a:rPr lang="en-US" sz="2400" dirty="0"/>
              <a:t>The word “deep” here refers to the number of hidden (intermediate) layers in the neural network – usually more than two hidden layers indicates a deep network</a:t>
            </a:r>
          </a:p>
          <a:p>
            <a:r>
              <a:rPr lang="en-US" sz="2400" dirty="0">
                <a:solidFill>
                  <a:srgbClr val="7030A0"/>
                </a:solidFill>
              </a:rPr>
              <a:t>Another difference from traditional machine learning is that features are extracted by the model, while in machine learning feature extraction is made through some manual tasks</a:t>
            </a:r>
          </a:p>
          <a:p>
            <a:endParaRPr lang="en-US" dirty="0"/>
          </a:p>
        </p:txBody>
      </p:sp>
    </p:spTree>
    <p:extLst>
      <p:ext uri="{BB962C8B-B14F-4D97-AF65-F5344CB8AC3E}">
        <p14:creationId xmlns:p14="http://schemas.microsoft.com/office/powerpoint/2010/main" val="1478202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Neural Networks: Lessons From Biology</a:t>
            </a:r>
            <a:br>
              <a:rPr lang="en-US" dirty="0"/>
            </a:br>
            <a:r>
              <a:rPr lang="en-US" dirty="0"/>
              <a:t>Neurons</a:t>
            </a:r>
          </a:p>
        </p:txBody>
      </p:sp>
      <p:pic>
        <p:nvPicPr>
          <p:cNvPr id="4" name="Content Placeholder 3" descr="mlst 1001"/>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13804" y="2044460"/>
            <a:ext cx="7566542" cy="4114801"/>
          </a:xfrm>
          <a:prstGeom prst="rect">
            <a:avLst/>
          </a:prstGeom>
          <a:noFill/>
          <a:ln>
            <a:noFill/>
          </a:ln>
        </p:spPr>
      </p:pic>
    </p:spTree>
    <p:extLst>
      <p:ext uri="{BB962C8B-B14F-4D97-AF65-F5344CB8AC3E}">
        <p14:creationId xmlns:p14="http://schemas.microsoft.com/office/powerpoint/2010/main" val="1106445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Lessons From Biology: Layers of Neurons</a:t>
            </a:r>
          </a:p>
        </p:txBody>
      </p:sp>
      <p:pic>
        <p:nvPicPr>
          <p:cNvPr id="4" name="Content Placeholder 3" descr="mlst 1002"/>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2649" y="2171701"/>
            <a:ext cx="7254815" cy="3763274"/>
          </a:xfrm>
          <a:prstGeom prst="rect">
            <a:avLst/>
          </a:prstGeom>
          <a:noFill/>
          <a:ln>
            <a:noFill/>
          </a:ln>
        </p:spPr>
      </p:pic>
    </p:spTree>
    <p:extLst>
      <p:ext uri="{BB962C8B-B14F-4D97-AF65-F5344CB8AC3E}">
        <p14:creationId xmlns:p14="http://schemas.microsoft.com/office/powerpoint/2010/main" val="1283407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pic>
        <p:nvPicPr>
          <p:cNvPr id="4" name="Content Placeholder 3" descr="https://www.safaribooksonline.com/library/view/deep-learning-with/9781617294433/01fig05.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6604" y="2398143"/>
            <a:ext cx="7082287" cy="3726612"/>
          </a:xfrm>
          <a:prstGeom prst="rect">
            <a:avLst/>
          </a:prstGeom>
          <a:noFill/>
          <a:ln>
            <a:noFill/>
          </a:ln>
        </p:spPr>
      </p:pic>
    </p:spTree>
    <p:extLst>
      <p:ext uri="{BB962C8B-B14F-4D97-AF65-F5344CB8AC3E}">
        <p14:creationId xmlns:p14="http://schemas.microsoft.com/office/powerpoint/2010/main" val="1096279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a:t>
            </a:r>
          </a:p>
        </p:txBody>
      </p:sp>
      <p:pic>
        <p:nvPicPr>
          <p:cNvPr id="4" name="Content Placeholder 3" descr="https://www.safaribooksonline.com/library/view/deep-learning-with/9781617294433/01fig06_alt.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93366" y="1630392"/>
            <a:ext cx="8108830" cy="4571999"/>
          </a:xfrm>
          <a:prstGeom prst="rect">
            <a:avLst/>
          </a:prstGeom>
          <a:noFill/>
          <a:ln>
            <a:noFill/>
          </a:ln>
        </p:spPr>
      </p:pic>
    </p:spTree>
    <p:extLst>
      <p:ext uri="{BB962C8B-B14F-4D97-AF65-F5344CB8AC3E}">
        <p14:creationId xmlns:p14="http://schemas.microsoft.com/office/powerpoint/2010/main" val="3372043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Weights</a:t>
            </a:r>
          </a:p>
        </p:txBody>
      </p:sp>
      <p:pic>
        <p:nvPicPr>
          <p:cNvPr id="4" name="Content Placeholder 3" descr="https://www.safaribooksonline.com/library/view/deep-learning-with/9781617294433/01fig07.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43532" y="2171700"/>
            <a:ext cx="5727940" cy="3642504"/>
          </a:xfrm>
          <a:prstGeom prst="rect">
            <a:avLst/>
          </a:prstGeom>
          <a:noFill/>
          <a:ln>
            <a:noFill/>
          </a:ln>
        </p:spPr>
      </p:pic>
    </p:spTree>
    <p:extLst>
      <p:ext uri="{BB962C8B-B14F-4D97-AF65-F5344CB8AC3E}">
        <p14:creationId xmlns:p14="http://schemas.microsoft.com/office/powerpoint/2010/main" val="3709156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5286" y="60850"/>
            <a:ext cx="9601200" cy="1485900"/>
          </a:xfrm>
        </p:spPr>
        <p:txBody>
          <a:bodyPr/>
          <a:lstStyle/>
          <a:p>
            <a:r>
              <a:rPr lang="en-US" dirty="0"/>
              <a:t>The Loss Function: The Learning Process</a:t>
            </a:r>
          </a:p>
        </p:txBody>
      </p:sp>
      <p:pic>
        <p:nvPicPr>
          <p:cNvPr id="4" name="Content Placeholder 3" descr="https://www.safaribooksonline.com/library/view/deep-learning-with/9781617294433/01fig09.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6656" y="1682151"/>
            <a:ext cx="8384875" cy="4856671"/>
          </a:xfrm>
          <a:prstGeom prst="rect">
            <a:avLst/>
          </a:prstGeom>
          <a:noFill/>
          <a:ln>
            <a:noFill/>
          </a:ln>
        </p:spPr>
      </p:pic>
    </p:spTree>
    <p:extLst>
      <p:ext uri="{BB962C8B-B14F-4D97-AF65-F5344CB8AC3E}">
        <p14:creationId xmlns:p14="http://schemas.microsoft.com/office/powerpoint/2010/main" val="260072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Parameters</a:t>
            </a:r>
          </a:p>
        </p:txBody>
      </p:sp>
      <p:sp>
        <p:nvSpPr>
          <p:cNvPr id="3" name="Content Placeholder 2"/>
          <p:cNvSpPr>
            <a:spLocks noGrp="1"/>
          </p:cNvSpPr>
          <p:nvPr>
            <p:ph idx="1"/>
          </p:nvPr>
        </p:nvSpPr>
        <p:spPr/>
        <p:txBody>
          <a:bodyPr/>
          <a:lstStyle/>
          <a:p>
            <a:pPr marL="0" indent="0">
              <a:buNone/>
            </a:pPr>
            <a:r>
              <a:rPr lang="en-US" dirty="0"/>
              <a:t>To perform training and testing, we need to decide on three important parameters: </a:t>
            </a:r>
          </a:p>
          <a:p>
            <a:pPr lvl="0"/>
            <a:r>
              <a:rPr lang="en-US" b="1" i="1" dirty="0"/>
              <a:t>A loss function—</a:t>
            </a:r>
            <a:r>
              <a:rPr lang="en-US" b="1" dirty="0"/>
              <a:t> </a:t>
            </a:r>
            <a:r>
              <a:rPr lang="en-US" dirty="0"/>
              <a:t>How the network will be able to measure its performance on the training data, and thus how it will be able to steer itself in the right direction. </a:t>
            </a:r>
          </a:p>
          <a:p>
            <a:pPr lvl="0"/>
            <a:r>
              <a:rPr lang="en-US" b="1" i="1" dirty="0"/>
              <a:t>An optimizer—</a:t>
            </a:r>
            <a:r>
              <a:rPr lang="en-US" b="1" dirty="0"/>
              <a:t> </a:t>
            </a:r>
            <a:r>
              <a:rPr lang="en-US" dirty="0"/>
              <a:t>The mechanism through which the network will update itself based on the data it sees and its loss function. </a:t>
            </a:r>
          </a:p>
          <a:p>
            <a:pPr lvl="0"/>
            <a:r>
              <a:rPr lang="en-US" b="1" i="1" dirty="0"/>
              <a:t>Metrics to monitor during training and testing—</a:t>
            </a:r>
            <a:r>
              <a:rPr lang="en-US" b="1" dirty="0"/>
              <a:t> </a:t>
            </a:r>
            <a:r>
              <a:rPr lang="en-US" dirty="0"/>
              <a:t>Here, we’ll only care about accuracy (the fraction of the images that were correctly classified). </a:t>
            </a:r>
          </a:p>
          <a:p>
            <a:endParaRPr lang="en-US" dirty="0"/>
          </a:p>
        </p:txBody>
      </p:sp>
    </p:spTree>
    <p:extLst>
      <p:ext uri="{BB962C8B-B14F-4D97-AF65-F5344CB8AC3E}">
        <p14:creationId xmlns:p14="http://schemas.microsoft.com/office/powerpoint/2010/main" val="4186144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1C639-B461-4342-B95C-908E8DCCAC82}"/>
              </a:ext>
            </a:extLst>
          </p:cNvPr>
          <p:cNvSpPr>
            <a:spLocks noGrp="1"/>
          </p:cNvSpPr>
          <p:nvPr>
            <p:ph type="title"/>
          </p:nvPr>
        </p:nvSpPr>
        <p:spPr/>
        <p:txBody>
          <a:bodyPr/>
          <a:lstStyle/>
          <a:p>
            <a:r>
              <a:rPr lang="en-US" dirty="0"/>
              <a:t>Training and Deploying the Model:</a:t>
            </a:r>
          </a:p>
        </p:txBody>
      </p:sp>
      <p:sp>
        <p:nvSpPr>
          <p:cNvPr id="3" name="Content Placeholder 2">
            <a:extLst>
              <a:ext uri="{FF2B5EF4-FFF2-40B4-BE49-F238E27FC236}">
                <a16:creationId xmlns:a16="http://schemas.microsoft.com/office/drawing/2014/main" id="{6548F280-1EA6-4F67-9516-1A925F0E129F}"/>
              </a:ext>
            </a:extLst>
          </p:cNvPr>
          <p:cNvSpPr>
            <a:spLocks noGrp="1"/>
          </p:cNvSpPr>
          <p:nvPr>
            <p:ph idx="1"/>
          </p:nvPr>
        </p:nvSpPr>
        <p:spPr/>
        <p:txBody>
          <a:bodyPr/>
          <a:lstStyle/>
          <a:p>
            <a:pPr marL="0" indent="0">
              <a:buNone/>
            </a:pPr>
            <a:r>
              <a:rPr lang="en-US" dirty="0"/>
              <a:t>The deep learning process consists of three steps:</a:t>
            </a:r>
          </a:p>
          <a:p>
            <a:r>
              <a:rPr lang="en-US" dirty="0"/>
              <a:t>Training the model using the training portion of the data set</a:t>
            </a:r>
          </a:p>
          <a:p>
            <a:r>
              <a:rPr lang="en-US" dirty="0"/>
              <a:t>Test the model using the testing portion of the data set</a:t>
            </a:r>
          </a:p>
          <a:p>
            <a:r>
              <a:rPr lang="en-US" dirty="0"/>
              <a:t>Save the trained model</a:t>
            </a:r>
          </a:p>
          <a:p>
            <a:r>
              <a:rPr lang="en-US" dirty="0"/>
              <a:t>Deploy the saved model to perform real tasks</a:t>
            </a:r>
          </a:p>
          <a:p>
            <a:endParaRPr lang="en-US" dirty="0"/>
          </a:p>
        </p:txBody>
      </p:sp>
    </p:spTree>
    <p:extLst>
      <p:ext uri="{BB962C8B-B14F-4D97-AF65-F5344CB8AC3E}">
        <p14:creationId xmlns:p14="http://schemas.microsoft.com/office/powerpoint/2010/main" val="3914555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1309</TotalTime>
  <Words>763</Words>
  <Application>Microsoft Office PowerPoint</Application>
  <PresentationFormat>Widescreen</PresentationFormat>
  <Paragraphs>63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&amp;quot</vt:lpstr>
      <vt:lpstr>Franklin Gothic Book</vt:lpstr>
      <vt:lpstr>Crop</vt:lpstr>
      <vt:lpstr>The Context: Deep Learning, AI and Machine Learning</vt:lpstr>
      <vt:lpstr>Foreword</vt:lpstr>
      <vt:lpstr>Machine Learning is  Subfield of AI</vt:lpstr>
      <vt:lpstr>It is not that new – Revival Due to Advances in Technology</vt:lpstr>
      <vt:lpstr>AI, the Parent Field</vt:lpstr>
      <vt:lpstr>Machine Learning?</vt:lpstr>
      <vt:lpstr>Machine Learning Systems Discover Rules From Data</vt:lpstr>
      <vt:lpstr>What is Machine Learning?</vt:lpstr>
      <vt:lpstr>Deep Learning</vt:lpstr>
      <vt:lpstr>Neural Networks: Lessons From Biology Neurons</vt:lpstr>
      <vt:lpstr>Lessons From Biology: Layers of Neurons</vt:lpstr>
      <vt:lpstr>Examples</vt:lpstr>
      <vt:lpstr>Another Example</vt:lpstr>
      <vt:lpstr>The Weights</vt:lpstr>
      <vt:lpstr>The Loss Function: The Learning Process</vt:lpstr>
      <vt:lpstr>Important Parameters</vt:lpstr>
      <vt:lpstr>Training and Deploying the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EL-Affendi</dc:creator>
  <cp:lastModifiedBy>Prof Mohammed ELAffendi</cp:lastModifiedBy>
  <cp:revision>36</cp:revision>
  <dcterms:created xsi:type="dcterms:W3CDTF">2018-09-04T10:45:06Z</dcterms:created>
  <dcterms:modified xsi:type="dcterms:W3CDTF">2025-09-16T09:37:49Z</dcterms:modified>
</cp:coreProperties>
</file>