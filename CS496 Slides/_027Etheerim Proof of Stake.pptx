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5" r:id="rId3"/>
    <p:sldId id="267" r:id="rId4"/>
    <p:sldId id="276" r:id="rId5"/>
    <p:sldId id="277" r:id="rId6"/>
    <p:sldId id="279" r:id="rId7"/>
    <p:sldId id="278" r:id="rId8"/>
    <p:sldId id="280" r:id="rId9"/>
    <p:sldId id="268" r:id="rId10"/>
    <p:sldId id="269" r:id="rId11"/>
    <p:sldId id="270" r:id="rId12"/>
    <p:sldId id="271" r:id="rId13"/>
    <p:sldId id="272" r:id="rId14"/>
    <p:sldId id="273" r:id="rId15"/>
    <p:sldId id="274" r:id="rId16"/>
    <p:sldId id="281" r:id="rId17"/>
    <p:sldId id="282" r:id="rId18"/>
    <p:sldId id="283"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2" autoAdjust="0"/>
    <p:restoredTop sz="94660"/>
  </p:normalViewPr>
  <p:slideViewPr>
    <p:cSldViewPr snapToGrid="0">
      <p:cViewPr>
        <p:scale>
          <a:sx n="75" d="100"/>
          <a:sy n="75" d="100"/>
        </p:scale>
        <p:origin x="43" y="3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950436C-4C75-43D7-82C7-21026AC3A542}" type="datetimeFigureOut">
              <a:rPr lang="en-US" smtClean="0"/>
              <a:t>3/30/2026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8CF13874-5EBF-4435-BBD8-589ADC113002}"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51564718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0436C-4C75-43D7-82C7-21026AC3A54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4211018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950436C-4C75-43D7-82C7-21026AC3A542}" type="datetimeFigureOut">
              <a:rPr lang="en-US" smtClean="0"/>
              <a:t>3/30/2026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8CF13874-5EBF-4435-BBD8-589ADC113002}"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6128983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50436C-4C75-43D7-82C7-21026AC3A54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529083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50436C-4C75-43D7-82C7-21026AC3A542}"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366476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50436C-4C75-43D7-82C7-21026AC3A542}"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243375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50436C-4C75-43D7-82C7-21026AC3A542}"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1025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950436C-4C75-43D7-82C7-21026AC3A542}" type="datetimeFigureOut">
              <a:rPr lang="en-US" smtClean="0"/>
              <a:t>3/30/2026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8CF13874-5EBF-4435-BBD8-589ADC11300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99289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950436C-4C75-43D7-82C7-21026AC3A542}" type="datetimeFigureOut">
              <a:rPr lang="en-US" smtClean="0"/>
              <a:t>3/30/2026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8CF13874-5EBF-4435-BBD8-589ADC11300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2511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0436C-4C75-43D7-82C7-21026AC3A54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1114742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50436C-4C75-43D7-82C7-21026AC3A54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13874-5EBF-4435-BBD8-589ADC113002}" type="slidenum">
              <a:rPr lang="en-US" smtClean="0"/>
              <a:t>‹#›</a:t>
            </a:fld>
            <a:endParaRPr lang="en-US"/>
          </a:p>
        </p:txBody>
      </p:sp>
    </p:spTree>
    <p:extLst>
      <p:ext uri="{BB962C8B-B14F-4D97-AF65-F5344CB8AC3E}">
        <p14:creationId xmlns:p14="http://schemas.microsoft.com/office/powerpoint/2010/main" val="391651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950436C-4C75-43D7-82C7-21026AC3A542}" type="datetimeFigureOut">
              <a:rPr lang="en-US" smtClean="0"/>
              <a:t>3/30/2026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8CF13874-5EBF-4435-BBD8-589ADC113002}"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96138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ereum.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ethereum.org/developers/docs/gas/#base-fee" TargetMode="External"/><Relationship Id="rId3" Type="http://schemas.openxmlformats.org/officeDocument/2006/relationships/hyperlink" Target="https://docs.ethers.org/v6/" TargetMode="External"/><Relationship Id="rId7" Type="http://schemas.openxmlformats.org/officeDocument/2006/relationships/hyperlink" Target="https://ethereum.org/developers/docs/gas/#priority-fee" TargetMode="External"/><Relationship Id="rId2" Type="http://schemas.openxmlformats.org/officeDocument/2006/relationships/hyperlink" Target="https://ethereum.org/developers/docs/transactions/" TargetMode="External"/><Relationship Id="rId1" Type="http://schemas.openxmlformats.org/officeDocument/2006/relationships/slideLayout" Target="../slideLayouts/slideLayout2.xml"/><Relationship Id="rId6" Type="http://schemas.openxmlformats.org/officeDocument/2006/relationships/hyperlink" Target="https://ethereum.org/developers/docs/apis/json-rpc/" TargetMode="External"/><Relationship Id="rId5" Type="http://schemas.openxmlformats.org/officeDocument/2006/relationships/hyperlink" Target="https://web3py.readthedocs.io/en/v5/" TargetMode="External"/><Relationship Id="rId4" Type="http://schemas.openxmlformats.org/officeDocument/2006/relationships/hyperlink" Target="https://docs.web3js.org/" TargetMode="External"/><Relationship Id="rId9" Type="http://schemas.openxmlformats.org/officeDocument/2006/relationships/hyperlink" Target="https://ethereum.org/developers/docs/nodes-and-clients/#execution-client"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ethereum.org/developers/docs/mev/#mev-extraction" TargetMode="External"/><Relationship Id="rId2" Type="http://schemas.openxmlformats.org/officeDocument/2006/relationships/hyperlink" Target="https://docs.flashbots.net/flashbots-auction/overview"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thereum.org/developers/docs/networking-layer/#connecting-client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thereum.org/developers/docs/consensus-mechanisms/pos/#fork-choic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rxiv.org/pdf/1710.09437"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FF3D-B857-4B38-899D-2AA92D5F31F7}"/>
              </a:ext>
            </a:extLst>
          </p:cNvPr>
          <p:cNvSpPr>
            <a:spLocks noGrp="1"/>
          </p:cNvSpPr>
          <p:nvPr>
            <p:ph type="ctrTitle"/>
          </p:nvPr>
        </p:nvSpPr>
        <p:spPr/>
        <p:txBody>
          <a:bodyPr/>
          <a:lstStyle/>
          <a:p>
            <a:r>
              <a:rPr lang="en-US" sz="5400" dirty="0"/>
              <a:t>Ethereum Proof of Stake Algorithm</a:t>
            </a:r>
          </a:p>
        </p:txBody>
      </p:sp>
      <p:sp>
        <p:nvSpPr>
          <p:cNvPr id="3" name="Subtitle 2">
            <a:extLst>
              <a:ext uri="{FF2B5EF4-FFF2-40B4-BE49-F238E27FC236}">
                <a16:creationId xmlns:a16="http://schemas.microsoft.com/office/drawing/2014/main" id="{26031180-6344-49FC-B9A9-D32EE2D37FB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97833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FBBC-270F-F176-BA27-2E88A9B79185}"/>
              </a:ext>
            </a:extLst>
          </p:cNvPr>
          <p:cNvSpPr>
            <a:spLocks noGrp="1"/>
          </p:cNvSpPr>
          <p:nvPr>
            <p:ph type="title"/>
          </p:nvPr>
        </p:nvSpPr>
        <p:spPr>
          <a:xfrm>
            <a:off x="1371600" y="685800"/>
            <a:ext cx="9601200" cy="970280"/>
          </a:xfrm>
        </p:spPr>
        <p:txBody>
          <a:bodyPr/>
          <a:lstStyle/>
          <a:p>
            <a:r>
              <a:rPr lang="en-US" dirty="0"/>
              <a:t>Stake, not Compute</a:t>
            </a:r>
          </a:p>
        </p:txBody>
      </p:sp>
      <p:sp>
        <p:nvSpPr>
          <p:cNvPr id="3" name="Content Placeholder 2">
            <a:extLst>
              <a:ext uri="{FF2B5EF4-FFF2-40B4-BE49-F238E27FC236}">
                <a16:creationId xmlns:a16="http://schemas.microsoft.com/office/drawing/2014/main" id="{39B669E1-8EB3-6CF4-EA77-4070AA293DB0}"/>
              </a:ext>
            </a:extLst>
          </p:cNvPr>
          <p:cNvSpPr>
            <a:spLocks noGrp="1"/>
          </p:cNvSpPr>
          <p:nvPr>
            <p:ph idx="1"/>
          </p:nvPr>
        </p:nvSpPr>
        <p:spPr>
          <a:xfrm>
            <a:off x="1371600" y="1656080"/>
            <a:ext cx="9601200" cy="4211320"/>
          </a:xfrm>
        </p:spPr>
        <p:txBody>
          <a:bodyPr>
            <a:normAutofit/>
          </a:bodyPr>
          <a:lstStyle/>
          <a:p>
            <a:r>
              <a:rPr lang="en-US" sz="2400" dirty="0"/>
              <a:t>In Proof-of-Work, miners compete by burning electricity to solve hash puzzles. </a:t>
            </a:r>
          </a:p>
          <a:p>
            <a:r>
              <a:rPr lang="en-US" sz="2400" dirty="0"/>
              <a:t>The winner proposes the next block. I</a:t>
            </a:r>
          </a:p>
          <a:p>
            <a:r>
              <a:rPr lang="en-US" sz="2400" dirty="0"/>
              <a:t>n Proof-of-Stake, validators compete by </a:t>
            </a:r>
            <a:r>
              <a:rPr lang="en-US" sz="2400" i="1" dirty="0"/>
              <a:t>locking up</a:t>
            </a:r>
            <a:r>
              <a:rPr lang="en-US" sz="2400" dirty="0"/>
              <a:t> (staking) 32 ETH as collateral. </a:t>
            </a:r>
          </a:p>
          <a:p>
            <a:r>
              <a:rPr lang="en-US" sz="2400" dirty="0"/>
              <a:t>Selection is pseudo-random, weighted by stake. The key insight: instead of wasting energy to make cheating expensive, you make cheating </a:t>
            </a:r>
            <a:r>
              <a:rPr lang="en-US" sz="2400" i="1" dirty="0"/>
              <a:t>financially suicidal</a:t>
            </a:r>
            <a:r>
              <a:rPr lang="en-US" sz="2400" dirty="0"/>
              <a:t> — a validator that misbehaves loses their staked ETH</a:t>
            </a:r>
            <a:r>
              <a:rPr lang="en-US" dirty="0"/>
              <a:t>.</a:t>
            </a:r>
          </a:p>
        </p:txBody>
      </p:sp>
    </p:spTree>
    <p:extLst>
      <p:ext uri="{BB962C8B-B14F-4D97-AF65-F5344CB8AC3E}">
        <p14:creationId xmlns:p14="http://schemas.microsoft.com/office/powerpoint/2010/main" val="3199357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B25D8-3205-21F2-FDD9-F8405F1D74E5}"/>
              </a:ext>
            </a:extLst>
          </p:cNvPr>
          <p:cNvSpPr>
            <a:spLocks noGrp="1"/>
          </p:cNvSpPr>
          <p:nvPr>
            <p:ph type="title"/>
          </p:nvPr>
        </p:nvSpPr>
        <p:spPr/>
        <p:txBody>
          <a:bodyPr/>
          <a:lstStyle/>
          <a:p>
            <a:r>
              <a:rPr lang="en-US" dirty="0"/>
              <a:t>What is Proof of Stake</a:t>
            </a:r>
          </a:p>
        </p:txBody>
      </p:sp>
      <p:sp>
        <p:nvSpPr>
          <p:cNvPr id="3" name="Content Placeholder 2">
            <a:extLst>
              <a:ext uri="{FF2B5EF4-FFF2-40B4-BE49-F238E27FC236}">
                <a16:creationId xmlns:a16="http://schemas.microsoft.com/office/drawing/2014/main" id="{7C87BA12-41C4-5687-F6A1-81A913B4BBC4}"/>
              </a:ext>
            </a:extLst>
          </p:cNvPr>
          <p:cNvSpPr>
            <a:spLocks noGrp="1"/>
          </p:cNvSpPr>
          <p:nvPr>
            <p:ph idx="1"/>
          </p:nvPr>
        </p:nvSpPr>
        <p:spPr/>
        <p:txBody>
          <a:bodyPr/>
          <a:lstStyle/>
          <a:p>
            <a:pPr marL="0" indent="0">
              <a:buNone/>
            </a:pPr>
            <a:r>
              <a:rPr lang="en-US" dirty="0"/>
              <a:t>Proof-of-stake is a way to prove that validators have put something of value into the network that can be destroyed if they act dishonestly. </a:t>
            </a:r>
          </a:p>
          <a:p>
            <a:pPr marL="0" indent="0">
              <a:buNone/>
            </a:pPr>
            <a:r>
              <a:rPr lang="en-US" dirty="0"/>
              <a:t>In </a:t>
            </a:r>
            <a:r>
              <a:rPr lang="en-US" dirty="0">
                <a:hlinkClick r:id="rId2"/>
              </a:rPr>
              <a:t>Ethereum's</a:t>
            </a:r>
            <a:r>
              <a:rPr lang="en-US" dirty="0"/>
              <a:t> proof-of-stake, validators explicitly stake capital in the form of ETH into a smart contract on Ethereum. </a:t>
            </a:r>
          </a:p>
          <a:p>
            <a:pPr marL="0" indent="0">
              <a:buNone/>
            </a:pPr>
            <a:r>
              <a:rPr lang="en-US" dirty="0"/>
              <a:t>The validator is then responsible for checking that new blocks propagated over the network are valid and occasionally creating and propagating new blocks themselves. </a:t>
            </a:r>
          </a:p>
          <a:p>
            <a:pPr marL="0" indent="0">
              <a:buNone/>
            </a:pPr>
            <a:r>
              <a:rPr lang="en-US" dirty="0"/>
              <a:t>If they try to defraud the network (for example by proposing multiple blocks when they ought to send one or sending conflicting attestations), some or all of their staked ETH can be destroyed.</a:t>
            </a:r>
          </a:p>
        </p:txBody>
      </p:sp>
    </p:spTree>
    <p:extLst>
      <p:ext uri="{BB962C8B-B14F-4D97-AF65-F5344CB8AC3E}">
        <p14:creationId xmlns:p14="http://schemas.microsoft.com/office/powerpoint/2010/main" val="220483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EAED6-7742-F392-75E8-882A8952529E}"/>
              </a:ext>
            </a:extLst>
          </p:cNvPr>
          <p:cNvSpPr>
            <a:spLocks noGrp="1"/>
          </p:cNvSpPr>
          <p:nvPr>
            <p:ph type="title"/>
          </p:nvPr>
        </p:nvSpPr>
        <p:spPr>
          <a:xfrm>
            <a:off x="1169240" y="167640"/>
            <a:ext cx="9601200" cy="858520"/>
          </a:xfrm>
        </p:spPr>
        <p:txBody>
          <a:bodyPr/>
          <a:lstStyle/>
          <a:p>
            <a:r>
              <a:rPr lang="en-US" dirty="0"/>
              <a:t>The Process</a:t>
            </a:r>
          </a:p>
        </p:txBody>
      </p:sp>
      <p:pic>
        <p:nvPicPr>
          <p:cNvPr id="5" name="Content Placeholder 4">
            <a:extLst>
              <a:ext uri="{FF2B5EF4-FFF2-40B4-BE49-F238E27FC236}">
                <a16:creationId xmlns:a16="http://schemas.microsoft.com/office/drawing/2014/main" id="{F46A1A73-88A3-2D29-E624-5EF2FFEBC7F4}"/>
              </a:ext>
            </a:extLst>
          </p:cNvPr>
          <p:cNvPicPr>
            <a:picLocks noGrp="1" noChangeAspect="1"/>
          </p:cNvPicPr>
          <p:nvPr>
            <p:ph idx="1"/>
          </p:nvPr>
        </p:nvPicPr>
        <p:blipFill>
          <a:blip r:embed="rId2"/>
          <a:stretch>
            <a:fillRect/>
          </a:stretch>
        </p:blipFill>
        <p:spPr>
          <a:xfrm>
            <a:off x="966881" y="741680"/>
            <a:ext cx="10828879" cy="5948680"/>
          </a:xfrm>
          <a:prstGeom prst="rect">
            <a:avLst/>
          </a:prstGeom>
        </p:spPr>
      </p:pic>
    </p:spTree>
    <p:extLst>
      <p:ext uri="{BB962C8B-B14F-4D97-AF65-F5344CB8AC3E}">
        <p14:creationId xmlns:p14="http://schemas.microsoft.com/office/powerpoint/2010/main" val="2385388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332C-2956-66F6-CD3B-91BC6CDB4F17}"/>
              </a:ext>
            </a:extLst>
          </p:cNvPr>
          <p:cNvSpPr>
            <a:spLocks noGrp="1"/>
          </p:cNvSpPr>
          <p:nvPr>
            <p:ph type="title"/>
          </p:nvPr>
        </p:nvSpPr>
        <p:spPr>
          <a:xfrm>
            <a:off x="1158240" y="157480"/>
            <a:ext cx="9601200" cy="919480"/>
          </a:xfrm>
        </p:spPr>
        <p:txBody>
          <a:bodyPr/>
          <a:lstStyle/>
          <a:p>
            <a:r>
              <a:rPr lang="en-US" dirty="0"/>
              <a:t>Types of Nodes involved in Validation</a:t>
            </a:r>
          </a:p>
        </p:txBody>
      </p:sp>
      <p:sp>
        <p:nvSpPr>
          <p:cNvPr id="3" name="Content Placeholder 2">
            <a:extLst>
              <a:ext uri="{FF2B5EF4-FFF2-40B4-BE49-F238E27FC236}">
                <a16:creationId xmlns:a16="http://schemas.microsoft.com/office/drawing/2014/main" id="{A722E6FF-D345-D89E-6564-B9FB6509B7AA}"/>
              </a:ext>
            </a:extLst>
          </p:cNvPr>
          <p:cNvSpPr>
            <a:spLocks noGrp="1"/>
          </p:cNvSpPr>
          <p:nvPr>
            <p:ph idx="1"/>
          </p:nvPr>
        </p:nvSpPr>
        <p:spPr>
          <a:xfrm>
            <a:off x="985520" y="1120140"/>
            <a:ext cx="10454640" cy="5453380"/>
          </a:xfrm>
        </p:spPr>
        <p:txBody>
          <a:bodyPr>
            <a:normAutofit/>
          </a:bodyPr>
          <a:lstStyle/>
          <a:p>
            <a:pPr marL="0" indent="0">
              <a:buNone/>
            </a:pPr>
            <a:r>
              <a:rPr lang="en-US" b="1" dirty="0"/>
              <a:t>he Three Types of Nodes</a:t>
            </a:r>
          </a:p>
          <a:p>
            <a:pPr marL="0" indent="0">
              <a:buNone/>
            </a:pPr>
            <a:r>
              <a:rPr lang="en-US" dirty="0"/>
              <a:t>Ethereum's post-Merge architecture separates concerns across three distinct software components that run together on a validator's machine:</a:t>
            </a:r>
          </a:p>
          <a:p>
            <a:pPr marL="0" indent="0">
              <a:buNone/>
            </a:pPr>
            <a:r>
              <a:rPr lang="en-US" b="1" dirty="0"/>
              <a:t>1. The Beacon Node (Consensus Layer Client)</a:t>
            </a:r>
            <a:r>
              <a:rPr lang="en-US" dirty="0"/>
              <a:t> This is the heart of </a:t>
            </a:r>
            <a:r>
              <a:rPr lang="en-US" dirty="0" err="1"/>
              <a:t>PoS.</a:t>
            </a:r>
            <a:r>
              <a:rPr lang="en-US" dirty="0"/>
              <a:t> It runs the consensus protocol (Gasper), maintains the beacon chain, tracks the validator registry, and orchestrates the RANDAO randomness. It implements the fork-choice rule (LMD-GHOST) and drives finality (Casper FFG). Popular implementations: Prysm, Lighthouse, Teku, Nimbus, Lodestar.</a:t>
            </a:r>
          </a:p>
          <a:p>
            <a:pPr marL="0" indent="0">
              <a:buNone/>
            </a:pPr>
            <a:r>
              <a:rPr lang="en-US" b="1" dirty="0"/>
              <a:t>2. The Execution Client (Execution Layer Client)</a:t>
            </a:r>
            <a:r>
              <a:rPr lang="en-US" dirty="0"/>
              <a:t> This carries over from the PoW era. It runs the EVM, maintains the world state , validates transactions, builds execution payloads, and manages the </a:t>
            </a:r>
            <a:r>
              <a:rPr lang="en-US" dirty="0" err="1"/>
              <a:t>mempool</a:t>
            </a:r>
            <a:r>
              <a:rPr lang="en-US" dirty="0"/>
              <a:t>. It talks to the beacon node via the </a:t>
            </a:r>
            <a:r>
              <a:rPr lang="en-US" b="1" dirty="0"/>
              <a:t>Engine API</a:t>
            </a:r>
            <a:r>
              <a:rPr lang="en-US" dirty="0"/>
              <a:t> (a local RPC interface over HTTP). Popular clients: Geth, Nethermind, Besu, </a:t>
            </a:r>
            <a:r>
              <a:rPr lang="en-US" dirty="0" err="1"/>
              <a:t>Erigon</a:t>
            </a:r>
            <a:r>
              <a:rPr lang="en-US" dirty="0"/>
              <a:t>.</a:t>
            </a:r>
          </a:p>
          <a:p>
            <a:pPr marL="0" indent="0">
              <a:buNone/>
            </a:pPr>
            <a:r>
              <a:rPr lang="en-US" b="1" dirty="0"/>
              <a:t>3. The Validator Client</a:t>
            </a:r>
            <a:r>
              <a:rPr lang="en-US" dirty="0"/>
              <a:t> A lightweight process that holds validator signing keys and interfaces with the beacon node. It has two primary duties: proposing blocks when selected, and casting attestation votes every slot. It must never sign two conflicting messages (double-voting), or it faces slashing.</a:t>
            </a:r>
          </a:p>
          <a:p>
            <a:endParaRPr lang="en-US" dirty="0"/>
          </a:p>
        </p:txBody>
      </p:sp>
    </p:spTree>
    <p:extLst>
      <p:ext uri="{BB962C8B-B14F-4D97-AF65-F5344CB8AC3E}">
        <p14:creationId xmlns:p14="http://schemas.microsoft.com/office/powerpoint/2010/main" val="325543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D3D0F-C948-9D9D-84DC-5CCB450A99EA}"/>
              </a:ext>
            </a:extLst>
          </p:cNvPr>
          <p:cNvSpPr>
            <a:spLocks noGrp="1"/>
          </p:cNvSpPr>
          <p:nvPr>
            <p:ph type="title"/>
          </p:nvPr>
        </p:nvSpPr>
        <p:spPr>
          <a:xfrm>
            <a:off x="1295400" y="167640"/>
            <a:ext cx="9601200" cy="939800"/>
          </a:xfrm>
        </p:spPr>
        <p:txBody>
          <a:bodyPr/>
          <a:lstStyle/>
          <a:p>
            <a:r>
              <a:rPr lang="en-US" dirty="0"/>
              <a:t>The Consensus Protocol</a:t>
            </a:r>
          </a:p>
        </p:txBody>
      </p:sp>
      <p:sp>
        <p:nvSpPr>
          <p:cNvPr id="3" name="Content Placeholder 2">
            <a:extLst>
              <a:ext uri="{FF2B5EF4-FFF2-40B4-BE49-F238E27FC236}">
                <a16:creationId xmlns:a16="http://schemas.microsoft.com/office/drawing/2014/main" id="{07ABE5F3-27F8-860E-E409-E5DCD3CDBAF0}"/>
              </a:ext>
            </a:extLst>
          </p:cNvPr>
          <p:cNvSpPr>
            <a:spLocks noGrp="1"/>
          </p:cNvSpPr>
          <p:nvPr>
            <p:ph idx="1"/>
          </p:nvPr>
        </p:nvSpPr>
        <p:spPr>
          <a:xfrm>
            <a:off x="1371600" y="1351280"/>
            <a:ext cx="9601200" cy="4516120"/>
          </a:xfrm>
        </p:spPr>
        <p:txBody>
          <a:bodyPr/>
          <a:lstStyle/>
          <a:p>
            <a:pPr marL="0" indent="0">
              <a:buNone/>
            </a:pPr>
            <a:r>
              <a:rPr lang="en-US" sz="2400" b="1" dirty="0"/>
              <a:t>The Consensus Protocol: Gasper = LMD-GHOST + Casper FFG</a:t>
            </a:r>
          </a:p>
          <a:p>
            <a:r>
              <a:rPr lang="en-US" sz="2400" dirty="0"/>
              <a:t>Ethereum's consensus is actually a </a:t>
            </a:r>
            <a:r>
              <a:rPr lang="en-US" sz="2400" i="1" dirty="0"/>
              <a:t>composition</a:t>
            </a:r>
            <a:r>
              <a:rPr lang="en-US" sz="2400" dirty="0"/>
              <a:t> of two sub-protocols working together. This is subtle and important:</a:t>
            </a:r>
          </a:p>
          <a:p>
            <a:r>
              <a:rPr lang="en-US" sz="2400" dirty="0"/>
              <a:t>Now let us walk through the actual block proposal and attestation flow step by step:</a:t>
            </a:r>
          </a:p>
          <a:p>
            <a:endParaRPr lang="en-US" dirty="0"/>
          </a:p>
        </p:txBody>
      </p:sp>
    </p:spTree>
    <p:extLst>
      <p:ext uri="{BB962C8B-B14F-4D97-AF65-F5344CB8AC3E}">
        <p14:creationId xmlns:p14="http://schemas.microsoft.com/office/powerpoint/2010/main" val="257822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666DB-5BE7-6FA3-C2FC-99A62C604C96}"/>
              </a:ext>
            </a:extLst>
          </p:cNvPr>
          <p:cNvSpPr>
            <a:spLocks noGrp="1"/>
          </p:cNvSpPr>
          <p:nvPr>
            <p:ph type="title"/>
          </p:nvPr>
        </p:nvSpPr>
        <p:spPr>
          <a:xfrm>
            <a:off x="1371600" y="162560"/>
            <a:ext cx="9601200" cy="827942"/>
          </a:xfrm>
        </p:spPr>
        <p:txBody>
          <a:bodyPr/>
          <a:lstStyle/>
          <a:p>
            <a:r>
              <a:rPr lang="en-US" dirty="0"/>
              <a:t>The Consensus Protocol</a:t>
            </a:r>
          </a:p>
        </p:txBody>
      </p:sp>
      <p:pic>
        <p:nvPicPr>
          <p:cNvPr id="5" name="Content Placeholder 4">
            <a:extLst>
              <a:ext uri="{FF2B5EF4-FFF2-40B4-BE49-F238E27FC236}">
                <a16:creationId xmlns:a16="http://schemas.microsoft.com/office/drawing/2014/main" id="{83C6C08A-E718-6B5D-36C1-71163F3372BB}"/>
              </a:ext>
            </a:extLst>
          </p:cNvPr>
          <p:cNvPicPr>
            <a:picLocks noGrp="1" noChangeAspect="1"/>
          </p:cNvPicPr>
          <p:nvPr>
            <p:ph idx="1"/>
          </p:nvPr>
        </p:nvPicPr>
        <p:blipFill>
          <a:blip r:embed="rId2"/>
          <a:stretch>
            <a:fillRect/>
          </a:stretch>
        </p:blipFill>
        <p:spPr>
          <a:xfrm>
            <a:off x="955040" y="990502"/>
            <a:ext cx="10657840" cy="5552538"/>
          </a:xfrm>
          <a:prstGeom prst="rect">
            <a:avLst/>
          </a:prstGeom>
        </p:spPr>
      </p:pic>
    </p:spTree>
    <p:extLst>
      <p:ext uri="{BB962C8B-B14F-4D97-AF65-F5344CB8AC3E}">
        <p14:creationId xmlns:p14="http://schemas.microsoft.com/office/powerpoint/2010/main" val="305898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892-C368-C1FE-3393-D8BA7B682282}"/>
              </a:ext>
            </a:extLst>
          </p:cNvPr>
          <p:cNvSpPr>
            <a:spLocks noGrp="1"/>
          </p:cNvSpPr>
          <p:nvPr>
            <p:ph type="title"/>
          </p:nvPr>
        </p:nvSpPr>
        <p:spPr>
          <a:xfrm>
            <a:off x="1148080" y="309880"/>
            <a:ext cx="9601200" cy="828040"/>
          </a:xfrm>
        </p:spPr>
        <p:txBody>
          <a:bodyPr/>
          <a:lstStyle/>
          <a:p>
            <a:r>
              <a:rPr lang="en-US" dirty="0"/>
              <a:t>Consensus Protocols</a:t>
            </a:r>
          </a:p>
        </p:txBody>
      </p:sp>
      <p:sp>
        <p:nvSpPr>
          <p:cNvPr id="3" name="Content Placeholder 2">
            <a:extLst>
              <a:ext uri="{FF2B5EF4-FFF2-40B4-BE49-F238E27FC236}">
                <a16:creationId xmlns:a16="http://schemas.microsoft.com/office/drawing/2014/main" id="{61D1D8DC-6B86-890E-0760-1EA77C296DCB}"/>
              </a:ext>
            </a:extLst>
          </p:cNvPr>
          <p:cNvSpPr>
            <a:spLocks noGrp="1"/>
          </p:cNvSpPr>
          <p:nvPr>
            <p:ph idx="1"/>
          </p:nvPr>
        </p:nvSpPr>
        <p:spPr>
          <a:xfrm>
            <a:off x="1371600" y="1554480"/>
            <a:ext cx="9601200" cy="5222240"/>
          </a:xfrm>
        </p:spPr>
        <p:txBody>
          <a:bodyPr>
            <a:normAutofit fontScale="70000" lnSpcReduction="20000"/>
          </a:bodyPr>
          <a:lstStyle/>
          <a:p>
            <a:r>
              <a:rPr lang="en-US" sz="3100" b="1" dirty="0"/>
              <a:t>LMD-GHOST (Latest Message Driven Greediest Heaviest Observed </a:t>
            </a:r>
            <a:r>
              <a:rPr lang="en-US" sz="3100" b="1" dirty="0" err="1"/>
              <a:t>SubTree</a:t>
            </a:r>
            <a:r>
              <a:rPr lang="en-US" sz="3100" b="1" dirty="0"/>
              <a:t>)</a:t>
            </a:r>
            <a:endParaRPr lang="en-US" sz="3100" dirty="0"/>
          </a:p>
          <a:p>
            <a:r>
              <a:rPr lang="en-US" sz="3100" dirty="0"/>
              <a:t>This is the fork-choice rule — it answers: "given multiple competing chain tips, which one do I build on?" The algorithm traverses the block tree from the genesis block, and at each fork, picks the branch that has the </a:t>
            </a:r>
            <a:r>
              <a:rPr lang="en-US" sz="3100" i="1" dirty="0"/>
              <a:t>most recent attestation weight</a:t>
            </a:r>
            <a:r>
              <a:rPr lang="en-US" sz="3100" dirty="0"/>
              <a:t> behind it. Critically, only each validator's </a:t>
            </a:r>
            <a:r>
              <a:rPr lang="en-US" sz="3100" i="1" dirty="0"/>
              <a:t>latest</a:t>
            </a:r>
            <a:r>
              <a:rPr lang="en-US" sz="3100" dirty="0"/>
              <a:t> message counts (LMD — Latest Message Driven), which prevents validators from casting old votes to re-org the chain.</a:t>
            </a:r>
          </a:p>
          <a:p>
            <a:r>
              <a:rPr lang="en-US" sz="3100" b="1" dirty="0"/>
              <a:t>Casper FFG (Friendly Finality Gadget)</a:t>
            </a:r>
            <a:endParaRPr lang="en-US" sz="3100" dirty="0"/>
          </a:p>
          <a:p>
            <a:r>
              <a:rPr lang="en-US" sz="3100" dirty="0"/>
              <a:t>This is the finality layer, designed by Vitalik Buterin and Virgil Griffith. It overlays a voting mechanism on top of LMD-GHOST. Every epoch (32 slots = ~6.4 minutes), validators cast source → target votes linking pairs of </a:t>
            </a:r>
            <a:r>
              <a:rPr lang="en-US" sz="3100" i="1" dirty="0"/>
              <a:t>checkpoints</a:t>
            </a:r>
            <a:r>
              <a:rPr lang="en-US" sz="3100" dirty="0"/>
              <a:t> (the first block of each epoch). When ⅔ of the validator set votes for the same source → target pair, the source is </a:t>
            </a:r>
            <a:r>
              <a:rPr lang="en-US" sz="3100" i="1" dirty="0"/>
              <a:t>justified</a:t>
            </a:r>
            <a:r>
              <a:rPr lang="en-US" sz="3100" dirty="0"/>
              <a:t>. When two consecutive epochs are both justified, the earlier one becomes </a:t>
            </a:r>
            <a:r>
              <a:rPr lang="en-US" sz="3100" i="1" dirty="0"/>
              <a:t>finalized</a:t>
            </a:r>
            <a:r>
              <a:rPr lang="en-US" sz="3100" dirty="0"/>
              <a:t> — it can never be reverted without burning at least ⅓ of all staked ETH.</a:t>
            </a:r>
          </a:p>
          <a:p>
            <a:r>
              <a:rPr lang="en-US" sz="3100" dirty="0"/>
              <a:t>This is the critical safety guarantee: reverting a finalized block requires </a:t>
            </a:r>
            <a:r>
              <a:rPr lang="en-US" sz="3100" b="1" dirty="0"/>
              <a:t>destroying at least ⅓ of the total stake</a:t>
            </a:r>
            <a:r>
              <a:rPr lang="en-US" sz="3100" dirty="0"/>
              <a:t> (~millions of ETH), which makes attacks economically infeasible.</a:t>
            </a:r>
          </a:p>
          <a:p>
            <a:endParaRPr lang="en-US" dirty="0"/>
          </a:p>
        </p:txBody>
      </p:sp>
    </p:spTree>
    <p:extLst>
      <p:ext uri="{BB962C8B-B14F-4D97-AF65-F5344CB8AC3E}">
        <p14:creationId xmlns:p14="http://schemas.microsoft.com/office/powerpoint/2010/main" val="2532513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2143-499A-082F-8DCB-E7A5D5447C79}"/>
              </a:ext>
            </a:extLst>
          </p:cNvPr>
          <p:cNvSpPr>
            <a:spLocks noGrp="1"/>
          </p:cNvSpPr>
          <p:nvPr>
            <p:ph type="title"/>
          </p:nvPr>
        </p:nvSpPr>
        <p:spPr/>
        <p:txBody>
          <a:bodyPr/>
          <a:lstStyle/>
          <a:p>
            <a:r>
              <a:rPr lang="en-US" dirty="0"/>
              <a:t>Proof of Stake Validators</a:t>
            </a:r>
          </a:p>
        </p:txBody>
      </p:sp>
      <p:sp>
        <p:nvSpPr>
          <p:cNvPr id="3" name="Content Placeholder 2">
            <a:extLst>
              <a:ext uri="{FF2B5EF4-FFF2-40B4-BE49-F238E27FC236}">
                <a16:creationId xmlns:a16="http://schemas.microsoft.com/office/drawing/2014/main" id="{D4C52F86-B71E-2BAA-9380-74EED5A1C66F}"/>
              </a:ext>
            </a:extLst>
          </p:cNvPr>
          <p:cNvSpPr>
            <a:spLocks noGrp="1"/>
          </p:cNvSpPr>
          <p:nvPr>
            <p:ph idx="1"/>
          </p:nvPr>
        </p:nvSpPr>
        <p:spPr>
          <a:xfrm>
            <a:off x="1371600" y="1686560"/>
            <a:ext cx="9601200" cy="5080000"/>
          </a:xfrm>
        </p:spPr>
        <p:txBody>
          <a:bodyPr>
            <a:noAutofit/>
          </a:bodyPr>
          <a:lstStyle/>
          <a:p>
            <a:r>
              <a:rPr lang="en-US" sz="2400" dirty="0"/>
              <a:t>To participate as a validator, a user must deposit 32 ETH into the deposit contract and run three separate pieces of software: an execution client, a consensus client, and a validator client. </a:t>
            </a:r>
          </a:p>
          <a:p>
            <a:r>
              <a:rPr lang="en-US" sz="2400" dirty="0"/>
              <a:t>On depositing their ETH, the user joins an activation queue that limits the rate of new validators joining the network. </a:t>
            </a:r>
          </a:p>
          <a:p>
            <a:r>
              <a:rPr lang="en-US" sz="2400" dirty="0"/>
              <a:t>Once activated, validators receive new blocks from peers on the Ethereum network. The transactions delivered in the block are re-executed to check that the proposed changes to Ethereum's state are valid, and the block signature is checked. </a:t>
            </a:r>
          </a:p>
          <a:p>
            <a:r>
              <a:rPr lang="en-US" sz="2400" dirty="0"/>
              <a:t>The validator then sends a vote (called an attestation) in favor of that block across the network.</a:t>
            </a:r>
          </a:p>
        </p:txBody>
      </p:sp>
    </p:spTree>
    <p:extLst>
      <p:ext uri="{BB962C8B-B14F-4D97-AF65-F5344CB8AC3E}">
        <p14:creationId xmlns:p14="http://schemas.microsoft.com/office/powerpoint/2010/main" val="2778395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8F28-42B1-8DE6-009F-0FAC2E6805AA}"/>
              </a:ext>
            </a:extLst>
          </p:cNvPr>
          <p:cNvSpPr>
            <a:spLocks noGrp="1"/>
          </p:cNvSpPr>
          <p:nvPr>
            <p:ph type="title"/>
          </p:nvPr>
        </p:nvSpPr>
        <p:spPr>
          <a:xfrm>
            <a:off x="1295400" y="177800"/>
            <a:ext cx="9601200" cy="1082040"/>
          </a:xfrm>
        </p:spPr>
        <p:txBody>
          <a:bodyPr/>
          <a:lstStyle/>
          <a:p>
            <a:r>
              <a:rPr lang="en-US" dirty="0"/>
              <a:t>Slots &amp; Epochs</a:t>
            </a:r>
          </a:p>
        </p:txBody>
      </p:sp>
      <p:sp>
        <p:nvSpPr>
          <p:cNvPr id="3" name="Content Placeholder 2">
            <a:extLst>
              <a:ext uri="{FF2B5EF4-FFF2-40B4-BE49-F238E27FC236}">
                <a16:creationId xmlns:a16="http://schemas.microsoft.com/office/drawing/2014/main" id="{5E57C8B4-A0BC-0007-82B2-62624B5032C3}"/>
              </a:ext>
            </a:extLst>
          </p:cNvPr>
          <p:cNvSpPr>
            <a:spLocks noGrp="1"/>
          </p:cNvSpPr>
          <p:nvPr>
            <p:ph idx="1"/>
          </p:nvPr>
        </p:nvSpPr>
        <p:spPr>
          <a:xfrm>
            <a:off x="1046480" y="1544320"/>
            <a:ext cx="10678160" cy="5212080"/>
          </a:xfrm>
        </p:spPr>
        <p:txBody>
          <a:bodyPr>
            <a:normAutofit/>
          </a:bodyPr>
          <a:lstStyle/>
          <a:p>
            <a:r>
              <a:rPr lang="en-US" dirty="0"/>
              <a:t>Whereas under proof-of-work, the timing of blocks is determined by the mining difficulty, in proof-of-stake, the time is fixed. </a:t>
            </a:r>
          </a:p>
          <a:p>
            <a:r>
              <a:rPr lang="en-US" dirty="0"/>
              <a:t>Time in proof-of-stake Ethereum is divided into slots (12 seconds) and epochs (32 slots). </a:t>
            </a:r>
          </a:p>
          <a:p>
            <a:r>
              <a:rPr lang="en-US" dirty="0"/>
              <a:t>One validator is randomly selected to be a block proposer in every slot. </a:t>
            </a:r>
          </a:p>
          <a:p>
            <a:r>
              <a:rPr lang="en-US" dirty="0"/>
              <a:t>This validator is responsible for creating a new block and sending it out to other nodes on the network. </a:t>
            </a:r>
          </a:p>
          <a:p>
            <a:r>
              <a:rPr lang="en-US" dirty="0"/>
              <a:t>Also in every slot, a committee of validators is randomly chosen, whose votes are used to determine the validity of the block being proposed. </a:t>
            </a:r>
          </a:p>
          <a:p>
            <a:r>
              <a:rPr lang="en-US" dirty="0"/>
              <a:t>Dividing the validator set up into committees is important for keeping the network load manageable. </a:t>
            </a:r>
          </a:p>
          <a:p>
            <a:r>
              <a:rPr lang="en-US" dirty="0"/>
              <a:t>Committees divide up the validator set so that every active validator attests in every epoch, but not in every slot.</a:t>
            </a:r>
          </a:p>
        </p:txBody>
      </p:sp>
    </p:spTree>
    <p:extLst>
      <p:ext uri="{BB962C8B-B14F-4D97-AF65-F5344CB8AC3E}">
        <p14:creationId xmlns:p14="http://schemas.microsoft.com/office/powerpoint/2010/main" val="2941415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D744E-B763-97EA-17C3-D02CB92A84A5}"/>
              </a:ext>
            </a:extLst>
          </p:cNvPr>
          <p:cNvSpPr>
            <a:spLocks noGrp="1"/>
          </p:cNvSpPr>
          <p:nvPr>
            <p:ph type="title"/>
          </p:nvPr>
        </p:nvSpPr>
        <p:spPr/>
        <p:txBody>
          <a:bodyPr/>
          <a:lstStyle/>
          <a:p>
            <a:r>
              <a:rPr lang="en-US" dirty="0"/>
              <a:t>How Transactions are Executed</a:t>
            </a:r>
          </a:p>
        </p:txBody>
      </p:sp>
      <p:sp>
        <p:nvSpPr>
          <p:cNvPr id="3" name="Content Placeholder 2">
            <a:extLst>
              <a:ext uri="{FF2B5EF4-FFF2-40B4-BE49-F238E27FC236}">
                <a16:creationId xmlns:a16="http://schemas.microsoft.com/office/drawing/2014/main" id="{925EB917-4EC7-C6E6-EC7A-D370A2DFEB24}"/>
              </a:ext>
            </a:extLst>
          </p:cNvPr>
          <p:cNvSpPr>
            <a:spLocks noGrp="1"/>
          </p:cNvSpPr>
          <p:nvPr>
            <p:ph idx="1"/>
          </p:nvPr>
        </p:nvSpPr>
        <p:spPr>
          <a:xfrm>
            <a:off x="1371600" y="1422400"/>
            <a:ext cx="9601200" cy="5242560"/>
          </a:xfrm>
        </p:spPr>
        <p:txBody>
          <a:bodyPr>
            <a:normAutofit lnSpcReduction="10000"/>
          </a:bodyPr>
          <a:lstStyle/>
          <a:p>
            <a:pPr marL="0" indent="0">
              <a:buNone/>
            </a:pPr>
            <a:r>
              <a:rPr lang="en-US" sz="2400" dirty="0"/>
              <a:t>The following provides an end-to-end explanation of how a transaction gets executed in Ethereum proof-of-stake.</a:t>
            </a:r>
          </a:p>
          <a:p>
            <a:r>
              <a:rPr lang="en-US" sz="2400" dirty="0"/>
              <a:t>A user creates and signs a </a:t>
            </a:r>
            <a:r>
              <a:rPr lang="en-US" sz="2400" dirty="0">
                <a:hlinkClick r:id="rId2"/>
              </a:rPr>
              <a:t>transaction</a:t>
            </a:r>
            <a:r>
              <a:rPr lang="en-US" sz="2400" dirty="0"/>
              <a:t> with their private key. This is usually handled by a wallet or a library such as </a:t>
            </a:r>
            <a:r>
              <a:rPr lang="en-US" sz="2400" dirty="0">
                <a:hlinkClick r:id="rId3"/>
              </a:rPr>
              <a:t>ethers.js</a:t>
            </a:r>
            <a:r>
              <a:rPr lang="en-US" sz="2400" dirty="0"/>
              <a:t>, </a:t>
            </a:r>
            <a:r>
              <a:rPr lang="en-US" sz="2400" dirty="0">
                <a:hlinkClick r:id="rId4"/>
              </a:rPr>
              <a:t>web3js</a:t>
            </a:r>
            <a:r>
              <a:rPr lang="en-US" sz="2400" dirty="0"/>
              <a:t>, </a:t>
            </a:r>
            <a:r>
              <a:rPr lang="en-US" sz="2400" dirty="0">
                <a:hlinkClick r:id="rId5"/>
              </a:rPr>
              <a:t>web3py</a:t>
            </a:r>
            <a:r>
              <a:rPr lang="en-US" sz="2400" dirty="0"/>
              <a:t> </a:t>
            </a:r>
            <a:r>
              <a:rPr lang="en-US" sz="2400" dirty="0" err="1"/>
              <a:t>etc</a:t>
            </a:r>
            <a:r>
              <a:rPr lang="en-US" sz="2400" dirty="0"/>
              <a:t> but under the hood the user is making a request to a node using the Ethereum </a:t>
            </a:r>
            <a:r>
              <a:rPr lang="en-US" sz="2400" dirty="0">
                <a:hlinkClick r:id="rId6"/>
              </a:rPr>
              <a:t>JSON-RPC API</a:t>
            </a:r>
            <a:r>
              <a:rPr lang="en-US" sz="2400" dirty="0"/>
              <a:t>. </a:t>
            </a:r>
          </a:p>
          <a:p>
            <a:r>
              <a:rPr lang="en-US" sz="2400" dirty="0"/>
              <a:t>The user defines the amount of gas that they are prepared to pay as a tip to a validator to encourage them to include the transaction in a block. The </a:t>
            </a:r>
            <a:r>
              <a:rPr lang="en-US" sz="2400" dirty="0">
                <a:hlinkClick r:id="rId7"/>
              </a:rPr>
              <a:t>tips</a:t>
            </a:r>
            <a:r>
              <a:rPr lang="en-US" sz="2400" dirty="0"/>
              <a:t> get paid to the validator while the </a:t>
            </a:r>
            <a:r>
              <a:rPr lang="en-US" sz="2400" dirty="0">
                <a:hlinkClick r:id="rId8"/>
              </a:rPr>
              <a:t>base fee</a:t>
            </a:r>
            <a:r>
              <a:rPr lang="en-US" sz="2400" dirty="0"/>
              <a:t> gets burned.</a:t>
            </a:r>
          </a:p>
          <a:p>
            <a:r>
              <a:rPr lang="en-US" sz="2400" dirty="0"/>
              <a:t>The transaction is submitted to an Ethereum </a:t>
            </a:r>
            <a:r>
              <a:rPr lang="en-US" sz="2400" dirty="0">
                <a:hlinkClick r:id="rId9"/>
              </a:rPr>
              <a:t>execution client</a:t>
            </a:r>
            <a:r>
              <a:rPr lang="en-US" sz="2400" dirty="0"/>
              <a:t> which verifies its validity. This means ensuring that the sender has enough ETH to fulfill the transaction and they have signed it with the correct key.</a:t>
            </a:r>
          </a:p>
          <a:p>
            <a:endParaRPr lang="en-US" dirty="0"/>
          </a:p>
        </p:txBody>
      </p:sp>
    </p:spTree>
    <p:extLst>
      <p:ext uri="{BB962C8B-B14F-4D97-AF65-F5344CB8AC3E}">
        <p14:creationId xmlns:p14="http://schemas.microsoft.com/office/powerpoint/2010/main" val="1238401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06771-C1DD-C3A1-12B7-9351CA086901}"/>
              </a:ext>
            </a:extLst>
          </p:cNvPr>
          <p:cNvSpPr>
            <a:spLocks noGrp="1"/>
          </p:cNvSpPr>
          <p:nvPr>
            <p:ph type="title"/>
          </p:nvPr>
        </p:nvSpPr>
        <p:spPr/>
        <p:txBody>
          <a:bodyPr/>
          <a:lstStyle/>
          <a:p>
            <a:r>
              <a:rPr lang="en-US" dirty="0"/>
              <a:t>Transaction Validation</a:t>
            </a:r>
          </a:p>
        </p:txBody>
      </p:sp>
      <p:sp>
        <p:nvSpPr>
          <p:cNvPr id="3" name="Content Placeholder 2">
            <a:extLst>
              <a:ext uri="{FF2B5EF4-FFF2-40B4-BE49-F238E27FC236}">
                <a16:creationId xmlns:a16="http://schemas.microsoft.com/office/drawing/2014/main" id="{27E78CC6-2ADE-AD5B-08C4-C4C449F48E5A}"/>
              </a:ext>
            </a:extLst>
          </p:cNvPr>
          <p:cNvSpPr>
            <a:spLocks noGrp="1"/>
          </p:cNvSpPr>
          <p:nvPr>
            <p:ph idx="1"/>
          </p:nvPr>
        </p:nvSpPr>
        <p:spPr>
          <a:xfrm>
            <a:off x="1371600" y="2286000"/>
            <a:ext cx="9601200" cy="4145280"/>
          </a:xfrm>
        </p:spPr>
        <p:txBody>
          <a:bodyPr/>
          <a:lstStyle/>
          <a:p>
            <a:r>
              <a:rPr lang="en-US" sz="2400" dirty="0"/>
              <a:t>If the transaction is valid, the execution client adds it to its local </a:t>
            </a:r>
            <a:r>
              <a:rPr lang="en-US" sz="2400" dirty="0" err="1"/>
              <a:t>mempool</a:t>
            </a:r>
            <a:r>
              <a:rPr lang="en-US" sz="2400" dirty="0"/>
              <a:t> (list of pending transactions) and also broadcasts it to other nodes over the execution layer gossip network. </a:t>
            </a:r>
          </a:p>
          <a:p>
            <a:r>
              <a:rPr lang="en-US" sz="2400" dirty="0"/>
              <a:t>When other nodes hear about the transaction they add it to their local </a:t>
            </a:r>
            <a:r>
              <a:rPr lang="en-US" sz="2400" dirty="0" err="1"/>
              <a:t>mempool</a:t>
            </a:r>
            <a:r>
              <a:rPr lang="en-US" sz="2400" dirty="0"/>
              <a:t> too.</a:t>
            </a:r>
          </a:p>
          <a:p>
            <a:r>
              <a:rPr lang="en-US" sz="2400" dirty="0"/>
              <a:t> Advanced users might refrain from broadcasting their transaction and instead forward it to specialized block builders such as </a:t>
            </a:r>
            <a:r>
              <a:rPr lang="en-US" sz="2400" dirty="0" err="1">
                <a:hlinkClick r:id="rId2"/>
              </a:rPr>
              <a:t>Flashbots</a:t>
            </a:r>
            <a:r>
              <a:rPr lang="en-US" sz="2400" dirty="0">
                <a:hlinkClick r:id="rId2"/>
              </a:rPr>
              <a:t> Auction</a:t>
            </a:r>
            <a:r>
              <a:rPr lang="en-US" sz="2400" dirty="0"/>
              <a:t>. This allows them to organize the transactions in upcoming blocks for maximum profit (</a:t>
            </a:r>
            <a:r>
              <a:rPr lang="en-US" sz="2400" dirty="0">
                <a:hlinkClick r:id="rId3"/>
              </a:rPr>
              <a:t>MEV</a:t>
            </a:r>
            <a:r>
              <a:rPr lang="en-US" sz="2400" dirty="0"/>
              <a:t>).</a:t>
            </a:r>
          </a:p>
          <a:p>
            <a:endParaRPr lang="en-US" dirty="0"/>
          </a:p>
        </p:txBody>
      </p:sp>
    </p:spTree>
    <p:extLst>
      <p:ext uri="{BB962C8B-B14F-4D97-AF65-F5344CB8AC3E}">
        <p14:creationId xmlns:p14="http://schemas.microsoft.com/office/powerpoint/2010/main" val="968169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119BA-386B-625E-A4CB-35933467E4C4}"/>
              </a:ext>
            </a:extLst>
          </p:cNvPr>
          <p:cNvSpPr>
            <a:spLocks noGrp="1"/>
          </p:cNvSpPr>
          <p:nvPr>
            <p:ph type="title"/>
          </p:nvPr>
        </p:nvSpPr>
        <p:spPr/>
        <p:txBody>
          <a:bodyPr/>
          <a:lstStyle/>
          <a:p>
            <a:r>
              <a:rPr lang="en-US" dirty="0"/>
              <a:t>Block Proposer</a:t>
            </a:r>
          </a:p>
        </p:txBody>
      </p:sp>
      <p:sp>
        <p:nvSpPr>
          <p:cNvPr id="3" name="Content Placeholder 2">
            <a:extLst>
              <a:ext uri="{FF2B5EF4-FFF2-40B4-BE49-F238E27FC236}">
                <a16:creationId xmlns:a16="http://schemas.microsoft.com/office/drawing/2014/main" id="{3B4A0C30-DBC9-9968-8A6E-626AF5117CDF}"/>
              </a:ext>
            </a:extLst>
          </p:cNvPr>
          <p:cNvSpPr>
            <a:spLocks noGrp="1"/>
          </p:cNvSpPr>
          <p:nvPr>
            <p:ph idx="1"/>
          </p:nvPr>
        </p:nvSpPr>
        <p:spPr>
          <a:xfrm>
            <a:off x="1371600" y="2286000"/>
            <a:ext cx="9601200" cy="4470400"/>
          </a:xfrm>
        </p:spPr>
        <p:txBody>
          <a:bodyPr>
            <a:normAutofit fontScale="92500" lnSpcReduction="10000"/>
          </a:bodyPr>
          <a:lstStyle/>
          <a:p>
            <a:r>
              <a:rPr lang="en-US" sz="2100" dirty="0"/>
              <a:t>One of the validator nodes on the network is the block proposer for the current slot, having previously been selected pseudo-randomly using RANDAO. </a:t>
            </a:r>
          </a:p>
          <a:p>
            <a:r>
              <a:rPr lang="en-US" sz="2100" dirty="0"/>
              <a:t>This node is responsible for building and broadcasting the next block to be added to the Ethereum blockchain and updating the global state. </a:t>
            </a:r>
          </a:p>
          <a:p>
            <a:r>
              <a:rPr lang="en-US" sz="2100" dirty="0"/>
              <a:t>The node is made up of three parts: an execution client, a consensus client and a validator client. </a:t>
            </a:r>
          </a:p>
          <a:p>
            <a:r>
              <a:rPr lang="en-US" sz="2100" dirty="0"/>
              <a:t>The execution client bundles transactions from the local </a:t>
            </a:r>
            <a:r>
              <a:rPr lang="en-US" sz="2100" dirty="0" err="1"/>
              <a:t>mempool</a:t>
            </a:r>
            <a:r>
              <a:rPr lang="en-US" sz="2100" dirty="0"/>
              <a:t> into an "execution payload" and executes them locally to generate a state change. </a:t>
            </a:r>
          </a:p>
          <a:p>
            <a:r>
              <a:rPr lang="en-US" sz="2100" dirty="0"/>
              <a:t>This information is passed to the consensus client where the execution payload is wrapped as part of a "beacon block" that also contains information about rewards, penalties, slashings, attestations etc. that enable the network to agree on the sequence of blocks at the head of the chain. </a:t>
            </a:r>
          </a:p>
          <a:p>
            <a:r>
              <a:rPr lang="en-US" sz="2100" dirty="0"/>
              <a:t>The communication between the execution and consensus clients is described in more detail in </a:t>
            </a:r>
            <a:r>
              <a:rPr lang="en-US" sz="2100" dirty="0">
                <a:hlinkClick r:id="rId2"/>
              </a:rPr>
              <a:t>Connecting the Consensus and Execution Clients</a:t>
            </a:r>
            <a:r>
              <a:rPr lang="en-US" sz="2100" dirty="0"/>
              <a:t>.</a:t>
            </a:r>
          </a:p>
          <a:p>
            <a:endParaRPr lang="en-US" dirty="0"/>
          </a:p>
        </p:txBody>
      </p:sp>
    </p:spTree>
    <p:extLst>
      <p:ext uri="{BB962C8B-B14F-4D97-AF65-F5344CB8AC3E}">
        <p14:creationId xmlns:p14="http://schemas.microsoft.com/office/powerpoint/2010/main" val="2171596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CD9C-9B11-7314-A522-778EEFF87EC6}"/>
              </a:ext>
            </a:extLst>
          </p:cNvPr>
          <p:cNvSpPr>
            <a:spLocks noGrp="1"/>
          </p:cNvSpPr>
          <p:nvPr>
            <p:ph type="title"/>
          </p:nvPr>
        </p:nvSpPr>
        <p:spPr/>
        <p:txBody>
          <a:bodyPr/>
          <a:lstStyle/>
          <a:p>
            <a:r>
              <a:rPr lang="en-US" dirty="0"/>
              <a:t>Validators Committee </a:t>
            </a:r>
          </a:p>
        </p:txBody>
      </p:sp>
      <p:sp>
        <p:nvSpPr>
          <p:cNvPr id="3" name="Content Placeholder 2">
            <a:extLst>
              <a:ext uri="{FF2B5EF4-FFF2-40B4-BE49-F238E27FC236}">
                <a16:creationId xmlns:a16="http://schemas.microsoft.com/office/drawing/2014/main" id="{2129A808-3162-6CAC-0531-7F5F87345A26}"/>
              </a:ext>
            </a:extLst>
          </p:cNvPr>
          <p:cNvSpPr>
            <a:spLocks noGrp="1"/>
          </p:cNvSpPr>
          <p:nvPr>
            <p:ph idx="1"/>
          </p:nvPr>
        </p:nvSpPr>
        <p:spPr>
          <a:xfrm>
            <a:off x="1371600" y="1524000"/>
            <a:ext cx="9601200" cy="5334000"/>
          </a:xfrm>
        </p:spPr>
        <p:txBody>
          <a:bodyPr>
            <a:normAutofit/>
          </a:bodyPr>
          <a:lstStyle/>
          <a:p>
            <a:r>
              <a:rPr lang="en-US" dirty="0"/>
              <a:t>Other nodes receive the new beacon block on the consensus layer gossip network. </a:t>
            </a:r>
          </a:p>
          <a:p>
            <a:r>
              <a:rPr lang="en-US" dirty="0"/>
              <a:t>They pass it to their execution client where the transactions are re-executed locally to ensure the proposed state change is valid. </a:t>
            </a:r>
          </a:p>
          <a:p>
            <a:r>
              <a:rPr lang="en-US" dirty="0"/>
              <a:t>The validator client then attests that the block is valid and is the logical next block in their view of the chain (meaning it builds on the chain with the greatest weight of attestations as defined in the </a:t>
            </a:r>
            <a:r>
              <a:rPr lang="en-US" dirty="0">
                <a:hlinkClick r:id="rId2"/>
              </a:rPr>
              <a:t>fork choice rules</a:t>
            </a:r>
            <a:r>
              <a:rPr lang="en-US" dirty="0"/>
              <a:t>). </a:t>
            </a:r>
          </a:p>
          <a:p>
            <a:r>
              <a:rPr lang="en-US" dirty="0"/>
              <a:t>The block is added to the local database in each node that attests to it.</a:t>
            </a:r>
          </a:p>
          <a:p>
            <a:r>
              <a:rPr lang="en-US" dirty="0"/>
              <a:t>The transaction can be considered "finalized" if it has become part of a chain with a "supermajority link" between two checkpoints. </a:t>
            </a:r>
          </a:p>
          <a:p>
            <a:r>
              <a:rPr lang="en-US" dirty="0"/>
              <a:t>Checkpoints occur at the start of each epoch and they exist to account for the fact that only a subset of active validators attest in each slot, but all active validators attest across each epoch.</a:t>
            </a:r>
          </a:p>
          <a:p>
            <a:r>
              <a:rPr lang="en-US" dirty="0"/>
              <a:t> Therefore, it is only between epochs that a 'supermajority link' can be demonstrated (this is where 66% of the total staked ETH on the network agrees on two checkpoints).</a:t>
            </a:r>
          </a:p>
          <a:p>
            <a:endParaRPr lang="en-US" dirty="0"/>
          </a:p>
        </p:txBody>
      </p:sp>
    </p:spTree>
    <p:extLst>
      <p:ext uri="{BB962C8B-B14F-4D97-AF65-F5344CB8AC3E}">
        <p14:creationId xmlns:p14="http://schemas.microsoft.com/office/powerpoint/2010/main" val="1543747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2FDC5-A082-9128-B8D3-DA034968EE19}"/>
              </a:ext>
            </a:extLst>
          </p:cNvPr>
          <p:cNvSpPr>
            <a:spLocks noGrp="1"/>
          </p:cNvSpPr>
          <p:nvPr>
            <p:ph type="title"/>
          </p:nvPr>
        </p:nvSpPr>
        <p:spPr/>
        <p:txBody>
          <a:bodyPr/>
          <a:lstStyle/>
          <a:p>
            <a:r>
              <a:rPr lang="en-US" dirty="0"/>
              <a:t>Finality</a:t>
            </a:r>
          </a:p>
        </p:txBody>
      </p:sp>
      <p:sp>
        <p:nvSpPr>
          <p:cNvPr id="3" name="Content Placeholder 2">
            <a:extLst>
              <a:ext uri="{FF2B5EF4-FFF2-40B4-BE49-F238E27FC236}">
                <a16:creationId xmlns:a16="http://schemas.microsoft.com/office/drawing/2014/main" id="{5EEC6697-B8D1-F3BF-4E3E-4EB3DC5B891C}"/>
              </a:ext>
            </a:extLst>
          </p:cNvPr>
          <p:cNvSpPr>
            <a:spLocks noGrp="1"/>
          </p:cNvSpPr>
          <p:nvPr>
            <p:ph idx="1"/>
          </p:nvPr>
        </p:nvSpPr>
        <p:spPr>
          <a:xfrm>
            <a:off x="1371600" y="2286000"/>
            <a:ext cx="9601200" cy="4439920"/>
          </a:xfrm>
        </p:spPr>
        <p:txBody>
          <a:bodyPr>
            <a:normAutofit/>
          </a:bodyPr>
          <a:lstStyle/>
          <a:p>
            <a:r>
              <a:rPr lang="en-US" dirty="0"/>
              <a:t>A transaction has "finality" in distributed networks when it is part of a block that can't change without a large amount of ETH getting burned. </a:t>
            </a:r>
          </a:p>
          <a:p>
            <a:r>
              <a:rPr lang="en-US" dirty="0"/>
              <a:t>On proof-of-stake Ethereum, this is managed using "checkpoint" blocks. </a:t>
            </a:r>
          </a:p>
          <a:p>
            <a:r>
              <a:rPr lang="en-US" dirty="0"/>
              <a:t>The first block in each epoch is a checkpoint. Validators vote for pairs of checkpoints that it considers to be valid. If a pair of checkpoints attracts votes representing at least two-thirds of the total staked ETH, the checkpoints are upgraded. The more recent of the two (target) becomes "justified". The earlier of the two is already justified because it was the "target" in the previous epoch. Now it is upgraded to "finalized". This process of upgrading the checkpoints is handled by </a:t>
            </a:r>
            <a:r>
              <a:rPr lang="en-US" b="1" dirty="0">
                <a:hlinkClick r:id="rId2"/>
              </a:rPr>
              <a:t>Casper the Friendly Finality Gadget (Casper-FFG)</a:t>
            </a:r>
            <a:r>
              <a:rPr lang="en-US" dirty="0"/>
              <a:t>. Casper-FFG is a block finality tool for consensus. Once a block is finalized, it cannot be reverted or changed without a majority slashing of </a:t>
            </a:r>
            <a:r>
              <a:rPr lang="en-US" dirty="0" err="1"/>
              <a:t>stakers</a:t>
            </a:r>
            <a:r>
              <a:rPr lang="en-US" dirty="0"/>
              <a:t>, making it economically inviable.</a:t>
            </a:r>
          </a:p>
        </p:txBody>
      </p:sp>
    </p:spTree>
    <p:extLst>
      <p:ext uri="{BB962C8B-B14F-4D97-AF65-F5344CB8AC3E}">
        <p14:creationId xmlns:p14="http://schemas.microsoft.com/office/powerpoint/2010/main" val="2260992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5FCD-A73F-907E-815C-0AB1B89D9656}"/>
              </a:ext>
            </a:extLst>
          </p:cNvPr>
          <p:cNvSpPr>
            <a:spLocks noGrp="1"/>
          </p:cNvSpPr>
          <p:nvPr>
            <p:ph type="title"/>
          </p:nvPr>
        </p:nvSpPr>
        <p:spPr>
          <a:xfrm>
            <a:off x="1295400" y="127000"/>
            <a:ext cx="9601200" cy="863600"/>
          </a:xfrm>
        </p:spPr>
        <p:txBody>
          <a:bodyPr>
            <a:normAutofit/>
          </a:bodyPr>
          <a:lstStyle/>
          <a:p>
            <a:r>
              <a:rPr lang="en-US" sz="2400" dirty="0"/>
              <a:t>The Economics: awards mad Penalties</a:t>
            </a:r>
          </a:p>
        </p:txBody>
      </p:sp>
      <p:sp>
        <p:nvSpPr>
          <p:cNvPr id="3" name="Content Placeholder 2">
            <a:extLst>
              <a:ext uri="{FF2B5EF4-FFF2-40B4-BE49-F238E27FC236}">
                <a16:creationId xmlns:a16="http://schemas.microsoft.com/office/drawing/2014/main" id="{9CDDB34B-BA13-7C00-C286-2CB68149151D}"/>
              </a:ext>
            </a:extLst>
          </p:cNvPr>
          <p:cNvSpPr>
            <a:spLocks noGrp="1"/>
          </p:cNvSpPr>
          <p:nvPr>
            <p:ph idx="1"/>
          </p:nvPr>
        </p:nvSpPr>
        <p:spPr>
          <a:xfrm>
            <a:off x="629235" y="0"/>
            <a:ext cx="10841405" cy="6553200"/>
          </a:xfrm>
        </p:spPr>
        <p:txBody>
          <a:bodyPr/>
          <a:lstStyle/>
          <a:p>
            <a:r>
              <a:rPr lang="en-US" dirty="0"/>
              <a:t>:</a:t>
            </a:r>
          </a:p>
          <a:p>
            <a:r>
              <a:rPr lang="en-US" dirty="0"/>
              <a:t> </a:t>
            </a:r>
          </a:p>
        </p:txBody>
      </p:sp>
      <p:pic>
        <p:nvPicPr>
          <p:cNvPr id="5" name="Picture 4">
            <a:extLst>
              <a:ext uri="{FF2B5EF4-FFF2-40B4-BE49-F238E27FC236}">
                <a16:creationId xmlns:a16="http://schemas.microsoft.com/office/drawing/2014/main" id="{66E59ACA-3347-D3D9-B828-3374F5A73BA8}"/>
              </a:ext>
            </a:extLst>
          </p:cNvPr>
          <p:cNvPicPr>
            <a:picLocks noChangeAspect="1"/>
          </p:cNvPicPr>
          <p:nvPr/>
        </p:nvPicPr>
        <p:blipFill>
          <a:blip r:embed="rId2"/>
          <a:stretch>
            <a:fillRect/>
          </a:stretch>
        </p:blipFill>
        <p:spPr>
          <a:xfrm>
            <a:off x="802639" y="2052320"/>
            <a:ext cx="10841405" cy="4805679"/>
          </a:xfrm>
          <a:prstGeom prst="rect">
            <a:avLst/>
          </a:prstGeom>
        </p:spPr>
      </p:pic>
    </p:spTree>
    <p:extLst>
      <p:ext uri="{BB962C8B-B14F-4D97-AF65-F5344CB8AC3E}">
        <p14:creationId xmlns:p14="http://schemas.microsoft.com/office/powerpoint/2010/main" val="3518707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EF5D-7B44-7ED8-CC97-F146847C900C}"/>
              </a:ext>
            </a:extLst>
          </p:cNvPr>
          <p:cNvSpPr>
            <a:spLocks noGrp="1"/>
          </p:cNvSpPr>
          <p:nvPr>
            <p:ph type="title"/>
          </p:nvPr>
        </p:nvSpPr>
        <p:spPr>
          <a:xfrm>
            <a:off x="1295400" y="0"/>
            <a:ext cx="9601200" cy="833120"/>
          </a:xfrm>
        </p:spPr>
        <p:txBody>
          <a:bodyPr/>
          <a:lstStyle/>
          <a:p>
            <a:r>
              <a:rPr lang="en-US" dirty="0" err="1"/>
              <a:t>Slashable</a:t>
            </a:r>
            <a:r>
              <a:rPr lang="en-US" dirty="0"/>
              <a:t> Offenses</a:t>
            </a:r>
          </a:p>
        </p:txBody>
      </p:sp>
      <p:sp>
        <p:nvSpPr>
          <p:cNvPr id="3" name="Content Placeholder 2">
            <a:extLst>
              <a:ext uri="{FF2B5EF4-FFF2-40B4-BE49-F238E27FC236}">
                <a16:creationId xmlns:a16="http://schemas.microsoft.com/office/drawing/2014/main" id="{E9B8085C-7934-E86B-7C7D-9800548B19A3}"/>
              </a:ext>
            </a:extLst>
          </p:cNvPr>
          <p:cNvSpPr>
            <a:spLocks noGrp="1"/>
          </p:cNvSpPr>
          <p:nvPr>
            <p:ph idx="1"/>
          </p:nvPr>
        </p:nvSpPr>
        <p:spPr>
          <a:xfrm>
            <a:off x="934720" y="1049020"/>
            <a:ext cx="11104880" cy="5656580"/>
          </a:xfrm>
        </p:spPr>
        <p:txBody>
          <a:bodyPr>
            <a:normAutofit/>
          </a:bodyPr>
          <a:lstStyle/>
          <a:p>
            <a:pPr marL="0" indent="0">
              <a:buNone/>
            </a:pPr>
            <a:r>
              <a:rPr lang="en-US" b="1" dirty="0" err="1"/>
              <a:t>Slashable</a:t>
            </a:r>
            <a:r>
              <a:rPr lang="en-US" b="1" dirty="0"/>
              <a:t> Offences (The Hard Rules)</a:t>
            </a:r>
          </a:p>
          <a:p>
            <a:pPr marL="0" indent="0">
              <a:buNone/>
            </a:pPr>
            <a:r>
              <a:rPr lang="en-US" dirty="0"/>
              <a:t>There are exactly two categories of </a:t>
            </a:r>
            <a:r>
              <a:rPr lang="en-US" dirty="0" err="1"/>
              <a:t>slashable</a:t>
            </a:r>
            <a:r>
              <a:rPr lang="en-US" dirty="0"/>
              <a:t> </a:t>
            </a:r>
            <a:r>
              <a:rPr lang="en-US" dirty="0" err="1"/>
              <a:t>behaviour</a:t>
            </a:r>
            <a:r>
              <a:rPr lang="en-US" dirty="0"/>
              <a:t>:</a:t>
            </a:r>
          </a:p>
          <a:p>
            <a:r>
              <a:rPr lang="en-US" b="1" dirty="0"/>
              <a:t>Equivocation (Double Voting):</a:t>
            </a:r>
            <a:r>
              <a:rPr lang="en-US" dirty="0"/>
              <a:t> A validator signs two different blocks for the same slot. This is the proposer version of the offense.</a:t>
            </a:r>
          </a:p>
          <a:p>
            <a:r>
              <a:rPr lang="en-US" b="1" dirty="0"/>
              <a:t>Surround Voting:</a:t>
            </a:r>
            <a:r>
              <a:rPr lang="en-US" dirty="0"/>
              <a:t> A validator casts two Casper FFG votes where one "surrounds" the other (i.e., </a:t>
            </a:r>
            <a:r>
              <a:rPr lang="en-US" dirty="0" err="1"/>
              <a:t>a.source</a:t>
            </a:r>
            <a:r>
              <a:rPr lang="en-US" dirty="0"/>
              <a:t> &lt; </a:t>
            </a:r>
            <a:r>
              <a:rPr lang="en-US" dirty="0" err="1"/>
              <a:t>b.source</a:t>
            </a:r>
            <a:r>
              <a:rPr lang="en-US" dirty="0"/>
              <a:t> and </a:t>
            </a:r>
            <a:r>
              <a:rPr lang="en-US" dirty="0" err="1"/>
              <a:t>b.target</a:t>
            </a:r>
            <a:r>
              <a:rPr lang="en-US" dirty="0"/>
              <a:t> &lt; </a:t>
            </a:r>
            <a:r>
              <a:rPr lang="en-US" dirty="0" err="1"/>
              <a:t>a.target</a:t>
            </a:r>
            <a:r>
              <a:rPr lang="en-US" dirty="0"/>
              <a:t>). This is the most dangerous attack because it can be used to violate finality.</a:t>
            </a:r>
          </a:p>
          <a:p>
            <a:r>
              <a:rPr lang="en-US" dirty="0"/>
              <a:t>Both are detected automatically by other validators who submit </a:t>
            </a:r>
            <a:r>
              <a:rPr lang="en-US" i="1" dirty="0"/>
              <a:t>slashing proofs</a:t>
            </a:r>
            <a:r>
              <a:rPr lang="en-US" dirty="0"/>
              <a:t> to the chain and receive a portion of the slashed validator's stake as a reward for doing so.</a:t>
            </a:r>
          </a:p>
          <a:p>
            <a:r>
              <a:rPr lang="en-US" dirty="0"/>
              <a:t>The </a:t>
            </a:r>
            <a:r>
              <a:rPr lang="en-US" b="1" dirty="0"/>
              <a:t>correlation penalty</a:t>
            </a:r>
            <a:r>
              <a:rPr lang="en-US" dirty="0"/>
              <a:t> is a particularly elegant design: if you're slashed at the same time as many other validators (which suggests a coordinated attack or a shared infrastructure failure), your penalty scales up to a maximum of 100% of your stake. A lone misconfigured validator loses roughly 1 ETH; an attacker coordinating 33% of validators loses everything.</a:t>
            </a:r>
          </a:p>
          <a:p>
            <a:endParaRPr lang="en-US" dirty="0"/>
          </a:p>
        </p:txBody>
      </p:sp>
    </p:spTree>
    <p:extLst>
      <p:ext uri="{BB962C8B-B14F-4D97-AF65-F5344CB8AC3E}">
        <p14:creationId xmlns:p14="http://schemas.microsoft.com/office/powerpoint/2010/main" val="223993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01F-E9F6-89DB-5DC0-BEE90481D70D}"/>
              </a:ext>
            </a:extLst>
          </p:cNvPr>
          <p:cNvSpPr>
            <a:spLocks noGrp="1"/>
          </p:cNvSpPr>
          <p:nvPr>
            <p:ph type="title"/>
          </p:nvPr>
        </p:nvSpPr>
        <p:spPr>
          <a:xfrm>
            <a:off x="985520" y="0"/>
            <a:ext cx="9601200" cy="990600"/>
          </a:xfrm>
        </p:spPr>
        <p:txBody>
          <a:bodyPr>
            <a:normAutofit fontScale="90000"/>
          </a:bodyPr>
          <a:lstStyle/>
          <a:p>
            <a:r>
              <a:rPr lang="en-US" b="1" dirty="0"/>
              <a:t>The RANDAO: Decentralized Randomness</a:t>
            </a:r>
            <a:br>
              <a:rPr lang="en-US" b="1" dirty="0"/>
            </a:br>
            <a:endParaRPr lang="en-US" dirty="0"/>
          </a:p>
        </p:txBody>
      </p:sp>
      <p:sp>
        <p:nvSpPr>
          <p:cNvPr id="3" name="Content Placeholder 2">
            <a:extLst>
              <a:ext uri="{FF2B5EF4-FFF2-40B4-BE49-F238E27FC236}">
                <a16:creationId xmlns:a16="http://schemas.microsoft.com/office/drawing/2014/main" id="{FFA07D34-157C-6C87-92A2-AF212B570138}"/>
              </a:ext>
            </a:extLst>
          </p:cNvPr>
          <p:cNvSpPr>
            <a:spLocks noGrp="1"/>
          </p:cNvSpPr>
          <p:nvPr>
            <p:ph idx="1"/>
          </p:nvPr>
        </p:nvSpPr>
        <p:spPr>
          <a:xfrm>
            <a:off x="822960" y="1107440"/>
            <a:ext cx="11155680" cy="5455920"/>
          </a:xfrm>
        </p:spPr>
        <p:txBody>
          <a:bodyPr>
            <a:normAutofit/>
          </a:bodyPr>
          <a:lstStyle/>
          <a:p>
            <a:pPr marL="0" indent="0">
              <a:buNone/>
            </a:pPr>
            <a:r>
              <a:rPr lang="en-US" sz="2400" b="1" dirty="0"/>
              <a:t>he RANDAO: Decentralized Randomness</a:t>
            </a:r>
          </a:p>
          <a:p>
            <a:r>
              <a:rPr lang="en-US" sz="2400" dirty="0"/>
              <a:t>Block proposer and committee selection must be random and unpredictable. Ethereum uses </a:t>
            </a:r>
            <a:r>
              <a:rPr lang="en-US" sz="2400" b="1" dirty="0"/>
              <a:t>RANDAO</a:t>
            </a:r>
            <a:r>
              <a:rPr lang="en-US" sz="2400" dirty="0"/>
              <a:t> — a commit-reveal scheme:</a:t>
            </a:r>
          </a:p>
          <a:p>
            <a:r>
              <a:rPr lang="en-US" sz="2400" dirty="0"/>
              <a:t>Every block proposer mixes their BLS signature (a hash of the current epoch) into a running "RANDAO accumulator." The result is the seed for the shuffling algorithm (SWAP-OR-NOT) that assigns validators to committees and slots for the next epoch. </a:t>
            </a:r>
          </a:p>
          <a:p>
            <a:r>
              <a:rPr lang="en-US" sz="2400" dirty="0"/>
              <a:t>Because each proposer adds entropy, a single malicious proposer can only bias the randomness by choosing </a:t>
            </a:r>
            <a:r>
              <a:rPr lang="en-US" sz="2400" i="1" dirty="0"/>
              <a:t>not to propose</a:t>
            </a:r>
            <a:r>
              <a:rPr lang="en-US" sz="2400" dirty="0"/>
              <a:t> (which costs them their block reward). Biasing by more than 1 bit per epoch requires controlling many consecutive proposers — extremely unlikely and very expensive.</a:t>
            </a:r>
          </a:p>
          <a:p>
            <a:r>
              <a:rPr lang="en-US" sz="2400" dirty="0"/>
              <a:t>For applications requiring stronger randomness guarantees, Ethereum is migrating toward </a:t>
            </a:r>
            <a:r>
              <a:rPr lang="en-US" sz="2400" b="1" dirty="0"/>
              <a:t>VDF (Verifiable Delay Functions)</a:t>
            </a:r>
            <a:r>
              <a:rPr lang="en-US" sz="2400" dirty="0"/>
              <a:t> in a future upgrade, which makes lookahead attacks impossible by design.</a:t>
            </a:r>
          </a:p>
          <a:p>
            <a:endParaRPr lang="en-US" dirty="0"/>
          </a:p>
        </p:txBody>
      </p:sp>
    </p:spTree>
    <p:extLst>
      <p:ext uri="{BB962C8B-B14F-4D97-AF65-F5344CB8AC3E}">
        <p14:creationId xmlns:p14="http://schemas.microsoft.com/office/powerpoint/2010/main" val="3305534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FA14-03E6-6D54-182F-86BB87325F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D8D6CB-B7D2-C799-A917-93BF261D5F3E}"/>
              </a:ext>
            </a:extLst>
          </p:cNvPr>
          <p:cNvSpPr>
            <a:spLocks noGrp="1"/>
          </p:cNvSpPr>
          <p:nvPr>
            <p:ph idx="1"/>
          </p:nvPr>
        </p:nvSpPr>
        <p:spPr>
          <a:xfrm>
            <a:off x="1295400" y="2489200"/>
            <a:ext cx="9601200" cy="4572000"/>
          </a:xfrm>
        </p:spPr>
        <p:txBody>
          <a:bodyPr/>
          <a:lstStyle/>
          <a:p>
            <a:endParaRPr lang="en-US" dirty="0"/>
          </a:p>
        </p:txBody>
      </p:sp>
    </p:spTree>
    <p:extLst>
      <p:ext uri="{BB962C8B-B14F-4D97-AF65-F5344CB8AC3E}">
        <p14:creationId xmlns:p14="http://schemas.microsoft.com/office/powerpoint/2010/main" val="172101669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19063</TotalTime>
  <Words>2103</Words>
  <Application>Microsoft Office PowerPoint</Application>
  <PresentationFormat>Widescreen</PresentationFormat>
  <Paragraphs>86</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Franklin Gothic Book</vt:lpstr>
      <vt:lpstr>Crop</vt:lpstr>
      <vt:lpstr>Ethereum Proof of Stake Algorithm</vt:lpstr>
      <vt:lpstr>Stake, not Compute</vt:lpstr>
      <vt:lpstr>What is Proof of Stake</vt:lpstr>
      <vt:lpstr>The Process</vt:lpstr>
      <vt:lpstr>Types of Nodes involved in Validation</vt:lpstr>
      <vt:lpstr>The Consensus Protocol</vt:lpstr>
      <vt:lpstr>The Consensus Protocol</vt:lpstr>
      <vt:lpstr>Consensus Protocols</vt:lpstr>
      <vt:lpstr>Proof of Stake Validators</vt:lpstr>
      <vt:lpstr>Slots &amp; Epochs</vt:lpstr>
      <vt:lpstr>How Transactions are Executed</vt:lpstr>
      <vt:lpstr>Transaction Validation</vt:lpstr>
      <vt:lpstr>Block Proposer</vt:lpstr>
      <vt:lpstr>Validators Committee </vt:lpstr>
      <vt:lpstr>Finality</vt:lpstr>
      <vt:lpstr>The Economics: awards mad Penalties</vt:lpstr>
      <vt:lpstr>Slashable Offenses</vt:lpstr>
      <vt:lpstr>The RANDAO: Decentralized Randomness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Bitcoin Works: A Transaction Journey</dc:title>
  <dc:creator>Mohammed EL-Affendi</dc:creator>
  <cp:lastModifiedBy>Prof Mohammed ELAffendi</cp:lastModifiedBy>
  <cp:revision>22</cp:revision>
  <dcterms:created xsi:type="dcterms:W3CDTF">2019-09-17T14:11:47Z</dcterms:created>
  <dcterms:modified xsi:type="dcterms:W3CDTF">2026-04-12T06:11:31Z</dcterms:modified>
</cp:coreProperties>
</file>