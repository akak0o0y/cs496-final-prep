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5"/>
  </p:notesMasterIdLst>
  <p:handoutMasterIdLst>
    <p:handoutMasterId r:id="rId46"/>
  </p:handoutMasterIdLst>
  <p:sldIdLst>
    <p:sldId id="317" r:id="rId5"/>
    <p:sldId id="332" r:id="rId6"/>
    <p:sldId id="360" r:id="rId7"/>
    <p:sldId id="340" r:id="rId8"/>
    <p:sldId id="341" r:id="rId9"/>
    <p:sldId id="342" r:id="rId10"/>
    <p:sldId id="352" r:id="rId11"/>
    <p:sldId id="346" r:id="rId12"/>
    <p:sldId id="333" r:id="rId13"/>
    <p:sldId id="334" r:id="rId14"/>
    <p:sldId id="329" r:id="rId15"/>
    <p:sldId id="335" r:id="rId16"/>
    <p:sldId id="343" r:id="rId17"/>
    <p:sldId id="344" r:id="rId18"/>
    <p:sldId id="345" r:id="rId19"/>
    <p:sldId id="331" r:id="rId20"/>
    <p:sldId id="330" r:id="rId21"/>
    <p:sldId id="347" r:id="rId22"/>
    <p:sldId id="351" r:id="rId23"/>
    <p:sldId id="336" r:id="rId24"/>
    <p:sldId id="337" r:id="rId25"/>
    <p:sldId id="338" r:id="rId26"/>
    <p:sldId id="339" r:id="rId27"/>
    <p:sldId id="270" r:id="rId28"/>
    <p:sldId id="271" r:id="rId29"/>
    <p:sldId id="276" r:id="rId30"/>
    <p:sldId id="359" r:id="rId31"/>
    <p:sldId id="273" r:id="rId32"/>
    <p:sldId id="274" r:id="rId33"/>
    <p:sldId id="353" r:id="rId34"/>
    <p:sldId id="264" r:id="rId35"/>
    <p:sldId id="354" r:id="rId36"/>
    <p:sldId id="278" r:id="rId37"/>
    <p:sldId id="355" r:id="rId38"/>
    <p:sldId id="282" r:id="rId39"/>
    <p:sldId id="357" r:id="rId40"/>
    <p:sldId id="358" r:id="rId41"/>
    <p:sldId id="283" r:id="rId42"/>
    <p:sldId id="361" r:id="rId43"/>
    <p:sldId id="36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 autoAdjust="0"/>
    <p:restoredTop sz="95405" autoAdjust="0"/>
  </p:normalViewPr>
  <p:slideViewPr>
    <p:cSldViewPr snapToGrid="0">
      <p:cViewPr>
        <p:scale>
          <a:sx n="73" d="100"/>
          <a:sy n="73" d="100"/>
        </p:scale>
        <p:origin x="504" y="389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ch.kherb.io/" TargetMode="Externa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Quantum Gates &amp; Operators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1906-D94C-C996-FAB2-3708CB9A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56" y="783772"/>
            <a:ext cx="10533743" cy="914400"/>
          </a:xfrm>
        </p:spPr>
        <p:txBody>
          <a:bodyPr/>
          <a:lstStyle/>
          <a:p>
            <a:r>
              <a:rPr lang="en-US"/>
              <a:t>Foreword: The importance &amp; nature of quantum gates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7A17-C2A1-29CB-3D38-D03D2536A3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829" y="2039112"/>
            <a:ext cx="9746341" cy="4630202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Quantum applications are built as quantum circuits  using quantum gates (like classical computer applications)</a:t>
            </a:r>
          </a:p>
          <a:p>
            <a:r>
              <a:rPr lang="en-US" sz="2400" dirty="0">
                <a:latin typeface="+mj-lt"/>
              </a:rPr>
              <a:t>In classical computers, the gates are simple and appear only in architecture &amp; computer organization  courses </a:t>
            </a:r>
          </a:p>
          <a:p>
            <a:r>
              <a:rPr lang="en-US" sz="2400" dirty="0">
                <a:latin typeface="+mj-lt"/>
              </a:rPr>
              <a:t>As for quantum computing, the gates are more complex and used directly in high level quantum applications (fore &amp; front)</a:t>
            </a:r>
          </a:p>
          <a:p>
            <a:r>
              <a:rPr lang="en-US" sz="2400" dirty="0">
                <a:latin typeface="+mj-lt"/>
              </a:rPr>
              <a:t>Due to the complexity of qubits, most of the quantum gates are mathematical and based linear and matrix algebra</a:t>
            </a:r>
          </a:p>
          <a:p>
            <a:r>
              <a:rPr lang="en-US" sz="2400" dirty="0">
                <a:latin typeface="+mj-lt"/>
              </a:rPr>
              <a:t>In this lecture we describe samples of well known quantum gates used to build quantum applications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3E95E-E5CE-DDA0-25C4-C8F3498AA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5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D4A4A-2199-3F7D-4A61-6E872BF9B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Content Placeholder 3" descr="qc2.png">
            <a:extLst>
              <a:ext uri="{FF2B5EF4-FFF2-40B4-BE49-F238E27FC236}">
                <a16:creationId xmlns:a16="http://schemas.microsoft.com/office/drawing/2014/main" id="{E774659A-1199-AC4E-8227-A15D4CB9EC5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5214" y="0"/>
            <a:ext cx="9774619" cy="691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6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771E-937C-0ACD-AEB6-B9FE94C1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Classical NOT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0EBBE-631F-C41C-7E9B-73EC617EE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A2440-E654-A937-3497-CA3054940A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1"/>
            <a:ext cx="9514114" cy="47365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8" name="Picture 4" descr="Figure 1.1 – Behavior of the NOT gate">
            <a:extLst>
              <a:ext uri="{FF2B5EF4-FFF2-40B4-BE49-F238E27FC236}">
                <a16:creationId xmlns:a16="http://schemas.microsoft.com/office/drawing/2014/main" id="{24C54392-7C47-116C-C59B-7168052D3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100" y="2039112"/>
            <a:ext cx="428625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24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93F0-F592-8F07-45DB-0A0F003B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AND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D76E8-D5F6-DCD5-ED9F-6484CB06E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 descr="Figure 1.2 – Behavior of the AND gate">
            <a:extLst>
              <a:ext uri="{FF2B5EF4-FFF2-40B4-BE49-F238E27FC236}">
                <a16:creationId xmlns:a16="http://schemas.microsoft.com/office/drawing/2014/main" id="{4278D83C-74E9-45B8-657D-01A829760B84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775" y="2774216"/>
            <a:ext cx="7591971" cy="288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53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99DD0-BA84-C68B-710E-3271C806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Classical OR 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91303-DFD0-E729-0572-181DDDC95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 descr="Figure 1.3 – Behavior of the OR gate">
            <a:extLst>
              <a:ext uri="{FF2B5EF4-FFF2-40B4-BE49-F238E27FC236}">
                <a16:creationId xmlns:a16="http://schemas.microsoft.com/office/drawing/2014/main" id="{94191F5F-A18F-0682-7675-B313A7DE46F9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476" y="2619829"/>
            <a:ext cx="7412703" cy="240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38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77A3-2FC9-0191-C7AF-4944B510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400"/>
            <a:ext cx="9725025" cy="914400"/>
          </a:xfrm>
        </p:spPr>
        <p:txBody>
          <a:bodyPr/>
          <a:lstStyle/>
          <a:p>
            <a:r>
              <a:rPr lang="en-US" dirty="0"/>
              <a:t>Two examples of Circuits: Classical VS Quantum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699F-4AF4-3B1F-D101-3E007962B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266" name="Picture 2" descr="&quot;classical logic and quantum circuit&quot;">
            <a:extLst>
              <a:ext uri="{FF2B5EF4-FFF2-40B4-BE49-F238E27FC236}">
                <a16:creationId xmlns:a16="http://schemas.microsoft.com/office/drawing/2014/main" id="{F3144D8E-11D8-84C9-C24B-846493DF66DE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752726"/>
            <a:ext cx="9494413" cy="334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82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1F5D-AF28-6A10-26E8-4E4671B2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10312"/>
            <a:ext cx="7534656" cy="914400"/>
          </a:xfrm>
        </p:spPr>
        <p:txBody>
          <a:bodyPr/>
          <a:lstStyle/>
          <a:p>
            <a:r>
              <a:rPr lang="en-US" dirty="0"/>
              <a:t>The Bloch Sphere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3FBCF-412D-0D5A-E57C-3A8FD173F4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6784" y="1124712"/>
            <a:ext cx="11253216" cy="5522975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This nice simple figure on the right is Bloch Sphere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Bloch Sphere is unitary figure used to represent 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     the state of a qubit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vertical line in the middle is the Z axis (Pole axis)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green line in the middle is the X axis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</a:rPr>
              <a:t>The orange arrow is the Y axis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4340C-AB58-4087-6699-0D67384A5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199" name="Picture 7">
            <a:extLst>
              <a:ext uri="{FF2B5EF4-FFF2-40B4-BE49-F238E27FC236}">
                <a16:creationId xmlns:a16="http://schemas.microsoft.com/office/drawing/2014/main" id="{C92B4427-E4A6-EFAC-5D26-9B4FF1DD0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493" y="2914651"/>
            <a:ext cx="4967525" cy="394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246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B91D-514F-572C-CA86-334BCD52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State and the Bloch Sphere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221FE-7982-937B-9077-7FEC79B0211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26720" y="2039112"/>
                <a:ext cx="11074400" cy="460552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A qubit's state is represented as a superposition of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and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1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. </a:t>
                </a:r>
                <a:r>
                  <a:rPr lang="en-US" sz="2400" dirty="0">
                    <a:latin typeface="Abadi" panose="020B0604020104020204" pitchFamily="34" charset="0"/>
                  </a:rPr>
                  <a:t>An arbitrary quantum state is represented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SA" sz="2400"/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SA" sz="2400"/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SA" sz="2400"/>
                                  </m:ctrlPr>
                                </m:dPr>
                                <m:e>
                                  <m:r>
                                    <a:rPr lang="ar-SA" sz="2400"/>
                                    <m:t>∣</m:t>
                                  </m:r>
                                  <m:r>
                                    <a:rPr lang="ar-SA" sz="2400" i="1"/>
                                    <m:t>𝜓</m:t>
                                  </m:r>
                                </m:e>
                              </m:d>
                              <m:r>
                                <a:rPr lang="ar-SA" sz="2400"/>
                                <m:t>=</m:t>
                              </m:r>
                              <m:r>
                                <a:rPr lang="ar-SA" sz="2400" i="1"/>
                                <m:t>𝛼</m:t>
                              </m:r>
                              <m:r>
                                <a:rPr lang="ar-SA" sz="2400"/>
                                <m:t>∣</m:t>
                              </m:r>
                              <m:r>
                                <a:rPr lang="ar-SA" sz="2400"/>
                                <m:t>0</m:t>
                              </m:r>
                            </m:e>
                          </m:d>
                          <m:r>
                            <a:rPr lang="ar-SA" sz="2400"/>
                            <m:t>+</m:t>
                          </m:r>
                          <m:r>
                            <a:rPr lang="ar-SA" sz="2400" i="1"/>
                            <m:t>𝛽</m:t>
                          </m:r>
                          <m:r>
                            <a:rPr lang="ar-SA" sz="2400"/>
                            <m:t>∣</m:t>
                          </m:r>
                          <m:r>
                            <a:rPr lang="ar-SA" sz="2400"/>
                            <m:t>1</m:t>
                          </m:r>
                        </m:e>
                      </m:d>
                    </m:oMath>
                  </m:oMathPara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where </a:t>
                </a:r>
                <a14:m>
                  <m:oMath xmlns:m="http://schemas.openxmlformats.org/officeDocument/2006/math">
                    <m:r>
                      <a:rPr lang="en-US" sz="2400" i="1"/>
                      <m:t>𝛼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/>
                      <m:t>𝛽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are complex numbers such that </a:t>
                </a:r>
                <a14:m>
                  <m:oMath xmlns:m="http://schemas.openxmlformats.org/officeDocument/2006/math">
                    <m:r>
                      <a:rPr lang="en-US" sz="2400"/>
                      <m:t>∣</m:t>
                    </m:r>
                    <m:r>
                      <a:rPr lang="en-US" sz="2400" i="1"/>
                      <m:t>𝛼</m:t>
                    </m:r>
                    <m:sSup>
                      <m:sSupPr>
                        <m:ctrlPr>
                          <a:rPr lang="ar-SA" sz="2400" i="1"/>
                        </m:ctrlPr>
                      </m:sSupPr>
                      <m:e>
                        <m:r>
                          <a:rPr lang="ar-SA" sz="2400"/>
                          <m:t>∣</m:t>
                        </m:r>
                      </m:e>
                      <m:sup>
                        <m:r>
                          <a:rPr lang="ar-SA" sz="2400"/>
                          <m:t>2</m:t>
                        </m:r>
                      </m:sup>
                    </m:sSup>
                    <m:r>
                      <a:rPr lang="ar-SA" sz="2400"/>
                      <m:t>+∣</m:t>
                    </m:r>
                    <m:r>
                      <a:rPr lang="ar-SA" sz="2400" i="1"/>
                      <m:t>𝛽</m:t>
                    </m:r>
                    <m:sSup>
                      <m:sSupPr>
                        <m:ctrlPr>
                          <a:rPr lang="ar-SA" sz="2400" i="1"/>
                        </m:ctrlPr>
                      </m:sSupPr>
                      <m:e>
                        <m:r>
                          <a:rPr lang="ar-SA" sz="2400"/>
                          <m:t>∣</m:t>
                        </m:r>
                      </m:e>
                      <m:sup>
                        <m:r>
                          <a:rPr lang="ar-SA" sz="2400"/>
                          <m:t>2</m:t>
                        </m:r>
                      </m:sup>
                    </m:sSup>
                    <m:r>
                      <a:rPr lang="ar-SA" sz="2400"/>
                      <m:t>=</m:t>
                    </m:r>
                    <m:r>
                      <a:rPr lang="ar-SA" sz="2400"/>
                      <m:t>1</m:t>
                    </m:r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              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and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1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are vectors in the two-dimensional complex vector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SA" sz="2400"/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SA" sz="2400"/>
                              </m:ctrlPr>
                            </m:dPr>
                            <m:e>
                              <m:r>
                                <a:rPr lang="ar-SA" sz="2400"/>
                                <m:t>∣</m:t>
                              </m:r>
                              <m:r>
                                <a:rPr lang="ar-SA" sz="2400"/>
                                <m:t>0</m:t>
                              </m:r>
                            </m:e>
                          </m:d>
                          <m:r>
                            <a:rPr lang="ar-SA" sz="2400"/>
                            <m:t>=</m:t>
                          </m:r>
                          <m:d>
                            <m:dPr>
                              <m:ctrlPr>
                                <a:rPr lang="ar-SA" sz="2400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SA" sz="2400" i="1"/>
                                  </m:ctrlPr>
                                </m:mPr>
                                <m:mr>
                                  <m:e>
                                    <m:r>
                                      <a:rPr lang="ar-SA" sz="2400"/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SA" sz="2400"/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ar-SA" sz="2400"/>
                            <m:t>,∣</m:t>
                          </m:r>
                          <m:r>
                            <a:rPr lang="ar-SA" sz="2400"/>
                            <m:t>1</m:t>
                          </m:r>
                        </m:e>
                      </m:d>
                      <m:r>
                        <a:rPr lang="ar-SA" sz="2400"/>
                        <m:t>=</m:t>
                      </m:r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Therefore, an arbitrary quantum state is also represented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SA" sz="2400"/>
                          </m:ctrlPr>
                        </m:dPr>
                        <m:e>
                          <m:r>
                            <a:rPr lang="ar-SA" sz="2400"/>
                            <m:t>∣</m:t>
                          </m:r>
                          <m:r>
                            <a:rPr lang="ar-SA" sz="2400" i="1"/>
                            <m:t>𝜓</m:t>
                          </m:r>
                        </m:e>
                      </m:d>
                      <m:r>
                        <a:rPr lang="ar-SA" sz="2400"/>
                        <m:t>=</m:t>
                      </m:r>
                      <m:r>
                        <a:rPr lang="ar-SA" sz="2400" i="1"/>
                        <m:t>𝛼</m:t>
                      </m:r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/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/>
                        <m:t>+</m:t>
                      </m:r>
                      <m:r>
                        <a:rPr lang="ar-SA" sz="2400" i="1"/>
                        <m:t>𝛽</m:t>
                      </m:r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/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SA" sz="2400"/>
                        <m:t>=</m:t>
                      </m:r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 i="1"/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 i="1"/>
                                  <m:t>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badi" panose="020B0604020104020204" pitchFamily="34" charset="0"/>
                  </a:rPr>
                  <a:t>                    </a:t>
                </a:r>
                <a:r>
                  <a:rPr lang="el-GR" sz="2400" dirty="0"/>
                  <a:t>∣</a:t>
                </a:r>
                <a:r>
                  <a:rPr lang="el-GR" sz="2400" i="1" dirty="0"/>
                  <a:t>ψ</a:t>
                </a:r>
                <a:r>
                  <a:rPr lang="el-GR" sz="2400" dirty="0"/>
                  <a:t>⟩=(</a:t>
                </a:r>
                <a:r>
                  <a:rPr lang="el-GR" sz="2400" i="1" dirty="0"/>
                  <a:t>αβ</a:t>
                </a:r>
                <a:r>
                  <a:rPr lang="el-GR" sz="2400" dirty="0"/>
                  <a:t>​) </a:t>
                </a:r>
                <a:r>
                  <a:rPr lang="en-US" sz="2400" dirty="0">
                    <a:latin typeface="Abadi" panose="020B0604020104020204" pitchFamily="34" charset="0"/>
                  </a:rPr>
                  <a:t>is also called the state vector.</a:t>
                </a:r>
              </a:p>
              <a:p>
                <a:pPr marL="0" indent="0">
                  <a:buNone/>
                </a:pPr>
                <a:endParaRPr lang="ar-SA" sz="2400" dirty="0">
                  <a:latin typeface="Abadi" panose="020B060402010402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221FE-7982-937B-9077-7FEC79B02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26720" y="2039112"/>
                <a:ext cx="11074400" cy="4605528"/>
              </a:xfrm>
              <a:blipFill>
                <a:blip r:embed="rId2"/>
                <a:stretch>
                  <a:fillRect l="-715" t="-13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15F0B-4DFA-161D-A74E-50F210DB7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62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AD1C-5290-5A86-D2B9-C325F6F2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182880"/>
            <a:ext cx="7534656" cy="914400"/>
          </a:xfrm>
        </p:spPr>
        <p:txBody>
          <a:bodyPr/>
          <a:lstStyle/>
          <a:p>
            <a:r>
              <a:rPr lang="en-US" dirty="0"/>
              <a:t>Using radian angles: the Bloch Sphere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06DEC-1F1B-9A2D-FC2A-1B2123E50C8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01600" y="1513840"/>
                <a:ext cx="11115040" cy="5161280"/>
              </a:xfrm>
            </p:spPr>
            <p:txBody>
              <a:bodyPr/>
              <a:lstStyle/>
              <a:p>
                <a:r>
                  <a:rPr lang="en-US" sz="2400" dirty="0">
                    <a:latin typeface="Abadi" panose="020B0604020104020204" pitchFamily="34" charset="0"/>
                  </a:rPr>
                  <a:t>A single-qubit quantum state is also represented as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SA" sz="2400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SA" sz="2400"/>
                                </m:ctrlPr>
                              </m:dPr>
                              <m:e>
                                <m:r>
                                  <a:rPr lang="ar-SA" sz="2400"/>
                                  <m:t>∣</m:t>
                                </m:r>
                                <m:r>
                                  <a:rPr lang="ar-SA" sz="2400" i="1"/>
                                  <m:t>𝜓</m:t>
                                </m:r>
                              </m:e>
                            </m:d>
                            <m:r>
                              <a:rPr lang="ar-SA" sz="2400"/>
                              <m:t>=</m:t>
                            </m:r>
                            <m:func>
                              <m:funcPr>
                                <m:ctrlPr>
                                  <a:rPr lang="ar-SA" sz="2400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/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ar-SA" sz="2400" i="1"/>
                                    </m:ctrlPr>
                                  </m:fPr>
                                  <m:num>
                                    <m:r>
                                      <a:rPr lang="ar-SA" sz="2400" i="1"/>
                                      <m:t>𝜃</m:t>
                                    </m:r>
                                  </m:num>
                                  <m:den>
                                    <m:r>
                                      <a:rPr lang="ar-SA" sz="2400"/>
                                      <m:t>2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ar-SA" sz="2400"/>
                              <m:t>∣</m:t>
                            </m:r>
                            <m:r>
                              <a:rPr lang="ar-SA" sz="2400"/>
                              <m:t>0</m:t>
                            </m:r>
                          </m:e>
                        </m:d>
                        <m:r>
                          <a:rPr lang="ar-SA" sz="2400"/>
                          <m:t>+</m:t>
                        </m:r>
                        <m:sSup>
                          <m:sSupPr>
                            <m:ctrlPr>
                              <a:rPr lang="ar-SA" sz="2400" i="1"/>
                            </m:ctrlPr>
                          </m:sSupPr>
                          <m:e>
                            <m:r>
                              <a:rPr lang="ar-SA" sz="2400" i="1"/>
                              <m:t>𝑒</m:t>
                            </m:r>
                          </m:e>
                          <m:sup>
                            <m:r>
                              <a:rPr lang="ar-SA" sz="2400" i="1"/>
                              <m:t>𝑖</m:t>
                            </m:r>
                            <m:r>
                              <a:rPr lang="ar-SA" sz="2400" i="1"/>
                              <m:t>𝜑</m:t>
                            </m:r>
                          </m:sup>
                        </m:sSup>
                        <m:func>
                          <m:funcPr>
                            <m:ctrlPr>
                              <a:rPr lang="ar-SA" sz="2400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/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ar-SA" sz="2400" i="1"/>
                                </m:ctrlPr>
                              </m:fPr>
                              <m:num>
                                <m:r>
                                  <a:rPr lang="ar-SA" sz="2400" i="1"/>
                                  <m:t>𝜃</m:t>
                                </m:r>
                              </m:num>
                              <m:den>
                                <m:r>
                                  <a:rPr lang="ar-SA" sz="2400"/>
                                  <m:t>2</m:t>
                                </m:r>
                              </m:den>
                            </m:f>
                          </m:e>
                        </m:func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1</m:t>
                        </m:r>
                      </m:e>
                    </m:d>
                    <m:r>
                      <a:rPr lang="ar-SA" sz="2400"/>
                      <m:t>=</m:t>
                    </m:r>
                    <m:d>
                      <m:dPr>
                        <m:ctrlPr>
                          <a:rPr lang="ar-SA" sz="2400" i="1"/>
                        </m:ctrlPr>
                      </m:dPr>
                      <m:e>
                        <m:d>
                          <m:dPr>
                            <m:ctrlPr>
                              <a:rPr lang="ar-SA" sz="2400" i="1"/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ar-SA" sz="2400" i="1"/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ar-SA" sz="2400" i="1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/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ar-SA" sz="2400" i="1"/>
                                          </m:ctrlPr>
                                        </m:fPr>
                                        <m:num>
                                          <m:r>
                                            <a:rPr lang="ar-SA" sz="2400" i="1"/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ar-SA" sz="2400"/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ar-SA" sz="2400" i="1"/>
                                      </m:ctrlPr>
                                    </m:sSupPr>
                                    <m:e>
                                      <m:r>
                                        <a:rPr lang="ar-SA" sz="2400" i="1"/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ar-SA" sz="2400" i="1"/>
                                        <m:t>𝑖</m:t>
                                      </m:r>
                                      <m:r>
                                        <a:rPr lang="ar-SA" sz="2400" i="1"/>
                                        <m:t>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ar-SA" sz="2400" i="1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/>
                                        <m:t>sin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ar-SA" sz="2400" i="1"/>
                                          </m:ctrlPr>
                                        </m:fPr>
                                        <m:num>
                                          <m:r>
                                            <a:rPr lang="ar-SA" sz="2400" i="1"/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ar-SA" sz="2400"/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where </a:t>
                </a:r>
                <a14:m>
                  <m:oMath xmlns:m="http://schemas.openxmlformats.org/officeDocument/2006/math">
                    <m:r>
                      <a:rPr lang="en-US" sz="2400" i="1"/>
                      <m:t>𝜃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/>
                      <m:t>𝜑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are the angles of the Bloch sphere in the following figure. (next page)</a:t>
                </a:r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Note that Alpha and Beta has been replaced by the radian expressions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06DEC-1F1B-9A2D-FC2A-1B2123E50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01600" y="1513840"/>
                <a:ext cx="11115040" cy="5161280"/>
              </a:xfrm>
              <a:blipFill>
                <a:blip r:embed="rId2"/>
                <a:stretch>
                  <a:fillRect l="-768" t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4714A-6F87-B2AA-FB52-EA3C1985C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52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5606-A6A1-5C1B-7D5A-5118AC52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23" y="0"/>
            <a:ext cx="7534656" cy="914400"/>
          </a:xfrm>
        </p:spPr>
        <p:txBody>
          <a:bodyPr/>
          <a:lstStyle/>
          <a:p>
            <a:r>
              <a:rPr lang="en-US" dirty="0"/>
              <a:t>Some Concepts Regarding Waves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05D24-7231-7D88-B34E-8101DD88D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414D1C-CA3D-0C79-42A6-7A8C7775DE91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48211"/>
            <a:ext cx="8280400" cy="561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20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E3DC-4022-C730-9FBC-80239E85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04800"/>
            <a:ext cx="7534656" cy="914400"/>
          </a:xfrm>
        </p:spPr>
        <p:txBody>
          <a:bodyPr/>
          <a:lstStyle/>
          <a:p>
            <a:r>
              <a:rPr lang="en-US" dirty="0"/>
              <a:t>The Bare Bloch Sphere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3D28F-0EFA-B06D-265B-819F828B5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074" name="Picture 2" descr="Bloch sphere">
            <a:extLst>
              <a:ext uri="{FF2B5EF4-FFF2-40B4-BE49-F238E27FC236}">
                <a16:creationId xmlns:a16="http://schemas.microsoft.com/office/drawing/2014/main" id="{1FE79E4D-FAB2-8B9C-AE43-77D6E9565F31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2" r="60434"/>
          <a:stretch>
            <a:fillRect/>
          </a:stretch>
        </p:blipFill>
        <p:spPr bwMode="auto">
          <a:xfrm>
            <a:off x="2762249" y="1352550"/>
            <a:ext cx="6285914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75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E402-B1E7-9CF6-BF22-5D898C11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Hadamard Gate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51784-2C55-DBB3-EE3A-7EB04A20FE0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400" y="2039111"/>
                <a:ext cx="9144000" cy="45807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Abadi" panose="020B0604020104020204" pitchFamily="34" charset="0"/>
                  </a:rPr>
                  <a:t>The Hadamard gate is a </a:t>
                </a:r>
                <a14:m>
                  <m:oMath xmlns:m="http://schemas.openxmlformats.org/officeDocument/2006/math">
                    <m:r>
                      <a:rPr lang="en-US" sz="2400" i="1"/>
                      <m:t>𝜋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rotation around an axis halfway between the </a:t>
                </a:r>
                <a14:m>
                  <m:oMath xmlns:m="http://schemas.openxmlformats.org/officeDocument/2006/math">
                    <m:r>
                      <a:rPr lang="en-US" sz="2400" i="1"/>
                      <m:t>𝑥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400" i="1"/>
                      <m:t>𝑧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axes on the Bloch sphere. </a:t>
                </a:r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Applying the H gate to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creates a superposition state such as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SA" sz="2400"/>
                        </m:ctrlPr>
                      </m:fPr>
                      <m:num>
                        <m:d>
                          <m:dPr>
                            <m:begChr m:val=""/>
                            <m:endChr m:val="⟩"/>
                            <m:ctrlPr>
                              <a:rPr lang="ar-SA" sz="2400"/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SA" sz="2400"/>
                                </m:ctrlPr>
                              </m:dPr>
                              <m:e>
                                <m:r>
                                  <a:rPr lang="ar-SA" sz="2400"/>
                                  <m:t>∣</m:t>
                                </m:r>
                                <m:r>
                                  <a:rPr lang="ar-SA" sz="2400"/>
                                  <m:t>0</m:t>
                                </m:r>
                              </m:e>
                            </m:d>
                            <m:r>
                              <a:rPr lang="ar-SA" sz="2400"/>
                              <m:t>+∣</m:t>
                            </m:r>
                            <m:r>
                              <a:rPr lang="ar-SA" sz="2400"/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ar-SA" sz="2400" i="1"/>
                            </m:ctrlPr>
                          </m:radPr>
                          <m:deg/>
                          <m:e>
                            <m:r>
                              <a:rPr lang="ar-SA" sz="2400"/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. </a:t>
                </a:r>
                <a:r>
                  <a:rPr lang="en-US" sz="2400" dirty="0">
                    <a:latin typeface="Abadi" panose="020B0604020104020204" pitchFamily="34" charset="0"/>
                  </a:rPr>
                  <a:t>The matrix representation of the H gate is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𝐻</m:t>
                      </m:r>
                      <m:r>
                        <a:rPr lang="en-US" sz="2400"/>
                        <m:t>=</m:t>
                      </m:r>
                      <m:f>
                        <m:fPr>
                          <m:ctrlPr>
                            <a:rPr lang="ar-SA" sz="2400" i="1"/>
                          </m:ctrlPr>
                        </m:fPr>
                        <m:num>
                          <m:r>
                            <a:rPr lang="ar-SA" sz="2400"/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SA" sz="2400" i="1"/>
                              </m:ctrlPr>
                            </m:radPr>
                            <m:deg/>
                            <m:e>
                              <m:r>
                                <a:rPr lang="ar-SA" sz="2400"/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  <m:e>
                                <m:r>
                                  <a:rPr lang="ar-SA" sz="2400"/>
                                  <m:t>−</m:t>
                                </m:r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51784-2C55-DBB3-EE3A-7EB04A20F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400" y="2039111"/>
                <a:ext cx="9144000" cy="4580763"/>
              </a:xfrm>
              <a:blipFill>
                <a:blip r:embed="rId2"/>
                <a:stretch>
                  <a:fillRect l="-867" t="-1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BD0D0-5BC1-B3E1-5CCA-01DF49D31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5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C888-CF83-E97B-075B-C441D9B4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47650"/>
            <a:ext cx="7534656" cy="914400"/>
          </a:xfrm>
        </p:spPr>
        <p:txBody>
          <a:bodyPr/>
          <a:lstStyle/>
          <a:p>
            <a:r>
              <a:rPr lang="en-US" dirty="0"/>
              <a:t>Apply the Hadamard Gate and Draw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43064-042C-FA81-1AA1-CA7D4AC2B3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6275" y="1410461"/>
            <a:ext cx="8896350" cy="4314063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QuantumCircuit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Create the single-qubit quantum circuit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Apply an Hadamard gate to qubit 0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Draw the circuit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.draw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(output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mpl</a:t>
            </a:r>
            <a:r>
              <a:rPr 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  <a:p>
            <a:r>
              <a:rPr lang="en-US" dirty="0"/>
              <a:t>The Circuit: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6F3AA-C076-C86F-0B21-1418C79DD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146" name="Picture 2" descr="Output of the previous code cell">
            <a:extLst>
              <a:ext uri="{FF2B5EF4-FFF2-40B4-BE49-F238E27FC236}">
                <a16:creationId xmlns:a16="http://schemas.microsoft.com/office/drawing/2014/main" id="{DC58B3B0-FF80-B891-F802-628A3B86C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229100"/>
            <a:ext cx="2343150" cy="159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976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528B43-E5FA-3E66-CEEC-125D7FA041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42925" y="0"/>
                <a:ext cx="7534656" cy="914400"/>
              </a:xfrm>
            </p:spPr>
            <p:txBody>
              <a:bodyPr/>
              <a:lstStyle/>
              <a:p>
                <a:r>
                  <a:rPr lang="en-US" dirty="0"/>
                  <a:t>H on the Bloch Sphere : The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∣+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state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528B43-E5FA-3E66-CEEC-125D7FA04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2925" y="0"/>
                <a:ext cx="7534656" cy="914400"/>
              </a:xfrm>
              <a:blipFill>
                <a:blip r:embed="rId2"/>
                <a:stretch>
                  <a:fillRect l="-2023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642596-D2CD-2927-F52F-B4384E90735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57175" y="1019175"/>
                <a:ext cx="11758041" cy="5838825"/>
              </a:xfrm>
            </p:spPr>
            <p:txBody>
              <a:bodyPr/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en-US" b="0" i="1" dirty="0">
                    <a:solidFill>
                      <a:srgbClr val="93A1A1"/>
                    </a:solidFill>
                    <a:effectLst/>
                    <a:latin typeface="Consolas" panose="020B0609020204030204" pitchFamily="49" charset="0"/>
                  </a:rPr>
                  <a:t># See the </a:t>
                </a:r>
                <a:r>
                  <a:rPr lang="en-US" b="0" i="1" dirty="0" err="1">
                    <a:solidFill>
                      <a:srgbClr val="93A1A1"/>
                    </a:solidFill>
                    <a:effectLst/>
                    <a:latin typeface="Consolas" panose="020B0609020204030204" pitchFamily="49" charset="0"/>
                  </a:rPr>
                  <a:t>statevector</a:t>
                </a:r>
                <a:endParaRPr lang="en-US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b="0" dirty="0" err="1">
                    <a:solidFill>
                      <a:srgbClr val="268BD2"/>
                    </a:solidFill>
                    <a:effectLst/>
                    <a:latin typeface="Consolas" panose="020B0609020204030204" pitchFamily="49" charset="0"/>
                  </a:rPr>
                  <a:t>out_vector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b="0" dirty="0">
                    <a:solidFill>
                      <a:srgbClr val="859900"/>
                    </a:solidFill>
                    <a:effectLst/>
                    <a:latin typeface="Consolas" panose="020B0609020204030204" pitchFamily="49" charset="0"/>
                  </a:rPr>
                  <a:t>=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US" b="0" dirty="0" err="1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Statevector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(qc)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b="0" dirty="0">
                    <a:solidFill>
                      <a:srgbClr val="268BD2"/>
                    </a:solidFill>
                    <a:effectLst/>
                    <a:latin typeface="Consolas" panose="020B0609020204030204" pitchFamily="49" charset="0"/>
                  </a:rPr>
                  <a:t>print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b="0" dirty="0" err="1">
                    <a:solidFill>
                      <a:srgbClr val="268BD2"/>
                    </a:solidFill>
                    <a:effectLst/>
                    <a:latin typeface="Consolas" panose="020B0609020204030204" pitchFamily="49" charset="0"/>
                  </a:rPr>
                  <a:t>out_vector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)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 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b="0" i="1" dirty="0">
                    <a:solidFill>
                      <a:srgbClr val="93A1A1"/>
                    </a:solidFill>
                    <a:effectLst/>
                    <a:latin typeface="Consolas" panose="020B0609020204030204" pitchFamily="49" charset="0"/>
                  </a:rPr>
                  <a:t># Draw a Bloch sphere</a:t>
                </a:r>
                <a:endParaRPr lang="en-US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b="0" dirty="0" err="1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plot_bloch_multivector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b="0" dirty="0" err="1">
                    <a:solidFill>
                      <a:srgbClr val="268BD2"/>
                    </a:solidFill>
                    <a:effectLst/>
                    <a:latin typeface="Consolas" panose="020B0609020204030204" pitchFamily="49" charset="0"/>
                  </a:rPr>
                  <a:t>out_vector</a:t>
                </a:r>
                <a:r>
                  <a:rPr lang="en-US" b="0" dirty="0">
                    <a:solidFill>
                      <a:srgbClr val="657B83"/>
                    </a:solidFill>
                    <a:effectLst/>
                    <a:latin typeface="Consolas" panose="020B0609020204030204" pitchFamily="49" charset="0"/>
                  </a:rPr>
                  <a:t>)</a:t>
                </a:r>
              </a:p>
              <a:p>
                <a:pPr>
                  <a:lnSpc>
                    <a:spcPts val="1425"/>
                  </a:lnSpc>
                  <a:buNone/>
                </a:pPr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dirty="0">
                    <a:solidFill>
                      <a:srgbClr val="657B83"/>
                    </a:solidFill>
                    <a:latin typeface="Consolas" panose="020B0609020204030204" pitchFamily="49" charset="0"/>
                  </a:rPr>
                  <a:t>The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ar-S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ar-S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SA">
                                    <a:latin typeface="Cambria Math" panose="02040503050406030204" pitchFamily="18" charset="0"/>
                                  </a:rPr>
                                  <m:t>∣+</m:t>
                                </m:r>
                              </m:e>
                            </m:d>
                            <m:r>
                              <a:rPr lang="ar-SA">
                                <a:latin typeface="Cambria Math" panose="02040503050406030204" pitchFamily="18" charset="0"/>
                              </a:rPr>
                              <m:t>≡</m:t>
                            </m:r>
                            <m:f>
                              <m:fPr>
                                <m:ctrlPr>
                                  <a:rPr lang="ar-S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SA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ar-SA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SA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d>
                              <m:dPr>
                                <m:endChr m:val="⟩"/>
                                <m:ctrlPr>
                                  <a:rPr lang="ar-S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SA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ar-SA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ar-SA">
                                <a:latin typeface="Cambria Math" panose="02040503050406030204" pitchFamily="18" charset="0"/>
                              </a:rPr>
                              <m:t>+∣</m:t>
                            </m:r>
                            <m:r>
                              <a:rPr lang="ar-SA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dirty="0">
                  <a:solidFill>
                    <a:srgbClr val="657B83"/>
                  </a:solidFill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dirty="0" err="1">
                    <a:solidFill>
                      <a:srgbClr val="657B83"/>
                    </a:solidFill>
                    <a:latin typeface="Consolas" panose="020B0609020204030204" pitchFamily="49" charset="0"/>
                  </a:rPr>
                  <a:t>Statevector</a:t>
                </a:r>
                <a:r>
                  <a:rPr lang="en-US" dirty="0">
                    <a:solidFill>
                      <a:srgbClr val="657B83"/>
                    </a:solidFill>
                    <a:latin typeface="Consolas" panose="020B0609020204030204" pitchFamily="49" charset="0"/>
                  </a:rPr>
                  <a:t>([0.70710678+0.j, 0.70710678+0.j],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dirty="0">
                    <a:solidFill>
                      <a:srgbClr val="657B83"/>
                    </a:solidFill>
                    <a:latin typeface="Consolas" panose="020B0609020204030204" pitchFamily="49" charset="0"/>
                  </a:rPr>
                  <a:t>            dims=(2,))</a:t>
                </a:r>
              </a:p>
              <a:p>
                <a:pPr>
                  <a:lnSpc>
                    <a:spcPts val="1425"/>
                  </a:lnSpc>
                  <a:buNone/>
                </a:pPr>
                <a:endParaRPr lang="en-US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b="0" dirty="0">
                  <a:solidFill>
                    <a:srgbClr val="657B83"/>
                  </a:solidFill>
                  <a:effectLst/>
                  <a:latin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642596-D2CD-2927-F52F-B4384E907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57175" y="1019175"/>
                <a:ext cx="11758041" cy="5838825"/>
              </a:xfrm>
              <a:blipFill>
                <a:blip r:embed="rId3"/>
                <a:stretch>
                  <a:fillRect l="-518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9BF9-B10A-28BA-67A3-7A4B327C1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170" name="Picture 2" descr="Output of the previous code cell">
            <a:extLst>
              <a:ext uri="{FF2B5EF4-FFF2-40B4-BE49-F238E27FC236}">
                <a16:creationId xmlns:a16="http://schemas.microsoft.com/office/drawing/2014/main" id="{3954316D-ED8D-5CA9-4C03-4E8F4812C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1555454"/>
            <a:ext cx="417195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41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D475-9722-6A79-105C-A502D3CC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Hadamard Gate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577AA-4DFB-6427-D9B4-344F12BC2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050" name="Picture 2" descr="Circuit diagram of the program">
            <a:extLst>
              <a:ext uri="{FF2B5EF4-FFF2-40B4-BE49-F238E27FC236}">
                <a16:creationId xmlns:a16="http://schemas.microsoft.com/office/drawing/2014/main" id="{442B7A1B-6FAD-5729-196E-01D0A03EBFB4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259" y="2143760"/>
            <a:ext cx="6652101" cy="342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35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67B3-AABB-F84E-6804-B94FBE9F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109602"/>
            <a:ext cx="7534656" cy="714375"/>
          </a:xfrm>
        </p:spPr>
        <p:txBody>
          <a:bodyPr/>
          <a:lstStyle/>
          <a:p>
            <a:r>
              <a:rPr lang="en-US" dirty="0"/>
              <a:t>The Hamdard Gate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4DDF-90C4-21E3-03AE-5B63B5A256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7650" y="914400"/>
            <a:ext cx="11944350" cy="56184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qiskit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QuantumCircuit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transpile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ClassicalRegister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QuantumRegister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qiskit_aer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AerSimulator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backend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AerSimulator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Using local Aer simulator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268BD2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QuantumRegister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'q'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Initialise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quantum register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ClassicalRegister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Initialise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classical register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circuit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QuantumCircuit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20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Initialise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circuit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circuit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.h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Put Qubit 0 in to superposition using </a:t>
            </a:r>
            <a:r>
              <a:rPr lang="en-US" sz="20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hadamard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gate 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circuit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.measure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Measure qubit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transpile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circuit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backend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Rewrites the circuit to match the </a:t>
            </a:r>
            <a:r>
              <a:rPr lang="en-US" sz="2000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backend's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 basis gates and coupling map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shots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1024   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Run and get counts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2000" b="0" dirty="0">
              <a:solidFill>
                <a:srgbClr val="268BD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backend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.run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,shots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shots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).result()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counts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2000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.get_counts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circ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'RESULT: '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counts</a:t>
            </a:r>
            <a:r>
              <a:rPr lang="en-US" sz="2000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Print result </a:t>
            </a:r>
            <a:endParaRPr lang="en-US" sz="20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827E5-5563-39FD-1B2E-F96E1329C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23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D675-F056-97E1-652D-15B5E654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5250"/>
            <a:ext cx="7534656" cy="914400"/>
          </a:xfrm>
        </p:spPr>
        <p:txBody>
          <a:bodyPr/>
          <a:lstStyle/>
          <a:p>
            <a:r>
              <a:rPr lang="en-US" dirty="0"/>
              <a:t>The H Gate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66108-FD6B-94DB-850E-D4CD69C5BBC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23825" y="1238250"/>
                <a:ext cx="10639425" cy="55245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SA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ar-SA"/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SA"/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SA"/>
                                  </m:ctrlPr>
                                </m:dPr>
                                <m:e>
                                  <m:r>
                                    <a:rPr lang="ar-SA" i="1"/>
                                    <m:t>𝐻</m:t>
                                  </m:r>
                                  <m:r>
                                    <a:rPr lang="ar-SA"/>
                                    <m:t>∣</m:t>
                                  </m:r>
                                  <m:r>
                                    <a:rPr lang="ar-SA"/>
                                    <m:t>0</m:t>
                                  </m:r>
                                </m:e>
                              </m:d>
                              <m:r>
                                <a:rPr lang="ar-SA"/>
                                <m:t>=</m:t>
                              </m:r>
                              <m:f>
                                <m:fPr>
                                  <m:ctrlPr>
                                    <a:rPr lang="ar-SA" i="1"/>
                                  </m:ctrlPr>
                                </m:fPr>
                                <m:num>
                                  <m:r>
                                    <a:rPr lang="ar-SA"/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ar-SA" i="1"/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ar-SA"/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ctrlPr>
                                    <a:rPr lang="ar-SA" i="1"/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SA" i="1"/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ar-SA"/>
                                          <m:t>−</m:t>
                                        </m:r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d>
                                <m:dPr>
                                  <m:ctrlPr>
                                    <a:rPr lang="ar-SA" i="1"/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SA" i="1"/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SA"/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ar-SA"/>
                                <m:t>=</m:t>
                              </m:r>
                              <m:f>
                                <m:fPr>
                                  <m:ctrlPr>
                                    <a:rPr lang="ar-SA" i="1"/>
                                  </m:ctrlPr>
                                </m:fPr>
                                <m:num>
                                  <m:r>
                                    <a:rPr lang="ar-SA"/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ar-SA" i="1"/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ar-SA"/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ctrlPr>
                                    <a:rPr lang="ar-SA" i="1"/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SA" i="1"/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SA"/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ar-SA"/>
                                <m:t>=</m:t>
                              </m:r>
                              <m:d>
                                <m:dPr>
                                  <m:ctrlPr>
                                    <a:rPr lang="ar-SA" i="1"/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SA" i="1"/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SA"/>
                                          <m:t>0</m:t>
                                        </m:r>
                                        <m:r>
                                          <a:rPr lang="ar-SA"/>
                                          <m:t>.</m:t>
                                        </m:r>
                                        <m:r>
                                          <a:rPr lang="ar-SA"/>
                                          <m:t>707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SA"/>
                                          <m:t>0</m:t>
                                        </m:r>
                                        <m:r>
                                          <a:rPr lang="ar-SA"/>
                                          <m:t>.</m:t>
                                        </m:r>
                                        <m:r>
                                          <a:rPr lang="ar-SA"/>
                                          <m:t>707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ar-SA"/>
                                <m:t>=</m:t>
                              </m:r>
                              <m:f>
                                <m:fPr>
                                  <m:ctrlPr>
                                    <a:rPr lang="ar-SA" i="1"/>
                                  </m:ctrlPr>
                                </m:fPr>
                                <m:num>
                                  <m:r>
                                    <a:rPr lang="ar-SA"/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ar-SA" i="1"/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ar-SA"/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endChr m:val="⟩"/>
                                  <m:ctrlPr>
                                    <a:rPr lang="ar-SA" i="1"/>
                                  </m:ctrlPr>
                                </m:dPr>
                                <m:e>
                                  <m:r>
                                    <a:rPr lang="ar-SA"/>
                                    <m:t>∣</m:t>
                                  </m:r>
                                  <m:r>
                                    <a:rPr lang="ar-SA"/>
                                    <m:t>0</m:t>
                                  </m:r>
                                </m:e>
                              </m:d>
                              <m:r>
                                <a:rPr lang="ar-SA"/>
                                <m:t>+∣</m:t>
                              </m:r>
                              <m:r>
                                <a:rPr lang="ar-SA"/>
                                <m:t>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SA" dirty="0"/>
              </a:p>
              <a:p>
                <a:r>
                  <a:rPr lang="en-US" dirty="0"/>
                  <a:t>This superposition state is so common and important, that it is given its own symbol: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ar-SA"/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SA"/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SA"/>
                                  </m:ctrlPr>
                                </m:dPr>
                                <m:e>
                                  <m:r>
                                    <a:rPr lang="ar-SA"/>
                                    <m:t>∣+</m:t>
                                  </m:r>
                                </m:e>
                              </m:d>
                              <m:r>
                                <a:rPr lang="ar-SA"/>
                                <m:t>≡</m:t>
                              </m:r>
                              <m:f>
                                <m:fPr>
                                  <m:ctrlPr>
                                    <a:rPr lang="ar-SA" i="1"/>
                                  </m:ctrlPr>
                                </m:fPr>
                                <m:num>
                                  <m:r>
                                    <a:rPr lang="ar-SA"/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ar-SA" i="1"/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ar-SA"/>
                                        <m:t>2</m:t>
                                      </m:r>
                                    </m:e>
                                  </m:rad>
                                </m:den>
                              </m:f>
                              <m:d>
                                <m:dPr>
                                  <m:endChr m:val="⟩"/>
                                  <m:ctrlPr>
                                    <a:rPr lang="ar-SA" i="1"/>
                                  </m:ctrlPr>
                                </m:dPr>
                                <m:e>
                                  <m:r>
                                    <a:rPr lang="ar-SA"/>
                                    <m:t>∣</m:t>
                                  </m:r>
                                  <m:r>
                                    <a:rPr lang="ar-SA"/>
                                    <m:t>0</m:t>
                                  </m:r>
                                </m:e>
                              </m:d>
                              <m:r>
                                <a:rPr lang="ar-SA"/>
                                <m:t>+∣</m:t>
                              </m:r>
                              <m:r>
                                <a:rPr lang="ar-SA"/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SA"/>
                        <m:t>.</m:t>
                      </m:r>
                    </m:oMath>
                  </m:oMathPara>
                </a14:m>
                <a:endParaRPr lang="ar-SA" dirty="0"/>
              </a:p>
              <a:p>
                <a:r>
                  <a:rPr lang="en-US" dirty="0"/>
                  <a:t>By applying the </a:t>
                </a:r>
                <a14:m>
                  <m:oMath xmlns:m="http://schemas.openxmlformats.org/officeDocument/2006/math">
                    <m:r>
                      <a:rPr lang="en-US" i="1"/>
                      <m:t>𝐻</m:t>
                    </m:r>
                  </m:oMath>
                </a14:m>
                <a:r>
                  <a:rPr lang="en-US" dirty="0"/>
                  <a:t> gate on the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r>
                          <a:rPr lang="ar-SA"/>
                          <m:t>0</m:t>
                        </m:r>
                      </m:e>
                    </m:d>
                  </m:oMath>
                </a14:m>
                <a:r>
                  <a:rPr lang="ar-SA" dirty="0"/>
                  <a:t>, </a:t>
                </a:r>
                <a:r>
                  <a:rPr lang="en-US" dirty="0"/>
                  <a:t>we created a superposition of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r>
                          <a:rPr lang="ar-SA"/>
                          <m:t>0</m:t>
                        </m:r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and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</m:t>
                        </m:r>
                        <m:r>
                          <a:rPr lang="ar-SA"/>
                          <m:t>1</m:t>
                        </m:r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where measurement in the computational basis (along z in the Bloch sphere picture) would give you each state with equal probabilities.  </a:t>
                </a:r>
              </a:p>
              <a:p>
                <a:pPr marL="0" indent="0">
                  <a:buNone/>
                </a:pPr>
                <a:r>
                  <a:rPr lang="en-US" dirty="0"/>
                  <a:t>The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ar-SA"/>
                          <m:t>∣−</m:t>
                        </m:r>
                      </m:e>
                    </m:d>
                  </m:oMath>
                </a14:m>
                <a:r>
                  <a:rPr lang="ar-SA" b="1" dirty="0"/>
                  <a:t> </a:t>
                </a:r>
                <a:r>
                  <a:rPr lang="en-US" b="1" dirty="0"/>
                  <a:t>state</a:t>
                </a:r>
              </a:p>
              <a:p>
                <a:pPr marL="0" indent="0">
                  <a:buNone/>
                </a:pPr>
                <a:r>
                  <a:rPr lang="en-US" dirty="0"/>
                  <a:t>You might have guessed that there is a corresponding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/>
                        </m:ctrlPr>
                      </m:dPr>
                      <m:e>
                        <m:r>
                          <a:rPr lang="ar-SA"/>
                          <m:t>∣−</m:t>
                        </m:r>
                      </m:e>
                    </m:d>
                  </m:oMath>
                </a14:m>
                <a:r>
                  <a:rPr lang="ar-SA" dirty="0"/>
                  <a:t> </a:t>
                </a:r>
                <a:r>
                  <a:rPr lang="en-US" dirty="0"/>
                  <a:t>state: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SA"/>
                          </m:ctrlPr>
                        </m:dPr>
                        <m:e>
                          <m:r>
                            <a:rPr lang="ar-SA"/>
                            <m:t>∣−</m:t>
                          </m:r>
                        </m:e>
                      </m:d>
                      <m:r>
                        <a:rPr lang="ar-SA"/>
                        <m:t>≡</m:t>
                      </m:r>
                      <m:f>
                        <m:fPr>
                          <m:ctrlPr>
                            <a:rPr lang="ar-SA" i="1"/>
                          </m:ctrlPr>
                        </m:fPr>
                        <m:num>
                          <m:d>
                            <m:dPr>
                              <m:begChr m:val=""/>
                              <m:endChr m:val="⟩"/>
                              <m:ctrlPr>
                                <a:rPr lang="ar-SA" i="1"/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ar-SA" i="1"/>
                                  </m:ctrlPr>
                                </m:dPr>
                                <m:e>
                                  <m:r>
                                    <a:rPr lang="ar-SA"/>
                                    <m:t>∣</m:t>
                                  </m:r>
                                  <m:r>
                                    <a:rPr lang="ar-SA"/>
                                    <m:t>0</m:t>
                                  </m:r>
                                </m:e>
                              </m:d>
                              <m:r>
                                <a:rPr lang="ar-SA"/>
                                <m:t>−∣</m:t>
                              </m:r>
                              <m:r>
                                <a:rPr lang="ar-SA"/>
                                <m:t>1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SA" i="1"/>
                              </m:ctrlPr>
                            </m:radPr>
                            <m:deg/>
                            <m:e>
                              <m:r>
                                <a:rPr lang="ar-SA"/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ar-SA"/>
                        <m:t>.</m:t>
                      </m:r>
                    </m:oMath>
                  </m:oMathPara>
                </a14:m>
                <a:endParaRPr lang="ar-SA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66108-FD6B-94DB-850E-D4CD69C5B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23825" y="1238250"/>
                <a:ext cx="10639425" cy="5524500"/>
              </a:xfrm>
              <a:blipFill>
                <a:blip r:embed="rId2"/>
                <a:stretch>
                  <a:fillRect l="-573" t="-9492" r="-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97E9B-98F2-6D43-3C0A-D65EF63F3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398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B27034-F504-B8D3-7581-302B888B83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 on the Bloch Sphere: The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  state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B27034-F504-B8D3-7581-302B888B8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23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0E3D4-3582-8B9A-D35D-45F98D3A751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2039112"/>
                <a:ext cx="9896475" cy="4533138"/>
              </a:xfrm>
            </p:spPr>
            <p:txBody>
              <a:bodyPr/>
              <a:lstStyle/>
              <a:p>
                <a:r>
                  <a:rPr lang="en-US" dirty="0"/>
                  <a:t>To get the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  state on the Bloch Sphere apply the Hadamard gate to the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SA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  state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0E3D4-3582-8B9A-D35D-45F98D3A7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2039112"/>
                <a:ext cx="9896475" cy="4533138"/>
              </a:xfrm>
              <a:blipFill>
                <a:blip r:embed="rId3"/>
                <a:stretch>
                  <a:fillRect l="-555" t="-1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1EB59-099D-92DC-3A52-221BECEEA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789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EB5C-54C6-45F6-D30C-58613546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X Gate  (NOT Gate)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8EC6A-9BE3-EEE8-335C-A9C03183E59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2039112"/>
                <a:ext cx="9115425" cy="3356576"/>
              </a:xfrm>
            </p:spPr>
            <p:txBody>
              <a:bodyPr/>
              <a:lstStyle/>
              <a:p>
                <a:r>
                  <a:rPr lang="en-US" sz="2400" dirty="0">
                    <a:latin typeface="Abadi" panose="020B0604020104020204" pitchFamily="34" charset="0"/>
                  </a:rPr>
                  <a:t>The X gate is a </a:t>
                </a:r>
                <a14:m>
                  <m:oMath xmlns:m="http://schemas.openxmlformats.org/officeDocument/2006/math">
                    <m:r>
                      <a:rPr lang="en-US" sz="2400" i="1"/>
                      <m:t>𝜋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rotation around the </a:t>
                </a:r>
                <a14:m>
                  <m:oMath xmlns:m="http://schemas.openxmlformats.org/officeDocument/2006/math">
                    <m:r>
                      <a:rPr lang="en-US" sz="2400" i="1"/>
                      <m:t>𝑥</m:t>
                    </m:r>
                  </m:oMath>
                </a14:m>
                <a:r>
                  <a:rPr lang="en-US" sz="2400" dirty="0">
                    <a:latin typeface="Abadi" panose="020B0604020104020204" pitchFamily="34" charset="0"/>
                  </a:rPr>
                  <a:t> axis of the Bloch sphere. </a:t>
                </a:r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Applying the X gate to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results in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1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, </a:t>
                </a:r>
                <a:r>
                  <a:rPr lang="en-US" sz="2400" dirty="0">
                    <a:latin typeface="Abadi" panose="020B0604020104020204" pitchFamily="34" charset="0"/>
                  </a:rPr>
                  <a:t>and applying the X gate to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1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 </a:t>
                </a:r>
                <a:r>
                  <a:rPr lang="en-US" sz="2400" dirty="0">
                    <a:latin typeface="Abadi" panose="020B0604020104020204" pitchFamily="34" charset="0"/>
                  </a:rPr>
                  <a:t>results in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, </a:t>
                </a:r>
                <a:r>
                  <a:rPr lang="en-US" sz="2400" dirty="0">
                    <a:latin typeface="Abadi" panose="020B0604020104020204" pitchFamily="34" charset="0"/>
                  </a:rPr>
                  <a:t>so it is an operation similar to the classical NOT gate, and is also known as bit flip. </a:t>
                </a:r>
              </a:p>
              <a:p>
                <a:r>
                  <a:rPr lang="en-US" sz="2400" dirty="0">
                    <a:latin typeface="Abadi" panose="020B0604020104020204" pitchFamily="34" charset="0"/>
                  </a:rPr>
                  <a:t>The matrix representation of the X gate is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𝑋</m:t>
                      </m:r>
                      <m:r>
                        <a:rPr lang="en-US" sz="2400"/>
                        <m:t>=</m:t>
                      </m:r>
                      <m:d>
                        <m:dPr>
                          <m:ctrlPr>
                            <a:rPr lang="ar-SA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SA" sz="2400" i="1"/>
                              </m:ctrlPr>
                            </m:mPr>
                            <m:mr>
                              <m:e>
                                <m:r>
                                  <a:rPr lang="ar-SA" sz="2400"/>
                                  <m:t>0</m:t>
                                </m:r>
                              </m:e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SA" sz="2400"/>
                                  <m:t>1</m:t>
                                </m:r>
                              </m:e>
                              <m:e>
                                <m:r>
                                  <a:rPr lang="ar-SA" sz="2400"/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8EC6A-9BE3-EEE8-335C-A9C03183E5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2039112"/>
                <a:ext cx="9115425" cy="3356576"/>
              </a:xfrm>
              <a:blipFill>
                <a:blip r:embed="rId2"/>
                <a:stretch>
                  <a:fillRect l="-870" t="-5455" r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59950-B0C1-1551-D731-50B38CBAF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66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6233-C8D6-B3F3-5E46-F298DB96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X Gate Python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93D1-2CB7-1CC8-2F69-3BD27ECC14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905761"/>
            <a:ext cx="8591550" cy="4333113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QuantumCircuit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Prepare the single-qubit quantum circuit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Apply  X gate to qubit 0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3368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Draw the circuit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qc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.draw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mpl</a:t>
            </a:r>
            <a:r>
              <a:rPr lang="en-US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/>
              <a:t>The X circuit diagram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6864-0CD4-B047-C8C8-4DA483EE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098" name="Picture 2" descr="Output of the previous code cell">
            <a:extLst>
              <a:ext uri="{FF2B5EF4-FFF2-40B4-BE49-F238E27FC236}">
                <a16:creationId xmlns:a16="http://schemas.microsoft.com/office/drawing/2014/main" id="{E748413C-A8A4-0C60-8A3D-67AB9AA41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4133554"/>
            <a:ext cx="2571750" cy="17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616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CE8E-FA2F-DC42-ADFB-7C0A8D2B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X circuit operator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0A7D3-CDB4-006F-FDD4-497589E947D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Abadi" panose="020B0604020104020204" pitchFamily="34" charset="0"/>
                  </a:rPr>
                  <a:t>the initial state is set to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SA" sz="2400"/>
                        </m:ctrlPr>
                      </m:dPr>
                      <m:e>
                        <m:r>
                          <a:rPr lang="ar-SA" sz="2400"/>
                          <m:t>∣</m:t>
                        </m:r>
                        <m:r>
                          <a:rPr lang="ar-SA" sz="2400"/>
                          <m:t>0</m:t>
                        </m:r>
                      </m:e>
                    </m:d>
                  </m:oMath>
                </a14:m>
                <a:r>
                  <a:rPr lang="ar-SA" sz="2400" dirty="0">
                    <a:latin typeface="Abadi" panose="020B0604020104020204" pitchFamily="34" charset="0"/>
                  </a:rPr>
                  <a:t>, </a:t>
                </a:r>
                <a:r>
                  <a:rPr lang="en-US" sz="2400" dirty="0">
                    <a:latin typeface="Abadi" panose="020B0604020104020204" pitchFamily="34" charset="0"/>
                  </a:rPr>
                  <a:t>so the quantum circuit above in matrix representation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ar-SA" sz="2400"/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ar-SA" sz="2400"/>
                              </m:ctrlPr>
                            </m:dPr>
                            <m:e>
                              <m:r>
                                <a:rPr lang="ar-SA" sz="2400" i="1"/>
                                <m:t>𝑋</m:t>
                              </m:r>
                              <m:r>
                                <a:rPr lang="ar-SA" sz="2400"/>
                                <m:t>∣</m:t>
                              </m:r>
                              <m:r>
                                <a:rPr lang="ar-SA" sz="2400"/>
                                <m:t>0</m:t>
                              </m:r>
                            </m:e>
                          </m:d>
                          <m:r>
                            <a:rPr lang="ar-SA" sz="2400"/>
                            <m:t>=</m:t>
                          </m:r>
                          <m:d>
                            <m:dPr>
                              <m:ctrlPr>
                                <a:rPr lang="ar-SA" sz="2400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SA" sz="2400" i="1"/>
                                  </m:ctrlPr>
                                </m:mPr>
                                <m:mr>
                                  <m:e>
                                    <m:r>
                                      <a:rPr lang="ar-SA" sz="2400"/>
                                      <m:t>0</m:t>
                                    </m:r>
                                  </m:e>
                                  <m:e>
                                    <m:r>
                                      <a:rPr lang="ar-SA" sz="2400"/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SA" sz="2400"/>
                                      <m:t>1</m:t>
                                    </m:r>
                                  </m:e>
                                  <m:e>
                                    <m:r>
                                      <a:rPr lang="ar-SA" sz="2400"/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ar-SA" sz="2400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SA" sz="2400" i="1"/>
                                  </m:ctrlPr>
                                </m:mPr>
                                <m:mr>
                                  <m:e>
                                    <m:r>
                                      <a:rPr lang="ar-SA" sz="2400"/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SA" sz="2400"/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ar-SA" sz="2400"/>
                            <m:t>=</m:t>
                          </m:r>
                          <m:d>
                            <m:dPr>
                              <m:ctrlPr>
                                <a:rPr lang="ar-SA" sz="2400" i="1"/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SA" sz="2400" i="1"/>
                                  </m:ctrlPr>
                                </m:mPr>
                                <m:mr>
                                  <m:e>
                                    <m:r>
                                      <a:rPr lang="ar-SA" sz="2400"/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SA" sz="2400"/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ar-SA" sz="2400"/>
                            <m:t>=∣</m:t>
                          </m:r>
                          <m:r>
                            <a:rPr lang="ar-SA" sz="2400"/>
                            <m:t>1</m:t>
                          </m:r>
                        </m:e>
                      </m:d>
                    </m:oMath>
                  </m:oMathPara>
                </a14:m>
                <a:endParaRPr lang="ar-SA" sz="2400" dirty="0">
                  <a:latin typeface="Abadi" panose="020B060402010402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60A7D3-CDB4-006F-FDD4-497589E94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108" t="-19091" r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8749-DD3A-4171-982B-50B8387B3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544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4A90-2A50-CC32-6A59-F689677B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0"/>
            <a:ext cx="10334625" cy="914400"/>
          </a:xfrm>
        </p:spPr>
        <p:txBody>
          <a:bodyPr/>
          <a:lstStyle/>
          <a:p>
            <a:r>
              <a:rPr lang="en-US" dirty="0"/>
              <a:t>Drawing the Bloch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9606-B4D7-492E-DA3A-A7F82960A7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4" y="1123950"/>
            <a:ext cx="11177016" cy="5651753"/>
          </a:xfrm>
        </p:spPr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See the </a:t>
            </a:r>
            <a:r>
              <a:rPr lang="en-US" b="0" i="1" dirty="0" err="1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statevector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out_vector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Statevector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(qc)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out_vector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# Draw a Bloch sphere</a:t>
            </a: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plot_bloch_multivector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out_vector</a:t>
            </a:r>
            <a:r>
              <a:rPr 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 err="1">
                <a:solidFill>
                  <a:srgbClr val="657B83"/>
                </a:solidFill>
                <a:latin typeface="Consolas" panose="020B0609020204030204" pitchFamily="49" charset="0"/>
              </a:rPr>
              <a:t>Statevector</a:t>
            </a: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([0.+0.j, 1.+0.j],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657B83"/>
                </a:solidFill>
                <a:latin typeface="Consolas" panose="020B0609020204030204" pitchFamily="49" charset="0"/>
              </a:rPr>
              <a:t>            dims=(2,))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F9C61-CC0C-8EAC-4A6A-E859648E6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122" name="Picture 2" descr="Output of the previous code cell">
            <a:extLst>
              <a:ext uri="{FF2B5EF4-FFF2-40B4-BE49-F238E27FC236}">
                <a16:creationId xmlns:a16="http://schemas.microsoft.com/office/drawing/2014/main" id="{5F833B1A-41DD-4BF0-0401-D6A08990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440" y="912401"/>
            <a:ext cx="4996434" cy="517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53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Pauli-Y Gate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439400" cy="38770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Similarly to Pauli-X gate, the Y gate represents a rotation of  around the y axis by π radians. </a:t>
            </a:r>
          </a:p>
          <a:p>
            <a:r>
              <a:rPr lang="en-US" sz="2800" dirty="0">
                <a:latin typeface="Abadi" panose="020B0604020104020204" pitchFamily="34" charset="0"/>
              </a:rPr>
              <a:t>It transforms |0〉 to i|1〉 and |1〉 to -i|0〉.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y.png"/>
          <p:cNvPicPr>
            <a:picLocks noChangeAspect="1"/>
          </p:cNvPicPr>
          <p:nvPr/>
        </p:nvPicPr>
        <p:blipFill>
          <a:blip r:embed="rId2" cstate="print"/>
          <a:srcRect l="20000" r="19167"/>
          <a:stretch>
            <a:fillRect/>
          </a:stretch>
        </p:blipFill>
        <p:spPr>
          <a:xfrm>
            <a:off x="3124200" y="3764087"/>
            <a:ext cx="4576953" cy="658333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24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Pauli-Z Gate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258097" cy="38770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The Z gate is actually a special case of the phase shift gate where 𝜙  = π  = 180°.</a:t>
            </a:r>
          </a:p>
          <a:p>
            <a:r>
              <a:rPr lang="en-US" sz="2800" dirty="0">
                <a:latin typeface="Abadi" panose="020B0604020104020204" pitchFamily="34" charset="0"/>
              </a:rPr>
              <a:t> It represents a rotation  around the z axis by π radians.</a:t>
            </a:r>
          </a:p>
          <a:p>
            <a:r>
              <a:rPr lang="en-US" sz="2800" dirty="0">
                <a:latin typeface="Abadi" panose="020B0604020104020204" pitchFamily="34" charset="0"/>
              </a:rPr>
              <a:t> It has no effect on |0〉 but transforms |1〉 to -|1〉.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z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62299" y="4413323"/>
            <a:ext cx="4576953" cy="91539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25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I-Gate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399" y="2039112"/>
            <a:ext cx="10360151" cy="4682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This is simply a gate that does nothing. Its matrix is the identity matrix.</a:t>
            </a:r>
          </a:p>
          <a:p>
            <a:r>
              <a:rPr lang="en-US" sz="2400" dirty="0">
                <a:latin typeface="Abadi" panose="020B0604020104020204" pitchFamily="34" charset="0"/>
              </a:rPr>
              <a:t>circuit should have no effect on the qubit state.</a:t>
            </a:r>
          </a:p>
          <a:p>
            <a:r>
              <a:rPr lang="en-US" sz="2400" dirty="0">
                <a:latin typeface="Abadi" panose="020B0604020104020204" pitchFamily="34" charset="0"/>
              </a:rPr>
              <a:t>It is often used in calculations, for example: proving the X-gate is its own inverse:</a:t>
            </a:r>
          </a:p>
          <a:p>
            <a:r>
              <a:rPr lang="en-US" sz="2400" dirty="0">
                <a:latin typeface="Abadi" panose="020B0604020104020204" pitchFamily="34" charset="0"/>
              </a:rPr>
              <a:t>It is considering real hardware to specify a ‘do-nothing’ or ‘none’ operation.</a:t>
            </a:r>
          </a:p>
          <a:p>
            <a:pPr>
              <a:buNone/>
            </a:pPr>
            <a:br>
              <a:rPr lang="en-US" sz="2400" dirty="0">
                <a:latin typeface="Abadi" panose="020B0604020104020204" pitchFamily="34" charset="0"/>
              </a:rPr>
            </a:br>
            <a:endParaRPr lang="en-US" sz="2400" dirty="0">
              <a:latin typeface="Abadi" panose="020B0604020104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45994" t="57696" r="39983" b="27880"/>
          <a:stretch>
            <a:fillRect/>
          </a:stretch>
        </p:blipFill>
        <p:spPr bwMode="auto">
          <a:xfrm>
            <a:off x="3719145" y="4378511"/>
            <a:ext cx="2734207" cy="175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26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D265-E747-8402-4F9F-31B36B8E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 Shifter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B6C01-040D-8B92-82F9-5578026CF4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048" y="2039111"/>
            <a:ext cx="10583918" cy="4736591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This is a family of single-qubit gates that leave the basis state |0&gt; unchanged and map |1&gt; to e^iɸ|1&gt;.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probability of measuring a|0&gt; or |1&gt; is unchanged after applying this gate, however it modifies the phase of the quantum state.</a:t>
            </a:r>
          </a:p>
          <a:p>
            <a:r>
              <a:rPr lang="en-US" sz="2400" dirty="0">
                <a:latin typeface="Abadi" panose="020B0604020104020204" pitchFamily="34" charset="0"/>
              </a:rPr>
              <a:t> This is equivalent to tracing a horizontal circle (a line of latitude) on the Bloch sphere by ɸ radians.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E1F64-CF02-1049-A363-5D51FA1D8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 descr="phase.jpg">
            <a:extLst>
              <a:ext uri="{FF2B5EF4-FFF2-40B4-BE49-F238E27FC236}">
                <a16:creationId xmlns:a16="http://schemas.microsoft.com/office/drawing/2014/main" id="{C4B6D5E2-5477-0982-7BDE-F3C72CDB49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9167" t="32222" r="50833" b="47778"/>
          <a:stretch>
            <a:fillRect/>
          </a:stretch>
        </p:blipFill>
        <p:spPr>
          <a:xfrm>
            <a:off x="5898931" y="4508204"/>
            <a:ext cx="3657600" cy="1371600"/>
          </a:xfrm>
          <a:prstGeom prst="rect">
            <a:avLst/>
          </a:prstGeom>
        </p:spPr>
      </p:pic>
      <p:pic>
        <p:nvPicPr>
          <p:cNvPr id="6" name="Picture 5" descr="phase.jpg">
            <a:extLst>
              <a:ext uri="{FF2B5EF4-FFF2-40B4-BE49-F238E27FC236}">
                <a16:creationId xmlns:a16="http://schemas.microsoft.com/office/drawing/2014/main" id="{03913CDE-1292-B005-5752-C8C73D6FB73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10833" t="55555" r="43333" b="24445"/>
          <a:stretch>
            <a:fillRect/>
          </a:stretch>
        </p:blipFill>
        <p:spPr>
          <a:xfrm>
            <a:off x="1479331" y="4508204"/>
            <a:ext cx="4191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32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S and S† Gates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562897" cy="38770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The Phase gate ( S gate) is a single-qubit operation.</a:t>
            </a:r>
          </a:p>
          <a:p>
            <a:r>
              <a:rPr lang="en-US" sz="2800" dirty="0">
                <a:latin typeface="Abadi" panose="020B0604020104020204" pitchFamily="34" charset="0"/>
              </a:rPr>
              <a:t>The S gate is also known as the phase gate or the Z90 gate, because it represents a 90-degree rotation around the z-axis.</a:t>
            </a:r>
          </a:p>
          <a:p>
            <a:r>
              <a:rPr lang="en-US" sz="2800" dirty="0">
                <a:latin typeface="Abadi" panose="020B0604020104020204" pitchFamily="34" charset="0"/>
              </a:rPr>
              <a:t>The conjugate transpose of S gate is </a:t>
            </a:r>
            <a:r>
              <a:rPr lang="en-US" sz="2800" i="1" dirty="0">
                <a:latin typeface="Abadi" panose="020B0604020104020204" pitchFamily="34" charset="0"/>
              </a:rPr>
              <a:t>S</a:t>
            </a:r>
            <a:r>
              <a:rPr lang="en-US" sz="2800" dirty="0">
                <a:latin typeface="Abadi" panose="020B0604020104020204" pitchFamily="34" charset="0"/>
              </a:rPr>
              <a:t>† gate. </a:t>
            </a:r>
          </a:p>
          <a:p>
            <a:pPr>
              <a:buNone/>
            </a:pPr>
            <a:endParaRPr lang="en-US" sz="2800" dirty="0">
              <a:latin typeface="Abadi" panose="020B0604020104020204" pitchFamily="34" charset="0"/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38802" t="47235" r="33712" b="38106"/>
          <a:stretch>
            <a:fillRect/>
          </a:stretch>
        </p:blipFill>
        <p:spPr bwMode="auto">
          <a:xfrm>
            <a:off x="3124200" y="4213308"/>
            <a:ext cx="4576953" cy="1525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28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T and T† Gates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360152" cy="387705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The T-gate is a very commonly used gate, it is an </a:t>
            </a:r>
            <a:r>
              <a:rPr lang="en-US" sz="2400" dirty="0" err="1">
                <a:latin typeface="Abadi" panose="020B0604020104020204" pitchFamily="34" charset="0"/>
              </a:rPr>
              <a:t>R</a:t>
            </a:r>
            <a:r>
              <a:rPr lang="en-US" sz="2400" baseline="-25000" dirty="0" err="1">
                <a:latin typeface="Abadi" panose="020B0604020104020204" pitchFamily="34" charset="0"/>
              </a:rPr>
              <a:t>ϕ</a:t>
            </a:r>
            <a:r>
              <a:rPr lang="en-US" sz="2400" dirty="0">
                <a:latin typeface="Abadi" panose="020B0604020104020204" pitchFamily="34" charset="0"/>
              </a:rPr>
              <a:t>-gate with ɸ = π/4.</a:t>
            </a:r>
          </a:p>
          <a:p>
            <a:r>
              <a:rPr lang="en-US" sz="2400" dirty="0">
                <a:latin typeface="Abadi" panose="020B0604020104020204" pitchFamily="34" charset="0"/>
              </a:rPr>
              <a:t>As with the S-gate, the T-gate is sometimes also known as (Z)^(1/4) gate.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 conjugate transpose of T gate is </a:t>
            </a:r>
            <a:r>
              <a:rPr lang="en-US" sz="2400" i="1" dirty="0">
                <a:latin typeface="Abadi" panose="020B0604020104020204" pitchFamily="34" charset="0"/>
              </a:rPr>
              <a:t>T</a:t>
            </a:r>
            <a:r>
              <a:rPr lang="en-US" sz="2400" dirty="0">
                <a:latin typeface="Abadi" panose="020B0604020104020204" pitchFamily="34" charset="0"/>
              </a:rPr>
              <a:t>† gate. </a:t>
            </a:r>
          </a:p>
          <a:p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39478" t="43774" r="35268" b="41073"/>
          <a:stretch>
            <a:fillRect/>
          </a:stretch>
        </p:blipFill>
        <p:spPr bwMode="auto">
          <a:xfrm>
            <a:off x="2899844" y="4163381"/>
            <a:ext cx="4576953" cy="1716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29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BA2F-CE76-F5C8-454B-409B9FCD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U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8B70-9DEC-45D1-8F6F-C181C7D82A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4114" y="2039112"/>
            <a:ext cx="11391102" cy="457940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Z, S &amp; T-gates were all special cases of the more general </a:t>
            </a:r>
            <a:r>
              <a:rPr lang="en-US" sz="2400" dirty="0" err="1">
                <a:latin typeface="Abadi" panose="020B0604020104020204" pitchFamily="34" charset="0"/>
              </a:rPr>
              <a:t>R</a:t>
            </a:r>
            <a:r>
              <a:rPr lang="en-US" sz="2400" baseline="-25000" dirty="0" err="1">
                <a:latin typeface="Abadi" panose="020B0604020104020204" pitchFamily="34" charset="0"/>
              </a:rPr>
              <a:t>ϕ</a:t>
            </a:r>
            <a:r>
              <a:rPr lang="en-US" sz="2400" dirty="0">
                <a:latin typeface="Abadi" panose="020B0604020104020204" pitchFamily="34" charset="0"/>
              </a:rPr>
              <a:t>-gate.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U</a:t>
            </a:r>
            <a:r>
              <a:rPr lang="en-US" sz="2400" baseline="-25000" dirty="0">
                <a:latin typeface="Abadi" panose="020B0604020104020204" pitchFamily="34" charset="0"/>
              </a:rPr>
              <a:t>3</a:t>
            </a:r>
            <a:r>
              <a:rPr lang="en-US" sz="2400" dirty="0">
                <a:latin typeface="Abadi" panose="020B0604020104020204" pitchFamily="34" charset="0"/>
              </a:rPr>
              <a:t>-gate is the most general of all single-qubit quantum gates. </a:t>
            </a:r>
          </a:p>
          <a:p>
            <a:r>
              <a:rPr lang="en-US" sz="2400" dirty="0">
                <a:latin typeface="Abadi" panose="020B0604020104020204" pitchFamily="34" charset="0"/>
              </a:rPr>
              <a:t>It is a parameterized gate of the form: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389F-97CF-F869-B0B0-58A289CDA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B4E06E-59D5-1813-FAC9-570B656BD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36320" t="45458" r="32112" b="42757"/>
          <a:stretch>
            <a:fillRect/>
          </a:stretch>
        </p:blipFill>
        <p:spPr bwMode="auto">
          <a:xfrm>
            <a:off x="3581400" y="3523488"/>
            <a:ext cx="4343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3CEB95FC-6ED1-22CE-CF7D-74140A073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28125" t="83000" r="23125" b="7000"/>
          <a:stretch>
            <a:fillRect/>
          </a:stretch>
        </p:blipFill>
        <p:spPr bwMode="auto">
          <a:xfrm>
            <a:off x="1905000" y="5029200"/>
            <a:ext cx="841248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3127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Multiple Qubits Quantum Gates 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9480331" cy="387705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Swap Gate</a:t>
            </a:r>
          </a:p>
          <a:p>
            <a:r>
              <a:rPr lang="en-US" sz="2400" dirty="0">
                <a:latin typeface="Abadi" panose="020B0604020104020204" pitchFamily="34" charset="0"/>
              </a:rPr>
              <a:t>Controlled Gates</a:t>
            </a:r>
          </a:p>
          <a:p>
            <a:r>
              <a:rPr lang="en-US" sz="2400" dirty="0" err="1">
                <a:latin typeface="Abadi" panose="020B0604020104020204" pitchFamily="34" charset="0"/>
              </a:rPr>
              <a:t>Toffoli</a:t>
            </a:r>
            <a:r>
              <a:rPr lang="en-US" sz="2400" dirty="0">
                <a:latin typeface="Abadi" panose="020B0604020104020204" pitchFamily="34" charset="0"/>
              </a:rPr>
              <a:t> (CCNOT) Gate</a:t>
            </a:r>
          </a:p>
          <a:p>
            <a:r>
              <a:rPr lang="en-US" sz="2400" dirty="0" err="1">
                <a:latin typeface="Abadi" panose="020B0604020104020204" pitchFamily="34" charset="0"/>
              </a:rPr>
              <a:t>Fredkin</a:t>
            </a:r>
            <a:r>
              <a:rPr lang="en-US" sz="2400" dirty="0">
                <a:latin typeface="Abadi" panose="020B0604020104020204" pitchFamily="34" charset="0"/>
              </a:rPr>
              <a:t> (CSWAP) gate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31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680A-56BD-C02D-59B5-6D16422D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EFE8A-F84F-7537-E153-DC0BF9334E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215" y="2039111"/>
            <a:ext cx="10100440" cy="4736591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The swap gate swaps two qubits. </a:t>
            </a:r>
          </a:p>
          <a:p>
            <a:r>
              <a:rPr lang="en-US" sz="2400" dirty="0">
                <a:latin typeface="Abadi" panose="020B0604020104020204" pitchFamily="34" charset="0"/>
              </a:rPr>
              <a:t>With respect to the basis |00&gt; |01&gt;, |10&gt;, |11&gt;.</a:t>
            </a:r>
          </a:p>
          <a:p>
            <a:r>
              <a:rPr lang="en-US" sz="2400" dirty="0">
                <a:latin typeface="Abadi" panose="020B0604020104020204" pitchFamily="34" charset="0"/>
              </a:rPr>
              <a:t>It is represented by the matrix: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CB325-3439-65E6-6D1F-46E0790F3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 descr="swap.jpeg">
            <a:extLst>
              <a:ext uri="{FF2B5EF4-FFF2-40B4-BE49-F238E27FC236}">
                <a16:creationId xmlns:a16="http://schemas.microsoft.com/office/drawing/2014/main" id="{F3C3E32E-2E33-EC8B-9D2A-9CB0F7EB6C9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400" y="4191001"/>
            <a:ext cx="3200400" cy="1647825"/>
          </a:xfrm>
          <a:prstGeom prst="rect">
            <a:avLst/>
          </a:prstGeom>
        </p:spPr>
      </p:pic>
      <p:pic>
        <p:nvPicPr>
          <p:cNvPr id="6" name="Picture 5" descr="SwapImplementation.png">
            <a:extLst>
              <a:ext uri="{FF2B5EF4-FFF2-40B4-BE49-F238E27FC236}">
                <a16:creationId xmlns:a16="http://schemas.microsoft.com/office/drawing/2014/main" id="{0C653FCB-7391-3490-E900-C906194901F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28447" y="4191000"/>
            <a:ext cx="36576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53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Controlled Gates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176784" y="2039112"/>
            <a:ext cx="11258471" cy="4682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Controlled gates require at least one control and one target qubit.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gate in question will only operate on the target qubit if the control qubit is in a specific state.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Types of control gates: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badi" panose="020B0604020104020204" pitchFamily="34" charset="0"/>
              </a:rPr>
              <a:t>Cx</a:t>
            </a:r>
            <a:r>
              <a:rPr lang="en-US" sz="2400" dirty="0">
                <a:latin typeface="Abadi" panose="020B0604020104020204" pitchFamily="34" charset="0"/>
              </a:rPr>
              <a:t> Gate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Cy Gate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badi" panose="020B0604020104020204" pitchFamily="34" charset="0"/>
              </a:rPr>
              <a:t>Cz</a:t>
            </a:r>
            <a:r>
              <a:rPr lang="en-US" sz="2400" dirty="0">
                <a:latin typeface="Abadi" panose="020B0604020104020204" pitchFamily="34" charset="0"/>
              </a:rPr>
              <a:t> Gate</a:t>
            </a:r>
          </a:p>
        </p:txBody>
      </p:sp>
      <p:pic>
        <p:nvPicPr>
          <p:cNvPr id="5" name="Picture 4" descr="image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3636" y="4656083"/>
            <a:ext cx="4720157" cy="167167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33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875A-F894-221A-E0EB-BEBF40DB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013" y="210207"/>
            <a:ext cx="7534656" cy="914400"/>
          </a:xfrm>
        </p:spPr>
        <p:txBody>
          <a:bodyPr/>
          <a:lstStyle/>
          <a:p>
            <a:r>
              <a:rPr lang="en-US" dirty="0" err="1"/>
              <a:t>Cx</a:t>
            </a:r>
            <a:r>
              <a:rPr lang="en-US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37E0-6B47-9E1D-B28B-8C532900A9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5311" y="1587061"/>
            <a:ext cx="10541876" cy="5060731"/>
          </a:xfrm>
        </p:spPr>
        <p:txBody>
          <a:bodyPr/>
          <a:lstStyle/>
          <a:p>
            <a:r>
              <a:rPr lang="en-US" sz="2800" dirty="0" err="1">
                <a:latin typeface="Abadi" panose="020B0604020104020204" pitchFamily="34" charset="0"/>
              </a:rPr>
              <a:t>Cx</a:t>
            </a:r>
            <a:r>
              <a:rPr lang="en-US" sz="2800" dirty="0">
                <a:latin typeface="Abadi" panose="020B0604020104020204" pitchFamily="34" charset="0"/>
              </a:rPr>
              <a:t> leaves the control qubit unchanged and performs a Pauli-X gate on the target qubit when the control qubit is in state |1⟩, leaves the target qubit unchanged when the control qubit is in state ∣0⟩.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F0EA3-2A16-B19D-4550-0891FA699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Picture 4" descr="images (1).png">
            <a:extLst>
              <a:ext uri="{FF2B5EF4-FFF2-40B4-BE49-F238E27FC236}">
                <a16:creationId xmlns:a16="http://schemas.microsoft.com/office/drawing/2014/main" id="{DB130C50-11A3-9B19-D4CD-86F3B02CEEC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34758" y="3518339"/>
            <a:ext cx="4343400" cy="1752600"/>
          </a:xfrm>
          <a:prstGeom prst="rect">
            <a:avLst/>
          </a:prstGeom>
        </p:spPr>
      </p:pic>
      <p:pic>
        <p:nvPicPr>
          <p:cNvPr id="6" name="Picture 5" descr="800px-Qcircuit_CX.svg.png">
            <a:extLst>
              <a:ext uri="{FF2B5EF4-FFF2-40B4-BE49-F238E27FC236}">
                <a16:creationId xmlns:a16="http://schemas.microsoft.com/office/drawing/2014/main" id="{B368B881-81C4-3CBA-59C3-53412031029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02220" y="3673406"/>
            <a:ext cx="1828800" cy="144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2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Cy Gate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360152" cy="48188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The controlled or Cy gate is another well-used two-qubit gate. </a:t>
            </a:r>
          </a:p>
          <a:p>
            <a:r>
              <a:rPr lang="en-US" sz="2800" dirty="0">
                <a:latin typeface="Abadi" panose="020B0604020104020204" pitchFamily="34" charset="0"/>
              </a:rPr>
              <a:t>Just as the CNOT applies an Y to its target qubit whenever its control is in state |1⟩, the controlled-Y applies a Y in the same case.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800px-Qcircuit_CY.sv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39055" y="4001554"/>
            <a:ext cx="3544614" cy="2144484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35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50F6-36AF-EC37-3035-ADD3F209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Cz</a:t>
            </a:r>
            <a:r>
              <a:rPr lang="en-US" dirty="0"/>
              <a:t>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C48E-CC24-38AE-E928-65EDAF7A9A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6029" y="2039111"/>
            <a:ext cx="10279116" cy="4634957"/>
          </a:xfrm>
        </p:spPr>
        <p:txBody>
          <a:bodyPr/>
          <a:lstStyle/>
          <a:p>
            <a:r>
              <a:rPr lang="en-US" sz="2800" dirty="0">
                <a:latin typeface="Abadi" panose="020B0604020104020204" pitchFamily="34" charset="0"/>
              </a:rPr>
              <a:t>The controlled-Z or </a:t>
            </a:r>
            <a:r>
              <a:rPr lang="en-US" sz="2800" dirty="0" err="1">
                <a:latin typeface="Abadi" panose="020B0604020104020204" pitchFamily="34" charset="0"/>
              </a:rPr>
              <a:t>Cz</a:t>
            </a:r>
            <a:r>
              <a:rPr lang="en-US" sz="2800" dirty="0">
                <a:latin typeface="Abadi" panose="020B0604020104020204" pitchFamily="34" charset="0"/>
              </a:rPr>
              <a:t> gate is another well-used two-qubit gate. </a:t>
            </a:r>
          </a:p>
          <a:p>
            <a:r>
              <a:rPr lang="en-US" sz="2800" dirty="0">
                <a:latin typeface="Abadi" panose="020B0604020104020204" pitchFamily="34" charset="0"/>
              </a:rPr>
              <a:t>Just as the CNOT applies an X to its target qubit whenever its control is in state |1⟩, the controlled-Z applies a Z in the same case.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B9D1-B7FF-92FB-1AC2-01F901B89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 descr="150px-Qcircuit_CZ.svg.png">
            <a:extLst>
              <a:ext uri="{FF2B5EF4-FFF2-40B4-BE49-F238E27FC236}">
                <a16:creationId xmlns:a16="http://schemas.microsoft.com/office/drawing/2014/main" id="{A78733C4-3AB3-95C6-488C-19E45928BE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90800" y="3846121"/>
            <a:ext cx="2475186" cy="201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97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D0A4-F5A3-766C-4C2F-986E630A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68166"/>
            <a:ext cx="7534656" cy="914400"/>
          </a:xfrm>
        </p:spPr>
        <p:txBody>
          <a:bodyPr/>
          <a:lstStyle/>
          <a:p>
            <a:r>
              <a:rPr lang="en-US" dirty="0"/>
              <a:t>Toffoli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E436-83BA-C0FB-1F15-C480A61C74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352" y="1187669"/>
            <a:ext cx="10836165" cy="5502165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The Toffoli gate is a three qubit gate with two controls and one target. </a:t>
            </a:r>
          </a:p>
          <a:p>
            <a:r>
              <a:rPr lang="en-US" sz="2400" dirty="0">
                <a:latin typeface="Abadi" panose="020B0604020104020204" pitchFamily="34" charset="0"/>
              </a:rPr>
              <a:t>It performs an X on the target only if both controls are in the state |1⟩. </a:t>
            </a:r>
          </a:p>
          <a:p>
            <a:r>
              <a:rPr lang="en-US" sz="2400" dirty="0">
                <a:latin typeface="Abadi" panose="020B0604020104020204" pitchFamily="34" charset="0"/>
              </a:rPr>
              <a:t>The final state of the target is then equal to either the AND or the NAND of the two controls, depending on whether the initial state of the target was |0⟩ or |1⟩. </a:t>
            </a:r>
          </a:p>
          <a:p>
            <a:r>
              <a:rPr lang="en-US" sz="2400" dirty="0">
                <a:latin typeface="Abadi" panose="020B0604020104020204" pitchFamily="34" charset="0"/>
              </a:rPr>
              <a:t>A Toffoli can also be thought of as a controlled-controlled-NOT, and is also called the CCX gate.</a:t>
            </a:r>
          </a:p>
          <a:p>
            <a:pPr>
              <a:buNone/>
            </a:pPr>
            <a:endParaRPr lang="en-US" sz="2400" dirty="0">
              <a:latin typeface="Abadi" panose="020B06040201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D1EB6-0DBE-0311-EEAF-B698C27FF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 descr="4507e76c-8582-4ee2-956f-cbad4aa51cd6.jpg">
            <a:extLst>
              <a:ext uri="{FF2B5EF4-FFF2-40B4-BE49-F238E27FC236}">
                <a16:creationId xmlns:a16="http://schemas.microsoft.com/office/drawing/2014/main" id="{29BDC056-1440-05C2-07CB-9F14AF80265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42222" t="14781" r="27778" b="39030"/>
          <a:stretch>
            <a:fillRect/>
          </a:stretch>
        </p:blipFill>
        <p:spPr>
          <a:xfrm>
            <a:off x="6616262" y="4133193"/>
            <a:ext cx="2057400" cy="1905000"/>
          </a:xfrm>
          <a:prstGeom prst="rect">
            <a:avLst/>
          </a:prstGeom>
        </p:spPr>
      </p:pic>
      <p:pic>
        <p:nvPicPr>
          <p:cNvPr id="6" name="Picture 5" descr="800px-Toffoli_gate.svg.png">
            <a:extLst>
              <a:ext uri="{FF2B5EF4-FFF2-40B4-BE49-F238E27FC236}">
                <a16:creationId xmlns:a16="http://schemas.microsoft.com/office/drawing/2014/main" id="{ABD145BC-C0E0-EE69-3521-9C30AEFFA9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6977" r="8000"/>
          <a:stretch>
            <a:fillRect/>
          </a:stretch>
        </p:blipFill>
        <p:spPr>
          <a:xfrm>
            <a:off x="2420007" y="4355804"/>
            <a:ext cx="1752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03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>
            <a:normAutofit/>
          </a:bodyPr>
          <a:lstStyle/>
          <a:p>
            <a:r>
              <a:rPr lang="en-US" dirty="0"/>
              <a:t>Fredkin Gate</a:t>
            </a:r>
            <a:endParaRPr lang="en-US" b="1" u="sng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439400" cy="46823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It is controlled-SWAP gate.</a:t>
            </a:r>
          </a:p>
          <a:p>
            <a:r>
              <a:rPr lang="en-US" sz="2800" dirty="0">
                <a:latin typeface="Abadi" panose="020B0604020104020204" pitchFamily="34" charset="0"/>
              </a:rPr>
              <a:t>It only swaps the values of the second and third bits only if the first bit is set to 1. </a:t>
            </a:r>
          </a:p>
          <a:p>
            <a:r>
              <a:rPr lang="en-US" sz="2800" dirty="0">
                <a:latin typeface="Abadi" panose="020B0604020104020204" pitchFamily="34" charset="0"/>
              </a:rPr>
              <a:t>It is also a reversible gate.</a:t>
            </a:r>
          </a:p>
          <a:p>
            <a:endParaRPr lang="en-US" sz="2800" dirty="0">
              <a:latin typeface="Abadi" panose="020B0604020104020204" pitchFamily="34" charset="0"/>
            </a:endParaRPr>
          </a:p>
        </p:txBody>
      </p:sp>
      <p:pic>
        <p:nvPicPr>
          <p:cNvPr id="4" name="Picture 3" descr="WhatsApp Image 2020-06-10 at 5.43.58 PM.jpeg"/>
          <p:cNvPicPr>
            <a:picLocks noChangeAspect="1"/>
          </p:cNvPicPr>
          <p:nvPr/>
        </p:nvPicPr>
        <p:blipFill>
          <a:blip r:embed="rId2" cstate="print"/>
          <a:srcRect l="3333" r="17500"/>
          <a:stretch>
            <a:fillRect/>
          </a:stretch>
        </p:blipFill>
        <p:spPr>
          <a:xfrm>
            <a:off x="2384836" y="4267087"/>
            <a:ext cx="4576953" cy="1878951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0" hangingPunct="1">
              <a:spcAft>
                <a:spcPts val="600"/>
              </a:spcAft>
            </a:pPr>
            <a:fld id="{2BBB5E19-F10A-4C2F-BF6F-11C513378A2E}" type="slidenum">
              <a:rPr lang="en-US" sz="2400" smtClean="0">
                <a:solidFill>
                  <a:schemeClr val="tx1"/>
                </a:solidFill>
              </a:rPr>
              <a:pPr algn="ctr" eaLnBrk="1" latinLnBrk="0" hangingPunct="1">
                <a:spcAft>
                  <a:spcPts val="600"/>
                </a:spcAft>
              </a:pPr>
              <a:t>38</a:t>
            </a:fld>
            <a:endParaRPr kumimoji="0" lang="en-US" sz="24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/>
              <a:t>Prepared By: Iqra Naz</a:t>
            </a:r>
            <a:endParaRPr kumimoji="0"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5D43-A7EE-CF68-BB0D-5D610E22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1" y="547912"/>
            <a:ext cx="9549069" cy="914400"/>
          </a:xfrm>
        </p:spPr>
        <p:txBody>
          <a:bodyPr/>
          <a:lstStyle/>
          <a:p>
            <a:r>
              <a:rPr lang="en-US" dirty="0"/>
              <a:t>A tool for visualization of Bloch 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93AA-0B10-6C15-EA27-527B8826AE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3779" y="2039111"/>
            <a:ext cx="10773104" cy="4736592"/>
          </a:xfrm>
        </p:spPr>
        <p:txBody>
          <a:bodyPr/>
          <a:lstStyle/>
          <a:p>
            <a:r>
              <a:rPr lang="en-US" sz="2400" dirty="0">
                <a:latin typeface="Abadi" panose="020B0604020104020204" pitchFamily="34" charset="0"/>
              </a:rPr>
              <a:t>Please find a nice tool for visualizing and understanding Bloch Sphere representations</a:t>
            </a:r>
          </a:p>
          <a:p>
            <a:pPr marL="0" indent="0">
              <a:buNone/>
            </a:pPr>
            <a:r>
              <a:rPr lang="en-US" sz="2400" dirty="0">
                <a:latin typeface="Abadi" panose="020B0604020104020204" pitchFamily="34" charset="0"/>
                <a:hlinkClick r:id="rId2"/>
              </a:rPr>
              <a:t>Bloch sphere visualizer</a:t>
            </a:r>
            <a:endParaRPr lang="en-US" sz="24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D37E-94C1-5BB2-21C5-DFAE808F5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001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A5E3B9-B49B-7392-54D1-CD6C922A9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D8358-2A0F-8E6C-0C61-D26DE4C3F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24" y="-31615"/>
            <a:ext cx="11278398" cy="68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908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{CF403958-4D04-4470-8546-A7CE31720967}TF1ed9553b-00c4-4092-846a-c8f7f2908f3beecd942f_win32-8e33096c3cfc</Template>
  <TotalTime>3867</TotalTime>
  <Words>1822</Words>
  <Application>Microsoft Office PowerPoint</Application>
  <PresentationFormat>Widescreen</PresentationFormat>
  <Paragraphs>241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Abadi</vt:lpstr>
      <vt:lpstr>Arial</vt:lpstr>
      <vt:lpstr>Calibri</vt:lpstr>
      <vt:lpstr>Cambria Math</vt:lpstr>
      <vt:lpstr>Consolas</vt:lpstr>
      <vt:lpstr>Courier New</vt:lpstr>
      <vt:lpstr>Gill Sans Nova Light</vt:lpstr>
      <vt:lpstr>Sagona Book</vt:lpstr>
      <vt:lpstr>Custom</vt:lpstr>
      <vt:lpstr>Quantum Gates &amp; Operators</vt:lpstr>
      <vt:lpstr>Foreword: The importance &amp; nature of quantum gates</vt:lpstr>
      <vt:lpstr>PowerPoint Presentation</vt:lpstr>
      <vt:lpstr>The Classical NOT Gate</vt:lpstr>
      <vt:lpstr>Classical AND gate</vt:lpstr>
      <vt:lpstr>The Classical OR Gate</vt:lpstr>
      <vt:lpstr>Two examples of Circuits: Classical VS Quantum</vt:lpstr>
      <vt:lpstr>The Bloch Sphere </vt:lpstr>
      <vt:lpstr>Quantum State and the Bloch Sphere</vt:lpstr>
      <vt:lpstr>Using radian angles: the Bloch Sphere</vt:lpstr>
      <vt:lpstr>Some Concepts Regarding Waves</vt:lpstr>
      <vt:lpstr>The Bare Bloch Sphere</vt:lpstr>
      <vt:lpstr>The Hadamard Gate</vt:lpstr>
      <vt:lpstr>Apply the Hadamard Gate and Draw Circuit</vt:lpstr>
      <vt:lpstr>H on the Bloch Sphere : The ├ ∣+⟩  state</vt:lpstr>
      <vt:lpstr>The Hadamard Gate Circuit</vt:lpstr>
      <vt:lpstr>The Hamdard Gate in Action</vt:lpstr>
      <vt:lpstr>The H Gate </vt:lpstr>
      <vt:lpstr>H on the Bloch Sphere: The ├ ∣-⟩  state </vt:lpstr>
      <vt:lpstr>The X Gate  (NOT Gate)</vt:lpstr>
      <vt:lpstr>The X Gate Python Implementation</vt:lpstr>
      <vt:lpstr>The X circuit operator</vt:lpstr>
      <vt:lpstr>Drawing the Bloch Diagram</vt:lpstr>
      <vt:lpstr>Pauli-Y Gate</vt:lpstr>
      <vt:lpstr>Pauli-Z Gate</vt:lpstr>
      <vt:lpstr>I-Gate</vt:lpstr>
      <vt:lpstr>Phase  Shifter Gate</vt:lpstr>
      <vt:lpstr>S and S† Gates</vt:lpstr>
      <vt:lpstr>T and T† Gates</vt:lpstr>
      <vt:lpstr>General U gates</vt:lpstr>
      <vt:lpstr>Multiple Qubits Quantum Gates </vt:lpstr>
      <vt:lpstr>SWAP Gate</vt:lpstr>
      <vt:lpstr>Controlled Gates</vt:lpstr>
      <vt:lpstr>Cx Gate</vt:lpstr>
      <vt:lpstr>Cy Gate</vt:lpstr>
      <vt:lpstr>Cz Gate</vt:lpstr>
      <vt:lpstr>Toffoli Gate</vt:lpstr>
      <vt:lpstr>Fredkin Gate</vt:lpstr>
      <vt:lpstr>A tool for visualization of Bloch Sphere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 Mohammed ELAffendi</dc:creator>
  <cp:lastModifiedBy>Prof Mohammed ELAffendi</cp:lastModifiedBy>
  <cp:revision>22</cp:revision>
  <dcterms:created xsi:type="dcterms:W3CDTF">2025-08-24T07:40:55Z</dcterms:created>
  <dcterms:modified xsi:type="dcterms:W3CDTF">2025-12-30T08:12:49Z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