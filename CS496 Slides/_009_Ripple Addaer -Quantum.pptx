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7"/>
  </p:notesMasterIdLst>
  <p:handoutMasterIdLst>
    <p:handoutMasterId r:id="rId28"/>
  </p:handoutMasterIdLst>
  <p:sldIdLst>
    <p:sldId id="317" r:id="rId5"/>
    <p:sldId id="318" r:id="rId6"/>
    <p:sldId id="319" r:id="rId7"/>
    <p:sldId id="320" r:id="rId8"/>
    <p:sldId id="321" r:id="rId9"/>
    <p:sldId id="324" r:id="rId10"/>
    <p:sldId id="322" r:id="rId11"/>
    <p:sldId id="323" r:id="rId12"/>
    <p:sldId id="325" r:id="rId13"/>
    <p:sldId id="326" r:id="rId14"/>
    <p:sldId id="327" r:id="rId15"/>
    <p:sldId id="328" r:id="rId16"/>
    <p:sldId id="330" r:id="rId17"/>
    <p:sldId id="329" r:id="rId18"/>
    <p:sldId id="331" r:id="rId19"/>
    <p:sldId id="332" r:id="rId20"/>
    <p:sldId id="333" r:id="rId21"/>
    <p:sldId id="334" r:id="rId22"/>
    <p:sldId id="335" r:id="rId23"/>
    <p:sldId id="336" r:id="rId24"/>
    <p:sldId id="337" r:id="rId25"/>
    <p:sldId id="33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405" autoAdjust="0"/>
  </p:normalViewPr>
  <p:slideViewPr>
    <p:cSldViewPr snapToGrid="0">
      <p:cViewPr varScale="1">
        <p:scale>
          <a:sx n="80" d="100"/>
          <a:sy n="80" d="100"/>
        </p:scale>
        <p:origin x="739" y="28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1/21/2026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1/21/2026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Quantum Ripple Adder</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B24EE-0214-DC69-E7DD-2440D075AB0B}"/>
              </a:ext>
            </a:extLst>
          </p:cNvPr>
          <p:cNvSpPr>
            <a:spLocks noGrp="1"/>
          </p:cNvSpPr>
          <p:nvPr>
            <p:ph type="title"/>
          </p:nvPr>
        </p:nvSpPr>
        <p:spPr/>
        <p:txBody>
          <a:bodyPr/>
          <a:lstStyle/>
          <a:p>
            <a:r>
              <a:rPr lang="en-US" dirty="0"/>
              <a:t>What is Ripple Adder</a:t>
            </a:r>
          </a:p>
        </p:txBody>
      </p:sp>
      <p:sp>
        <p:nvSpPr>
          <p:cNvPr id="3" name="Content Placeholder 2">
            <a:extLst>
              <a:ext uri="{FF2B5EF4-FFF2-40B4-BE49-F238E27FC236}">
                <a16:creationId xmlns:a16="http://schemas.microsoft.com/office/drawing/2014/main" id="{6045BA5C-0AED-C80D-6653-E89A7D8B6044}"/>
              </a:ext>
            </a:extLst>
          </p:cNvPr>
          <p:cNvSpPr>
            <a:spLocks noGrp="1"/>
          </p:cNvSpPr>
          <p:nvPr>
            <p:ph sz="quarter" idx="10"/>
          </p:nvPr>
        </p:nvSpPr>
        <p:spPr>
          <a:xfrm>
            <a:off x="323851" y="2039112"/>
            <a:ext cx="10725150" cy="4666488"/>
          </a:xfrm>
        </p:spPr>
        <p:txBody>
          <a:bodyPr>
            <a:normAutofit/>
          </a:bodyPr>
          <a:lstStyle/>
          <a:p>
            <a:r>
              <a:rPr lang="en-US" sz="2400" dirty="0">
                <a:latin typeface="Abadi" panose="020B0604020104020204" pitchFamily="34" charset="0"/>
              </a:rPr>
              <a:t>A ripple carry adder is a digital circuit that adds two binary numbers by cascading full adders. The "ripple" refers to how the carry bit propagates from the least significant bit (LSB) to the most significant bit (MSB), like a ripple effect.</a:t>
            </a:r>
          </a:p>
          <a:p>
            <a:pPr marL="0" indent="0">
              <a:buNone/>
            </a:pPr>
            <a:r>
              <a:rPr lang="en-US" sz="2400" b="1" dirty="0">
                <a:latin typeface="Abadi" panose="020B0604020104020204" pitchFamily="34" charset="0"/>
              </a:rPr>
              <a:t>Key Components:</a:t>
            </a:r>
            <a:endParaRPr lang="en-US" sz="2400" dirty="0">
              <a:latin typeface="Abadi" panose="020B0604020104020204" pitchFamily="34" charset="0"/>
            </a:endParaRPr>
          </a:p>
          <a:p>
            <a:r>
              <a:rPr lang="en-US" sz="2400" b="1" dirty="0">
                <a:latin typeface="Abadi" panose="020B0604020104020204" pitchFamily="34" charset="0"/>
              </a:rPr>
              <a:t>Full Adder</a:t>
            </a:r>
            <a:r>
              <a:rPr lang="en-US" sz="2400" dirty="0">
                <a:latin typeface="Abadi" panose="020B0604020104020204" pitchFamily="34" charset="0"/>
              </a:rPr>
              <a:t>: Adds three bits (A, B, and carry-in) to produce a sum and carry-out</a:t>
            </a:r>
          </a:p>
          <a:p>
            <a:r>
              <a:rPr lang="en-US" sz="2400" b="1" dirty="0">
                <a:latin typeface="Abadi" panose="020B0604020104020204" pitchFamily="34" charset="0"/>
              </a:rPr>
              <a:t>Half Adder</a:t>
            </a:r>
            <a:r>
              <a:rPr lang="en-US" sz="2400" dirty="0">
                <a:latin typeface="Abadi" panose="020B0604020104020204" pitchFamily="34" charset="0"/>
              </a:rPr>
              <a:t>: Adds two bits (used only for the LSB position when there's no initial carry)</a:t>
            </a:r>
          </a:p>
          <a:p>
            <a:r>
              <a:rPr lang="en-US" sz="2400" b="1" dirty="0">
                <a:latin typeface="Abadi" panose="020B0604020104020204" pitchFamily="34" charset="0"/>
              </a:rPr>
              <a:t>Carry Chain</a:t>
            </a:r>
            <a:r>
              <a:rPr lang="en-US" sz="2400" dirty="0">
                <a:latin typeface="Abadi" panose="020B0604020104020204" pitchFamily="34" charset="0"/>
              </a:rPr>
              <a:t>: The carry-out from each stage becomes the carry-in for the next stage</a:t>
            </a:r>
          </a:p>
          <a:p>
            <a:pPr marL="0" indent="0">
              <a:buNone/>
            </a:pPr>
            <a:endParaRPr lang="en-US" sz="2400" dirty="0">
              <a:latin typeface="Abadi" panose="020B0604020104020204" pitchFamily="34" charset="0"/>
            </a:endParaRPr>
          </a:p>
        </p:txBody>
      </p:sp>
      <p:sp>
        <p:nvSpPr>
          <p:cNvPr id="4" name="Slide Number Placeholder 3">
            <a:extLst>
              <a:ext uri="{FF2B5EF4-FFF2-40B4-BE49-F238E27FC236}">
                <a16:creationId xmlns:a16="http://schemas.microsoft.com/office/drawing/2014/main" id="{47DF50AC-1B51-4F45-A62A-EC7A149B6A67}"/>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626403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1E748-76A4-DB87-4850-4128A253F9C0}"/>
              </a:ext>
            </a:extLst>
          </p:cNvPr>
          <p:cNvSpPr>
            <a:spLocks noGrp="1"/>
          </p:cNvSpPr>
          <p:nvPr>
            <p:ph type="title"/>
          </p:nvPr>
        </p:nvSpPr>
        <p:spPr/>
        <p:txBody>
          <a:bodyPr/>
          <a:lstStyle/>
          <a:p>
            <a:r>
              <a:rPr lang="en-US" b="1" dirty="0"/>
              <a:t>Gate Definitions and Roles</a:t>
            </a:r>
            <a:br>
              <a:rPr lang="en-US" b="1" dirty="0"/>
            </a:br>
            <a:endParaRPr lang="en-US" dirty="0"/>
          </a:p>
        </p:txBody>
      </p:sp>
      <p:sp>
        <p:nvSpPr>
          <p:cNvPr id="3" name="Content Placeholder 2">
            <a:extLst>
              <a:ext uri="{FF2B5EF4-FFF2-40B4-BE49-F238E27FC236}">
                <a16:creationId xmlns:a16="http://schemas.microsoft.com/office/drawing/2014/main" id="{24168096-BE45-263A-60F1-BC10C4FF39A1}"/>
              </a:ext>
            </a:extLst>
          </p:cNvPr>
          <p:cNvSpPr>
            <a:spLocks noGrp="1"/>
          </p:cNvSpPr>
          <p:nvPr>
            <p:ph sz="quarter" idx="10"/>
          </p:nvPr>
        </p:nvSpPr>
        <p:spPr>
          <a:xfrm>
            <a:off x="247650" y="1533525"/>
            <a:ext cx="11106150" cy="5153025"/>
          </a:xfrm>
        </p:spPr>
        <p:txBody>
          <a:bodyPr/>
          <a:lstStyle/>
          <a:p>
            <a:pPr>
              <a:buNone/>
            </a:pPr>
            <a:r>
              <a:rPr lang="en-US" b="1" dirty="0">
                <a:latin typeface="Abadi" panose="020B0604020104020204" pitchFamily="34" charset="0"/>
              </a:rPr>
              <a:t>Gate Definitions and Roles</a:t>
            </a:r>
          </a:p>
          <a:p>
            <a:pPr>
              <a:buNone/>
            </a:pPr>
            <a:r>
              <a:rPr lang="en-US" b="1" dirty="0">
                <a:latin typeface="Abadi" panose="020B0604020104020204" pitchFamily="34" charset="0"/>
              </a:rPr>
              <a:t>Quantum Gates Used:</a:t>
            </a:r>
            <a:endParaRPr lang="en-US" dirty="0">
              <a:latin typeface="Abadi" panose="020B0604020104020204" pitchFamily="34" charset="0"/>
            </a:endParaRPr>
          </a:p>
          <a:p>
            <a:pPr>
              <a:buFont typeface="+mj-lt"/>
              <a:buAutoNum type="arabicPeriod"/>
            </a:pPr>
            <a:r>
              <a:rPr lang="en-US" b="1" dirty="0">
                <a:latin typeface="Abadi" panose="020B0604020104020204" pitchFamily="34" charset="0"/>
              </a:rPr>
              <a:t>CNOT (Controlled-X) Gate</a:t>
            </a:r>
            <a:r>
              <a:rPr lang="en-US" dirty="0">
                <a:latin typeface="Abadi" panose="020B0604020104020204" pitchFamily="34" charset="0"/>
              </a:rPr>
              <a:t>: </a:t>
            </a:r>
          </a:p>
          <a:p>
            <a:pPr marL="742950" lvl="1" indent="-285750">
              <a:buFont typeface="+mj-lt"/>
              <a:buAutoNum type="arabicPeriod"/>
            </a:pPr>
            <a:r>
              <a:rPr lang="en-US" dirty="0">
                <a:latin typeface="Abadi" panose="020B0604020104020204" pitchFamily="34" charset="0"/>
              </a:rPr>
              <a:t>Flips the target qubit if the control qubit is |1⟩</a:t>
            </a:r>
          </a:p>
          <a:p>
            <a:pPr marL="742950" lvl="1" indent="-285750">
              <a:buFont typeface="+mj-lt"/>
              <a:buAutoNum type="arabicPeriod"/>
            </a:pPr>
            <a:r>
              <a:rPr lang="en-US" dirty="0">
                <a:latin typeface="Abadi" panose="020B0604020104020204" pitchFamily="34" charset="0"/>
              </a:rPr>
              <a:t>Used for XOR operations and entanglement</a:t>
            </a:r>
          </a:p>
          <a:p>
            <a:pPr marL="742950" lvl="1" indent="-285750">
              <a:buFont typeface="+mj-lt"/>
              <a:buAutoNum type="arabicPeriod"/>
            </a:pPr>
            <a:r>
              <a:rPr lang="en-US" dirty="0">
                <a:latin typeface="Abadi" panose="020B0604020104020204" pitchFamily="34" charset="0"/>
              </a:rPr>
              <a:t>Essential for implementing classical XOR logic</a:t>
            </a:r>
          </a:p>
          <a:p>
            <a:pPr>
              <a:buFont typeface="+mj-lt"/>
              <a:buAutoNum type="arabicPeriod"/>
            </a:pPr>
            <a:r>
              <a:rPr lang="en-US" b="1" dirty="0">
                <a:latin typeface="Abadi" panose="020B0604020104020204" pitchFamily="34" charset="0"/>
              </a:rPr>
              <a:t>Toffoli (CCX) Gate</a:t>
            </a:r>
            <a:r>
              <a:rPr lang="en-US" dirty="0">
                <a:latin typeface="Abadi" panose="020B0604020104020204" pitchFamily="34" charset="0"/>
              </a:rPr>
              <a:t>: </a:t>
            </a:r>
          </a:p>
          <a:p>
            <a:pPr marL="742950" lvl="1" indent="-285750">
              <a:buFont typeface="+mj-lt"/>
              <a:buAutoNum type="arabicPeriod"/>
            </a:pPr>
            <a:r>
              <a:rPr lang="en-US" dirty="0">
                <a:latin typeface="Abadi" panose="020B0604020104020204" pitchFamily="34" charset="0"/>
              </a:rPr>
              <a:t>Three-qubit gate that flips the target if both control qubits are |1⟩</a:t>
            </a:r>
          </a:p>
          <a:p>
            <a:pPr marL="742950" lvl="1" indent="-285750">
              <a:buFont typeface="+mj-lt"/>
              <a:buAutoNum type="arabicPeriod"/>
            </a:pPr>
            <a:r>
              <a:rPr lang="en-US" dirty="0">
                <a:latin typeface="Abadi" panose="020B0604020104020204" pitchFamily="34" charset="0"/>
              </a:rPr>
              <a:t>Implements classical AND logic</a:t>
            </a:r>
          </a:p>
          <a:p>
            <a:pPr marL="742950" lvl="1" indent="-285750">
              <a:buFont typeface="+mj-lt"/>
              <a:buAutoNum type="arabicPeriod"/>
            </a:pPr>
            <a:r>
              <a:rPr lang="en-US" dirty="0">
                <a:latin typeface="Abadi" panose="020B0604020104020204" pitchFamily="34" charset="0"/>
              </a:rPr>
              <a:t>Used to generate carry bits</a:t>
            </a:r>
          </a:p>
          <a:p>
            <a:pPr>
              <a:buFont typeface="+mj-lt"/>
              <a:buAutoNum type="arabicPeriod"/>
            </a:pPr>
            <a:r>
              <a:rPr lang="en-US" b="1" dirty="0">
                <a:latin typeface="Abadi" panose="020B0604020104020204" pitchFamily="34" charset="0"/>
              </a:rPr>
              <a:t>X Gate</a:t>
            </a:r>
            <a:r>
              <a:rPr lang="en-US" dirty="0">
                <a:latin typeface="Abadi" panose="020B0604020104020204" pitchFamily="34" charset="0"/>
              </a:rPr>
              <a:t>: </a:t>
            </a:r>
          </a:p>
          <a:p>
            <a:pPr marL="742950" lvl="1" indent="-285750">
              <a:buFont typeface="+mj-lt"/>
              <a:buAutoNum type="arabicPeriod"/>
            </a:pPr>
            <a:r>
              <a:rPr lang="en-US" dirty="0">
                <a:latin typeface="Abadi" panose="020B0604020104020204" pitchFamily="34" charset="0"/>
              </a:rPr>
              <a:t>Bit flip gate (NOT operation)</a:t>
            </a:r>
          </a:p>
          <a:p>
            <a:pPr marL="742950" lvl="1" indent="-285750">
              <a:buFont typeface="+mj-lt"/>
              <a:buAutoNum type="arabicPeriod"/>
            </a:pPr>
            <a:r>
              <a:rPr lang="en-US" dirty="0">
                <a:latin typeface="Abadi" panose="020B0604020104020204" pitchFamily="34" charset="0"/>
              </a:rPr>
              <a:t>Used for input preparation and corrections</a:t>
            </a:r>
          </a:p>
        </p:txBody>
      </p:sp>
      <p:sp>
        <p:nvSpPr>
          <p:cNvPr id="4" name="Slide Number Placeholder 3">
            <a:extLst>
              <a:ext uri="{FF2B5EF4-FFF2-40B4-BE49-F238E27FC236}">
                <a16:creationId xmlns:a16="http://schemas.microsoft.com/office/drawing/2014/main" id="{11D852F8-9F0D-7AC1-A24D-36EC4F4FD09E}"/>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2566501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E9F0A-9C07-2048-C88B-387A96C464FA}"/>
              </a:ext>
            </a:extLst>
          </p:cNvPr>
          <p:cNvSpPr>
            <a:spLocks noGrp="1"/>
          </p:cNvSpPr>
          <p:nvPr>
            <p:ph type="title"/>
          </p:nvPr>
        </p:nvSpPr>
        <p:spPr/>
        <p:txBody>
          <a:bodyPr/>
          <a:lstStyle/>
          <a:p>
            <a:r>
              <a:rPr lang="en-US" dirty="0"/>
              <a:t>How it Works?</a:t>
            </a:r>
          </a:p>
        </p:txBody>
      </p:sp>
      <p:sp>
        <p:nvSpPr>
          <p:cNvPr id="3" name="Content Placeholder 2">
            <a:extLst>
              <a:ext uri="{FF2B5EF4-FFF2-40B4-BE49-F238E27FC236}">
                <a16:creationId xmlns:a16="http://schemas.microsoft.com/office/drawing/2014/main" id="{67F4DD4E-0E60-CF88-13CD-991BF7FA1305}"/>
              </a:ext>
            </a:extLst>
          </p:cNvPr>
          <p:cNvSpPr>
            <a:spLocks noGrp="1"/>
          </p:cNvSpPr>
          <p:nvPr>
            <p:ph sz="quarter" idx="10"/>
          </p:nvPr>
        </p:nvSpPr>
        <p:spPr>
          <a:xfrm>
            <a:off x="176784" y="2039111"/>
            <a:ext cx="11748516" cy="4618863"/>
          </a:xfrm>
        </p:spPr>
        <p:txBody>
          <a:bodyPr/>
          <a:lstStyle/>
          <a:p>
            <a:pPr marL="0" indent="0">
              <a:buNone/>
            </a:pPr>
            <a:r>
              <a:rPr lang="en-US" sz="2400" b="1" dirty="0">
                <a:latin typeface="Abadi" panose="020B0604020104020204" pitchFamily="34" charset="0"/>
              </a:rPr>
              <a:t>How the Ripple Carry Adder Works</a:t>
            </a:r>
          </a:p>
          <a:p>
            <a:r>
              <a:rPr lang="en-US" dirty="0">
                <a:latin typeface="Abadi" panose="020B0604020104020204" pitchFamily="34" charset="0"/>
              </a:rPr>
              <a:t>The ripple carry adder operates by implementing the classical binary addition algorithm:</a:t>
            </a:r>
          </a:p>
          <a:p>
            <a:pPr marL="0" indent="0">
              <a:buNone/>
            </a:pPr>
            <a:r>
              <a:rPr lang="en-US" sz="2400" b="1" dirty="0">
                <a:latin typeface="Abadi" panose="020B0604020104020204" pitchFamily="34" charset="0"/>
              </a:rPr>
              <a:t>Bit-by-bit Addition</a:t>
            </a:r>
            <a:r>
              <a:rPr lang="en-US" sz="2400" dirty="0">
                <a:latin typeface="Abadi" panose="020B0604020104020204" pitchFamily="34" charset="0"/>
              </a:rPr>
              <a:t>: Starting from the least significant bit (LSB), each position adds</a:t>
            </a:r>
            <a:r>
              <a:rPr lang="en-US" dirty="0">
                <a:latin typeface="Abadi" panose="020B0604020104020204" pitchFamily="34" charset="0"/>
              </a:rPr>
              <a:t>: </a:t>
            </a:r>
          </a:p>
          <a:p>
            <a:pPr lvl="1"/>
            <a:r>
              <a:rPr lang="en-US" sz="2200" dirty="0">
                <a:latin typeface="Abadi" panose="020B0604020104020204" pitchFamily="34" charset="0"/>
              </a:rPr>
              <a:t>Bit from first number (A)</a:t>
            </a:r>
          </a:p>
          <a:p>
            <a:pPr lvl="1"/>
            <a:r>
              <a:rPr lang="en-US" sz="2200" dirty="0">
                <a:latin typeface="Abadi" panose="020B0604020104020204" pitchFamily="34" charset="0"/>
              </a:rPr>
              <a:t>Bit from second number (B)</a:t>
            </a:r>
          </a:p>
          <a:p>
            <a:pPr lvl="1"/>
            <a:r>
              <a:rPr lang="en-US" sz="2200" dirty="0">
                <a:latin typeface="Abadi" panose="020B0604020104020204" pitchFamily="34" charset="0"/>
              </a:rPr>
              <a:t>Carry from previous position</a:t>
            </a:r>
          </a:p>
          <a:p>
            <a:pPr marL="0" indent="0">
              <a:buNone/>
            </a:pPr>
            <a:r>
              <a:rPr lang="en-US" b="1" dirty="0">
                <a:latin typeface="Abadi" panose="020B0604020104020204" pitchFamily="34" charset="0"/>
              </a:rPr>
              <a:t>F</a:t>
            </a:r>
            <a:r>
              <a:rPr lang="en-US" sz="2400" b="1" dirty="0">
                <a:latin typeface="Abadi" panose="020B0604020104020204" pitchFamily="34" charset="0"/>
              </a:rPr>
              <a:t>ull Adder Logic</a:t>
            </a:r>
            <a:r>
              <a:rPr lang="en-US" sz="2400" dirty="0">
                <a:latin typeface="Abadi" panose="020B0604020104020204" pitchFamily="34" charset="0"/>
              </a:rPr>
              <a:t>: For each bit position:</a:t>
            </a:r>
            <a:r>
              <a:rPr lang="en-US" dirty="0">
                <a:latin typeface="Abadi" panose="020B0604020104020204" pitchFamily="34" charset="0"/>
              </a:rPr>
              <a:t> </a:t>
            </a:r>
          </a:p>
          <a:p>
            <a:pPr lvl="1"/>
            <a:r>
              <a:rPr lang="en-US" sz="2200" b="1" dirty="0">
                <a:latin typeface="Abadi" panose="020B0604020104020204" pitchFamily="34" charset="0"/>
              </a:rPr>
              <a:t>Sum bit</a:t>
            </a:r>
            <a:r>
              <a:rPr lang="en-US" sz="2200" dirty="0">
                <a:latin typeface="Abadi" panose="020B0604020104020204" pitchFamily="34" charset="0"/>
              </a:rPr>
              <a:t>: S = A ⊕ B ⊕ </a:t>
            </a:r>
            <a:r>
              <a:rPr lang="en-US" sz="2200" dirty="0" err="1">
                <a:latin typeface="Abadi" panose="020B0604020104020204" pitchFamily="34" charset="0"/>
              </a:rPr>
              <a:t>Carry_in</a:t>
            </a:r>
            <a:endParaRPr lang="en-US" sz="2200" dirty="0">
              <a:latin typeface="Abadi" panose="020B0604020104020204" pitchFamily="34" charset="0"/>
            </a:endParaRPr>
          </a:p>
          <a:p>
            <a:pPr lvl="1"/>
            <a:r>
              <a:rPr lang="en-US" sz="2200" b="1" dirty="0">
                <a:latin typeface="Abadi" panose="020B0604020104020204" pitchFamily="34" charset="0"/>
              </a:rPr>
              <a:t>Carry out</a:t>
            </a:r>
            <a:r>
              <a:rPr lang="en-US" sz="2200" dirty="0">
                <a:latin typeface="Abadi" panose="020B0604020104020204" pitchFamily="34" charset="0"/>
              </a:rPr>
              <a:t>: </a:t>
            </a:r>
            <a:r>
              <a:rPr lang="en-US" sz="2200" dirty="0" err="1">
                <a:latin typeface="Abadi" panose="020B0604020104020204" pitchFamily="34" charset="0"/>
              </a:rPr>
              <a:t>Carry_out</a:t>
            </a:r>
            <a:r>
              <a:rPr lang="en-US" sz="2200" dirty="0">
                <a:latin typeface="Abadi" panose="020B0604020104020204" pitchFamily="34" charset="0"/>
              </a:rPr>
              <a:t> = (A ∧ B) ∨ (</a:t>
            </a:r>
            <a:r>
              <a:rPr lang="en-US" sz="2200" dirty="0" err="1">
                <a:latin typeface="Abadi" panose="020B0604020104020204" pitchFamily="34" charset="0"/>
              </a:rPr>
              <a:t>Carry_in</a:t>
            </a:r>
            <a:r>
              <a:rPr lang="en-US" sz="2200" dirty="0">
                <a:latin typeface="Abadi" panose="020B0604020104020204" pitchFamily="34" charset="0"/>
              </a:rPr>
              <a:t> ∧ (A ⊕ B))</a:t>
            </a:r>
          </a:p>
          <a:p>
            <a:r>
              <a:rPr lang="en-US" sz="2400" b="1" dirty="0">
                <a:latin typeface="Abadi" panose="020B0604020104020204" pitchFamily="34" charset="0"/>
              </a:rPr>
              <a:t>Carry Propagation</a:t>
            </a:r>
            <a:r>
              <a:rPr lang="en-US" sz="2400" dirty="0">
                <a:latin typeface="Abadi" panose="020B0604020104020204" pitchFamily="34" charset="0"/>
              </a:rPr>
              <a:t>: The carry-out from position i becomes the carry-in for position i+1</a:t>
            </a:r>
          </a:p>
        </p:txBody>
      </p:sp>
      <p:sp>
        <p:nvSpPr>
          <p:cNvPr id="4" name="Slide Number Placeholder 3">
            <a:extLst>
              <a:ext uri="{FF2B5EF4-FFF2-40B4-BE49-F238E27FC236}">
                <a16:creationId xmlns:a16="http://schemas.microsoft.com/office/drawing/2014/main" id="{B2B36DDB-BF46-1FD1-0578-922D96169C0D}"/>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4264936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5390-4AFA-4A1A-5E94-74227CFF24D5}"/>
              </a:ext>
            </a:extLst>
          </p:cNvPr>
          <p:cNvSpPr>
            <a:spLocks noGrp="1"/>
          </p:cNvSpPr>
          <p:nvPr>
            <p:ph type="title"/>
          </p:nvPr>
        </p:nvSpPr>
        <p:spPr/>
        <p:txBody>
          <a:bodyPr/>
          <a:lstStyle/>
          <a:p>
            <a:r>
              <a:rPr lang="en-US" b="1" dirty="0"/>
              <a:t>Quantum Implementation Details</a:t>
            </a:r>
            <a:br>
              <a:rPr lang="en-US" b="1" dirty="0"/>
            </a:br>
            <a:endParaRPr lang="en-US" dirty="0"/>
          </a:p>
        </p:txBody>
      </p:sp>
      <p:sp>
        <p:nvSpPr>
          <p:cNvPr id="3" name="Content Placeholder 2">
            <a:extLst>
              <a:ext uri="{FF2B5EF4-FFF2-40B4-BE49-F238E27FC236}">
                <a16:creationId xmlns:a16="http://schemas.microsoft.com/office/drawing/2014/main" id="{A1C29C7D-9479-4E48-2347-6F12963469F7}"/>
              </a:ext>
            </a:extLst>
          </p:cNvPr>
          <p:cNvSpPr>
            <a:spLocks noGrp="1"/>
          </p:cNvSpPr>
          <p:nvPr>
            <p:ph sz="quarter" idx="10"/>
          </p:nvPr>
        </p:nvSpPr>
        <p:spPr>
          <a:xfrm>
            <a:off x="914399" y="2039112"/>
            <a:ext cx="8562975" cy="4514088"/>
          </a:xfrm>
        </p:spPr>
        <p:txBody>
          <a:bodyPr/>
          <a:lstStyle/>
          <a:p>
            <a:pPr marL="0" indent="0">
              <a:buNone/>
            </a:pPr>
            <a:r>
              <a:rPr lang="en-US" b="1" dirty="0">
                <a:latin typeface="Abadi" panose="020B0604020104020204" pitchFamily="34" charset="0"/>
              </a:rPr>
              <a:t>Qubit Allocation</a:t>
            </a:r>
            <a:r>
              <a:rPr lang="en-US" dirty="0">
                <a:latin typeface="Abadi" panose="020B0604020104020204" pitchFamily="34" charset="0"/>
              </a:rPr>
              <a:t>:</a:t>
            </a:r>
          </a:p>
          <a:p>
            <a:pPr lvl="1"/>
            <a:r>
              <a:rPr lang="en-US" sz="2200" dirty="0">
                <a:latin typeface="Abadi" panose="020B0604020104020204" pitchFamily="34" charset="0"/>
              </a:rPr>
              <a:t>a[0 : n-1]: First input number qubits</a:t>
            </a:r>
          </a:p>
          <a:p>
            <a:pPr lvl="1"/>
            <a:r>
              <a:rPr lang="en-US" sz="2200" dirty="0">
                <a:latin typeface="Abadi" panose="020B0604020104020204" pitchFamily="34" charset="0"/>
              </a:rPr>
              <a:t>b[0  : n-1]: Second input number qubits</a:t>
            </a:r>
          </a:p>
          <a:p>
            <a:pPr lvl="1"/>
            <a:r>
              <a:rPr lang="en-US" sz="2200" dirty="0">
                <a:latin typeface="Abadi" panose="020B0604020104020204" pitchFamily="34" charset="0"/>
              </a:rPr>
              <a:t>c[0 : n]: Carry qubits (including final carry-out)</a:t>
            </a:r>
          </a:p>
          <a:p>
            <a:pPr lvl="1"/>
            <a:r>
              <a:rPr lang="en-US" sz="2200" dirty="0">
                <a:latin typeface="Abadi" panose="020B0604020104020204" pitchFamily="34" charset="0"/>
              </a:rPr>
              <a:t>s[0  :n-1]: Sum result qubits</a:t>
            </a:r>
          </a:p>
          <a:p>
            <a:r>
              <a:rPr lang="en-US" b="1" dirty="0">
                <a:latin typeface="Abadi" panose="020B0604020104020204" pitchFamily="34" charset="0"/>
              </a:rPr>
              <a:t>Gate Operations</a:t>
            </a:r>
            <a:r>
              <a:rPr lang="en-US" dirty="0">
                <a:latin typeface="Abadi" panose="020B0604020104020204" pitchFamily="34" charset="0"/>
              </a:rPr>
              <a:t>:</a:t>
            </a:r>
          </a:p>
          <a:p>
            <a:pPr lvl="1"/>
            <a:r>
              <a:rPr lang="en-US" sz="2200" b="1" dirty="0">
                <a:latin typeface="Abadi" panose="020B0604020104020204" pitchFamily="34" charset="0"/>
              </a:rPr>
              <a:t>CX gates</a:t>
            </a:r>
            <a:r>
              <a:rPr lang="en-US" sz="2200" dirty="0">
                <a:latin typeface="Abadi" panose="020B0604020104020204" pitchFamily="34" charset="0"/>
              </a:rPr>
              <a:t> create the XOR operations needed for sum calculation</a:t>
            </a:r>
          </a:p>
          <a:p>
            <a:pPr lvl="1"/>
            <a:r>
              <a:rPr lang="en-US" sz="2200" b="1" dirty="0">
                <a:latin typeface="Abadi" panose="020B0604020104020204" pitchFamily="34" charset="0"/>
              </a:rPr>
              <a:t>CCX (Toffoli) gates</a:t>
            </a:r>
            <a:r>
              <a:rPr lang="en-US" sz="2200" dirty="0">
                <a:latin typeface="Abadi" panose="020B0604020104020204" pitchFamily="34" charset="0"/>
              </a:rPr>
              <a:t> generate carry bits using AND logic</a:t>
            </a:r>
          </a:p>
          <a:p>
            <a:pPr lvl="1"/>
            <a:r>
              <a:rPr lang="en-US" sz="2200" b="1" dirty="0">
                <a:latin typeface="Abadi" panose="020B0604020104020204" pitchFamily="34" charset="0"/>
              </a:rPr>
              <a:t>Barrier instructions</a:t>
            </a:r>
            <a:r>
              <a:rPr lang="en-US" sz="2200" dirty="0">
                <a:latin typeface="Abadi" panose="020B0604020104020204" pitchFamily="34" charset="0"/>
              </a:rPr>
              <a:t> organize the circuit for clarity</a:t>
            </a:r>
          </a:p>
        </p:txBody>
      </p:sp>
      <p:sp>
        <p:nvSpPr>
          <p:cNvPr id="4" name="Slide Number Placeholder 3">
            <a:extLst>
              <a:ext uri="{FF2B5EF4-FFF2-40B4-BE49-F238E27FC236}">
                <a16:creationId xmlns:a16="http://schemas.microsoft.com/office/drawing/2014/main" id="{878DC55E-CCA2-FC10-7C7D-93C01002AF56}"/>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2463831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2BCCF-0303-17B9-FB89-FA17028B1457}"/>
              </a:ext>
            </a:extLst>
          </p:cNvPr>
          <p:cNvSpPr>
            <a:spLocks noGrp="1"/>
          </p:cNvSpPr>
          <p:nvPr>
            <p:ph type="title"/>
          </p:nvPr>
        </p:nvSpPr>
        <p:spPr>
          <a:xfrm>
            <a:off x="990600" y="114300"/>
            <a:ext cx="7534656" cy="666750"/>
          </a:xfrm>
        </p:spPr>
        <p:txBody>
          <a:bodyPr/>
          <a:lstStyle/>
          <a:p>
            <a:r>
              <a:rPr lang="en-US" dirty="0"/>
              <a:t>Circuit Diagram </a:t>
            </a:r>
          </a:p>
        </p:txBody>
      </p:sp>
      <p:pic>
        <p:nvPicPr>
          <p:cNvPr id="6" name="Content Placeholder 5">
            <a:extLst>
              <a:ext uri="{FF2B5EF4-FFF2-40B4-BE49-F238E27FC236}">
                <a16:creationId xmlns:a16="http://schemas.microsoft.com/office/drawing/2014/main" id="{BDA66419-78FB-F6F6-B9E6-AA65A57667A6}"/>
              </a:ext>
            </a:extLst>
          </p:cNvPr>
          <p:cNvPicPr>
            <a:picLocks noGrp="1" noChangeAspect="1"/>
          </p:cNvPicPr>
          <p:nvPr>
            <p:ph sz="quarter" idx="10"/>
          </p:nvPr>
        </p:nvPicPr>
        <p:blipFill>
          <a:blip r:embed="rId2"/>
          <a:stretch>
            <a:fillRect/>
          </a:stretch>
        </p:blipFill>
        <p:spPr>
          <a:xfrm>
            <a:off x="176784" y="895350"/>
            <a:ext cx="11043666" cy="6048375"/>
          </a:xfrm>
          <a:prstGeom prst="rect">
            <a:avLst/>
          </a:prstGeom>
        </p:spPr>
      </p:pic>
      <p:sp>
        <p:nvSpPr>
          <p:cNvPr id="4" name="Slide Number Placeholder 3">
            <a:extLst>
              <a:ext uri="{FF2B5EF4-FFF2-40B4-BE49-F238E27FC236}">
                <a16:creationId xmlns:a16="http://schemas.microsoft.com/office/drawing/2014/main" id="{30EF80FF-F8EC-C8A1-8A8D-8E0982185DD0}"/>
              </a:ext>
            </a:extLst>
          </p:cNvPr>
          <p:cNvSpPr>
            <a:spLocks noGrp="1"/>
          </p:cNvSpPr>
          <p:nvPr>
            <p:ph type="sldNum" sz="quarter" idx="4"/>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193609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86FC-9E78-BB5F-1D72-AB62328CA480}"/>
              </a:ext>
            </a:extLst>
          </p:cNvPr>
          <p:cNvSpPr>
            <a:spLocks noGrp="1"/>
          </p:cNvSpPr>
          <p:nvPr>
            <p:ph type="title"/>
          </p:nvPr>
        </p:nvSpPr>
        <p:spPr/>
        <p:txBody>
          <a:bodyPr/>
          <a:lstStyle/>
          <a:p>
            <a:r>
              <a:rPr lang="en-US" dirty="0"/>
              <a:t>Init</a:t>
            </a:r>
          </a:p>
        </p:txBody>
      </p:sp>
      <p:sp>
        <p:nvSpPr>
          <p:cNvPr id="3" name="Content Placeholder 2">
            <a:extLst>
              <a:ext uri="{FF2B5EF4-FFF2-40B4-BE49-F238E27FC236}">
                <a16:creationId xmlns:a16="http://schemas.microsoft.com/office/drawing/2014/main" id="{2FCB3904-969C-632E-59C7-093235919260}"/>
              </a:ext>
            </a:extLst>
          </p:cNvPr>
          <p:cNvSpPr>
            <a:spLocks noGrp="1"/>
          </p:cNvSpPr>
          <p:nvPr>
            <p:ph sz="quarter" idx="10"/>
          </p:nvPr>
        </p:nvSpPr>
        <p:spPr>
          <a:xfrm>
            <a:off x="914400" y="2039111"/>
            <a:ext cx="8877300" cy="4542663"/>
          </a:xfrm>
        </p:spPr>
        <p:txBody>
          <a:bodyPr>
            <a:normAutofit/>
          </a:bodyPr>
          <a:lstStyle/>
          <a:p>
            <a:pPr marL="0" indent="0">
              <a:buNone/>
            </a:pPr>
            <a:r>
              <a:rPr lang="en-US" dirty="0">
                <a:latin typeface="Abadi" panose="020B0604020104020204" pitchFamily="34" charset="0"/>
              </a:rPr>
              <a:t>def __</a:t>
            </a:r>
            <a:r>
              <a:rPr lang="en-US" dirty="0" err="1">
                <a:latin typeface="Abadi" panose="020B0604020104020204" pitchFamily="34" charset="0"/>
              </a:rPr>
              <a:t>init</a:t>
            </a:r>
            <a:r>
              <a:rPr lang="en-US" dirty="0">
                <a:latin typeface="Abadi" panose="020B0604020104020204" pitchFamily="34" charset="0"/>
              </a:rPr>
              <a:t>__(self, </a:t>
            </a:r>
            <a:r>
              <a:rPr lang="en-US" dirty="0" err="1">
                <a:latin typeface="Abadi" panose="020B0604020104020204" pitchFamily="34" charset="0"/>
              </a:rPr>
              <a:t>n_bits</a:t>
            </a:r>
            <a:r>
              <a:rPr lang="en-US" dirty="0">
                <a:latin typeface="Abadi" panose="020B0604020104020204" pitchFamily="34" charset="0"/>
              </a:rPr>
              <a:t>=3):</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        Initialize the quantum ripple adder</a:t>
            </a:r>
          </a:p>
          <a:p>
            <a:pPr marL="0" indent="0">
              <a:buNone/>
            </a:pPr>
            <a:r>
              <a:rPr lang="en-US" dirty="0">
                <a:latin typeface="Abadi" panose="020B0604020104020204" pitchFamily="34" charset="0"/>
              </a:rPr>
              <a:t>        </a:t>
            </a:r>
            <a:r>
              <a:rPr lang="en-US" dirty="0" err="1">
                <a:latin typeface="Abadi" panose="020B0604020104020204" pitchFamily="34" charset="0"/>
              </a:rPr>
              <a:t>Args</a:t>
            </a:r>
            <a:r>
              <a:rPr lang="en-US" dirty="0">
                <a:latin typeface="Abadi" panose="020B0604020104020204" pitchFamily="34" charset="0"/>
              </a:rPr>
              <a:t>:</a:t>
            </a:r>
          </a:p>
          <a:p>
            <a:pPr marL="0" indent="0">
              <a:buNone/>
            </a:pPr>
            <a:r>
              <a:rPr lang="en-US" dirty="0">
                <a:latin typeface="Abadi" panose="020B0604020104020204" pitchFamily="34" charset="0"/>
              </a:rPr>
              <a:t>            </a:t>
            </a:r>
            <a:r>
              <a:rPr lang="en-US" dirty="0" err="1">
                <a:latin typeface="Abadi" panose="020B0604020104020204" pitchFamily="34" charset="0"/>
              </a:rPr>
              <a:t>n_bits</a:t>
            </a:r>
            <a:r>
              <a:rPr lang="en-US" dirty="0">
                <a:latin typeface="Abadi" panose="020B0604020104020204" pitchFamily="34" charset="0"/>
              </a:rPr>
              <a:t> (int): Number of bits for each input number</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        </a:t>
            </a:r>
            <a:r>
              <a:rPr lang="en-US" dirty="0" err="1">
                <a:latin typeface="Abadi" panose="020B0604020104020204" pitchFamily="34" charset="0"/>
              </a:rPr>
              <a:t>self.n_bits</a:t>
            </a:r>
            <a:r>
              <a:rPr lang="en-US" dirty="0">
                <a:latin typeface="Abadi" panose="020B0604020104020204" pitchFamily="34" charset="0"/>
              </a:rPr>
              <a:t> = </a:t>
            </a:r>
            <a:r>
              <a:rPr lang="en-US" dirty="0" err="1">
                <a:latin typeface="Abadi" panose="020B0604020104020204" pitchFamily="34" charset="0"/>
              </a:rPr>
              <a:t>n_bits</a:t>
            </a:r>
            <a:endParaRPr lang="en-US" dirty="0">
              <a:latin typeface="Abadi" panose="020B0604020104020204" pitchFamily="34" charset="0"/>
            </a:endParaRPr>
          </a:p>
          <a:p>
            <a:pPr marL="0" indent="0">
              <a:buNone/>
            </a:pPr>
            <a:r>
              <a:rPr lang="en-US" dirty="0">
                <a:latin typeface="Abadi" panose="020B0604020104020204" pitchFamily="34" charset="0"/>
              </a:rPr>
              <a:t>        </a:t>
            </a:r>
            <a:r>
              <a:rPr lang="en-US" dirty="0" err="1">
                <a:latin typeface="Abadi" panose="020B0604020104020204" pitchFamily="34" charset="0"/>
              </a:rPr>
              <a:t>self.circuit</a:t>
            </a:r>
            <a:r>
              <a:rPr lang="en-US" dirty="0">
                <a:latin typeface="Abadi" panose="020B0604020104020204" pitchFamily="34" charset="0"/>
              </a:rPr>
              <a:t> = None</a:t>
            </a:r>
          </a:p>
          <a:p>
            <a:pPr marL="0" indent="0">
              <a:buNone/>
            </a:pPr>
            <a:r>
              <a:rPr lang="en-US" dirty="0">
                <a:latin typeface="Abadi" panose="020B0604020104020204" pitchFamily="34" charset="0"/>
              </a:rPr>
              <a:t>        </a:t>
            </a:r>
            <a:r>
              <a:rPr lang="en-US" dirty="0" err="1">
                <a:latin typeface="Abadi" panose="020B0604020104020204" pitchFamily="34" charset="0"/>
              </a:rPr>
              <a:t>self.create_adder_circuit</a:t>
            </a:r>
            <a:r>
              <a:rPr lang="en-US" dirty="0">
                <a:latin typeface="Abadi" panose="020B0604020104020204" pitchFamily="34" charset="0"/>
              </a:rPr>
              <a:t>()</a:t>
            </a:r>
          </a:p>
          <a:p>
            <a:pPr marL="0" indent="0">
              <a:buNone/>
            </a:pPr>
            <a:endParaRPr lang="en-US" dirty="0"/>
          </a:p>
        </p:txBody>
      </p:sp>
      <p:sp>
        <p:nvSpPr>
          <p:cNvPr id="4" name="Slide Number Placeholder 3">
            <a:extLst>
              <a:ext uri="{FF2B5EF4-FFF2-40B4-BE49-F238E27FC236}">
                <a16:creationId xmlns:a16="http://schemas.microsoft.com/office/drawing/2014/main" id="{61C51611-C200-3F7C-2745-3B5566009A69}"/>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3008769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9289B-3AB8-F178-CF37-A16922E3F95B}"/>
              </a:ext>
            </a:extLst>
          </p:cNvPr>
          <p:cNvSpPr>
            <a:spLocks noGrp="1"/>
          </p:cNvSpPr>
          <p:nvPr>
            <p:ph type="title"/>
          </p:nvPr>
        </p:nvSpPr>
        <p:spPr>
          <a:xfrm>
            <a:off x="752475" y="419100"/>
            <a:ext cx="7534656" cy="914400"/>
          </a:xfrm>
        </p:spPr>
        <p:txBody>
          <a:bodyPr/>
          <a:lstStyle/>
          <a:p>
            <a:r>
              <a:rPr lang="en-US" dirty="0"/>
              <a:t>Create Adder Circuit</a:t>
            </a:r>
          </a:p>
        </p:txBody>
      </p:sp>
      <p:sp>
        <p:nvSpPr>
          <p:cNvPr id="3" name="Content Placeholder 2">
            <a:extLst>
              <a:ext uri="{FF2B5EF4-FFF2-40B4-BE49-F238E27FC236}">
                <a16:creationId xmlns:a16="http://schemas.microsoft.com/office/drawing/2014/main" id="{858108BE-147D-1579-CBA6-7599FB5210C8}"/>
              </a:ext>
            </a:extLst>
          </p:cNvPr>
          <p:cNvSpPr>
            <a:spLocks noGrp="1"/>
          </p:cNvSpPr>
          <p:nvPr>
            <p:ph sz="quarter" idx="10"/>
          </p:nvPr>
        </p:nvSpPr>
        <p:spPr>
          <a:xfrm>
            <a:off x="257175" y="1571625"/>
            <a:ext cx="10382249" cy="5204077"/>
          </a:xfrm>
        </p:spPr>
        <p:txBody>
          <a:bodyPr/>
          <a:lstStyle/>
          <a:p>
            <a:pPr marL="0" indent="0">
              <a:buNone/>
            </a:pPr>
            <a:r>
              <a:rPr lang="en-US" dirty="0"/>
              <a:t> </a:t>
            </a:r>
            <a:r>
              <a:rPr lang="en-US" dirty="0">
                <a:latin typeface="Abadi" panose="020B0604020104020204" pitchFamily="34" charset="0"/>
              </a:rPr>
              <a:t>Create the quantum ripple carry adder circuit</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        Qubit allocation:</a:t>
            </a:r>
          </a:p>
          <a:p>
            <a:pPr marL="0" indent="0">
              <a:buNone/>
            </a:pPr>
            <a:r>
              <a:rPr lang="en-US" dirty="0">
                <a:latin typeface="Abadi" panose="020B0604020104020204" pitchFamily="34" charset="0"/>
              </a:rPr>
              <a:t>        - a[i]: First input number (bits 0 to n-1)</a:t>
            </a:r>
          </a:p>
          <a:p>
            <a:pPr marL="0" indent="0">
              <a:buNone/>
            </a:pPr>
            <a:r>
              <a:rPr lang="en-US" dirty="0">
                <a:latin typeface="Abadi" panose="020B0604020104020204" pitchFamily="34" charset="0"/>
              </a:rPr>
              <a:t>        - b[i]: Second input number (bits 0 to n-1) </a:t>
            </a:r>
          </a:p>
          <a:p>
            <a:pPr marL="0" indent="0">
              <a:buNone/>
            </a:pPr>
            <a:r>
              <a:rPr lang="en-US" dirty="0">
                <a:latin typeface="Abadi" panose="020B0604020104020204" pitchFamily="34" charset="0"/>
              </a:rPr>
              <a:t>        - c[i]: Carry bits (bits 0 to n, where c[0] is carry-in, c[n] is final carry-out)</a:t>
            </a:r>
          </a:p>
          <a:p>
            <a:pPr marL="0" indent="0">
              <a:buNone/>
            </a:pPr>
            <a:r>
              <a:rPr lang="en-US" dirty="0">
                <a:latin typeface="Abadi" panose="020B0604020104020204" pitchFamily="34" charset="0"/>
              </a:rPr>
              <a:t>        - s[i]: Sum output bits (bits 0 to n-1)</a:t>
            </a:r>
          </a:p>
        </p:txBody>
      </p:sp>
      <p:sp>
        <p:nvSpPr>
          <p:cNvPr id="4" name="Slide Number Placeholder 3">
            <a:extLst>
              <a:ext uri="{FF2B5EF4-FFF2-40B4-BE49-F238E27FC236}">
                <a16:creationId xmlns:a16="http://schemas.microsoft.com/office/drawing/2014/main" id="{0F6F991C-16FA-1837-9EF3-01EDA36701A2}"/>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930677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B6D29-FA46-FA77-C080-01135DF57E2A}"/>
              </a:ext>
            </a:extLst>
          </p:cNvPr>
          <p:cNvSpPr>
            <a:spLocks noGrp="1"/>
          </p:cNvSpPr>
          <p:nvPr>
            <p:ph type="title"/>
          </p:nvPr>
        </p:nvSpPr>
        <p:spPr>
          <a:xfrm>
            <a:off x="723900" y="114300"/>
            <a:ext cx="7534656" cy="600075"/>
          </a:xfrm>
        </p:spPr>
        <p:txBody>
          <a:bodyPr/>
          <a:lstStyle/>
          <a:p>
            <a:r>
              <a:rPr lang="en-US" dirty="0"/>
              <a:t>Create Circuit</a:t>
            </a:r>
          </a:p>
        </p:txBody>
      </p:sp>
      <p:sp>
        <p:nvSpPr>
          <p:cNvPr id="3" name="Content Placeholder 2">
            <a:extLst>
              <a:ext uri="{FF2B5EF4-FFF2-40B4-BE49-F238E27FC236}">
                <a16:creationId xmlns:a16="http://schemas.microsoft.com/office/drawing/2014/main" id="{41FFE03A-763B-5650-3E70-B6B17D5414D7}"/>
              </a:ext>
            </a:extLst>
          </p:cNvPr>
          <p:cNvSpPr>
            <a:spLocks noGrp="1"/>
          </p:cNvSpPr>
          <p:nvPr>
            <p:ph sz="quarter" idx="10"/>
          </p:nvPr>
        </p:nvSpPr>
        <p:spPr>
          <a:xfrm>
            <a:off x="638176" y="714375"/>
            <a:ext cx="10067924" cy="5943599"/>
          </a:xfrm>
        </p:spPr>
        <p:txBody>
          <a:bodyPr>
            <a:noAutofit/>
          </a:bodyPr>
          <a:lstStyle/>
          <a:p>
            <a:pPr marL="0" indent="0">
              <a:buNone/>
            </a:pPr>
            <a:r>
              <a:rPr lang="en-US" sz="1800" dirty="0">
                <a:latin typeface="Abadi" panose="020B0604020104020204" pitchFamily="34" charset="0"/>
              </a:rPr>
              <a:t>def </a:t>
            </a:r>
            <a:r>
              <a:rPr lang="en-US" sz="1800" dirty="0" err="1">
                <a:latin typeface="Abadi" panose="020B0604020104020204" pitchFamily="34" charset="0"/>
              </a:rPr>
              <a:t>create_adder_circuit</a:t>
            </a:r>
            <a:r>
              <a:rPr lang="en-US" sz="1800" dirty="0">
                <a:latin typeface="Abadi" panose="020B0604020104020204" pitchFamily="34" charset="0"/>
              </a:rPr>
              <a:t>(self):        </a:t>
            </a:r>
          </a:p>
          <a:p>
            <a:pPr marL="0" indent="0">
              <a:buNone/>
            </a:pPr>
            <a:r>
              <a:rPr lang="en-US" sz="1800" dirty="0">
                <a:latin typeface="Abadi" panose="020B0604020104020204" pitchFamily="34" charset="0"/>
              </a:rPr>
              <a:t>        # Create quantum registers</a:t>
            </a:r>
          </a:p>
          <a:p>
            <a:pPr marL="0" indent="0">
              <a:buNone/>
            </a:pPr>
            <a:r>
              <a:rPr lang="en-US" sz="1800" dirty="0">
                <a:latin typeface="Abadi" panose="020B0604020104020204" pitchFamily="34" charset="0"/>
              </a:rPr>
              <a:t>        a = </a:t>
            </a:r>
            <a:r>
              <a:rPr lang="en-US" sz="1800" dirty="0" err="1">
                <a:latin typeface="Abadi" panose="020B0604020104020204" pitchFamily="34" charset="0"/>
              </a:rPr>
              <a:t>QuantumRegister</a:t>
            </a:r>
            <a:r>
              <a:rPr lang="en-US" sz="1800" dirty="0">
                <a:latin typeface="Abadi" panose="020B0604020104020204" pitchFamily="34" charset="0"/>
              </a:rPr>
              <a:t>(</a:t>
            </a:r>
            <a:r>
              <a:rPr lang="en-US" sz="1800" dirty="0" err="1">
                <a:latin typeface="Abadi" panose="020B0604020104020204" pitchFamily="34" charset="0"/>
              </a:rPr>
              <a:t>self.n_bits</a:t>
            </a:r>
            <a:r>
              <a:rPr lang="en-US" sz="1800" dirty="0">
                <a:latin typeface="Abadi" panose="020B0604020104020204" pitchFamily="34" charset="0"/>
              </a:rPr>
              <a:t>, 'a')  # First input</a:t>
            </a:r>
          </a:p>
          <a:p>
            <a:pPr marL="0" indent="0">
              <a:buNone/>
            </a:pPr>
            <a:r>
              <a:rPr lang="en-US" sz="1800" dirty="0">
                <a:latin typeface="Abadi" panose="020B0604020104020204" pitchFamily="34" charset="0"/>
              </a:rPr>
              <a:t>        b = </a:t>
            </a:r>
            <a:r>
              <a:rPr lang="en-US" sz="1800" dirty="0" err="1">
                <a:latin typeface="Abadi" panose="020B0604020104020204" pitchFamily="34" charset="0"/>
              </a:rPr>
              <a:t>QuantumRegister</a:t>
            </a:r>
            <a:r>
              <a:rPr lang="en-US" sz="1800" dirty="0">
                <a:latin typeface="Abadi" panose="020B0604020104020204" pitchFamily="34" charset="0"/>
              </a:rPr>
              <a:t>(</a:t>
            </a:r>
            <a:r>
              <a:rPr lang="en-US" sz="1800" dirty="0" err="1">
                <a:latin typeface="Abadi" panose="020B0604020104020204" pitchFamily="34" charset="0"/>
              </a:rPr>
              <a:t>self.n_bits</a:t>
            </a:r>
            <a:r>
              <a:rPr lang="en-US" sz="1800" dirty="0">
                <a:latin typeface="Abadi" panose="020B0604020104020204" pitchFamily="34" charset="0"/>
              </a:rPr>
              <a:t>, 'b')  # Second input</a:t>
            </a:r>
          </a:p>
          <a:p>
            <a:pPr marL="0" indent="0">
              <a:buNone/>
            </a:pPr>
            <a:r>
              <a:rPr lang="en-US" sz="1800" dirty="0">
                <a:latin typeface="Abadi" panose="020B0604020104020204" pitchFamily="34" charset="0"/>
              </a:rPr>
              <a:t>        c = </a:t>
            </a:r>
            <a:r>
              <a:rPr lang="en-US" sz="1800" dirty="0" err="1">
                <a:latin typeface="Abadi" panose="020B0604020104020204" pitchFamily="34" charset="0"/>
              </a:rPr>
              <a:t>QuantumRegister</a:t>
            </a:r>
            <a:r>
              <a:rPr lang="en-US" sz="1800" dirty="0">
                <a:latin typeface="Abadi" panose="020B0604020104020204" pitchFamily="34" charset="0"/>
              </a:rPr>
              <a:t>(</a:t>
            </a:r>
            <a:r>
              <a:rPr lang="en-US" sz="1800" dirty="0" err="1">
                <a:latin typeface="Abadi" panose="020B0604020104020204" pitchFamily="34" charset="0"/>
              </a:rPr>
              <a:t>self.n_bits</a:t>
            </a:r>
            <a:r>
              <a:rPr lang="en-US" sz="1800" dirty="0">
                <a:latin typeface="Abadi" panose="020B0604020104020204" pitchFamily="34" charset="0"/>
              </a:rPr>
              <a:t> + 1, 'c')  # Carry bits (including carry-out)</a:t>
            </a:r>
          </a:p>
          <a:p>
            <a:pPr marL="0" indent="0">
              <a:buNone/>
            </a:pPr>
            <a:r>
              <a:rPr lang="en-US" sz="1800" dirty="0">
                <a:latin typeface="Abadi" panose="020B0604020104020204" pitchFamily="34" charset="0"/>
              </a:rPr>
              <a:t>        s = </a:t>
            </a:r>
            <a:r>
              <a:rPr lang="en-US" sz="1800" dirty="0" err="1">
                <a:latin typeface="Abadi" panose="020B0604020104020204" pitchFamily="34" charset="0"/>
              </a:rPr>
              <a:t>QuantumRegister</a:t>
            </a:r>
            <a:r>
              <a:rPr lang="en-US" sz="1800" dirty="0">
                <a:latin typeface="Abadi" panose="020B0604020104020204" pitchFamily="34" charset="0"/>
              </a:rPr>
              <a:t>(</a:t>
            </a:r>
            <a:r>
              <a:rPr lang="en-US" sz="1800" dirty="0" err="1">
                <a:latin typeface="Abadi" panose="020B0604020104020204" pitchFamily="34" charset="0"/>
              </a:rPr>
              <a:t>self.n_bits</a:t>
            </a:r>
            <a:r>
              <a:rPr lang="en-US" sz="1800" dirty="0">
                <a:latin typeface="Abadi" panose="020B0604020104020204" pitchFamily="34" charset="0"/>
              </a:rPr>
              <a:t>, 's')  # Sum output</a:t>
            </a:r>
          </a:p>
          <a:p>
            <a:pPr marL="0" indent="0">
              <a:buNone/>
            </a:pPr>
            <a:r>
              <a:rPr lang="en-US" sz="1800" dirty="0">
                <a:latin typeface="Abadi" panose="020B0604020104020204" pitchFamily="34" charset="0"/>
              </a:rPr>
              <a:t>        # Classical registers for measurement</a:t>
            </a:r>
          </a:p>
          <a:p>
            <a:pPr marL="0" indent="0">
              <a:buNone/>
            </a:pPr>
            <a:r>
              <a:rPr lang="en-US" sz="1800" dirty="0">
                <a:latin typeface="Abadi" panose="020B0604020104020204" pitchFamily="34" charset="0"/>
              </a:rPr>
              <a:t>        </a:t>
            </a:r>
            <a:r>
              <a:rPr lang="en-US" sz="1800" dirty="0" err="1">
                <a:latin typeface="Abadi" panose="020B0604020104020204" pitchFamily="34" charset="0"/>
              </a:rPr>
              <a:t>a_cl</a:t>
            </a:r>
            <a:r>
              <a:rPr lang="en-US" sz="1800" dirty="0">
                <a:latin typeface="Abadi" panose="020B0604020104020204" pitchFamily="34" charset="0"/>
              </a:rPr>
              <a:t> = </a:t>
            </a:r>
            <a:r>
              <a:rPr lang="en-US" sz="1800" dirty="0" err="1">
                <a:latin typeface="Abadi" panose="020B0604020104020204" pitchFamily="34" charset="0"/>
              </a:rPr>
              <a:t>ClassicalRegister</a:t>
            </a:r>
            <a:r>
              <a:rPr lang="en-US" sz="1800" dirty="0">
                <a:latin typeface="Abadi" panose="020B0604020104020204" pitchFamily="34" charset="0"/>
              </a:rPr>
              <a:t>(</a:t>
            </a:r>
            <a:r>
              <a:rPr lang="en-US" sz="1800" dirty="0" err="1">
                <a:latin typeface="Abadi" panose="020B0604020104020204" pitchFamily="34" charset="0"/>
              </a:rPr>
              <a:t>self.n_bits</a:t>
            </a:r>
            <a:r>
              <a:rPr lang="en-US" sz="1800" dirty="0">
                <a:latin typeface="Abadi" panose="020B0604020104020204" pitchFamily="34" charset="0"/>
              </a:rPr>
              <a:t>, '</a:t>
            </a:r>
            <a:r>
              <a:rPr lang="en-US" sz="1800" dirty="0" err="1">
                <a:latin typeface="Abadi" panose="020B0604020104020204" pitchFamily="34" charset="0"/>
              </a:rPr>
              <a:t>a_cl</a:t>
            </a:r>
            <a:r>
              <a:rPr lang="en-US" sz="1800" dirty="0">
                <a:latin typeface="Abadi" panose="020B0604020104020204" pitchFamily="34" charset="0"/>
              </a:rPr>
              <a:t>')</a:t>
            </a:r>
          </a:p>
          <a:p>
            <a:pPr marL="0" indent="0">
              <a:buNone/>
            </a:pPr>
            <a:r>
              <a:rPr lang="en-US" sz="1800" dirty="0">
                <a:latin typeface="Abadi" panose="020B0604020104020204" pitchFamily="34" charset="0"/>
              </a:rPr>
              <a:t>        </a:t>
            </a:r>
            <a:r>
              <a:rPr lang="en-US" sz="1800" dirty="0" err="1">
                <a:latin typeface="Abadi" panose="020B0604020104020204" pitchFamily="34" charset="0"/>
              </a:rPr>
              <a:t>b_cl</a:t>
            </a:r>
            <a:r>
              <a:rPr lang="en-US" sz="1800" dirty="0">
                <a:latin typeface="Abadi" panose="020B0604020104020204" pitchFamily="34" charset="0"/>
              </a:rPr>
              <a:t> = </a:t>
            </a:r>
            <a:r>
              <a:rPr lang="en-US" sz="1800" dirty="0" err="1">
                <a:latin typeface="Abadi" panose="020B0604020104020204" pitchFamily="34" charset="0"/>
              </a:rPr>
              <a:t>ClassicalRegister</a:t>
            </a:r>
            <a:r>
              <a:rPr lang="en-US" sz="1800" dirty="0">
                <a:latin typeface="Abadi" panose="020B0604020104020204" pitchFamily="34" charset="0"/>
              </a:rPr>
              <a:t>(</a:t>
            </a:r>
            <a:r>
              <a:rPr lang="en-US" sz="1800" dirty="0" err="1">
                <a:latin typeface="Abadi" panose="020B0604020104020204" pitchFamily="34" charset="0"/>
              </a:rPr>
              <a:t>self.n_bits</a:t>
            </a:r>
            <a:r>
              <a:rPr lang="en-US" sz="1800" dirty="0">
                <a:latin typeface="Abadi" panose="020B0604020104020204" pitchFamily="34" charset="0"/>
              </a:rPr>
              <a:t>, '</a:t>
            </a:r>
            <a:r>
              <a:rPr lang="en-US" sz="1800" dirty="0" err="1">
                <a:latin typeface="Abadi" panose="020B0604020104020204" pitchFamily="34" charset="0"/>
              </a:rPr>
              <a:t>b_cl</a:t>
            </a:r>
            <a:r>
              <a:rPr lang="en-US" sz="1800" dirty="0">
                <a:latin typeface="Abadi" panose="020B0604020104020204" pitchFamily="34" charset="0"/>
              </a:rPr>
              <a:t>')</a:t>
            </a:r>
          </a:p>
          <a:p>
            <a:pPr marL="0" indent="0">
              <a:buNone/>
            </a:pPr>
            <a:r>
              <a:rPr lang="en-US" sz="1800" dirty="0">
                <a:latin typeface="Abadi" panose="020B0604020104020204" pitchFamily="34" charset="0"/>
              </a:rPr>
              <a:t>        </a:t>
            </a:r>
            <a:r>
              <a:rPr lang="en-US" sz="1800" dirty="0" err="1">
                <a:latin typeface="Abadi" panose="020B0604020104020204" pitchFamily="34" charset="0"/>
              </a:rPr>
              <a:t>s_cl</a:t>
            </a:r>
            <a:r>
              <a:rPr lang="en-US" sz="1800" dirty="0">
                <a:latin typeface="Abadi" panose="020B0604020104020204" pitchFamily="34" charset="0"/>
              </a:rPr>
              <a:t> = </a:t>
            </a:r>
            <a:r>
              <a:rPr lang="en-US" sz="1800" dirty="0" err="1">
                <a:latin typeface="Abadi" panose="020B0604020104020204" pitchFamily="34" charset="0"/>
              </a:rPr>
              <a:t>ClassicalRegister</a:t>
            </a:r>
            <a:r>
              <a:rPr lang="en-US" sz="1800" dirty="0">
                <a:latin typeface="Abadi" panose="020B0604020104020204" pitchFamily="34" charset="0"/>
              </a:rPr>
              <a:t>(</a:t>
            </a:r>
            <a:r>
              <a:rPr lang="en-US" sz="1800" dirty="0" err="1">
                <a:latin typeface="Abadi" panose="020B0604020104020204" pitchFamily="34" charset="0"/>
              </a:rPr>
              <a:t>self.n_bits</a:t>
            </a:r>
            <a:r>
              <a:rPr lang="en-US" sz="1800" dirty="0">
                <a:latin typeface="Abadi" panose="020B0604020104020204" pitchFamily="34" charset="0"/>
              </a:rPr>
              <a:t>, '</a:t>
            </a:r>
            <a:r>
              <a:rPr lang="en-US" sz="1800" dirty="0" err="1">
                <a:latin typeface="Abadi" panose="020B0604020104020204" pitchFamily="34" charset="0"/>
              </a:rPr>
              <a:t>s_cl</a:t>
            </a:r>
            <a:r>
              <a:rPr lang="en-US" sz="1800" dirty="0">
                <a:latin typeface="Abadi" panose="020B0604020104020204" pitchFamily="34" charset="0"/>
              </a:rPr>
              <a:t>')</a:t>
            </a:r>
          </a:p>
          <a:p>
            <a:pPr marL="0" indent="0">
              <a:buNone/>
            </a:pPr>
            <a:r>
              <a:rPr lang="en-US" sz="1800" dirty="0">
                <a:latin typeface="Abadi" panose="020B0604020104020204" pitchFamily="34" charset="0"/>
              </a:rPr>
              <a:t>        </a:t>
            </a:r>
            <a:r>
              <a:rPr lang="en-US" sz="1800" dirty="0" err="1">
                <a:latin typeface="Abadi" panose="020B0604020104020204" pitchFamily="34" charset="0"/>
              </a:rPr>
              <a:t>c_out_cl</a:t>
            </a:r>
            <a:r>
              <a:rPr lang="en-US" sz="1800" dirty="0">
                <a:latin typeface="Abadi" panose="020B0604020104020204" pitchFamily="34" charset="0"/>
              </a:rPr>
              <a:t> = </a:t>
            </a:r>
            <a:r>
              <a:rPr lang="en-US" sz="1800" dirty="0" err="1">
                <a:latin typeface="Abadi" panose="020B0604020104020204" pitchFamily="34" charset="0"/>
              </a:rPr>
              <a:t>ClassicalRegister</a:t>
            </a:r>
            <a:r>
              <a:rPr lang="en-US" sz="1800" dirty="0">
                <a:latin typeface="Abadi" panose="020B0604020104020204" pitchFamily="34" charset="0"/>
              </a:rPr>
              <a:t>(1, '</a:t>
            </a:r>
            <a:r>
              <a:rPr lang="en-US" sz="1800" dirty="0" err="1">
                <a:latin typeface="Abadi" panose="020B0604020104020204" pitchFamily="34" charset="0"/>
              </a:rPr>
              <a:t>c_out</a:t>
            </a:r>
            <a:r>
              <a:rPr lang="en-US" sz="1800" dirty="0">
                <a:latin typeface="Abadi" panose="020B0604020104020204" pitchFamily="34" charset="0"/>
              </a:rPr>
              <a:t>')</a:t>
            </a:r>
          </a:p>
          <a:p>
            <a:pPr marL="0" indent="0">
              <a:buNone/>
            </a:pPr>
            <a:r>
              <a:rPr lang="en-US" sz="1800" dirty="0">
                <a:latin typeface="Abadi" panose="020B0604020104020204" pitchFamily="34" charset="0"/>
              </a:rPr>
              <a:t>        # Measure all qubits</a:t>
            </a:r>
          </a:p>
          <a:p>
            <a:pPr marL="0" indent="0">
              <a:buNone/>
            </a:pPr>
            <a:r>
              <a:rPr lang="en-US" sz="1800" dirty="0">
                <a:latin typeface="Abadi" panose="020B0604020104020204" pitchFamily="34" charset="0"/>
              </a:rPr>
              <a:t>        </a:t>
            </a:r>
            <a:r>
              <a:rPr lang="en-US" sz="1800" dirty="0" err="1">
                <a:latin typeface="Abadi" panose="020B0604020104020204" pitchFamily="34" charset="0"/>
              </a:rPr>
              <a:t>self.circuit.measure</a:t>
            </a:r>
            <a:r>
              <a:rPr lang="en-US" sz="1800" dirty="0">
                <a:latin typeface="Abadi" panose="020B0604020104020204" pitchFamily="34" charset="0"/>
              </a:rPr>
              <a:t>(a, </a:t>
            </a:r>
            <a:r>
              <a:rPr lang="en-US" sz="1800" dirty="0" err="1">
                <a:latin typeface="Abadi" panose="020B0604020104020204" pitchFamily="34" charset="0"/>
              </a:rPr>
              <a:t>a_cl</a:t>
            </a:r>
            <a:r>
              <a:rPr lang="en-US" sz="1800" dirty="0">
                <a:latin typeface="Abadi" panose="020B0604020104020204" pitchFamily="34" charset="0"/>
              </a:rPr>
              <a:t>)</a:t>
            </a:r>
          </a:p>
          <a:p>
            <a:pPr marL="0" indent="0">
              <a:buNone/>
            </a:pPr>
            <a:r>
              <a:rPr lang="en-US" sz="1800" dirty="0">
                <a:latin typeface="Abadi" panose="020B0604020104020204" pitchFamily="34" charset="0"/>
              </a:rPr>
              <a:t>        </a:t>
            </a:r>
            <a:r>
              <a:rPr lang="en-US" sz="1800" dirty="0" err="1">
                <a:latin typeface="Abadi" panose="020B0604020104020204" pitchFamily="34" charset="0"/>
              </a:rPr>
              <a:t>self.circuit.measure</a:t>
            </a:r>
            <a:r>
              <a:rPr lang="en-US" sz="1800" dirty="0">
                <a:latin typeface="Abadi" panose="020B0604020104020204" pitchFamily="34" charset="0"/>
              </a:rPr>
              <a:t>(b, </a:t>
            </a:r>
            <a:r>
              <a:rPr lang="en-US" sz="1800" dirty="0" err="1">
                <a:latin typeface="Abadi" panose="020B0604020104020204" pitchFamily="34" charset="0"/>
              </a:rPr>
              <a:t>b_cl</a:t>
            </a:r>
            <a:r>
              <a:rPr lang="en-US" sz="1800" dirty="0">
                <a:latin typeface="Abadi" panose="020B0604020104020204" pitchFamily="34" charset="0"/>
              </a:rPr>
              <a:t>)</a:t>
            </a:r>
          </a:p>
          <a:p>
            <a:pPr marL="0" indent="0">
              <a:buNone/>
            </a:pPr>
            <a:r>
              <a:rPr lang="en-US" sz="1800" dirty="0">
                <a:latin typeface="Abadi" panose="020B0604020104020204" pitchFamily="34" charset="0"/>
              </a:rPr>
              <a:t>        </a:t>
            </a:r>
            <a:r>
              <a:rPr lang="en-US" sz="1800" dirty="0" err="1">
                <a:latin typeface="Abadi" panose="020B0604020104020204" pitchFamily="34" charset="0"/>
              </a:rPr>
              <a:t>self.circuit.measure</a:t>
            </a:r>
            <a:r>
              <a:rPr lang="en-US" sz="1800" dirty="0">
                <a:latin typeface="Abadi" panose="020B0604020104020204" pitchFamily="34" charset="0"/>
              </a:rPr>
              <a:t>(s, </a:t>
            </a:r>
            <a:r>
              <a:rPr lang="en-US" sz="1800" dirty="0" err="1">
                <a:latin typeface="Abadi" panose="020B0604020104020204" pitchFamily="34" charset="0"/>
              </a:rPr>
              <a:t>s_cl</a:t>
            </a:r>
            <a:r>
              <a:rPr lang="en-US" sz="1800" dirty="0">
                <a:latin typeface="Abadi" panose="020B0604020104020204" pitchFamily="34" charset="0"/>
              </a:rPr>
              <a:t>)</a:t>
            </a:r>
          </a:p>
          <a:p>
            <a:pPr marL="0" indent="0">
              <a:buNone/>
            </a:pPr>
            <a:r>
              <a:rPr lang="en-US" sz="1800" dirty="0">
                <a:latin typeface="Abadi" panose="020B0604020104020204" pitchFamily="34" charset="0"/>
              </a:rPr>
              <a:t>        </a:t>
            </a:r>
            <a:r>
              <a:rPr lang="en-US" sz="1800" dirty="0" err="1">
                <a:latin typeface="Abadi" panose="020B0604020104020204" pitchFamily="34" charset="0"/>
              </a:rPr>
              <a:t>self.circuit.measure</a:t>
            </a:r>
            <a:r>
              <a:rPr lang="en-US" sz="1800" dirty="0">
                <a:latin typeface="Abadi" panose="020B0604020104020204" pitchFamily="34" charset="0"/>
              </a:rPr>
              <a:t>(c[</a:t>
            </a:r>
            <a:r>
              <a:rPr lang="en-US" sz="1800" dirty="0" err="1">
                <a:latin typeface="Abadi" panose="020B0604020104020204" pitchFamily="34" charset="0"/>
              </a:rPr>
              <a:t>self.n_bits</a:t>
            </a:r>
            <a:r>
              <a:rPr lang="en-US" sz="1800" dirty="0">
                <a:latin typeface="Abadi" panose="020B0604020104020204" pitchFamily="34" charset="0"/>
              </a:rPr>
              <a:t>], </a:t>
            </a:r>
            <a:r>
              <a:rPr lang="en-US" sz="1800" dirty="0" err="1">
                <a:latin typeface="Abadi" panose="020B0604020104020204" pitchFamily="34" charset="0"/>
              </a:rPr>
              <a:t>c_out_cl</a:t>
            </a:r>
            <a:r>
              <a:rPr lang="en-US" sz="1800" dirty="0">
                <a:latin typeface="Abadi" panose="020B0604020104020204" pitchFamily="34" charset="0"/>
              </a:rPr>
              <a:t>)  # Final carry-out</a:t>
            </a:r>
          </a:p>
          <a:p>
            <a:pPr marL="0" indent="0">
              <a:buNone/>
            </a:pPr>
            <a:endParaRPr lang="en-US" sz="1200" dirty="0">
              <a:latin typeface="Abadi" panose="020B0604020104020204" pitchFamily="34" charset="0"/>
            </a:endParaRPr>
          </a:p>
        </p:txBody>
      </p:sp>
      <p:sp>
        <p:nvSpPr>
          <p:cNvPr id="4" name="Slide Number Placeholder 3">
            <a:extLst>
              <a:ext uri="{FF2B5EF4-FFF2-40B4-BE49-F238E27FC236}">
                <a16:creationId xmlns:a16="http://schemas.microsoft.com/office/drawing/2014/main" id="{17B324F7-43E4-CE23-850C-12392E1BC798}"/>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1711436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53D81-F5F1-ABA0-8233-BA664E87A626}"/>
              </a:ext>
            </a:extLst>
          </p:cNvPr>
          <p:cNvSpPr>
            <a:spLocks noGrp="1"/>
          </p:cNvSpPr>
          <p:nvPr>
            <p:ph type="title"/>
          </p:nvPr>
        </p:nvSpPr>
        <p:spPr/>
        <p:txBody>
          <a:bodyPr/>
          <a:lstStyle/>
          <a:p>
            <a:r>
              <a:rPr lang="en-US" dirty="0"/>
              <a:t>Create Circuit ….</a:t>
            </a:r>
          </a:p>
        </p:txBody>
      </p:sp>
      <p:sp>
        <p:nvSpPr>
          <p:cNvPr id="3" name="Content Placeholder 2">
            <a:extLst>
              <a:ext uri="{FF2B5EF4-FFF2-40B4-BE49-F238E27FC236}">
                <a16:creationId xmlns:a16="http://schemas.microsoft.com/office/drawing/2014/main" id="{6D56F5CA-6BD0-1AFD-D8C9-C05C71ADAE12}"/>
              </a:ext>
            </a:extLst>
          </p:cNvPr>
          <p:cNvSpPr>
            <a:spLocks noGrp="1"/>
          </p:cNvSpPr>
          <p:nvPr>
            <p:ph sz="quarter" idx="10"/>
          </p:nvPr>
        </p:nvSpPr>
        <p:spPr>
          <a:xfrm>
            <a:off x="914399" y="2039111"/>
            <a:ext cx="8162925" cy="4736591"/>
          </a:xfrm>
        </p:spPr>
        <p:txBody>
          <a:bodyPr>
            <a:normAutofit/>
          </a:bodyPr>
          <a:lstStyle/>
          <a:p>
            <a:pPr marL="0" indent="0">
              <a:buNone/>
            </a:pPr>
            <a:r>
              <a:rPr lang="en-US" dirty="0">
                <a:latin typeface="Abadi" panose="020B0604020104020204" pitchFamily="34" charset="0"/>
              </a:rPr>
              <a:t> # Create the circuit</a:t>
            </a:r>
          </a:p>
          <a:p>
            <a:pPr marL="0" indent="0">
              <a:buNone/>
            </a:pPr>
            <a:r>
              <a:rPr lang="en-US" dirty="0">
                <a:latin typeface="Abadi" panose="020B0604020104020204" pitchFamily="34" charset="0"/>
              </a:rPr>
              <a:t>        </a:t>
            </a:r>
            <a:r>
              <a:rPr lang="en-US" dirty="0" err="1">
                <a:latin typeface="Abadi" panose="020B0604020104020204" pitchFamily="34" charset="0"/>
              </a:rPr>
              <a:t>self.circuit</a:t>
            </a:r>
            <a:r>
              <a:rPr lang="en-US" dirty="0">
                <a:latin typeface="Abadi" panose="020B0604020104020204" pitchFamily="34" charset="0"/>
              </a:rPr>
              <a:t> = </a:t>
            </a:r>
            <a:r>
              <a:rPr lang="en-US" dirty="0" err="1">
                <a:latin typeface="Abadi" panose="020B0604020104020204" pitchFamily="34" charset="0"/>
              </a:rPr>
              <a:t>QuantumCircuit</a:t>
            </a:r>
            <a:r>
              <a:rPr lang="en-US" dirty="0">
                <a:latin typeface="Abadi" panose="020B0604020104020204" pitchFamily="34" charset="0"/>
              </a:rPr>
              <a:t>(a, b, c, s, </a:t>
            </a:r>
            <a:r>
              <a:rPr lang="en-US" dirty="0" err="1">
                <a:latin typeface="Abadi" panose="020B0604020104020204" pitchFamily="34" charset="0"/>
              </a:rPr>
              <a:t>a_cl</a:t>
            </a:r>
            <a:r>
              <a:rPr lang="en-US" dirty="0">
                <a:latin typeface="Abadi" panose="020B0604020104020204" pitchFamily="34" charset="0"/>
              </a:rPr>
              <a:t>, </a:t>
            </a:r>
            <a:r>
              <a:rPr lang="en-US" dirty="0" err="1">
                <a:latin typeface="Abadi" panose="020B0604020104020204" pitchFamily="34" charset="0"/>
              </a:rPr>
              <a:t>b_cl</a:t>
            </a:r>
            <a:r>
              <a:rPr lang="en-US" dirty="0">
                <a:latin typeface="Abadi" panose="020B0604020104020204" pitchFamily="34" charset="0"/>
              </a:rPr>
              <a:t>, </a:t>
            </a:r>
            <a:r>
              <a:rPr lang="en-US" dirty="0" err="1">
                <a:latin typeface="Abadi" panose="020B0604020104020204" pitchFamily="34" charset="0"/>
              </a:rPr>
              <a:t>s_cl</a:t>
            </a:r>
            <a:r>
              <a:rPr lang="en-US" dirty="0">
                <a:latin typeface="Abadi" panose="020B0604020104020204" pitchFamily="34" charset="0"/>
              </a:rPr>
              <a:t>, </a:t>
            </a:r>
            <a:r>
              <a:rPr lang="en-US" dirty="0" err="1">
                <a:latin typeface="Abadi" panose="020B0604020104020204" pitchFamily="34" charset="0"/>
              </a:rPr>
              <a:t>c_out_cl</a:t>
            </a:r>
            <a:r>
              <a:rPr lang="en-US" dirty="0">
                <a:latin typeface="Abadi" panose="020B0604020104020204" pitchFamily="34" charset="0"/>
              </a:rPr>
              <a:t>)</a:t>
            </a:r>
          </a:p>
          <a:p>
            <a:pPr marL="0" indent="0">
              <a:buNone/>
            </a:pPr>
            <a:r>
              <a:rPr lang="en-US" dirty="0">
                <a:latin typeface="Abadi" panose="020B0604020104020204" pitchFamily="34" charset="0"/>
              </a:rPr>
              <a:t>        # Add a barrier for clarity</a:t>
            </a:r>
          </a:p>
          <a:p>
            <a:pPr marL="0" indent="0">
              <a:buNone/>
            </a:pPr>
            <a:r>
              <a:rPr lang="en-US" dirty="0">
                <a:latin typeface="Abadi" panose="020B0604020104020204" pitchFamily="34" charset="0"/>
              </a:rPr>
              <a:t>        </a:t>
            </a:r>
            <a:r>
              <a:rPr lang="en-US" dirty="0" err="1">
                <a:latin typeface="Abadi" panose="020B0604020104020204" pitchFamily="34" charset="0"/>
              </a:rPr>
              <a:t>self.circuit.barrier</a:t>
            </a:r>
            <a:r>
              <a:rPr lang="en-US" dirty="0">
                <a:latin typeface="Abadi" panose="020B0604020104020204" pitchFamily="34" charset="0"/>
              </a:rPr>
              <a:t>()</a:t>
            </a:r>
          </a:p>
          <a:p>
            <a:pPr marL="0" indent="0">
              <a:buNone/>
            </a:pPr>
            <a:r>
              <a:rPr lang="en-US" dirty="0">
                <a:latin typeface="Abadi" panose="020B0604020104020204" pitchFamily="34" charset="0"/>
              </a:rPr>
              <a:t>        </a:t>
            </a:r>
            <a:r>
              <a:rPr lang="en-US" dirty="0" err="1">
                <a:latin typeface="Abadi" panose="020B0604020104020204" pitchFamily="34" charset="0"/>
              </a:rPr>
              <a:t>self.circuit.label</a:t>
            </a:r>
            <a:r>
              <a:rPr lang="en-US" dirty="0">
                <a:latin typeface="Abadi" panose="020B0604020104020204" pitchFamily="34" charset="0"/>
              </a:rPr>
              <a:t> = "Input Preparation"</a:t>
            </a:r>
          </a:p>
          <a:p>
            <a:pPr marL="0" indent="0">
              <a:buNone/>
            </a:pPr>
            <a:r>
              <a:rPr lang="en-US" dirty="0">
                <a:latin typeface="Abadi" panose="020B0604020104020204" pitchFamily="34" charset="0"/>
              </a:rPr>
              <a:t>        # Implement the ripple carry adder logic</a:t>
            </a:r>
          </a:p>
          <a:p>
            <a:pPr marL="0" indent="0">
              <a:buNone/>
            </a:pPr>
            <a:r>
              <a:rPr lang="en-US" dirty="0">
                <a:latin typeface="Abadi" panose="020B0604020104020204" pitchFamily="34" charset="0"/>
              </a:rPr>
              <a:t>        for i in range(</a:t>
            </a:r>
            <a:r>
              <a:rPr lang="en-US" dirty="0" err="1">
                <a:latin typeface="Abadi" panose="020B0604020104020204" pitchFamily="34" charset="0"/>
              </a:rPr>
              <a:t>self.n_bits</a:t>
            </a:r>
            <a:r>
              <a:rPr lang="en-US" dirty="0">
                <a:latin typeface="Abadi" panose="020B0604020104020204" pitchFamily="34" charset="0"/>
              </a:rPr>
              <a:t>):</a:t>
            </a:r>
          </a:p>
          <a:p>
            <a:pPr marL="0" indent="0">
              <a:buNone/>
            </a:pPr>
            <a:r>
              <a:rPr lang="en-US" dirty="0">
                <a:latin typeface="Abadi" panose="020B0604020104020204" pitchFamily="34" charset="0"/>
              </a:rPr>
              <a:t>            </a:t>
            </a:r>
            <a:r>
              <a:rPr lang="en-US" dirty="0" err="1">
                <a:latin typeface="Abadi" panose="020B0604020104020204" pitchFamily="34" charset="0"/>
              </a:rPr>
              <a:t>self.add_full_adder</a:t>
            </a:r>
            <a:r>
              <a:rPr lang="en-US" dirty="0">
                <a:latin typeface="Abadi" panose="020B0604020104020204" pitchFamily="34" charset="0"/>
              </a:rPr>
              <a:t>(i, a, b, c, s)</a:t>
            </a:r>
          </a:p>
          <a:p>
            <a:pPr marL="0" indent="0">
              <a:buNone/>
            </a:pPr>
            <a:r>
              <a:rPr lang="en-US" dirty="0">
                <a:latin typeface="Abadi" panose="020B0604020104020204" pitchFamily="34" charset="0"/>
              </a:rPr>
              <a:t>        # Add final barrier</a:t>
            </a:r>
          </a:p>
          <a:p>
            <a:pPr marL="0" indent="0">
              <a:buNone/>
            </a:pPr>
            <a:r>
              <a:rPr lang="en-US" dirty="0">
                <a:latin typeface="Abadi" panose="020B0604020104020204" pitchFamily="34" charset="0"/>
              </a:rPr>
              <a:t>        </a:t>
            </a:r>
            <a:r>
              <a:rPr lang="en-US" dirty="0" err="1">
                <a:latin typeface="Abadi" panose="020B0604020104020204" pitchFamily="34" charset="0"/>
              </a:rPr>
              <a:t>self.circuit.barrier</a:t>
            </a:r>
            <a:r>
              <a:rPr lang="en-US" dirty="0">
                <a:latin typeface="Abadi" panose="020B0604020104020204" pitchFamily="34" charset="0"/>
              </a:rPr>
              <a:t>()</a:t>
            </a:r>
          </a:p>
          <a:p>
            <a:pPr marL="0" indent="0">
              <a:buNone/>
            </a:pPr>
            <a:r>
              <a:rPr lang="en-US" dirty="0">
                <a:latin typeface="Abadi" panose="020B0604020104020204" pitchFamily="34" charset="0"/>
              </a:rPr>
              <a:t> </a:t>
            </a:r>
            <a:endParaRPr lang="en-US" dirty="0"/>
          </a:p>
        </p:txBody>
      </p:sp>
      <p:sp>
        <p:nvSpPr>
          <p:cNvPr id="4" name="Slide Number Placeholder 3">
            <a:extLst>
              <a:ext uri="{FF2B5EF4-FFF2-40B4-BE49-F238E27FC236}">
                <a16:creationId xmlns:a16="http://schemas.microsoft.com/office/drawing/2014/main" id="{04668CCE-398F-CCCF-1766-BD97A5E01CE9}"/>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1921811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02272-A943-C0EC-5427-2B2D5349BA3F}"/>
              </a:ext>
            </a:extLst>
          </p:cNvPr>
          <p:cNvSpPr>
            <a:spLocks noGrp="1"/>
          </p:cNvSpPr>
          <p:nvPr>
            <p:ph type="title"/>
          </p:nvPr>
        </p:nvSpPr>
        <p:spPr>
          <a:xfrm>
            <a:off x="847725" y="171450"/>
            <a:ext cx="7534656" cy="914400"/>
          </a:xfrm>
        </p:spPr>
        <p:txBody>
          <a:bodyPr/>
          <a:lstStyle/>
          <a:p>
            <a:r>
              <a:rPr lang="en-US" dirty="0"/>
              <a:t>Full Adder</a:t>
            </a:r>
          </a:p>
        </p:txBody>
      </p:sp>
      <p:sp>
        <p:nvSpPr>
          <p:cNvPr id="3" name="Content Placeholder 2">
            <a:extLst>
              <a:ext uri="{FF2B5EF4-FFF2-40B4-BE49-F238E27FC236}">
                <a16:creationId xmlns:a16="http://schemas.microsoft.com/office/drawing/2014/main" id="{6EDA1945-1345-38DF-E17C-5A97973B7F2E}"/>
              </a:ext>
            </a:extLst>
          </p:cNvPr>
          <p:cNvSpPr>
            <a:spLocks noGrp="1"/>
          </p:cNvSpPr>
          <p:nvPr>
            <p:ph sz="quarter" idx="10"/>
          </p:nvPr>
        </p:nvSpPr>
        <p:spPr>
          <a:xfrm>
            <a:off x="476250" y="1572386"/>
            <a:ext cx="10096500" cy="5114163"/>
          </a:xfrm>
        </p:spPr>
        <p:txBody>
          <a:bodyPr>
            <a:normAutofit/>
          </a:bodyPr>
          <a:lstStyle/>
          <a:p>
            <a:pPr marL="0" indent="0">
              <a:buNone/>
            </a:pPr>
            <a:r>
              <a:rPr lang="en-US" sz="2400" dirty="0">
                <a:latin typeface="Abadi" panose="020B0604020104020204" pitchFamily="34" charset="0"/>
              </a:rPr>
              <a:t>Add a full adder for the given bit position</a:t>
            </a:r>
          </a:p>
          <a:p>
            <a:pPr marL="0" indent="0">
              <a:buNone/>
            </a:pPr>
            <a:r>
              <a:rPr lang="en-US" sz="2400" dirty="0">
                <a:latin typeface="Abadi" panose="020B0604020104020204" pitchFamily="34" charset="0"/>
              </a:rPr>
              <a:t>        </a:t>
            </a:r>
          </a:p>
          <a:p>
            <a:pPr marL="0" indent="0">
              <a:buNone/>
            </a:pPr>
            <a:r>
              <a:rPr lang="en-US" sz="2400" dirty="0">
                <a:latin typeface="Abadi" panose="020B0604020104020204" pitchFamily="34" charset="0"/>
              </a:rPr>
              <a:t>        Full Adder Logic:</a:t>
            </a:r>
          </a:p>
          <a:p>
            <a:pPr marL="0" indent="0">
              <a:buNone/>
            </a:pPr>
            <a:r>
              <a:rPr lang="en-US" sz="2400" dirty="0">
                <a:latin typeface="Abadi" panose="020B0604020104020204" pitchFamily="34" charset="0"/>
              </a:rPr>
              <a:t>        sum = a ⊕ b ⊕ </a:t>
            </a:r>
            <a:r>
              <a:rPr lang="en-US" sz="2400" dirty="0" err="1">
                <a:latin typeface="Abadi" panose="020B0604020104020204" pitchFamily="34" charset="0"/>
              </a:rPr>
              <a:t>carry_in</a:t>
            </a:r>
            <a:endParaRPr lang="en-US" sz="2400" dirty="0">
              <a:latin typeface="Abadi" panose="020B0604020104020204" pitchFamily="34" charset="0"/>
            </a:endParaRPr>
          </a:p>
          <a:p>
            <a:pPr marL="0" indent="0">
              <a:buNone/>
            </a:pPr>
            <a:r>
              <a:rPr lang="en-US" sz="2400" dirty="0">
                <a:latin typeface="Abadi" panose="020B0604020104020204" pitchFamily="34" charset="0"/>
              </a:rPr>
              <a:t>        </a:t>
            </a:r>
            <a:r>
              <a:rPr lang="en-US" sz="2400" dirty="0" err="1">
                <a:latin typeface="Abadi" panose="020B0604020104020204" pitchFamily="34" charset="0"/>
              </a:rPr>
              <a:t>carry_out</a:t>
            </a:r>
            <a:r>
              <a:rPr lang="en-US" sz="2400" dirty="0">
                <a:latin typeface="Abadi" panose="020B0604020104020204" pitchFamily="34" charset="0"/>
              </a:rPr>
              <a:t> = (a ∧ b) ∨ (</a:t>
            </a:r>
            <a:r>
              <a:rPr lang="en-US" sz="2400" dirty="0" err="1">
                <a:latin typeface="Abadi" panose="020B0604020104020204" pitchFamily="34" charset="0"/>
              </a:rPr>
              <a:t>carry_in</a:t>
            </a:r>
            <a:r>
              <a:rPr lang="en-US" sz="2400" dirty="0">
                <a:latin typeface="Abadi" panose="020B0604020104020204" pitchFamily="34" charset="0"/>
              </a:rPr>
              <a:t> ∧ (a ⊕ b))</a:t>
            </a:r>
          </a:p>
          <a:p>
            <a:pPr marL="0" indent="0">
              <a:buNone/>
            </a:pPr>
            <a:r>
              <a:rPr lang="en-US" sz="2400" dirty="0">
                <a:latin typeface="Abadi" panose="020B0604020104020204" pitchFamily="34" charset="0"/>
              </a:rPr>
              <a:t>        </a:t>
            </a:r>
          </a:p>
          <a:p>
            <a:pPr marL="0" indent="0">
              <a:buNone/>
            </a:pPr>
            <a:r>
              <a:rPr lang="en-US" sz="2400" dirty="0">
                <a:latin typeface="Abadi" panose="020B0604020104020204" pitchFamily="34" charset="0"/>
              </a:rPr>
              <a:t>        Quantum Implementation:</a:t>
            </a:r>
          </a:p>
          <a:p>
            <a:pPr marL="0" indent="0">
              <a:buNone/>
            </a:pPr>
            <a:r>
              <a:rPr lang="en-US" sz="2400" dirty="0">
                <a:latin typeface="Abadi" panose="020B0604020104020204" pitchFamily="34" charset="0"/>
              </a:rPr>
              <a:t>        1. Compute a ⊕ b and store in sum qubit</a:t>
            </a:r>
          </a:p>
          <a:p>
            <a:pPr marL="0" indent="0">
              <a:buNone/>
            </a:pPr>
            <a:r>
              <a:rPr lang="en-US" sz="2400" dirty="0">
                <a:latin typeface="Abadi" panose="020B0604020104020204" pitchFamily="34" charset="0"/>
              </a:rPr>
              <a:t>        2. Compute </a:t>
            </a:r>
            <a:r>
              <a:rPr lang="en-US" sz="2400" dirty="0" err="1">
                <a:latin typeface="Abadi" panose="020B0604020104020204" pitchFamily="34" charset="0"/>
              </a:rPr>
              <a:t>carry_out</a:t>
            </a:r>
            <a:r>
              <a:rPr lang="en-US" sz="2400" dirty="0">
                <a:latin typeface="Abadi" panose="020B0604020104020204" pitchFamily="34" charset="0"/>
              </a:rPr>
              <a:t> using Toffoli gates</a:t>
            </a:r>
          </a:p>
          <a:p>
            <a:pPr marL="0" indent="0">
              <a:buNone/>
            </a:pPr>
            <a:r>
              <a:rPr lang="en-US" sz="2400" dirty="0">
                <a:latin typeface="Abadi" panose="020B0604020104020204" pitchFamily="34" charset="0"/>
              </a:rPr>
              <a:t>        3. Apply final XOR with </a:t>
            </a:r>
            <a:r>
              <a:rPr lang="en-US" sz="2400" dirty="0" err="1">
                <a:latin typeface="Abadi" panose="020B0604020104020204" pitchFamily="34" charset="0"/>
              </a:rPr>
              <a:t>carry_in</a:t>
            </a:r>
            <a:r>
              <a:rPr lang="en-US" sz="2400" dirty="0">
                <a:latin typeface="Abadi" panose="020B0604020104020204" pitchFamily="34" charset="0"/>
              </a:rPr>
              <a:t> to get final </a:t>
            </a:r>
          </a:p>
        </p:txBody>
      </p:sp>
      <p:sp>
        <p:nvSpPr>
          <p:cNvPr id="4" name="Slide Number Placeholder 3">
            <a:extLst>
              <a:ext uri="{FF2B5EF4-FFF2-40B4-BE49-F238E27FC236}">
                <a16:creationId xmlns:a16="http://schemas.microsoft.com/office/drawing/2014/main" id="{E95CE949-C3D6-2FDF-5B7E-1AFCF7BFD709}"/>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3263120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19998-CC9F-44C5-CC48-F30ADF6BB732}"/>
              </a:ext>
            </a:extLst>
          </p:cNvPr>
          <p:cNvSpPr>
            <a:spLocks noGrp="1"/>
          </p:cNvSpPr>
          <p:nvPr>
            <p:ph type="title"/>
          </p:nvPr>
        </p:nvSpPr>
        <p:spPr>
          <a:xfrm>
            <a:off x="1009650" y="266700"/>
            <a:ext cx="7534656" cy="914400"/>
          </a:xfrm>
        </p:spPr>
        <p:txBody>
          <a:bodyPr/>
          <a:lstStyle/>
          <a:p>
            <a:r>
              <a:rPr lang="en-US" dirty="0"/>
              <a:t>Full Adder</a:t>
            </a:r>
          </a:p>
        </p:txBody>
      </p:sp>
      <p:sp>
        <p:nvSpPr>
          <p:cNvPr id="3" name="Content Placeholder 2">
            <a:extLst>
              <a:ext uri="{FF2B5EF4-FFF2-40B4-BE49-F238E27FC236}">
                <a16:creationId xmlns:a16="http://schemas.microsoft.com/office/drawing/2014/main" id="{7F97D723-0850-DB6D-C0DC-5E68D41796EC}"/>
              </a:ext>
            </a:extLst>
          </p:cNvPr>
          <p:cNvSpPr>
            <a:spLocks noGrp="1"/>
          </p:cNvSpPr>
          <p:nvPr>
            <p:ph sz="quarter" idx="10"/>
          </p:nvPr>
        </p:nvSpPr>
        <p:spPr>
          <a:xfrm>
            <a:off x="176785" y="1181100"/>
            <a:ext cx="10595990" cy="5594603"/>
          </a:xfrm>
        </p:spPr>
        <p:txBody>
          <a:bodyPr>
            <a:normAutofit fontScale="32500" lnSpcReduction="20000"/>
          </a:bodyPr>
          <a:lstStyle/>
          <a:p>
            <a:pPr marL="0" indent="0">
              <a:buNone/>
            </a:pPr>
            <a:r>
              <a:rPr lang="en-US" dirty="0" err="1"/>
              <a:t>d</a:t>
            </a:r>
            <a:r>
              <a:rPr lang="en-US" sz="6400" dirty="0" err="1">
                <a:latin typeface="Abadi" panose="020B0604020104020204" pitchFamily="34" charset="0"/>
              </a:rPr>
              <a:t>def</a:t>
            </a:r>
            <a:r>
              <a:rPr lang="en-US" sz="6400" dirty="0">
                <a:latin typeface="Abadi" panose="020B0604020104020204" pitchFamily="34" charset="0"/>
              </a:rPr>
              <a:t> </a:t>
            </a:r>
            <a:r>
              <a:rPr lang="en-US" sz="6400" dirty="0" err="1">
                <a:latin typeface="Abadi" panose="020B0604020104020204" pitchFamily="34" charset="0"/>
              </a:rPr>
              <a:t>add_full_adder</a:t>
            </a:r>
            <a:r>
              <a:rPr lang="en-US" sz="6400" dirty="0">
                <a:latin typeface="Abadi" panose="020B0604020104020204" pitchFamily="34" charset="0"/>
              </a:rPr>
              <a:t>(self, </a:t>
            </a:r>
            <a:r>
              <a:rPr lang="en-US" sz="6400" dirty="0" err="1">
                <a:latin typeface="Abadi" panose="020B0604020104020204" pitchFamily="34" charset="0"/>
              </a:rPr>
              <a:t>bit_position</a:t>
            </a:r>
            <a:r>
              <a:rPr lang="en-US" sz="6400" dirty="0">
                <a:latin typeface="Abadi" panose="020B0604020104020204" pitchFamily="34" charset="0"/>
              </a:rPr>
              <a:t>, a, b, c, s):        </a:t>
            </a:r>
          </a:p>
          <a:p>
            <a:pPr marL="0" indent="0">
              <a:buNone/>
            </a:pPr>
            <a:r>
              <a:rPr lang="en-US" sz="6400" dirty="0">
                <a:latin typeface="Abadi" panose="020B0604020104020204" pitchFamily="34" charset="0"/>
              </a:rPr>
              <a:t>        i = </a:t>
            </a:r>
            <a:r>
              <a:rPr lang="en-US" sz="6400" dirty="0" err="1">
                <a:latin typeface="Abadi" panose="020B0604020104020204" pitchFamily="34" charset="0"/>
              </a:rPr>
              <a:t>bit_position</a:t>
            </a:r>
            <a:endParaRPr lang="en-US" sz="6400" dirty="0">
              <a:latin typeface="Abadi" panose="020B0604020104020204" pitchFamily="34" charset="0"/>
            </a:endParaRPr>
          </a:p>
          <a:p>
            <a:pPr marL="0" indent="0">
              <a:buNone/>
            </a:pPr>
            <a:r>
              <a:rPr lang="en-US" sz="6400" dirty="0">
                <a:latin typeface="Abadi" panose="020B0604020104020204" pitchFamily="34" charset="0"/>
              </a:rPr>
              <a:t>        # Label this section</a:t>
            </a:r>
          </a:p>
          <a:p>
            <a:pPr marL="0" indent="0">
              <a:buNone/>
            </a:pPr>
            <a:r>
              <a:rPr lang="en-US" sz="6400" dirty="0">
                <a:latin typeface="Abadi" panose="020B0604020104020204" pitchFamily="34" charset="0"/>
              </a:rPr>
              <a:t>        </a:t>
            </a:r>
            <a:r>
              <a:rPr lang="en-US" sz="6400" dirty="0" err="1">
                <a:latin typeface="Abadi" panose="020B0604020104020204" pitchFamily="34" charset="0"/>
              </a:rPr>
              <a:t>self.circuit.barrier</a:t>
            </a:r>
            <a:r>
              <a:rPr lang="en-US" sz="6400" dirty="0">
                <a:latin typeface="Abadi" panose="020B0604020104020204" pitchFamily="34" charset="0"/>
              </a:rPr>
              <a:t>()</a:t>
            </a:r>
          </a:p>
          <a:p>
            <a:pPr marL="0" indent="0">
              <a:buNone/>
            </a:pPr>
            <a:r>
              <a:rPr lang="en-US" sz="6400" dirty="0">
                <a:latin typeface="Abadi" panose="020B0604020104020204" pitchFamily="34" charset="0"/>
              </a:rPr>
              <a:t>        # Step 1: Compute a[i] ⊕ b[i] → s[i]</a:t>
            </a:r>
          </a:p>
          <a:p>
            <a:pPr marL="0" indent="0">
              <a:buNone/>
            </a:pPr>
            <a:r>
              <a:rPr lang="en-US" sz="6400" dirty="0">
                <a:latin typeface="Abadi" panose="020B0604020104020204" pitchFamily="34" charset="0"/>
              </a:rPr>
              <a:t>        self.circuit.cx(a[i], s[i])</a:t>
            </a:r>
          </a:p>
          <a:p>
            <a:pPr marL="0" indent="0">
              <a:buNone/>
            </a:pPr>
            <a:r>
              <a:rPr lang="en-US" sz="6400" dirty="0">
                <a:latin typeface="Abadi" panose="020B0604020104020204" pitchFamily="34" charset="0"/>
              </a:rPr>
              <a:t>        self.circuit.cx(b[i], s[i])</a:t>
            </a:r>
          </a:p>
          <a:p>
            <a:pPr marL="0" indent="0">
              <a:buNone/>
            </a:pPr>
            <a:r>
              <a:rPr lang="en-US" sz="6400" dirty="0">
                <a:latin typeface="Abadi" panose="020B0604020104020204" pitchFamily="34" charset="0"/>
              </a:rPr>
              <a:t>        # Step 2: Compute </a:t>
            </a:r>
            <a:r>
              <a:rPr lang="en-US" sz="6400" dirty="0" err="1">
                <a:latin typeface="Abadi" panose="020B0604020104020204" pitchFamily="34" charset="0"/>
              </a:rPr>
              <a:t>carry_out</a:t>
            </a:r>
            <a:r>
              <a:rPr lang="en-US" sz="6400" dirty="0">
                <a:latin typeface="Abadi" panose="020B0604020104020204" pitchFamily="34" charset="0"/>
              </a:rPr>
              <a:t> = (a[i] ∧ b[i]) ∨ (c[i] ∧ (a[i] ⊕ b[i]))</a:t>
            </a:r>
          </a:p>
          <a:p>
            <a:pPr marL="0" indent="0">
              <a:buNone/>
            </a:pPr>
            <a:r>
              <a:rPr lang="en-US" sz="6400" dirty="0">
                <a:latin typeface="Abadi" panose="020B0604020104020204" pitchFamily="34" charset="0"/>
              </a:rPr>
              <a:t>        # First part: a[i] ∧ b[i] → c[i+1]</a:t>
            </a:r>
          </a:p>
          <a:p>
            <a:pPr marL="0" indent="0">
              <a:buNone/>
            </a:pPr>
            <a:r>
              <a:rPr lang="en-US" sz="6400" dirty="0">
                <a:latin typeface="Abadi" panose="020B0604020104020204" pitchFamily="34" charset="0"/>
              </a:rPr>
              <a:t>        </a:t>
            </a:r>
            <a:r>
              <a:rPr lang="en-US" sz="6400" dirty="0" err="1">
                <a:latin typeface="Abadi" panose="020B0604020104020204" pitchFamily="34" charset="0"/>
              </a:rPr>
              <a:t>self.circuit.ccx</a:t>
            </a:r>
            <a:r>
              <a:rPr lang="en-US" sz="6400" dirty="0">
                <a:latin typeface="Abadi" panose="020B0604020104020204" pitchFamily="34" charset="0"/>
              </a:rPr>
              <a:t>(a[i], b[i], c[i+1])</a:t>
            </a:r>
          </a:p>
          <a:p>
            <a:pPr marL="0" indent="0">
              <a:buNone/>
            </a:pPr>
            <a:r>
              <a:rPr lang="en-US" sz="6400" dirty="0">
                <a:latin typeface="Abadi" panose="020B0604020104020204" pitchFamily="34" charset="0"/>
              </a:rPr>
              <a:t>        # Second part: c[i] ∧ (a[i] ⊕ b[i]) → c[i+1]</a:t>
            </a:r>
          </a:p>
          <a:p>
            <a:pPr marL="0" indent="0">
              <a:buNone/>
            </a:pPr>
            <a:r>
              <a:rPr lang="en-US" sz="6400" dirty="0">
                <a:latin typeface="Abadi" panose="020B0604020104020204" pitchFamily="34" charset="0"/>
              </a:rPr>
              <a:t>        # We use s[i] which currently holds a[i] ⊕ b[i]</a:t>
            </a:r>
          </a:p>
          <a:p>
            <a:pPr marL="0" indent="0">
              <a:buNone/>
            </a:pPr>
            <a:r>
              <a:rPr lang="en-US" sz="6400" dirty="0">
                <a:latin typeface="Abadi" panose="020B0604020104020204" pitchFamily="34" charset="0"/>
              </a:rPr>
              <a:t>        </a:t>
            </a:r>
            <a:r>
              <a:rPr lang="en-US" sz="6400" dirty="0" err="1">
                <a:latin typeface="Abadi" panose="020B0604020104020204" pitchFamily="34" charset="0"/>
              </a:rPr>
              <a:t>self.circuit.ccx</a:t>
            </a:r>
            <a:r>
              <a:rPr lang="en-US" sz="6400" dirty="0">
                <a:latin typeface="Abadi" panose="020B0604020104020204" pitchFamily="34" charset="0"/>
              </a:rPr>
              <a:t>(c[i], s[i], c[i+1])</a:t>
            </a:r>
          </a:p>
          <a:p>
            <a:pPr marL="0" indent="0">
              <a:buNone/>
            </a:pPr>
            <a:r>
              <a:rPr lang="en-US" sz="6400" dirty="0">
                <a:latin typeface="Abadi" panose="020B0604020104020204" pitchFamily="34" charset="0"/>
              </a:rPr>
              <a:t>        # Step 3: Final sum = (a[i] ⊕ b[i]) ⊕ c[i] = s[i] ⊕ c[i]</a:t>
            </a:r>
          </a:p>
          <a:p>
            <a:pPr marL="0" indent="0">
              <a:buNone/>
            </a:pPr>
            <a:r>
              <a:rPr lang="en-US" sz="6400" dirty="0">
                <a:latin typeface="Abadi" panose="020B0604020104020204" pitchFamily="34" charset="0"/>
              </a:rPr>
              <a:t>        self.circuit.cx(c[i], s[i])</a:t>
            </a:r>
          </a:p>
        </p:txBody>
      </p:sp>
      <p:sp>
        <p:nvSpPr>
          <p:cNvPr id="4" name="Slide Number Placeholder 3">
            <a:extLst>
              <a:ext uri="{FF2B5EF4-FFF2-40B4-BE49-F238E27FC236}">
                <a16:creationId xmlns:a16="http://schemas.microsoft.com/office/drawing/2014/main" id="{7D7306E9-444D-F0E0-DF52-3A655666CAF3}"/>
              </a:ext>
            </a:extLst>
          </p:cNvPr>
          <p:cNvSpPr>
            <a:spLocks noGrp="1"/>
          </p:cNvSpPr>
          <p:nvPr>
            <p:ph type="sldNum" sz="quarter" idx="4"/>
          </p:nvPr>
        </p:nvSpPr>
        <p:spPr/>
        <p:txBody>
          <a:bodyPr/>
          <a:lstStyle/>
          <a:p>
            <a:fld id="{58FB4751-880F-D840-AAA9-3A15815CC996}" type="slidenum">
              <a:rPr lang="en-US" smtClean="0"/>
              <a:pPr/>
              <a:t>12</a:t>
            </a:fld>
            <a:endParaRPr lang="en-US" dirty="0"/>
          </a:p>
        </p:txBody>
      </p:sp>
    </p:spTree>
    <p:extLst>
      <p:ext uri="{BB962C8B-B14F-4D97-AF65-F5344CB8AC3E}">
        <p14:creationId xmlns:p14="http://schemas.microsoft.com/office/powerpoint/2010/main" val="969401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82090-4F85-BBE0-2A27-7BB044DCCC4E}"/>
              </a:ext>
            </a:extLst>
          </p:cNvPr>
          <p:cNvSpPr>
            <a:spLocks noGrp="1"/>
          </p:cNvSpPr>
          <p:nvPr>
            <p:ph type="title"/>
          </p:nvPr>
        </p:nvSpPr>
        <p:spPr/>
        <p:txBody>
          <a:bodyPr/>
          <a:lstStyle/>
          <a:p>
            <a:r>
              <a:rPr lang="en-US" dirty="0"/>
              <a:t>Define </a:t>
            </a:r>
            <a:r>
              <a:rPr lang="en-US" dirty="0" err="1"/>
              <a:t>Innputs</a:t>
            </a:r>
            <a:endParaRPr lang="en-US" dirty="0"/>
          </a:p>
        </p:txBody>
      </p:sp>
      <p:sp>
        <p:nvSpPr>
          <p:cNvPr id="3" name="Content Placeholder 2">
            <a:extLst>
              <a:ext uri="{FF2B5EF4-FFF2-40B4-BE49-F238E27FC236}">
                <a16:creationId xmlns:a16="http://schemas.microsoft.com/office/drawing/2014/main" id="{99CF6146-35D3-05EF-0559-F083C73002AF}"/>
              </a:ext>
            </a:extLst>
          </p:cNvPr>
          <p:cNvSpPr>
            <a:spLocks noGrp="1"/>
          </p:cNvSpPr>
          <p:nvPr>
            <p:ph sz="quarter" idx="10"/>
          </p:nvPr>
        </p:nvSpPr>
        <p:spPr/>
        <p:txBody>
          <a:bodyPr>
            <a:normAutofit/>
          </a:bodyPr>
          <a:lstStyle/>
          <a:p>
            <a:pPr marL="0" indent="0">
              <a:buNone/>
            </a:pPr>
            <a:endParaRPr lang="en-US" dirty="0">
              <a:latin typeface="Abadi" panose="020B0604020104020204" pitchFamily="34" charset="0"/>
            </a:endParaRPr>
          </a:p>
          <a:p>
            <a:pPr marL="0" indent="0">
              <a:buNone/>
            </a:pPr>
            <a:r>
              <a:rPr lang="en-US" dirty="0">
                <a:latin typeface="Abadi" panose="020B0604020104020204" pitchFamily="34" charset="0"/>
              </a:rPr>
              <a:t>        Set input values for the adder by applying X gates</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        </a:t>
            </a:r>
            <a:r>
              <a:rPr lang="en-US" dirty="0" err="1">
                <a:latin typeface="Abadi" panose="020B0604020104020204" pitchFamily="34" charset="0"/>
              </a:rPr>
              <a:t>Args</a:t>
            </a:r>
            <a:r>
              <a:rPr lang="en-US" dirty="0">
                <a:latin typeface="Abadi" panose="020B0604020104020204" pitchFamily="34" charset="0"/>
              </a:rPr>
              <a:t>:</a:t>
            </a:r>
          </a:p>
          <a:p>
            <a:pPr marL="0" indent="0">
              <a:buNone/>
            </a:pPr>
            <a:r>
              <a:rPr lang="en-US" dirty="0">
                <a:latin typeface="Abadi" panose="020B0604020104020204" pitchFamily="34" charset="0"/>
              </a:rPr>
              <a:t>            </a:t>
            </a:r>
            <a:r>
              <a:rPr lang="en-US" dirty="0" err="1">
                <a:latin typeface="Abadi" panose="020B0604020104020204" pitchFamily="34" charset="0"/>
              </a:rPr>
              <a:t>a_val</a:t>
            </a:r>
            <a:r>
              <a:rPr lang="en-US" dirty="0">
                <a:latin typeface="Abadi" panose="020B0604020104020204" pitchFamily="34" charset="0"/>
              </a:rPr>
              <a:t> (int): First input number</a:t>
            </a:r>
          </a:p>
          <a:p>
            <a:pPr marL="0" indent="0">
              <a:buNone/>
            </a:pPr>
            <a:r>
              <a:rPr lang="en-US" dirty="0">
                <a:latin typeface="Abadi" panose="020B0604020104020204" pitchFamily="34" charset="0"/>
              </a:rPr>
              <a:t>            </a:t>
            </a:r>
            <a:r>
              <a:rPr lang="en-US" dirty="0" err="1">
                <a:latin typeface="Abadi" panose="020B0604020104020204" pitchFamily="34" charset="0"/>
              </a:rPr>
              <a:t>b_val</a:t>
            </a:r>
            <a:r>
              <a:rPr lang="en-US" dirty="0">
                <a:latin typeface="Abadi" panose="020B0604020104020204" pitchFamily="34" charset="0"/>
              </a:rPr>
              <a:t> (int): Second input number  </a:t>
            </a:r>
          </a:p>
          <a:p>
            <a:pPr marL="0" indent="0">
              <a:buNone/>
            </a:pPr>
            <a:r>
              <a:rPr lang="en-US" dirty="0">
                <a:latin typeface="Abadi" panose="020B0604020104020204" pitchFamily="34" charset="0"/>
              </a:rPr>
              <a:t>            </a:t>
            </a:r>
            <a:r>
              <a:rPr lang="en-US" dirty="0" err="1">
                <a:latin typeface="Abadi" panose="020B0604020104020204" pitchFamily="34" charset="0"/>
              </a:rPr>
              <a:t>carry_in</a:t>
            </a:r>
            <a:r>
              <a:rPr lang="en-US" dirty="0">
                <a:latin typeface="Abadi" panose="020B0604020104020204" pitchFamily="34" charset="0"/>
              </a:rPr>
              <a:t> (int): Initial carry input (0 or 1)</a:t>
            </a:r>
          </a:p>
          <a:p>
            <a:pPr marL="0" indent="0">
              <a:buNone/>
            </a:pPr>
            <a:r>
              <a:rPr lang="en-US" dirty="0">
                <a:latin typeface="Abadi" panose="020B0604020104020204" pitchFamily="34" charset="0"/>
              </a:rPr>
              <a:t>       </a:t>
            </a:r>
            <a:endParaRPr lang="en-US" dirty="0"/>
          </a:p>
        </p:txBody>
      </p:sp>
      <p:sp>
        <p:nvSpPr>
          <p:cNvPr id="4" name="Slide Number Placeholder 3">
            <a:extLst>
              <a:ext uri="{FF2B5EF4-FFF2-40B4-BE49-F238E27FC236}">
                <a16:creationId xmlns:a16="http://schemas.microsoft.com/office/drawing/2014/main" id="{CF99A30D-FD60-FC02-D1D9-2CAE1EB3B673}"/>
              </a:ext>
            </a:extLst>
          </p:cNvPr>
          <p:cNvSpPr>
            <a:spLocks noGrp="1"/>
          </p:cNvSpPr>
          <p:nvPr>
            <p:ph type="sldNum" sz="quarter" idx="4"/>
          </p:nvPr>
        </p:nvSpPr>
        <p:spPr/>
        <p:txBody>
          <a:bodyPr/>
          <a:lstStyle/>
          <a:p>
            <a:fld id="{58FB4751-880F-D840-AAA9-3A15815CC996}" type="slidenum">
              <a:rPr lang="en-US" smtClean="0"/>
              <a:pPr/>
              <a:t>13</a:t>
            </a:fld>
            <a:endParaRPr lang="en-US" dirty="0"/>
          </a:p>
        </p:txBody>
      </p:sp>
    </p:spTree>
    <p:extLst>
      <p:ext uri="{BB962C8B-B14F-4D97-AF65-F5344CB8AC3E}">
        <p14:creationId xmlns:p14="http://schemas.microsoft.com/office/powerpoint/2010/main" val="2602888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B8865-0187-A284-2697-60B7DC10DCA6}"/>
              </a:ext>
            </a:extLst>
          </p:cNvPr>
          <p:cNvSpPr>
            <a:spLocks noGrp="1"/>
          </p:cNvSpPr>
          <p:nvPr>
            <p:ph type="title"/>
          </p:nvPr>
        </p:nvSpPr>
        <p:spPr>
          <a:xfrm>
            <a:off x="523875" y="0"/>
            <a:ext cx="7534656" cy="638175"/>
          </a:xfrm>
        </p:spPr>
        <p:txBody>
          <a:bodyPr/>
          <a:lstStyle/>
          <a:p>
            <a:r>
              <a:rPr lang="en-US" dirty="0"/>
              <a:t>Define Inputs</a:t>
            </a:r>
          </a:p>
        </p:txBody>
      </p:sp>
      <p:sp>
        <p:nvSpPr>
          <p:cNvPr id="3" name="Content Placeholder 2">
            <a:extLst>
              <a:ext uri="{FF2B5EF4-FFF2-40B4-BE49-F238E27FC236}">
                <a16:creationId xmlns:a16="http://schemas.microsoft.com/office/drawing/2014/main" id="{8078DB54-F9F9-EFA6-B694-DA7B8B0FA77D}"/>
              </a:ext>
            </a:extLst>
          </p:cNvPr>
          <p:cNvSpPr>
            <a:spLocks noGrp="1"/>
          </p:cNvSpPr>
          <p:nvPr>
            <p:ph sz="quarter" idx="10"/>
          </p:nvPr>
        </p:nvSpPr>
        <p:spPr>
          <a:xfrm>
            <a:off x="381191" y="1200150"/>
            <a:ext cx="11534584" cy="5429250"/>
          </a:xfrm>
        </p:spPr>
        <p:txBody>
          <a:bodyPr>
            <a:noAutofit/>
          </a:bodyPr>
          <a:lstStyle/>
          <a:p>
            <a:pPr marL="0" indent="0">
              <a:buNone/>
            </a:pPr>
            <a:r>
              <a:rPr lang="en-US" dirty="0">
                <a:latin typeface="Abadi" panose="020B0604020104020204" pitchFamily="34" charset="0"/>
              </a:rPr>
              <a:t>def </a:t>
            </a:r>
            <a:r>
              <a:rPr lang="en-US" dirty="0" err="1">
                <a:latin typeface="Abadi" panose="020B0604020104020204" pitchFamily="34" charset="0"/>
              </a:rPr>
              <a:t>set_input_values</a:t>
            </a:r>
            <a:r>
              <a:rPr lang="en-US" dirty="0">
                <a:latin typeface="Abadi" panose="020B0604020104020204" pitchFamily="34" charset="0"/>
              </a:rPr>
              <a:t>(self, </a:t>
            </a:r>
            <a:r>
              <a:rPr lang="en-US" dirty="0" err="1">
                <a:latin typeface="Abadi" panose="020B0604020104020204" pitchFamily="34" charset="0"/>
              </a:rPr>
              <a:t>a_val</a:t>
            </a:r>
            <a:r>
              <a:rPr lang="en-US" dirty="0">
                <a:latin typeface="Abadi" panose="020B0604020104020204" pitchFamily="34" charset="0"/>
              </a:rPr>
              <a:t>, </a:t>
            </a:r>
            <a:r>
              <a:rPr lang="en-US" dirty="0" err="1">
                <a:latin typeface="Abadi" panose="020B0604020104020204" pitchFamily="34" charset="0"/>
              </a:rPr>
              <a:t>b_val</a:t>
            </a:r>
            <a:r>
              <a:rPr lang="en-US" dirty="0">
                <a:latin typeface="Abadi" panose="020B0604020104020204" pitchFamily="34" charset="0"/>
              </a:rPr>
              <a:t>, </a:t>
            </a:r>
            <a:r>
              <a:rPr lang="en-US" dirty="0" err="1">
                <a:latin typeface="Abadi" panose="020B0604020104020204" pitchFamily="34" charset="0"/>
              </a:rPr>
              <a:t>carry_in</a:t>
            </a:r>
            <a:r>
              <a:rPr lang="en-US" dirty="0">
                <a:latin typeface="Abadi" panose="020B0604020104020204" pitchFamily="34" charset="0"/>
              </a:rPr>
              <a:t>=0):</a:t>
            </a:r>
          </a:p>
          <a:p>
            <a:pPr marL="0" indent="0">
              <a:buNone/>
            </a:pPr>
            <a:r>
              <a:rPr lang="en-US" dirty="0">
                <a:latin typeface="Abadi" panose="020B0604020104020204" pitchFamily="34" charset="0"/>
              </a:rPr>
              <a:t>        # Reset circuit to clean state</a:t>
            </a:r>
          </a:p>
          <a:p>
            <a:pPr marL="0" indent="0">
              <a:buNone/>
            </a:pPr>
            <a:r>
              <a:rPr lang="en-US" dirty="0">
                <a:latin typeface="Abadi" panose="020B0604020104020204" pitchFamily="34" charset="0"/>
              </a:rPr>
              <a:t>        </a:t>
            </a:r>
            <a:r>
              <a:rPr lang="en-US" dirty="0" err="1">
                <a:latin typeface="Abadi" panose="020B0604020104020204" pitchFamily="34" charset="0"/>
              </a:rPr>
              <a:t>self.create_adder_circuit</a:t>
            </a:r>
            <a:r>
              <a:rPr lang="en-US" dirty="0">
                <a:latin typeface="Abadi" panose="020B0604020104020204" pitchFamily="34" charset="0"/>
              </a:rPr>
              <a:t>()</a:t>
            </a:r>
          </a:p>
          <a:p>
            <a:pPr marL="0" indent="0">
              <a:buNone/>
            </a:pPr>
            <a:r>
              <a:rPr lang="en-US" dirty="0">
                <a:latin typeface="Abadi" panose="020B0604020104020204" pitchFamily="34" charset="0"/>
              </a:rPr>
              <a:t>        # Convert to binary and set input qubits</a:t>
            </a:r>
          </a:p>
          <a:p>
            <a:pPr marL="0" indent="0">
              <a:buNone/>
            </a:pPr>
            <a:r>
              <a:rPr lang="en-US" dirty="0">
                <a:latin typeface="Abadi" panose="020B0604020104020204" pitchFamily="34" charset="0"/>
              </a:rPr>
              <a:t>        </a:t>
            </a:r>
            <a:r>
              <a:rPr lang="en-US" dirty="0" err="1">
                <a:latin typeface="Abadi" panose="020B0604020104020204" pitchFamily="34" charset="0"/>
              </a:rPr>
              <a:t>a_binary</a:t>
            </a:r>
            <a:r>
              <a:rPr lang="en-US" dirty="0">
                <a:latin typeface="Abadi" panose="020B0604020104020204" pitchFamily="34" charset="0"/>
              </a:rPr>
              <a:t> = format(</a:t>
            </a:r>
            <a:r>
              <a:rPr lang="en-US" dirty="0" err="1">
                <a:latin typeface="Abadi" panose="020B0604020104020204" pitchFamily="34" charset="0"/>
              </a:rPr>
              <a:t>a_val</a:t>
            </a:r>
            <a:r>
              <a:rPr lang="en-US" dirty="0">
                <a:latin typeface="Abadi" panose="020B0604020104020204" pitchFamily="34" charset="0"/>
              </a:rPr>
              <a:t>, f'0{</a:t>
            </a:r>
            <a:r>
              <a:rPr lang="en-US" dirty="0" err="1">
                <a:latin typeface="Abadi" panose="020B0604020104020204" pitchFamily="34" charset="0"/>
              </a:rPr>
              <a:t>self.n_bits</a:t>
            </a:r>
            <a:r>
              <a:rPr lang="en-US" dirty="0">
                <a:latin typeface="Abadi" panose="020B0604020104020204" pitchFamily="34" charset="0"/>
              </a:rPr>
              <a:t>}b')[::-1]  # Reverse for LSB first</a:t>
            </a:r>
          </a:p>
          <a:p>
            <a:pPr marL="0" indent="0">
              <a:buNone/>
            </a:pPr>
            <a:r>
              <a:rPr lang="en-US" dirty="0">
                <a:latin typeface="Abadi" panose="020B0604020104020204" pitchFamily="34" charset="0"/>
              </a:rPr>
              <a:t>        </a:t>
            </a:r>
            <a:r>
              <a:rPr lang="en-US" dirty="0" err="1">
                <a:latin typeface="Abadi" panose="020B0604020104020204" pitchFamily="34" charset="0"/>
              </a:rPr>
              <a:t>b_binary</a:t>
            </a:r>
            <a:r>
              <a:rPr lang="en-US" dirty="0">
                <a:latin typeface="Abadi" panose="020B0604020104020204" pitchFamily="34" charset="0"/>
              </a:rPr>
              <a:t> = format(</a:t>
            </a:r>
            <a:r>
              <a:rPr lang="en-US" dirty="0" err="1">
                <a:latin typeface="Abadi" panose="020B0604020104020204" pitchFamily="34" charset="0"/>
              </a:rPr>
              <a:t>b_val</a:t>
            </a:r>
            <a:r>
              <a:rPr lang="en-US" dirty="0">
                <a:latin typeface="Abadi" panose="020B0604020104020204" pitchFamily="34" charset="0"/>
              </a:rPr>
              <a:t>, f'0{</a:t>
            </a:r>
            <a:r>
              <a:rPr lang="en-US" dirty="0" err="1">
                <a:latin typeface="Abadi" panose="020B0604020104020204" pitchFamily="34" charset="0"/>
              </a:rPr>
              <a:t>self.n_bits</a:t>
            </a:r>
            <a:r>
              <a:rPr lang="en-US" dirty="0">
                <a:latin typeface="Abadi" panose="020B0604020104020204" pitchFamily="34" charset="0"/>
              </a:rPr>
              <a:t>}b')[::-1]</a:t>
            </a:r>
          </a:p>
          <a:p>
            <a:pPr marL="0" indent="0">
              <a:buNone/>
            </a:pPr>
            <a:r>
              <a:rPr lang="en-US" dirty="0">
                <a:latin typeface="Abadi" panose="020B0604020104020204" pitchFamily="34" charset="0"/>
              </a:rPr>
              <a:t>        # Create a new circuit with input preparation</a:t>
            </a:r>
          </a:p>
          <a:p>
            <a:pPr marL="0" indent="0">
              <a:buNone/>
            </a:pPr>
            <a:r>
              <a:rPr lang="en-US" dirty="0">
                <a:latin typeface="Abadi" panose="020B0604020104020204" pitchFamily="34" charset="0"/>
              </a:rPr>
              <a:t>        </a:t>
            </a:r>
            <a:r>
              <a:rPr lang="en-US" dirty="0" err="1">
                <a:latin typeface="Abadi" panose="020B0604020104020204" pitchFamily="34" charset="0"/>
              </a:rPr>
              <a:t>input_prep</a:t>
            </a:r>
            <a:r>
              <a:rPr lang="en-US" dirty="0">
                <a:latin typeface="Abadi" panose="020B0604020104020204" pitchFamily="34" charset="0"/>
              </a:rPr>
              <a:t> = </a:t>
            </a:r>
            <a:r>
              <a:rPr lang="en-US" dirty="0" err="1">
                <a:latin typeface="Abadi" panose="020B0604020104020204" pitchFamily="34" charset="0"/>
              </a:rPr>
              <a:t>QuantumCircuit</a:t>
            </a:r>
            <a:r>
              <a:rPr lang="en-US" dirty="0">
                <a:latin typeface="Abadi" panose="020B0604020104020204" pitchFamily="34" charset="0"/>
              </a:rPr>
              <a:t>(</a:t>
            </a:r>
            <a:r>
              <a:rPr lang="en-US" dirty="0" err="1">
                <a:latin typeface="Abadi" panose="020B0604020104020204" pitchFamily="34" charset="0"/>
              </a:rPr>
              <a:t>self.circuit.qregs</a:t>
            </a:r>
            <a:r>
              <a:rPr lang="en-US" dirty="0">
                <a:latin typeface="Abadi" panose="020B0604020104020204" pitchFamily="34" charset="0"/>
              </a:rPr>
              <a:t>[0], </a:t>
            </a:r>
            <a:r>
              <a:rPr lang="en-US" dirty="0" err="1">
                <a:latin typeface="Abadi" panose="020B0604020104020204" pitchFamily="34" charset="0"/>
              </a:rPr>
              <a:t>self.circuit.qregs</a:t>
            </a:r>
            <a:r>
              <a:rPr lang="en-US" dirty="0">
                <a:latin typeface="Abadi" panose="020B0604020104020204" pitchFamily="34" charset="0"/>
              </a:rPr>
              <a:t>[1],  </a:t>
            </a:r>
          </a:p>
          <a:p>
            <a:pPr marL="0" indent="0">
              <a:buNone/>
            </a:pPr>
            <a:r>
              <a:rPr lang="en-US" dirty="0">
                <a:latin typeface="Abadi" panose="020B0604020104020204" pitchFamily="34" charset="0"/>
              </a:rPr>
              <a:t>                                                                  </a:t>
            </a:r>
            <a:r>
              <a:rPr lang="en-US" dirty="0" err="1">
                <a:latin typeface="Abadi" panose="020B0604020104020204" pitchFamily="34" charset="0"/>
              </a:rPr>
              <a:t>self.circuit.qregs</a:t>
            </a:r>
            <a:r>
              <a:rPr lang="en-US" dirty="0">
                <a:latin typeface="Abadi" panose="020B0604020104020204" pitchFamily="34" charset="0"/>
              </a:rPr>
              <a:t>[2], </a:t>
            </a:r>
            <a:r>
              <a:rPr lang="en-US" dirty="0" err="1">
                <a:latin typeface="Abadi" panose="020B0604020104020204" pitchFamily="34" charset="0"/>
              </a:rPr>
              <a:t>self.circuit.qregs</a:t>
            </a:r>
            <a:r>
              <a:rPr lang="en-US" dirty="0">
                <a:latin typeface="Abadi" panose="020B0604020104020204" pitchFamily="34" charset="0"/>
              </a:rPr>
              <a:t>[3])</a:t>
            </a:r>
          </a:p>
          <a:p>
            <a:pPr marL="0" indent="0">
              <a:buNone/>
            </a:pPr>
            <a:r>
              <a:rPr lang="en-US" dirty="0">
                <a:latin typeface="Abadi" panose="020B0604020104020204" pitchFamily="34" charset="0"/>
              </a:rPr>
              <a:t>       </a:t>
            </a:r>
          </a:p>
        </p:txBody>
      </p:sp>
      <p:sp>
        <p:nvSpPr>
          <p:cNvPr id="4" name="Slide Number Placeholder 3">
            <a:extLst>
              <a:ext uri="{FF2B5EF4-FFF2-40B4-BE49-F238E27FC236}">
                <a16:creationId xmlns:a16="http://schemas.microsoft.com/office/drawing/2014/main" id="{04FD8DD2-9B4E-F027-3F45-CE2938B84906}"/>
              </a:ext>
            </a:extLst>
          </p:cNvPr>
          <p:cNvSpPr>
            <a:spLocks noGrp="1"/>
          </p:cNvSpPr>
          <p:nvPr>
            <p:ph type="sldNum" sz="quarter" idx="4"/>
          </p:nvPr>
        </p:nvSpPr>
        <p:spPr/>
        <p:txBody>
          <a:bodyPr/>
          <a:lstStyle/>
          <a:p>
            <a:fld id="{58FB4751-880F-D840-AAA9-3A15815CC996}" type="slidenum">
              <a:rPr lang="en-US" smtClean="0"/>
              <a:pPr/>
              <a:t>14</a:t>
            </a:fld>
            <a:endParaRPr lang="en-US" dirty="0"/>
          </a:p>
        </p:txBody>
      </p:sp>
    </p:spTree>
    <p:extLst>
      <p:ext uri="{BB962C8B-B14F-4D97-AF65-F5344CB8AC3E}">
        <p14:creationId xmlns:p14="http://schemas.microsoft.com/office/powerpoint/2010/main" val="2183068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36CC3-53B0-34A8-C759-D406D2D3ACF0}"/>
              </a:ext>
            </a:extLst>
          </p:cNvPr>
          <p:cNvSpPr>
            <a:spLocks noGrp="1"/>
          </p:cNvSpPr>
          <p:nvPr>
            <p:ph type="title"/>
          </p:nvPr>
        </p:nvSpPr>
        <p:spPr>
          <a:xfrm>
            <a:off x="722376" y="171450"/>
            <a:ext cx="7534656" cy="638175"/>
          </a:xfrm>
        </p:spPr>
        <p:txBody>
          <a:bodyPr/>
          <a:lstStyle/>
          <a:p>
            <a:r>
              <a:rPr lang="en-US" dirty="0"/>
              <a:t>Define Inputs ….</a:t>
            </a:r>
          </a:p>
        </p:txBody>
      </p:sp>
      <p:sp>
        <p:nvSpPr>
          <p:cNvPr id="3" name="Content Placeholder 2">
            <a:extLst>
              <a:ext uri="{FF2B5EF4-FFF2-40B4-BE49-F238E27FC236}">
                <a16:creationId xmlns:a16="http://schemas.microsoft.com/office/drawing/2014/main" id="{1AD643BA-4B48-9E70-E664-6D63DF7F7E05}"/>
              </a:ext>
            </a:extLst>
          </p:cNvPr>
          <p:cNvSpPr>
            <a:spLocks noGrp="1"/>
          </p:cNvSpPr>
          <p:nvPr>
            <p:ph sz="quarter" idx="10"/>
          </p:nvPr>
        </p:nvSpPr>
        <p:spPr>
          <a:xfrm>
            <a:off x="176785" y="962026"/>
            <a:ext cx="11510390" cy="5724524"/>
          </a:xfrm>
        </p:spPr>
        <p:txBody>
          <a:bodyPr>
            <a:normAutofit fontScale="92500" lnSpcReduction="20000"/>
          </a:bodyPr>
          <a:lstStyle/>
          <a:p>
            <a:pPr marL="0" indent="0">
              <a:buNone/>
            </a:pPr>
            <a:r>
              <a:rPr lang="en-US" dirty="0">
                <a:latin typeface="Abadi" panose="020B0604020104020204" pitchFamily="34" charset="0"/>
              </a:rPr>
              <a:t> # Set input a</a:t>
            </a:r>
          </a:p>
          <a:p>
            <a:pPr marL="0" indent="0">
              <a:buNone/>
            </a:pPr>
            <a:r>
              <a:rPr lang="en-US" dirty="0">
                <a:latin typeface="Abadi" panose="020B0604020104020204" pitchFamily="34" charset="0"/>
              </a:rPr>
              <a:t>        for i, bit in enumerate(</a:t>
            </a:r>
            <a:r>
              <a:rPr lang="en-US" dirty="0" err="1">
                <a:latin typeface="Abadi" panose="020B0604020104020204" pitchFamily="34" charset="0"/>
              </a:rPr>
              <a:t>a_binary</a:t>
            </a:r>
            <a:r>
              <a:rPr lang="en-US" dirty="0">
                <a:latin typeface="Abadi" panose="020B0604020104020204" pitchFamily="34" charset="0"/>
              </a:rPr>
              <a:t>):</a:t>
            </a:r>
          </a:p>
          <a:p>
            <a:pPr marL="0" indent="0">
              <a:buNone/>
            </a:pPr>
            <a:r>
              <a:rPr lang="en-US" dirty="0">
                <a:latin typeface="Abadi" panose="020B0604020104020204" pitchFamily="34" charset="0"/>
              </a:rPr>
              <a:t>            if bit == '1':</a:t>
            </a:r>
          </a:p>
          <a:p>
            <a:pPr marL="0" indent="0">
              <a:buNone/>
            </a:pPr>
            <a:r>
              <a:rPr lang="en-US" dirty="0">
                <a:latin typeface="Abadi" panose="020B0604020104020204" pitchFamily="34" charset="0"/>
              </a:rPr>
              <a:t>                </a:t>
            </a:r>
            <a:r>
              <a:rPr lang="en-US" dirty="0" err="1">
                <a:latin typeface="Abadi" panose="020B0604020104020204" pitchFamily="34" charset="0"/>
              </a:rPr>
              <a:t>input_prep.x</a:t>
            </a:r>
            <a:r>
              <a:rPr lang="en-US" dirty="0">
                <a:latin typeface="Abadi" panose="020B0604020104020204" pitchFamily="34" charset="0"/>
              </a:rPr>
              <a:t>(</a:t>
            </a:r>
            <a:r>
              <a:rPr lang="en-US" dirty="0" err="1">
                <a:latin typeface="Abadi" panose="020B0604020104020204" pitchFamily="34" charset="0"/>
              </a:rPr>
              <a:t>self.circuit.qregs</a:t>
            </a:r>
            <a:r>
              <a:rPr lang="en-US" dirty="0">
                <a:latin typeface="Abadi" panose="020B0604020104020204" pitchFamily="34" charset="0"/>
              </a:rPr>
              <a:t>[0][i])  # a register</a:t>
            </a:r>
          </a:p>
          <a:p>
            <a:pPr marL="0" indent="0">
              <a:buNone/>
            </a:pPr>
            <a:r>
              <a:rPr lang="en-US" dirty="0">
                <a:latin typeface="Abadi" panose="020B0604020104020204" pitchFamily="34" charset="0"/>
              </a:rPr>
              <a:t>        # Set input b</a:t>
            </a:r>
          </a:p>
          <a:p>
            <a:pPr marL="0" indent="0">
              <a:buNone/>
            </a:pPr>
            <a:r>
              <a:rPr lang="en-US" dirty="0">
                <a:latin typeface="Abadi" panose="020B0604020104020204" pitchFamily="34" charset="0"/>
              </a:rPr>
              <a:t>        for i, bit in enumerate(</a:t>
            </a:r>
            <a:r>
              <a:rPr lang="en-US" dirty="0" err="1">
                <a:latin typeface="Abadi" panose="020B0604020104020204" pitchFamily="34" charset="0"/>
              </a:rPr>
              <a:t>b_binary</a:t>
            </a:r>
            <a:r>
              <a:rPr lang="en-US" dirty="0">
                <a:latin typeface="Abadi" panose="020B0604020104020204" pitchFamily="34" charset="0"/>
              </a:rPr>
              <a:t>):</a:t>
            </a:r>
          </a:p>
          <a:p>
            <a:pPr marL="0" indent="0">
              <a:buNone/>
            </a:pPr>
            <a:r>
              <a:rPr lang="en-US" dirty="0">
                <a:latin typeface="Abadi" panose="020B0604020104020204" pitchFamily="34" charset="0"/>
              </a:rPr>
              <a:t>            if bit == '1':</a:t>
            </a:r>
          </a:p>
          <a:p>
            <a:pPr marL="0" indent="0">
              <a:buNone/>
            </a:pPr>
            <a:r>
              <a:rPr lang="en-US" dirty="0">
                <a:latin typeface="Abadi" panose="020B0604020104020204" pitchFamily="34" charset="0"/>
              </a:rPr>
              <a:t>                </a:t>
            </a:r>
            <a:r>
              <a:rPr lang="en-US" dirty="0" err="1">
                <a:latin typeface="Abadi" panose="020B0604020104020204" pitchFamily="34" charset="0"/>
              </a:rPr>
              <a:t>input_prep.x</a:t>
            </a:r>
            <a:r>
              <a:rPr lang="en-US" dirty="0">
                <a:latin typeface="Abadi" panose="020B0604020104020204" pitchFamily="34" charset="0"/>
              </a:rPr>
              <a:t>(</a:t>
            </a:r>
            <a:r>
              <a:rPr lang="en-US" dirty="0" err="1">
                <a:latin typeface="Abadi" panose="020B0604020104020204" pitchFamily="34" charset="0"/>
              </a:rPr>
              <a:t>self.circuit.qregs</a:t>
            </a:r>
            <a:r>
              <a:rPr lang="en-US" dirty="0">
                <a:latin typeface="Abadi" panose="020B0604020104020204" pitchFamily="34" charset="0"/>
              </a:rPr>
              <a:t>[1][i])  # b register</a:t>
            </a:r>
          </a:p>
          <a:p>
            <a:pPr marL="0" indent="0">
              <a:buNone/>
            </a:pPr>
            <a:r>
              <a:rPr lang="en-US" dirty="0">
                <a:latin typeface="Abadi" panose="020B0604020104020204" pitchFamily="34" charset="0"/>
              </a:rPr>
              <a:t>        # Set carry-in</a:t>
            </a:r>
          </a:p>
          <a:p>
            <a:pPr marL="0" indent="0">
              <a:buNone/>
            </a:pPr>
            <a:r>
              <a:rPr lang="en-US" dirty="0">
                <a:latin typeface="Abadi" panose="020B0604020104020204" pitchFamily="34" charset="0"/>
              </a:rPr>
              <a:t>        if </a:t>
            </a:r>
            <a:r>
              <a:rPr lang="en-US" dirty="0" err="1">
                <a:latin typeface="Abadi" panose="020B0604020104020204" pitchFamily="34" charset="0"/>
              </a:rPr>
              <a:t>carry_in</a:t>
            </a:r>
            <a:r>
              <a:rPr lang="en-US" dirty="0">
                <a:latin typeface="Abadi" panose="020B0604020104020204" pitchFamily="34" charset="0"/>
              </a:rPr>
              <a:t> == 1:</a:t>
            </a:r>
          </a:p>
          <a:p>
            <a:pPr marL="0" indent="0">
              <a:buNone/>
            </a:pPr>
            <a:r>
              <a:rPr lang="en-US" dirty="0">
                <a:latin typeface="Abadi" panose="020B0604020104020204" pitchFamily="34" charset="0"/>
              </a:rPr>
              <a:t>            </a:t>
            </a:r>
            <a:r>
              <a:rPr lang="en-US" dirty="0" err="1">
                <a:latin typeface="Abadi" panose="020B0604020104020204" pitchFamily="34" charset="0"/>
              </a:rPr>
              <a:t>input_prep.x</a:t>
            </a:r>
            <a:r>
              <a:rPr lang="en-US" dirty="0">
                <a:latin typeface="Abadi" panose="020B0604020104020204" pitchFamily="34" charset="0"/>
              </a:rPr>
              <a:t>(</a:t>
            </a:r>
            <a:r>
              <a:rPr lang="en-US" dirty="0" err="1">
                <a:latin typeface="Abadi" panose="020B0604020104020204" pitchFamily="34" charset="0"/>
              </a:rPr>
              <a:t>self.circuit.qregs</a:t>
            </a:r>
            <a:r>
              <a:rPr lang="en-US" dirty="0">
                <a:latin typeface="Abadi" panose="020B0604020104020204" pitchFamily="34" charset="0"/>
              </a:rPr>
              <a:t>[2][0])  # c register, first qubit</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        # Combine input preparation with main circuit</a:t>
            </a:r>
          </a:p>
          <a:p>
            <a:pPr marL="0" indent="0">
              <a:buNone/>
            </a:pPr>
            <a:r>
              <a:rPr lang="en-US" dirty="0">
                <a:latin typeface="Abadi" panose="020B0604020104020204" pitchFamily="34" charset="0"/>
              </a:rPr>
              <a:t>        </a:t>
            </a:r>
            <a:r>
              <a:rPr lang="en-US" dirty="0" err="1">
                <a:latin typeface="Abadi" panose="020B0604020104020204" pitchFamily="34" charset="0"/>
              </a:rPr>
              <a:t>full_circuit</a:t>
            </a:r>
            <a:r>
              <a:rPr lang="en-US" dirty="0">
                <a:latin typeface="Abadi" panose="020B0604020104020204" pitchFamily="34" charset="0"/>
              </a:rPr>
              <a:t> = </a:t>
            </a:r>
            <a:r>
              <a:rPr lang="en-US" dirty="0" err="1">
                <a:latin typeface="Abadi" panose="020B0604020104020204" pitchFamily="34" charset="0"/>
              </a:rPr>
              <a:t>input_prep.compose</a:t>
            </a:r>
            <a:r>
              <a:rPr lang="en-US" dirty="0">
                <a:latin typeface="Abadi" panose="020B0604020104020204" pitchFamily="34" charset="0"/>
              </a:rPr>
              <a:t>(</a:t>
            </a:r>
            <a:r>
              <a:rPr lang="en-US" dirty="0" err="1">
                <a:latin typeface="Abadi" panose="020B0604020104020204" pitchFamily="34" charset="0"/>
              </a:rPr>
              <a:t>self.circuit</a:t>
            </a:r>
            <a:r>
              <a:rPr lang="en-US" dirty="0">
                <a:latin typeface="Abadi" panose="020B0604020104020204" pitchFamily="34" charset="0"/>
              </a:rPr>
              <a:t>)</a:t>
            </a:r>
          </a:p>
          <a:p>
            <a:pPr marL="0" indent="0">
              <a:buNone/>
            </a:pPr>
            <a:r>
              <a:rPr lang="en-US" dirty="0">
                <a:latin typeface="Abadi" panose="020B0604020104020204" pitchFamily="34" charset="0"/>
              </a:rPr>
              <a:t>        </a:t>
            </a:r>
            <a:r>
              <a:rPr lang="en-US" dirty="0" err="1">
                <a:latin typeface="Abadi" panose="020B0604020104020204" pitchFamily="34" charset="0"/>
              </a:rPr>
              <a:t>self.circuit</a:t>
            </a:r>
            <a:r>
              <a:rPr lang="en-US" dirty="0">
                <a:latin typeface="Abadi" panose="020B0604020104020204" pitchFamily="34" charset="0"/>
              </a:rPr>
              <a:t> = </a:t>
            </a:r>
            <a:r>
              <a:rPr lang="en-US" dirty="0" err="1">
                <a:latin typeface="Abadi" panose="020B0604020104020204" pitchFamily="34" charset="0"/>
              </a:rPr>
              <a:t>full_circuit</a:t>
            </a:r>
            <a:endParaRPr lang="en-US" dirty="0">
              <a:latin typeface="Abadi" panose="020B0604020104020204" pitchFamily="34" charset="0"/>
            </a:endParaRP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        return </a:t>
            </a:r>
            <a:r>
              <a:rPr lang="en-US" dirty="0" err="1">
                <a:latin typeface="Abadi" panose="020B0604020104020204" pitchFamily="34" charset="0"/>
              </a:rPr>
              <a:t>self.circuit</a:t>
            </a:r>
            <a:endParaRPr lang="en-US" dirty="0">
              <a:latin typeface="Abadi" panose="020B0604020104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1BC1CB3F-EC38-34B9-2B4D-B8E4B8F0B052}"/>
              </a:ext>
            </a:extLst>
          </p:cNvPr>
          <p:cNvSpPr>
            <a:spLocks noGrp="1"/>
          </p:cNvSpPr>
          <p:nvPr>
            <p:ph type="sldNum" sz="quarter" idx="4"/>
          </p:nvPr>
        </p:nvSpPr>
        <p:spPr/>
        <p:txBody>
          <a:bodyPr/>
          <a:lstStyle/>
          <a:p>
            <a:fld id="{58FB4751-880F-D840-AAA9-3A15815CC996}" type="slidenum">
              <a:rPr lang="en-US" smtClean="0"/>
              <a:pPr/>
              <a:t>15</a:t>
            </a:fld>
            <a:endParaRPr lang="en-US" dirty="0"/>
          </a:p>
        </p:txBody>
      </p:sp>
    </p:spTree>
    <p:extLst>
      <p:ext uri="{BB962C8B-B14F-4D97-AF65-F5344CB8AC3E}">
        <p14:creationId xmlns:p14="http://schemas.microsoft.com/office/powerpoint/2010/main" val="206831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CD932-171E-39B6-AD79-49045A4BC77A}"/>
              </a:ext>
            </a:extLst>
          </p:cNvPr>
          <p:cNvSpPr>
            <a:spLocks noGrp="1"/>
          </p:cNvSpPr>
          <p:nvPr>
            <p:ph type="title"/>
          </p:nvPr>
        </p:nvSpPr>
        <p:spPr>
          <a:xfrm>
            <a:off x="828675" y="133350"/>
            <a:ext cx="7534656" cy="419101"/>
          </a:xfrm>
        </p:spPr>
        <p:txBody>
          <a:bodyPr/>
          <a:lstStyle/>
          <a:p>
            <a:r>
              <a:rPr lang="en-US" dirty="0"/>
              <a:t>Simulate</a:t>
            </a:r>
          </a:p>
        </p:txBody>
      </p:sp>
      <p:sp>
        <p:nvSpPr>
          <p:cNvPr id="3" name="Content Placeholder 2">
            <a:extLst>
              <a:ext uri="{FF2B5EF4-FFF2-40B4-BE49-F238E27FC236}">
                <a16:creationId xmlns:a16="http://schemas.microsoft.com/office/drawing/2014/main" id="{81DA1079-DD28-C05D-3A6B-D6FA265D17E3}"/>
              </a:ext>
            </a:extLst>
          </p:cNvPr>
          <p:cNvSpPr>
            <a:spLocks noGrp="1"/>
          </p:cNvSpPr>
          <p:nvPr>
            <p:ph sz="quarter" idx="10"/>
          </p:nvPr>
        </p:nvSpPr>
        <p:spPr>
          <a:xfrm>
            <a:off x="266700" y="666750"/>
            <a:ext cx="11277599" cy="5638799"/>
          </a:xfrm>
        </p:spPr>
        <p:txBody>
          <a:bodyPr>
            <a:noAutofit/>
          </a:bodyPr>
          <a:lstStyle/>
          <a:p>
            <a:pPr marL="0" indent="0">
              <a:buNone/>
            </a:pPr>
            <a:r>
              <a:rPr lang="en-US" dirty="0">
                <a:latin typeface="Abadi" panose="020B0604020104020204" pitchFamily="34" charset="0"/>
              </a:rPr>
              <a:t>def simulate(self, shots=1024):</a:t>
            </a:r>
          </a:p>
          <a:p>
            <a:pPr marL="0" indent="0">
              <a:buNone/>
            </a:pPr>
            <a:r>
              <a:rPr lang="en-US" dirty="0">
                <a:latin typeface="Abadi" panose="020B0604020104020204" pitchFamily="34" charset="0"/>
              </a:rPr>
              <a:t>        simulator = </a:t>
            </a:r>
            <a:r>
              <a:rPr lang="en-US" dirty="0" err="1">
                <a:latin typeface="Abadi" panose="020B0604020104020204" pitchFamily="34" charset="0"/>
              </a:rPr>
              <a:t>AerSimulator</a:t>
            </a:r>
            <a:r>
              <a:rPr lang="en-US" dirty="0">
                <a:latin typeface="Abadi" panose="020B0604020104020204" pitchFamily="34" charset="0"/>
              </a:rPr>
              <a:t>()</a:t>
            </a:r>
          </a:p>
          <a:p>
            <a:pPr marL="0" indent="0">
              <a:buNone/>
            </a:pPr>
            <a:r>
              <a:rPr lang="en-US" dirty="0">
                <a:latin typeface="Abadi" panose="020B0604020104020204" pitchFamily="34" charset="0"/>
              </a:rPr>
              <a:t>        # Use the preset pass manager for optimization</a:t>
            </a:r>
          </a:p>
          <a:p>
            <a:pPr marL="0" indent="0">
              <a:buNone/>
            </a:pPr>
            <a:r>
              <a:rPr lang="en-US" dirty="0">
                <a:latin typeface="Abadi" panose="020B0604020104020204" pitchFamily="34" charset="0"/>
              </a:rPr>
              <a:t>        pm = </a:t>
            </a:r>
            <a:r>
              <a:rPr lang="en-US" dirty="0" err="1">
                <a:latin typeface="Abadi" panose="020B0604020104020204" pitchFamily="34" charset="0"/>
              </a:rPr>
              <a:t>generate_preset_pass_manager</a:t>
            </a:r>
            <a:r>
              <a:rPr lang="en-US" dirty="0">
                <a:latin typeface="Abadi" panose="020B0604020104020204" pitchFamily="34" charset="0"/>
              </a:rPr>
              <a:t>(backend=simulator, </a:t>
            </a:r>
            <a:r>
              <a:rPr lang="en-US" dirty="0" err="1">
                <a:latin typeface="Abadi" panose="020B0604020104020204" pitchFamily="34" charset="0"/>
              </a:rPr>
              <a:t>optimization_level</a:t>
            </a:r>
            <a:r>
              <a:rPr lang="en-US" dirty="0">
                <a:latin typeface="Abadi" panose="020B0604020104020204" pitchFamily="34" charset="0"/>
              </a:rPr>
              <a:t>=1)</a:t>
            </a:r>
          </a:p>
          <a:p>
            <a:pPr marL="0" indent="0">
              <a:buNone/>
            </a:pPr>
            <a:r>
              <a:rPr lang="en-US" dirty="0">
                <a:latin typeface="Abadi" panose="020B0604020104020204" pitchFamily="34" charset="0"/>
              </a:rPr>
              <a:t>        </a:t>
            </a:r>
            <a:r>
              <a:rPr lang="en-US" dirty="0" err="1">
                <a:latin typeface="Abadi" panose="020B0604020104020204" pitchFamily="34" charset="0"/>
              </a:rPr>
              <a:t>transpiled_circuit</a:t>
            </a:r>
            <a:r>
              <a:rPr lang="en-US" dirty="0">
                <a:latin typeface="Abadi" panose="020B0604020104020204" pitchFamily="34" charset="0"/>
              </a:rPr>
              <a:t> = </a:t>
            </a:r>
            <a:r>
              <a:rPr lang="en-US" dirty="0" err="1">
                <a:latin typeface="Abadi" panose="020B0604020104020204" pitchFamily="34" charset="0"/>
              </a:rPr>
              <a:t>pm.run</a:t>
            </a:r>
            <a:r>
              <a:rPr lang="en-US" dirty="0">
                <a:latin typeface="Abadi" panose="020B0604020104020204" pitchFamily="34" charset="0"/>
              </a:rPr>
              <a:t>(</a:t>
            </a:r>
            <a:r>
              <a:rPr lang="en-US" dirty="0" err="1">
                <a:latin typeface="Abadi" panose="020B0604020104020204" pitchFamily="34" charset="0"/>
              </a:rPr>
              <a:t>self.circuit</a:t>
            </a:r>
            <a:r>
              <a:rPr lang="en-US" dirty="0">
                <a:latin typeface="Abadi" panose="020B0604020104020204" pitchFamily="34" charset="0"/>
              </a:rPr>
              <a:t>)</a:t>
            </a:r>
          </a:p>
          <a:p>
            <a:pPr marL="0" indent="0">
              <a:buNone/>
            </a:pPr>
            <a:r>
              <a:rPr lang="en-US" dirty="0">
                <a:latin typeface="Abadi" panose="020B0604020104020204" pitchFamily="34" charset="0"/>
              </a:rPr>
              <a:t>        # Run simulation</a:t>
            </a:r>
          </a:p>
          <a:p>
            <a:pPr marL="0" indent="0">
              <a:buNone/>
            </a:pPr>
            <a:r>
              <a:rPr lang="en-US" dirty="0">
                <a:latin typeface="Abadi" panose="020B0604020104020204" pitchFamily="34" charset="0"/>
              </a:rPr>
              <a:t>        job = </a:t>
            </a:r>
            <a:r>
              <a:rPr lang="en-US" dirty="0" err="1">
                <a:latin typeface="Abadi" panose="020B0604020104020204" pitchFamily="34" charset="0"/>
              </a:rPr>
              <a:t>simulator.run</a:t>
            </a:r>
            <a:r>
              <a:rPr lang="en-US" dirty="0">
                <a:latin typeface="Abadi" panose="020B0604020104020204" pitchFamily="34" charset="0"/>
              </a:rPr>
              <a:t>(</a:t>
            </a:r>
            <a:r>
              <a:rPr lang="en-US" dirty="0" err="1">
                <a:latin typeface="Abadi" panose="020B0604020104020204" pitchFamily="34" charset="0"/>
              </a:rPr>
              <a:t>transpiled_circuit</a:t>
            </a:r>
            <a:r>
              <a:rPr lang="en-US" dirty="0">
                <a:latin typeface="Abadi" panose="020B0604020104020204" pitchFamily="34" charset="0"/>
              </a:rPr>
              <a:t>, shots=shots)</a:t>
            </a:r>
          </a:p>
          <a:p>
            <a:pPr marL="0" indent="0">
              <a:buNone/>
            </a:pPr>
            <a:r>
              <a:rPr lang="en-US" dirty="0">
                <a:latin typeface="Abadi" panose="020B0604020104020204" pitchFamily="34" charset="0"/>
              </a:rPr>
              <a:t>        result = </a:t>
            </a:r>
            <a:r>
              <a:rPr lang="en-US" dirty="0" err="1">
                <a:latin typeface="Abadi" panose="020B0604020104020204" pitchFamily="34" charset="0"/>
              </a:rPr>
              <a:t>job.result</a:t>
            </a:r>
            <a:r>
              <a:rPr lang="en-US" dirty="0">
                <a:latin typeface="Abadi" panose="020B0604020104020204" pitchFamily="34" charset="0"/>
              </a:rPr>
              <a:t>()</a:t>
            </a:r>
          </a:p>
          <a:p>
            <a:pPr marL="0" indent="0">
              <a:buNone/>
            </a:pPr>
            <a:r>
              <a:rPr lang="en-US" dirty="0">
                <a:latin typeface="Abadi" panose="020B0604020104020204" pitchFamily="34" charset="0"/>
              </a:rPr>
              <a:t>        counts = </a:t>
            </a:r>
            <a:r>
              <a:rPr lang="en-US" dirty="0" err="1">
                <a:latin typeface="Abadi" panose="020B0604020104020204" pitchFamily="34" charset="0"/>
              </a:rPr>
              <a:t>result.get_counts</a:t>
            </a:r>
            <a:r>
              <a:rPr lang="en-US" dirty="0">
                <a:latin typeface="Abadi" panose="020B0604020104020204" pitchFamily="34" charset="0"/>
              </a:rPr>
              <a:t>()</a:t>
            </a:r>
          </a:p>
          <a:p>
            <a:pPr marL="0" indent="0">
              <a:buNone/>
            </a:pPr>
            <a:r>
              <a:rPr lang="en-US" dirty="0">
                <a:latin typeface="Abadi" panose="020B0604020104020204" pitchFamily="34" charset="0"/>
              </a:rPr>
              <a:t>        return counts</a:t>
            </a:r>
          </a:p>
          <a:p>
            <a:pPr marL="0" indent="0">
              <a:buNone/>
            </a:pPr>
            <a:r>
              <a:rPr lang="en-US" dirty="0">
                <a:latin typeface="Abadi" panose="020B0604020104020204" pitchFamily="34" charset="0"/>
              </a:rPr>
              <a:t> </a:t>
            </a:r>
          </a:p>
        </p:txBody>
      </p:sp>
      <p:sp>
        <p:nvSpPr>
          <p:cNvPr id="4" name="Slide Number Placeholder 3">
            <a:extLst>
              <a:ext uri="{FF2B5EF4-FFF2-40B4-BE49-F238E27FC236}">
                <a16:creationId xmlns:a16="http://schemas.microsoft.com/office/drawing/2014/main" id="{8E9246AF-DF5D-4BCB-C16E-AF63F1CCE5BA}"/>
              </a:ext>
            </a:extLst>
          </p:cNvPr>
          <p:cNvSpPr>
            <a:spLocks noGrp="1"/>
          </p:cNvSpPr>
          <p:nvPr>
            <p:ph type="sldNum" sz="quarter" idx="4"/>
          </p:nvPr>
        </p:nvSpPr>
        <p:spPr/>
        <p:txBody>
          <a:bodyPr/>
          <a:lstStyle/>
          <a:p>
            <a:fld id="{58FB4751-880F-D840-AAA9-3A15815CC996}" type="slidenum">
              <a:rPr lang="en-US" smtClean="0"/>
              <a:pPr/>
              <a:t>16</a:t>
            </a:fld>
            <a:endParaRPr lang="en-US" dirty="0"/>
          </a:p>
        </p:txBody>
      </p:sp>
    </p:spTree>
    <p:extLst>
      <p:ext uri="{BB962C8B-B14F-4D97-AF65-F5344CB8AC3E}">
        <p14:creationId xmlns:p14="http://schemas.microsoft.com/office/powerpoint/2010/main" val="412556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0E99E-99CA-8F85-5107-34001FCE5549}"/>
              </a:ext>
            </a:extLst>
          </p:cNvPr>
          <p:cNvSpPr>
            <a:spLocks noGrp="1"/>
          </p:cNvSpPr>
          <p:nvPr>
            <p:ph type="title"/>
          </p:nvPr>
        </p:nvSpPr>
        <p:spPr>
          <a:xfrm>
            <a:off x="828675" y="82298"/>
            <a:ext cx="7534656" cy="679702"/>
          </a:xfrm>
        </p:spPr>
        <p:txBody>
          <a:bodyPr/>
          <a:lstStyle/>
          <a:p>
            <a:r>
              <a:rPr lang="en-US" dirty="0"/>
              <a:t>Demonstrate </a:t>
            </a:r>
          </a:p>
        </p:txBody>
      </p:sp>
      <p:sp>
        <p:nvSpPr>
          <p:cNvPr id="3" name="Content Placeholder 2">
            <a:extLst>
              <a:ext uri="{FF2B5EF4-FFF2-40B4-BE49-F238E27FC236}">
                <a16:creationId xmlns:a16="http://schemas.microsoft.com/office/drawing/2014/main" id="{754531E6-B681-CDCB-2BE6-0927349EC451}"/>
              </a:ext>
            </a:extLst>
          </p:cNvPr>
          <p:cNvSpPr>
            <a:spLocks noGrp="1"/>
          </p:cNvSpPr>
          <p:nvPr>
            <p:ph sz="quarter" idx="10"/>
          </p:nvPr>
        </p:nvSpPr>
        <p:spPr>
          <a:xfrm>
            <a:off x="495300" y="762001"/>
            <a:ext cx="8829241" cy="6013702"/>
          </a:xfrm>
        </p:spPr>
        <p:txBody>
          <a:bodyPr>
            <a:noAutofit/>
          </a:bodyPr>
          <a:lstStyle/>
          <a:p>
            <a:pPr marL="0" indent="0">
              <a:buNone/>
            </a:pPr>
            <a:r>
              <a:rPr lang="en-US" dirty="0">
                <a:latin typeface="Abadi" panose="020B0604020104020204" pitchFamily="34" charset="0"/>
              </a:rPr>
              <a:t># Demonstration and testing</a:t>
            </a:r>
          </a:p>
          <a:p>
            <a:pPr marL="0" indent="0">
              <a:buNone/>
            </a:pPr>
            <a:r>
              <a:rPr lang="en-US" dirty="0">
                <a:latin typeface="Abadi" panose="020B0604020104020204" pitchFamily="34" charset="0"/>
              </a:rPr>
              <a:t>Demonstrate the quantum ripple carry adder with different examples</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    print("=" * 60)</a:t>
            </a:r>
          </a:p>
          <a:p>
            <a:pPr marL="0" indent="0">
              <a:buNone/>
            </a:pPr>
            <a:r>
              <a:rPr lang="en-US" dirty="0">
                <a:latin typeface="Abadi" panose="020B0604020104020204" pitchFamily="34" charset="0"/>
              </a:rPr>
              <a:t>    print("QUANTUM RIPPLE CARRY ADDER DEMONSTRATION")</a:t>
            </a:r>
          </a:p>
          <a:p>
            <a:pPr marL="0" indent="0">
              <a:buNone/>
            </a:pPr>
            <a:r>
              <a:rPr lang="en-US" dirty="0">
                <a:latin typeface="Abadi" panose="020B0604020104020204" pitchFamily="34" charset="0"/>
              </a:rPr>
              <a:t>    print("=" * 60)</a:t>
            </a:r>
          </a:p>
          <a:p>
            <a:pPr marL="0" indent="0">
              <a:buNone/>
            </a:pPr>
            <a:r>
              <a:rPr lang="en-US" dirty="0">
                <a:latin typeface="Abadi" panose="020B0604020104020204" pitchFamily="34" charset="0"/>
              </a:rPr>
              <a:t>    # Create a 3-bit adder</a:t>
            </a:r>
          </a:p>
          <a:p>
            <a:pPr marL="0" indent="0">
              <a:buNone/>
            </a:pPr>
            <a:r>
              <a:rPr lang="en-US" dirty="0">
                <a:latin typeface="Abadi" panose="020B0604020104020204" pitchFamily="34" charset="0"/>
              </a:rPr>
              <a:t>    adder = </a:t>
            </a:r>
            <a:r>
              <a:rPr lang="en-US" dirty="0" err="1">
                <a:latin typeface="Abadi" panose="020B0604020104020204" pitchFamily="34" charset="0"/>
              </a:rPr>
              <a:t>QuantumRippleAdder</a:t>
            </a:r>
            <a:r>
              <a:rPr lang="en-US" dirty="0">
                <a:latin typeface="Abadi" panose="020B0604020104020204" pitchFamily="34" charset="0"/>
              </a:rPr>
              <a:t>(</a:t>
            </a:r>
            <a:r>
              <a:rPr lang="en-US" dirty="0" err="1">
                <a:latin typeface="Abadi" panose="020B0604020104020204" pitchFamily="34" charset="0"/>
              </a:rPr>
              <a:t>n_bits</a:t>
            </a:r>
            <a:r>
              <a:rPr lang="en-US" dirty="0">
                <a:latin typeface="Abadi" panose="020B0604020104020204" pitchFamily="34" charset="0"/>
              </a:rPr>
              <a:t>=3)</a:t>
            </a:r>
          </a:p>
          <a:p>
            <a:pPr marL="0" indent="0">
              <a:buNone/>
            </a:pPr>
            <a:r>
              <a:rPr lang="en-US" dirty="0">
                <a:latin typeface="Abadi" panose="020B0604020104020204" pitchFamily="34" charset="0"/>
              </a:rPr>
              <a:t>    # Test different addition operations</a:t>
            </a:r>
          </a:p>
          <a:p>
            <a:pPr marL="0" indent="0">
              <a:buNone/>
            </a:pPr>
            <a:r>
              <a:rPr lang="en-US" dirty="0">
                <a:latin typeface="Abadi" panose="020B0604020104020204" pitchFamily="34" charset="0"/>
              </a:rPr>
              <a:t>    </a:t>
            </a:r>
            <a:r>
              <a:rPr lang="en-US" dirty="0" err="1">
                <a:latin typeface="Abadi" panose="020B0604020104020204" pitchFamily="34" charset="0"/>
              </a:rPr>
              <a:t>test_cases</a:t>
            </a:r>
            <a:r>
              <a:rPr lang="en-US" dirty="0">
                <a:latin typeface="Abadi" panose="020B0604020104020204" pitchFamily="34" charset="0"/>
              </a:rPr>
              <a:t> = [</a:t>
            </a:r>
          </a:p>
          <a:p>
            <a:pPr marL="0" indent="0">
              <a:buNone/>
            </a:pPr>
            <a:r>
              <a:rPr lang="en-US" dirty="0">
                <a:latin typeface="Abadi" panose="020B0604020104020204" pitchFamily="34" charset="0"/>
              </a:rPr>
              <a:t>        (3, 2),  # 011 + 010 = 101 (5)</a:t>
            </a:r>
          </a:p>
          <a:p>
            <a:pPr marL="0" indent="0">
              <a:buNone/>
            </a:pPr>
            <a:r>
              <a:rPr lang="en-US" dirty="0">
                <a:latin typeface="Abadi" panose="020B0604020104020204" pitchFamily="34" charset="0"/>
              </a:rPr>
              <a:t>        (5, 3),  # 101 + 011 = 1000 (8, with carry)</a:t>
            </a:r>
          </a:p>
          <a:p>
            <a:pPr marL="0" indent="0">
              <a:buNone/>
            </a:pPr>
            <a:r>
              <a:rPr lang="en-US" dirty="0">
                <a:latin typeface="Abadi" panose="020B0604020104020204" pitchFamily="34" charset="0"/>
              </a:rPr>
              <a:t>        (7, 1),  # 111 + 001 = 1000 (8, with carry)</a:t>
            </a:r>
          </a:p>
          <a:p>
            <a:pPr marL="0" indent="0">
              <a:buNone/>
            </a:pPr>
            <a:r>
              <a:rPr lang="en-US" dirty="0">
                <a:latin typeface="Abadi" panose="020B0604020104020204" pitchFamily="34" charset="0"/>
              </a:rPr>
              <a:t>        (0, 0),  # 000 + 000 = 000 (0)</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    </a:t>
            </a:r>
          </a:p>
          <a:p>
            <a:pPr marL="0" indent="0">
              <a:buNone/>
            </a:pPr>
            <a:r>
              <a:rPr lang="en-US" sz="1400" dirty="0">
                <a:latin typeface="Abadi" panose="020B0604020104020204" pitchFamily="34" charset="0"/>
              </a:rPr>
              <a:t>    </a:t>
            </a:r>
          </a:p>
        </p:txBody>
      </p:sp>
      <p:sp>
        <p:nvSpPr>
          <p:cNvPr id="4" name="Slide Number Placeholder 3">
            <a:extLst>
              <a:ext uri="{FF2B5EF4-FFF2-40B4-BE49-F238E27FC236}">
                <a16:creationId xmlns:a16="http://schemas.microsoft.com/office/drawing/2014/main" id="{35D22A07-2C19-B453-E385-5380BD407807}"/>
              </a:ext>
            </a:extLst>
          </p:cNvPr>
          <p:cNvSpPr>
            <a:spLocks noGrp="1"/>
          </p:cNvSpPr>
          <p:nvPr>
            <p:ph type="sldNum" sz="quarter" idx="4"/>
          </p:nvPr>
        </p:nvSpPr>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val="4241712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76DE-5E41-58D3-F2C6-848730C2536E}"/>
              </a:ext>
            </a:extLst>
          </p:cNvPr>
          <p:cNvSpPr>
            <a:spLocks noGrp="1"/>
          </p:cNvSpPr>
          <p:nvPr>
            <p:ph type="title"/>
          </p:nvPr>
        </p:nvSpPr>
        <p:spPr>
          <a:xfrm>
            <a:off x="914400" y="104775"/>
            <a:ext cx="7534656" cy="542925"/>
          </a:xfrm>
        </p:spPr>
        <p:txBody>
          <a:bodyPr/>
          <a:lstStyle/>
          <a:p>
            <a:r>
              <a:rPr lang="en-US" dirty="0"/>
              <a:t>Demonstrate …</a:t>
            </a:r>
          </a:p>
        </p:txBody>
      </p:sp>
      <p:sp>
        <p:nvSpPr>
          <p:cNvPr id="3" name="Content Placeholder 2">
            <a:extLst>
              <a:ext uri="{FF2B5EF4-FFF2-40B4-BE49-F238E27FC236}">
                <a16:creationId xmlns:a16="http://schemas.microsoft.com/office/drawing/2014/main" id="{38619D73-20A2-C057-9CF4-4A2EA82FFD87}"/>
              </a:ext>
            </a:extLst>
          </p:cNvPr>
          <p:cNvSpPr>
            <a:spLocks noGrp="1"/>
          </p:cNvSpPr>
          <p:nvPr>
            <p:ph sz="quarter" idx="10"/>
          </p:nvPr>
        </p:nvSpPr>
        <p:spPr>
          <a:xfrm>
            <a:off x="176784" y="876300"/>
            <a:ext cx="9862566" cy="5981700"/>
          </a:xfrm>
        </p:spPr>
        <p:txBody>
          <a:bodyPr>
            <a:noAutofit/>
          </a:bodyPr>
          <a:lstStyle/>
          <a:p>
            <a:pPr marL="0" indent="0">
              <a:buNone/>
            </a:pPr>
            <a:r>
              <a:rPr lang="en-US" dirty="0">
                <a:latin typeface="Abadi" panose="020B0604020104020204" pitchFamily="34" charset="0"/>
              </a:rPr>
              <a:t>for </a:t>
            </a:r>
            <a:r>
              <a:rPr lang="en-US" dirty="0" err="1">
                <a:latin typeface="Abadi" panose="020B0604020104020204" pitchFamily="34" charset="0"/>
              </a:rPr>
              <a:t>a_val</a:t>
            </a:r>
            <a:r>
              <a:rPr lang="en-US" dirty="0">
                <a:latin typeface="Abadi" panose="020B0604020104020204" pitchFamily="34" charset="0"/>
              </a:rPr>
              <a:t>, </a:t>
            </a:r>
            <a:r>
              <a:rPr lang="en-US" dirty="0" err="1">
                <a:latin typeface="Abadi" panose="020B0604020104020204" pitchFamily="34" charset="0"/>
              </a:rPr>
              <a:t>b_val</a:t>
            </a:r>
            <a:r>
              <a:rPr lang="en-US" dirty="0">
                <a:latin typeface="Abadi" panose="020B0604020104020204" pitchFamily="34" charset="0"/>
              </a:rPr>
              <a:t> in </a:t>
            </a:r>
            <a:r>
              <a:rPr lang="en-US" dirty="0" err="1">
                <a:latin typeface="Abadi" panose="020B0604020104020204" pitchFamily="34" charset="0"/>
              </a:rPr>
              <a:t>test_cases</a:t>
            </a:r>
            <a:r>
              <a:rPr lang="en-US" dirty="0">
                <a:latin typeface="Abadi" panose="020B0604020104020204" pitchFamily="34" charset="0"/>
              </a:rPr>
              <a:t>:</a:t>
            </a:r>
          </a:p>
          <a:p>
            <a:pPr marL="0" indent="0">
              <a:buNone/>
            </a:pPr>
            <a:r>
              <a:rPr lang="en-US" dirty="0">
                <a:latin typeface="Abadi" panose="020B0604020104020204" pitchFamily="34" charset="0"/>
              </a:rPr>
              <a:t>        print(f"\</a:t>
            </a:r>
            <a:r>
              <a:rPr lang="en-US" dirty="0" err="1">
                <a:latin typeface="Abadi" panose="020B0604020104020204" pitchFamily="34" charset="0"/>
              </a:rPr>
              <a:t>nTesting</a:t>
            </a:r>
            <a:r>
              <a:rPr lang="en-US" dirty="0">
                <a:latin typeface="Abadi" panose="020B0604020104020204" pitchFamily="34" charset="0"/>
              </a:rPr>
              <a:t>: {</a:t>
            </a:r>
            <a:r>
              <a:rPr lang="en-US" dirty="0" err="1">
                <a:latin typeface="Abadi" panose="020B0604020104020204" pitchFamily="34" charset="0"/>
              </a:rPr>
              <a:t>a_val</a:t>
            </a:r>
            <a:r>
              <a:rPr lang="en-US" dirty="0">
                <a:latin typeface="Abadi" panose="020B0604020104020204" pitchFamily="34" charset="0"/>
              </a:rPr>
              <a:t>} + {</a:t>
            </a:r>
            <a:r>
              <a:rPr lang="en-US" dirty="0" err="1">
                <a:latin typeface="Abadi" panose="020B0604020104020204" pitchFamily="34" charset="0"/>
              </a:rPr>
              <a:t>b_val</a:t>
            </a:r>
            <a:r>
              <a:rPr lang="en-US" dirty="0">
                <a:latin typeface="Abadi" panose="020B0604020104020204" pitchFamily="34" charset="0"/>
              </a:rPr>
              <a:t>}")</a:t>
            </a:r>
          </a:p>
          <a:p>
            <a:pPr marL="0" indent="0">
              <a:buNone/>
            </a:pPr>
            <a:r>
              <a:rPr lang="en-US" dirty="0">
                <a:latin typeface="Abadi" panose="020B0604020104020204" pitchFamily="34" charset="0"/>
              </a:rPr>
              <a:t>        print(</a:t>
            </a:r>
            <a:r>
              <a:rPr lang="en-US" dirty="0" err="1">
                <a:latin typeface="Abadi" panose="020B0604020104020204" pitchFamily="34" charset="0"/>
              </a:rPr>
              <a:t>f"Expected</a:t>
            </a:r>
            <a:r>
              <a:rPr lang="en-US" dirty="0">
                <a:latin typeface="Abadi" panose="020B0604020104020204" pitchFamily="34" charset="0"/>
              </a:rPr>
              <a:t> result: {</a:t>
            </a:r>
            <a:r>
              <a:rPr lang="en-US" dirty="0" err="1">
                <a:latin typeface="Abadi" panose="020B0604020104020204" pitchFamily="34" charset="0"/>
              </a:rPr>
              <a:t>a_val</a:t>
            </a:r>
            <a:r>
              <a:rPr lang="en-US" dirty="0">
                <a:latin typeface="Abadi" panose="020B0604020104020204" pitchFamily="34" charset="0"/>
              </a:rPr>
              <a:t> + </a:t>
            </a:r>
            <a:r>
              <a:rPr lang="en-US" dirty="0" err="1">
                <a:latin typeface="Abadi" panose="020B0604020104020204" pitchFamily="34" charset="0"/>
              </a:rPr>
              <a:t>b_val</a:t>
            </a:r>
            <a:r>
              <a:rPr lang="en-US" dirty="0">
                <a:latin typeface="Abadi" panose="020B0604020104020204" pitchFamily="34" charset="0"/>
              </a:rPr>
              <a:t>}")</a:t>
            </a:r>
          </a:p>
          <a:p>
            <a:pPr marL="0" indent="0">
              <a:buNone/>
            </a:pPr>
            <a:r>
              <a:rPr lang="en-US" dirty="0">
                <a:latin typeface="Abadi" panose="020B0604020104020204" pitchFamily="34" charset="0"/>
              </a:rPr>
              <a:t>        # Set up the circuit with input values</a:t>
            </a:r>
          </a:p>
          <a:p>
            <a:pPr marL="0" indent="0">
              <a:buNone/>
            </a:pPr>
            <a:r>
              <a:rPr lang="en-US" dirty="0">
                <a:latin typeface="Abadi" panose="020B0604020104020204" pitchFamily="34" charset="0"/>
              </a:rPr>
              <a:t>        </a:t>
            </a:r>
            <a:r>
              <a:rPr lang="en-US" dirty="0" err="1">
                <a:latin typeface="Abadi" panose="020B0604020104020204" pitchFamily="34" charset="0"/>
              </a:rPr>
              <a:t>adder.set_input_values</a:t>
            </a:r>
            <a:r>
              <a:rPr lang="en-US" dirty="0">
                <a:latin typeface="Abadi" panose="020B0604020104020204" pitchFamily="34" charset="0"/>
              </a:rPr>
              <a:t>(</a:t>
            </a:r>
            <a:r>
              <a:rPr lang="en-US" dirty="0" err="1">
                <a:latin typeface="Abadi" panose="020B0604020104020204" pitchFamily="34" charset="0"/>
              </a:rPr>
              <a:t>a_val</a:t>
            </a:r>
            <a:r>
              <a:rPr lang="en-US" dirty="0">
                <a:latin typeface="Abadi" panose="020B0604020104020204" pitchFamily="34" charset="0"/>
              </a:rPr>
              <a:t>, </a:t>
            </a:r>
            <a:r>
              <a:rPr lang="en-US" dirty="0" err="1">
                <a:latin typeface="Abadi" panose="020B0604020104020204" pitchFamily="34" charset="0"/>
              </a:rPr>
              <a:t>b_val</a:t>
            </a:r>
            <a:r>
              <a:rPr lang="en-US" dirty="0">
                <a:latin typeface="Abadi" panose="020B0604020104020204" pitchFamily="34" charset="0"/>
              </a:rPr>
              <a:t>)</a:t>
            </a:r>
          </a:p>
          <a:p>
            <a:pPr marL="0" indent="0">
              <a:buNone/>
            </a:pPr>
            <a:r>
              <a:rPr lang="en-US" dirty="0">
                <a:latin typeface="Abadi" panose="020B0604020104020204" pitchFamily="34" charset="0"/>
              </a:rPr>
              <a:t>        # Simulate</a:t>
            </a:r>
          </a:p>
          <a:p>
            <a:pPr marL="0" indent="0">
              <a:buNone/>
            </a:pPr>
            <a:r>
              <a:rPr lang="en-US" dirty="0">
                <a:latin typeface="Abadi" panose="020B0604020104020204" pitchFamily="34" charset="0"/>
              </a:rPr>
              <a:t>        counts = </a:t>
            </a:r>
            <a:r>
              <a:rPr lang="en-US" dirty="0" err="1">
                <a:latin typeface="Abadi" panose="020B0604020104020204" pitchFamily="34" charset="0"/>
              </a:rPr>
              <a:t>adder.simulate</a:t>
            </a:r>
            <a:r>
              <a:rPr lang="en-US" dirty="0">
                <a:latin typeface="Abadi" panose="020B0604020104020204" pitchFamily="34" charset="0"/>
              </a:rPr>
              <a:t>(shots=1024)</a:t>
            </a:r>
          </a:p>
          <a:p>
            <a:pPr marL="0" indent="0">
              <a:buNone/>
            </a:pPr>
            <a:r>
              <a:rPr lang="en-US" dirty="0">
                <a:latin typeface="Abadi" panose="020B0604020104020204" pitchFamily="34" charset="0"/>
              </a:rPr>
              <a:t>        # Analyze results</a:t>
            </a:r>
          </a:p>
          <a:p>
            <a:pPr marL="0" indent="0">
              <a:buNone/>
            </a:pPr>
            <a:r>
              <a:rPr lang="en-US" dirty="0">
                <a:latin typeface="Abadi" panose="020B0604020104020204" pitchFamily="34" charset="0"/>
              </a:rPr>
              <a:t>        </a:t>
            </a:r>
            <a:r>
              <a:rPr lang="en-US" dirty="0" err="1">
                <a:latin typeface="Abadi" panose="020B0604020104020204" pitchFamily="34" charset="0"/>
              </a:rPr>
              <a:t>adder.analyze_results</a:t>
            </a:r>
            <a:r>
              <a:rPr lang="en-US" dirty="0">
                <a:latin typeface="Abadi" panose="020B0604020104020204" pitchFamily="34" charset="0"/>
              </a:rPr>
              <a:t>(counts)</a:t>
            </a:r>
          </a:p>
          <a:p>
            <a:pPr marL="0" indent="0">
              <a:buNone/>
            </a:pPr>
            <a:r>
              <a:rPr lang="en-US" dirty="0">
                <a:latin typeface="Abadi" panose="020B0604020104020204" pitchFamily="34" charset="0"/>
              </a:rPr>
              <a:t>        print("-" * 40)</a:t>
            </a:r>
          </a:p>
          <a:p>
            <a:pPr marL="0" indent="0">
              <a:buNone/>
            </a:pPr>
            <a:r>
              <a:rPr lang="en-US" dirty="0">
                <a:latin typeface="Abadi" panose="020B0604020104020204" pitchFamily="34" charset="0"/>
              </a:rPr>
              <a:t>    # Draw the circuit for the last test case</a:t>
            </a:r>
          </a:p>
          <a:p>
            <a:pPr marL="0" indent="0">
              <a:buNone/>
            </a:pPr>
            <a:r>
              <a:rPr lang="en-US" dirty="0">
                <a:latin typeface="Abadi" panose="020B0604020104020204" pitchFamily="34" charset="0"/>
              </a:rPr>
              <a:t>    print("\</a:t>
            </a:r>
            <a:r>
              <a:rPr lang="en-US" dirty="0" err="1">
                <a:latin typeface="Abadi" panose="020B0604020104020204" pitchFamily="34" charset="0"/>
              </a:rPr>
              <a:t>nQuantum</a:t>
            </a:r>
            <a:r>
              <a:rPr lang="en-US" dirty="0">
                <a:latin typeface="Abadi" panose="020B0604020104020204" pitchFamily="34" charset="0"/>
              </a:rPr>
              <a:t> Circuit Diagram:")</a:t>
            </a:r>
          </a:p>
          <a:p>
            <a:pPr marL="0" indent="0">
              <a:buNone/>
            </a:pPr>
            <a:r>
              <a:rPr lang="en-US" dirty="0">
                <a:latin typeface="Abadi" panose="020B0604020104020204" pitchFamily="34" charset="0"/>
              </a:rPr>
              <a:t>    print("(Showing circuit for the last test case: 7 + 1)")</a:t>
            </a:r>
          </a:p>
          <a:p>
            <a:pPr marL="0" indent="0">
              <a:buNone/>
            </a:pPr>
            <a:r>
              <a:rPr lang="en-US" dirty="0">
                <a:latin typeface="Abadi" panose="020B0604020104020204" pitchFamily="34" charset="0"/>
              </a:rPr>
              <a:t>    </a:t>
            </a:r>
          </a:p>
          <a:p>
            <a:pPr marL="0" indent="0">
              <a:buNone/>
            </a:pPr>
            <a:endParaRPr lang="en-US" sz="1600" dirty="0"/>
          </a:p>
        </p:txBody>
      </p:sp>
      <p:sp>
        <p:nvSpPr>
          <p:cNvPr id="4" name="Slide Number Placeholder 3">
            <a:extLst>
              <a:ext uri="{FF2B5EF4-FFF2-40B4-BE49-F238E27FC236}">
                <a16:creationId xmlns:a16="http://schemas.microsoft.com/office/drawing/2014/main" id="{98B7F82E-44A2-4807-0460-D7E57935BF73}"/>
              </a:ext>
            </a:extLst>
          </p:cNvPr>
          <p:cNvSpPr>
            <a:spLocks noGrp="1"/>
          </p:cNvSpPr>
          <p:nvPr>
            <p:ph type="sldNum" sz="quarter" idx="4"/>
          </p:nvPr>
        </p:nvSpPr>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3183847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FA290-6C74-7004-1E83-33030891DE79}"/>
              </a:ext>
            </a:extLst>
          </p:cNvPr>
          <p:cNvSpPr>
            <a:spLocks noGrp="1"/>
          </p:cNvSpPr>
          <p:nvPr>
            <p:ph type="title"/>
          </p:nvPr>
        </p:nvSpPr>
        <p:spPr>
          <a:xfrm>
            <a:off x="914400" y="82298"/>
            <a:ext cx="7534656" cy="660652"/>
          </a:xfrm>
        </p:spPr>
        <p:txBody>
          <a:bodyPr/>
          <a:lstStyle/>
          <a:p>
            <a:r>
              <a:rPr lang="en-US" dirty="0"/>
              <a:t>Demonsstrate …</a:t>
            </a:r>
          </a:p>
        </p:txBody>
      </p:sp>
      <p:sp>
        <p:nvSpPr>
          <p:cNvPr id="3" name="Content Placeholder 2">
            <a:extLst>
              <a:ext uri="{FF2B5EF4-FFF2-40B4-BE49-F238E27FC236}">
                <a16:creationId xmlns:a16="http://schemas.microsoft.com/office/drawing/2014/main" id="{4285475E-54F9-8AD6-5696-74869A0A7F8D}"/>
              </a:ext>
            </a:extLst>
          </p:cNvPr>
          <p:cNvSpPr>
            <a:spLocks noGrp="1"/>
          </p:cNvSpPr>
          <p:nvPr>
            <p:ph sz="quarter" idx="10"/>
          </p:nvPr>
        </p:nvSpPr>
        <p:spPr>
          <a:xfrm>
            <a:off x="914400" y="742951"/>
            <a:ext cx="9467850" cy="6032752"/>
          </a:xfrm>
        </p:spPr>
        <p:txBody>
          <a:bodyPr/>
          <a:lstStyle/>
          <a:p>
            <a:pPr marL="0" indent="0">
              <a:buNone/>
            </a:pPr>
            <a:endParaRPr lang="en-US" dirty="0">
              <a:latin typeface="Abadi" panose="020B0604020104020204" pitchFamily="34" charset="0"/>
            </a:endParaRPr>
          </a:p>
          <a:p>
            <a:pPr marL="0" indent="0">
              <a:buNone/>
            </a:pPr>
            <a:r>
              <a:rPr lang="en-US" dirty="0">
                <a:latin typeface="Abadi" panose="020B0604020104020204" pitchFamily="34" charset="0"/>
              </a:rPr>
              <a:t>try:</a:t>
            </a:r>
          </a:p>
          <a:p>
            <a:pPr marL="0" indent="0">
              <a:buNone/>
            </a:pPr>
            <a:r>
              <a:rPr lang="en-US" dirty="0">
                <a:latin typeface="Abadi" panose="020B0604020104020204" pitchFamily="34" charset="0"/>
              </a:rPr>
              <a:t>        # Try matplotlib output first</a:t>
            </a:r>
          </a:p>
          <a:p>
            <a:pPr marL="0" indent="0">
              <a:buNone/>
            </a:pPr>
            <a:r>
              <a:rPr lang="en-US" dirty="0">
                <a:latin typeface="Abadi" panose="020B0604020104020204" pitchFamily="34" charset="0"/>
              </a:rPr>
              <a:t>        fig = </a:t>
            </a:r>
            <a:r>
              <a:rPr lang="en-US" dirty="0" err="1">
                <a:latin typeface="Abadi" panose="020B0604020104020204" pitchFamily="34" charset="0"/>
              </a:rPr>
              <a:t>adder.draw_circuit</a:t>
            </a:r>
            <a:r>
              <a:rPr lang="en-US" dirty="0">
                <a:latin typeface="Abadi" panose="020B0604020104020204" pitchFamily="34" charset="0"/>
              </a:rPr>
              <a:t>(output='</a:t>
            </a:r>
            <a:r>
              <a:rPr lang="en-US" dirty="0" err="1">
                <a:latin typeface="Abadi" panose="020B0604020104020204" pitchFamily="34" charset="0"/>
              </a:rPr>
              <a:t>mpl</a:t>
            </a:r>
            <a:r>
              <a:rPr lang="en-US" dirty="0">
                <a:latin typeface="Abadi" panose="020B0604020104020204" pitchFamily="34" charset="0"/>
              </a:rPr>
              <a:t>')</a:t>
            </a:r>
          </a:p>
          <a:p>
            <a:pPr marL="0" indent="0">
              <a:buNone/>
            </a:pPr>
            <a:r>
              <a:rPr lang="en-US" dirty="0">
                <a:latin typeface="Abadi" panose="020B0604020104020204" pitchFamily="34" charset="0"/>
              </a:rPr>
              <a:t>        if fig:</a:t>
            </a:r>
          </a:p>
          <a:p>
            <a:pPr marL="0" indent="0">
              <a:buNone/>
            </a:pPr>
            <a:r>
              <a:rPr lang="en-US" dirty="0">
                <a:latin typeface="Abadi" panose="020B0604020104020204" pitchFamily="34" charset="0"/>
              </a:rPr>
              <a:t>            </a:t>
            </a:r>
            <a:r>
              <a:rPr lang="en-US" dirty="0" err="1">
                <a:latin typeface="Abadi" panose="020B0604020104020204" pitchFamily="34" charset="0"/>
              </a:rPr>
              <a:t>plt.figure</a:t>
            </a:r>
            <a:r>
              <a:rPr lang="en-US" dirty="0">
                <a:latin typeface="Abadi" panose="020B0604020104020204" pitchFamily="34" charset="0"/>
              </a:rPr>
              <a:t>(</a:t>
            </a:r>
            <a:r>
              <a:rPr lang="en-US" dirty="0" err="1">
                <a:latin typeface="Abadi" panose="020B0604020104020204" pitchFamily="34" charset="0"/>
              </a:rPr>
              <a:t>figsize</a:t>
            </a:r>
            <a:r>
              <a:rPr lang="en-US" dirty="0">
                <a:latin typeface="Abadi" panose="020B0604020104020204" pitchFamily="34" charset="0"/>
              </a:rPr>
              <a:t>=(15, 8))</a:t>
            </a:r>
          </a:p>
          <a:p>
            <a:pPr marL="0" indent="0">
              <a:buNone/>
            </a:pPr>
            <a:r>
              <a:rPr lang="en-US" dirty="0">
                <a:latin typeface="Abadi" panose="020B0604020104020204" pitchFamily="34" charset="0"/>
              </a:rPr>
              <a:t>            </a:t>
            </a:r>
            <a:r>
              <a:rPr lang="en-US" dirty="0" err="1">
                <a:latin typeface="Abadi" panose="020B0604020104020204" pitchFamily="34" charset="0"/>
              </a:rPr>
              <a:t>plt.tight_layout</a:t>
            </a:r>
            <a:r>
              <a:rPr lang="en-US" dirty="0">
                <a:latin typeface="Abadi" panose="020B0604020104020204" pitchFamily="34" charset="0"/>
              </a:rPr>
              <a:t>()</a:t>
            </a:r>
          </a:p>
          <a:p>
            <a:pPr marL="0" indent="0">
              <a:buNone/>
            </a:pPr>
            <a:r>
              <a:rPr lang="en-US" dirty="0">
                <a:latin typeface="Abadi" panose="020B0604020104020204" pitchFamily="34" charset="0"/>
              </a:rPr>
              <a:t>            print("Circuit diagram saved as matplotlib figure")</a:t>
            </a:r>
          </a:p>
          <a:p>
            <a:pPr marL="0" indent="0">
              <a:buNone/>
            </a:pPr>
            <a:r>
              <a:rPr lang="en-US" dirty="0">
                <a:latin typeface="Abadi" panose="020B0604020104020204" pitchFamily="34" charset="0"/>
              </a:rPr>
              <a:t>    except:</a:t>
            </a:r>
          </a:p>
          <a:p>
            <a:pPr marL="0" indent="0">
              <a:buNone/>
            </a:pPr>
            <a:r>
              <a:rPr lang="en-US" dirty="0">
                <a:latin typeface="Abadi" panose="020B0604020104020204" pitchFamily="34" charset="0"/>
              </a:rPr>
              <a:t>        # Fallback to text output</a:t>
            </a:r>
          </a:p>
          <a:p>
            <a:pPr marL="0" indent="0">
              <a:buNone/>
            </a:pPr>
            <a:r>
              <a:rPr lang="en-US" dirty="0">
                <a:latin typeface="Abadi" panose="020B0604020104020204" pitchFamily="34" charset="0"/>
              </a:rPr>
              <a:t>        print("Matplotlib not available, showing text representation:")</a:t>
            </a:r>
          </a:p>
          <a:p>
            <a:pPr marL="0" indent="0">
              <a:buNone/>
            </a:pPr>
            <a:r>
              <a:rPr lang="en-US" dirty="0">
                <a:latin typeface="Abadi" panose="020B0604020104020204" pitchFamily="34" charset="0"/>
              </a:rPr>
              <a:t>        print(</a:t>
            </a:r>
            <a:r>
              <a:rPr lang="en-US" dirty="0" err="1">
                <a:latin typeface="Abadi" panose="020B0604020104020204" pitchFamily="34" charset="0"/>
              </a:rPr>
              <a:t>adder.draw_circuit</a:t>
            </a:r>
            <a:r>
              <a:rPr lang="en-US" dirty="0">
                <a:latin typeface="Abadi" panose="020B0604020104020204" pitchFamily="34" charset="0"/>
              </a:rPr>
              <a:t>(output='text'))</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    return adder</a:t>
            </a:r>
          </a:p>
          <a:p>
            <a:pPr marL="0" indent="0">
              <a:buNone/>
            </a:pPr>
            <a:endParaRPr lang="en-US" dirty="0"/>
          </a:p>
        </p:txBody>
      </p:sp>
      <p:sp>
        <p:nvSpPr>
          <p:cNvPr id="4" name="Slide Number Placeholder 3">
            <a:extLst>
              <a:ext uri="{FF2B5EF4-FFF2-40B4-BE49-F238E27FC236}">
                <a16:creationId xmlns:a16="http://schemas.microsoft.com/office/drawing/2014/main" id="{76B05BA3-28A9-2BF1-D42A-A38EB9E0A44A}"/>
              </a:ext>
            </a:extLst>
          </p:cNvPr>
          <p:cNvSpPr>
            <a:spLocks noGrp="1"/>
          </p:cNvSpPr>
          <p:nvPr>
            <p:ph type="sldNum" sz="quarter" idx="4"/>
          </p:nvPr>
        </p:nvSpPr>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2168739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2349-3057-3A89-042B-C6450A7C6926}"/>
              </a:ext>
            </a:extLst>
          </p:cNvPr>
          <p:cNvSpPr>
            <a:spLocks noGrp="1"/>
          </p:cNvSpPr>
          <p:nvPr>
            <p:ph type="title"/>
          </p:nvPr>
        </p:nvSpPr>
        <p:spPr>
          <a:xfrm>
            <a:off x="914400" y="200025"/>
            <a:ext cx="7534656" cy="914400"/>
          </a:xfrm>
        </p:spPr>
        <p:txBody>
          <a:bodyPr/>
          <a:lstStyle/>
          <a:p>
            <a:r>
              <a:rPr lang="en-US" dirty="0"/>
              <a:t>Some Results</a:t>
            </a:r>
          </a:p>
        </p:txBody>
      </p:sp>
      <p:sp>
        <p:nvSpPr>
          <p:cNvPr id="3" name="Content Placeholder 2">
            <a:extLst>
              <a:ext uri="{FF2B5EF4-FFF2-40B4-BE49-F238E27FC236}">
                <a16:creationId xmlns:a16="http://schemas.microsoft.com/office/drawing/2014/main" id="{714D8088-7593-E28B-2A3F-2BA06318F61F}"/>
              </a:ext>
            </a:extLst>
          </p:cNvPr>
          <p:cNvSpPr>
            <a:spLocks noGrp="1"/>
          </p:cNvSpPr>
          <p:nvPr>
            <p:ph sz="quarter" idx="10"/>
          </p:nvPr>
        </p:nvSpPr>
        <p:spPr>
          <a:xfrm>
            <a:off x="295275" y="1391411"/>
            <a:ext cx="10010775" cy="5266563"/>
          </a:xfrm>
        </p:spPr>
        <p:txBody>
          <a:bodyPr>
            <a:normAutofit fontScale="85000" lnSpcReduction="20000"/>
          </a:bodyPr>
          <a:lstStyle/>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QUANTUM RIPPLE CARRY ADDER DEMONSTRATION</a:t>
            </a:r>
          </a:p>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Testing: 3 + 2</a:t>
            </a:r>
          </a:p>
          <a:p>
            <a:pPr marL="0" indent="0">
              <a:buNone/>
            </a:pPr>
            <a:r>
              <a:rPr lang="en-US" dirty="0">
                <a:latin typeface="Abadi" panose="020B0604020104020204" pitchFamily="34" charset="0"/>
              </a:rPr>
              <a:t>Expected result: 5</a:t>
            </a:r>
          </a:p>
          <a:p>
            <a:pPr marL="0" indent="0">
              <a:buNone/>
            </a:pPr>
            <a:r>
              <a:rPr lang="en-US" dirty="0">
                <a:latin typeface="Abadi" panose="020B0604020104020204" pitchFamily="34" charset="0"/>
              </a:rPr>
              <a:t>Simulation Results Analysis:</a:t>
            </a:r>
          </a:p>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A=6, B=2 → Sum=5, Carry=0 → Result=5 (Count: 1024)</a:t>
            </a:r>
          </a:p>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Testing: 5 + 3</a:t>
            </a:r>
          </a:p>
          <a:p>
            <a:pPr marL="0" indent="0">
              <a:buNone/>
            </a:pPr>
            <a:r>
              <a:rPr lang="en-US" dirty="0">
                <a:latin typeface="Abadi" panose="020B0604020104020204" pitchFamily="34" charset="0"/>
              </a:rPr>
              <a:t>Expected result: 8</a:t>
            </a:r>
          </a:p>
          <a:p>
            <a:pPr marL="0" indent="0">
              <a:buNone/>
            </a:pPr>
            <a:r>
              <a:rPr lang="en-US" dirty="0">
                <a:latin typeface="Abadi" panose="020B0604020104020204" pitchFamily="34" charset="0"/>
              </a:rPr>
              <a:t>Simulation Results Analysis:</a:t>
            </a:r>
          </a:p>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A=5, B=6 → Sum=0, Carry=1 → Result=8 (Count: 1024)</a:t>
            </a:r>
          </a:p>
          <a:p>
            <a:pPr marL="0" indent="0">
              <a:buNone/>
            </a:pPr>
            <a:r>
              <a:rPr lang="en-US" dirty="0">
                <a:latin typeface="Abadi" panose="020B0604020104020204" pitchFamily="34" charset="0"/>
              </a:rPr>
              <a:t>----------------------------------------</a:t>
            </a:r>
          </a:p>
        </p:txBody>
      </p:sp>
      <p:sp>
        <p:nvSpPr>
          <p:cNvPr id="4" name="Slide Number Placeholder 3">
            <a:extLst>
              <a:ext uri="{FF2B5EF4-FFF2-40B4-BE49-F238E27FC236}">
                <a16:creationId xmlns:a16="http://schemas.microsoft.com/office/drawing/2014/main" id="{AB09E05C-E00B-C27A-CE03-ACEB9100BEE9}"/>
              </a:ext>
            </a:extLst>
          </p:cNvPr>
          <p:cNvSpPr>
            <a:spLocks noGrp="1"/>
          </p:cNvSpPr>
          <p:nvPr>
            <p:ph type="sldNum" sz="quarter" idx="4"/>
          </p:nvPr>
        </p:nvSpPr>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2403580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BD2BB-D38F-83F8-FD8B-694126043CFD}"/>
              </a:ext>
            </a:extLst>
          </p:cNvPr>
          <p:cNvSpPr>
            <a:spLocks noGrp="1"/>
          </p:cNvSpPr>
          <p:nvPr>
            <p:ph type="title"/>
          </p:nvPr>
        </p:nvSpPr>
        <p:spPr>
          <a:xfrm>
            <a:off x="914400" y="209550"/>
            <a:ext cx="7534656" cy="914400"/>
          </a:xfrm>
        </p:spPr>
        <p:txBody>
          <a:bodyPr/>
          <a:lstStyle/>
          <a:p>
            <a:r>
              <a:rPr lang="en-US" dirty="0"/>
              <a:t>Some results</a:t>
            </a:r>
          </a:p>
        </p:txBody>
      </p:sp>
      <p:sp>
        <p:nvSpPr>
          <p:cNvPr id="3" name="Content Placeholder 2">
            <a:extLst>
              <a:ext uri="{FF2B5EF4-FFF2-40B4-BE49-F238E27FC236}">
                <a16:creationId xmlns:a16="http://schemas.microsoft.com/office/drawing/2014/main" id="{E3689FFB-C241-6035-4119-54DF231F6351}"/>
              </a:ext>
            </a:extLst>
          </p:cNvPr>
          <p:cNvSpPr>
            <a:spLocks noGrp="1"/>
          </p:cNvSpPr>
          <p:nvPr>
            <p:ph sz="quarter" idx="10"/>
          </p:nvPr>
        </p:nvSpPr>
        <p:spPr>
          <a:xfrm>
            <a:off x="742950" y="1244347"/>
            <a:ext cx="8839200" cy="5404103"/>
          </a:xfrm>
        </p:spPr>
        <p:txBody>
          <a:bodyPr>
            <a:normAutofit lnSpcReduction="10000"/>
          </a:bodyPr>
          <a:lstStyle/>
          <a:p>
            <a:pPr marL="0" indent="0">
              <a:buNone/>
            </a:pPr>
            <a:r>
              <a:rPr lang="en-US" dirty="0">
                <a:latin typeface="Abadi" panose="020B0604020104020204" pitchFamily="34" charset="0"/>
              </a:rPr>
              <a:t>Testing: 7 + 1</a:t>
            </a:r>
          </a:p>
          <a:p>
            <a:pPr marL="0" indent="0">
              <a:buNone/>
            </a:pPr>
            <a:r>
              <a:rPr lang="en-US" dirty="0">
                <a:latin typeface="Abadi" panose="020B0604020104020204" pitchFamily="34" charset="0"/>
              </a:rPr>
              <a:t>Expected result: 8</a:t>
            </a:r>
          </a:p>
          <a:p>
            <a:pPr marL="0" indent="0">
              <a:buNone/>
            </a:pPr>
            <a:r>
              <a:rPr lang="en-US" dirty="0">
                <a:latin typeface="Abadi" panose="020B0604020104020204" pitchFamily="34" charset="0"/>
              </a:rPr>
              <a:t>Simulation Results Analysis:</a:t>
            </a:r>
          </a:p>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A=7, B=4 → Sum=0, Carry=1 → Result=8 (Count: 1024)</a:t>
            </a:r>
          </a:p>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Testing: 0 + 0</a:t>
            </a:r>
          </a:p>
          <a:p>
            <a:pPr marL="0" indent="0">
              <a:buNone/>
            </a:pPr>
            <a:r>
              <a:rPr lang="en-US" dirty="0">
                <a:latin typeface="Abadi" panose="020B0604020104020204" pitchFamily="34" charset="0"/>
              </a:rPr>
              <a:t>Expected result: 0</a:t>
            </a:r>
          </a:p>
          <a:p>
            <a:pPr marL="0" indent="0">
              <a:buNone/>
            </a:pPr>
            <a:r>
              <a:rPr lang="en-US" dirty="0">
                <a:latin typeface="Abadi" panose="020B0604020104020204" pitchFamily="34" charset="0"/>
              </a:rPr>
              <a:t>Simulation Results Analysis:</a:t>
            </a:r>
          </a:p>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A=0, B=0 → Sum=0, Carry=0 → Result=0 (Count: 1024)</a:t>
            </a:r>
          </a:p>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 </a:t>
            </a:r>
          </a:p>
          <a:p>
            <a:pPr marL="0" indent="0">
              <a:buNone/>
            </a:pPr>
            <a:endParaRPr lang="en-US" dirty="0">
              <a:latin typeface="Abadi" panose="020B0604020104020204" pitchFamily="34" charset="0"/>
            </a:endParaRPr>
          </a:p>
        </p:txBody>
      </p:sp>
      <p:sp>
        <p:nvSpPr>
          <p:cNvPr id="4" name="Slide Number Placeholder 3">
            <a:extLst>
              <a:ext uri="{FF2B5EF4-FFF2-40B4-BE49-F238E27FC236}">
                <a16:creationId xmlns:a16="http://schemas.microsoft.com/office/drawing/2014/main" id="{F2B80DF3-9B4D-6BF7-4430-AD9DED023C25}"/>
              </a:ext>
            </a:extLst>
          </p:cNvPr>
          <p:cNvSpPr>
            <a:spLocks noGrp="1"/>
          </p:cNvSpPr>
          <p:nvPr>
            <p:ph type="sldNum" sz="quarter" idx="4"/>
          </p:nvPr>
        </p:nvSpPr>
        <p:spPr/>
        <p:txBody>
          <a:bodyPr/>
          <a:lstStyle/>
          <a:p>
            <a:fld id="{58FB4751-880F-D840-AAA9-3A15815CC996}" type="slidenum">
              <a:rPr lang="en-US" smtClean="0"/>
              <a:pPr/>
              <a:t>21</a:t>
            </a:fld>
            <a:endParaRPr lang="en-US" dirty="0"/>
          </a:p>
        </p:txBody>
      </p:sp>
    </p:spTree>
    <p:extLst>
      <p:ext uri="{BB962C8B-B14F-4D97-AF65-F5344CB8AC3E}">
        <p14:creationId xmlns:p14="http://schemas.microsoft.com/office/powerpoint/2010/main" val="2028496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C09E6-B58F-6C9F-AD76-86DD2B67D342}"/>
              </a:ext>
            </a:extLst>
          </p:cNvPr>
          <p:cNvSpPr>
            <a:spLocks noGrp="1"/>
          </p:cNvSpPr>
          <p:nvPr>
            <p:ph type="title"/>
          </p:nvPr>
        </p:nvSpPr>
        <p:spPr>
          <a:xfrm>
            <a:off x="1085850" y="95250"/>
            <a:ext cx="7534656" cy="914400"/>
          </a:xfrm>
        </p:spPr>
        <p:txBody>
          <a:bodyPr/>
          <a:lstStyle/>
          <a:p>
            <a:r>
              <a:rPr lang="en-US" dirty="0"/>
              <a:t>Circuit Analysis</a:t>
            </a:r>
          </a:p>
        </p:txBody>
      </p:sp>
      <p:sp>
        <p:nvSpPr>
          <p:cNvPr id="3" name="Content Placeholder 2">
            <a:extLst>
              <a:ext uri="{FF2B5EF4-FFF2-40B4-BE49-F238E27FC236}">
                <a16:creationId xmlns:a16="http://schemas.microsoft.com/office/drawing/2014/main" id="{10864817-C9D1-7210-CEF6-F9C607DE30CE}"/>
              </a:ext>
            </a:extLst>
          </p:cNvPr>
          <p:cNvSpPr>
            <a:spLocks noGrp="1"/>
          </p:cNvSpPr>
          <p:nvPr>
            <p:ph sz="quarter" idx="10"/>
          </p:nvPr>
        </p:nvSpPr>
        <p:spPr>
          <a:xfrm>
            <a:off x="176784" y="1530097"/>
            <a:ext cx="11081766" cy="5165978"/>
          </a:xfrm>
        </p:spPr>
        <p:txBody>
          <a:bodyPr>
            <a:normAutofit/>
          </a:bodyPr>
          <a:lstStyle/>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CIRCUIT ANALYSIS</a:t>
            </a:r>
          </a:p>
          <a:p>
            <a:pPr marL="0" indent="0">
              <a:buNone/>
            </a:pPr>
            <a:r>
              <a:rPr lang="en-US" dirty="0">
                <a:latin typeface="Abadi" panose="020B0604020104020204" pitchFamily="34" charset="0"/>
              </a:rPr>
              <a:t>============================================================</a:t>
            </a:r>
          </a:p>
          <a:p>
            <a:pPr marL="0" indent="0">
              <a:buNone/>
            </a:pPr>
            <a:r>
              <a:rPr lang="en-US" dirty="0">
                <a:latin typeface="Abadi" panose="020B0604020104020204" pitchFamily="34" charset="0"/>
              </a:rPr>
              <a:t>Total qubits used: 13</a:t>
            </a:r>
          </a:p>
          <a:p>
            <a:pPr marL="0" indent="0">
              <a:buNone/>
            </a:pPr>
            <a:r>
              <a:rPr lang="en-US" dirty="0">
                <a:latin typeface="Abadi" panose="020B0604020104020204" pitchFamily="34" charset="0"/>
              </a:rPr>
              <a:t>Circuit depth: 16</a:t>
            </a:r>
          </a:p>
          <a:p>
            <a:pPr marL="0" indent="0">
              <a:buNone/>
            </a:pPr>
            <a:r>
              <a:rPr lang="en-US" dirty="0">
                <a:latin typeface="Abadi" panose="020B0604020104020204" pitchFamily="34" charset="0"/>
              </a:rPr>
              <a:t>Number of gates: 30</a:t>
            </a:r>
          </a:p>
          <a:p>
            <a:pPr marL="0" indent="0">
              <a:buNone/>
            </a:pPr>
            <a:r>
              <a:rPr lang="en-US" dirty="0">
                <a:latin typeface="Abadi" panose="020B0604020104020204" pitchFamily="34" charset="0"/>
              </a:rPr>
              <a:t> </a:t>
            </a:r>
          </a:p>
          <a:p>
            <a:pPr marL="0" indent="0">
              <a:buNone/>
            </a:pPr>
            <a:r>
              <a:rPr lang="en-US" dirty="0">
                <a:latin typeface="Abadi" panose="020B0604020104020204" pitchFamily="34" charset="0"/>
              </a:rPr>
              <a:t>Gate count breakdown:</a:t>
            </a:r>
          </a:p>
          <a:p>
            <a:pPr marL="0" indent="0">
              <a:buNone/>
            </a:pPr>
            <a:r>
              <a:rPr lang="en-US" dirty="0">
                <a:latin typeface="Abadi" panose="020B0604020104020204" pitchFamily="34" charset="0"/>
              </a:rPr>
              <a:t>  barrier: 5</a:t>
            </a:r>
          </a:p>
          <a:p>
            <a:pPr marL="0" indent="0">
              <a:buNone/>
            </a:pPr>
            <a:r>
              <a:rPr lang="en-US" dirty="0">
                <a:latin typeface="Abadi" panose="020B0604020104020204" pitchFamily="34" charset="0"/>
              </a:rPr>
              <a:t>  ccx: 6</a:t>
            </a:r>
          </a:p>
          <a:p>
            <a:pPr marL="0" indent="0">
              <a:buNone/>
            </a:pPr>
            <a:r>
              <a:rPr lang="en-US" dirty="0">
                <a:latin typeface="Abadi" panose="020B0604020104020204" pitchFamily="34" charset="0"/>
              </a:rPr>
              <a:t>  cx: 9</a:t>
            </a:r>
          </a:p>
          <a:p>
            <a:pPr marL="0" indent="0">
              <a:buNone/>
            </a:pPr>
            <a:r>
              <a:rPr lang="en-US" dirty="0">
                <a:latin typeface="Abadi" panose="020B0604020104020204" pitchFamily="34" charset="0"/>
              </a:rPr>
              <a:t>  measure: 10</a:t>
            </a:r>
          </a:p>
          <a:p>
            <a:pPr marL="0" indent="0">
              <a:buNone/>
            </a:pPr>
            <a:endParaRPr lang="en-US" dirty="0">
              <a:latin typeface="Abadi" panose="020B0604020104020204" pitchFamily="34" charset="0"/>
            </a:endParaRPr>
          </a:p>
        </p:txBody>
      </p:sp>
      <p:sp>
        <p:nvSpPr>
          <p:cNvPr id="4" name="Slide Number Placeholder 3">
            <a:extLst>
              <a:ext uri="{FF2B5EF4-FFF2-40B4-BE49-F238E27FC236}">
                <a16:creationId xmlns:a16="http://schemas.microsoft.com/office/drawing/2014/main" id="{BCD23BC4-E0C8-F548-FBC5-530A6D21ACE8}"/>
              </a:ext>
            </a:extLst>
          </p:cNvPr>
          <p:cNvSpPr>
            <a:spLocks noGrp="1"/>
          </p:cNvSpPr>
          <p:nvPr>
            <p:ph type="sldNum" sz="quarter" idx="4"/>
          </p:nvPr>
        </p:nvSpPr>
        <p:spPr/>
        <p:txBody>
          <a:bodyPr/>
          <a:lstStyle/>
          <a:p>
            <a:fld id="{58FB4751-880F-D840-AAA9-3A15815CC996}" type="slidenum">
              <a:rPr lang="en-US" smtClean="0"/>
              <a:pPr/>
              <a:t>22</a:t>
            </a:fld>
            <a:endParaRPr lang="en-US" dirty="0"/>
          </a:p>
        </p:txBody>
      </p:sp>
    </p:spTree>
    <p:extLst>
      <p:ext uri="{BB962C8B-B14F-4D97-AF65-F5344CB8AC3E}">
        <p14:creationId xmlns:p14="http://schemas.microsoft.com/office/powerpoint/2010/main" val="1277908491"/>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{3E0998BC-959F-44CC-A2C4-07763E6CD35D}TF1ed9553b-00c4-4092-846a-c8f7f2908f3beecd942f_win32-8e33096c3cfc</Template>
  <TotalTime>322</TotalTime>
  <Words>2342</Words>
  <Application>Microsoft Office PowerPoint</Application>
  <PresentationFormat>Widescreen</PresentationFormat>
  <Paragraphs>283</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Abadi</vt:lpstr>
      <vt:lpstr>Arial</vt:lpstr>
      <vt:lpstr>Calibri</vt:lpstr>
      <vt:lpstr>Courier New</vt:lpstr>
      <vt:lpstr>Gill Sans Nova Light</vt:lpstr>
      <vt:lpstr>Sagona Book</vt:lpstr>
      <vt:lpstr>Custom</vt:lpstr>
      <vt:lpstr>Quantum Ripple Adder</vt:lpstr>
      <vt:lpstr>What is Ripple Adder</vt:lpstr>
      <vt:lpstr>Gate Definitions and Roles </vt:lpstr>
      <vt:lpstr>How it Works?</vt:lpstr>
      <vt:lpstr>Quantum Implementation Details </vt:lpstr>
      <vt:lpstr>Circuit Diagram </vt:lpstr>
      <vt:lpstr>Init</vt:lpstr>
      <vt:lpstr>Create Adder Circuit</vt:lpstr>
      <vt:lpstr>Create Circuit</vt:lpstr>
      <vt:lpstr>Create Circuit ….</vt:lpstr>
      <vt:lpstr>Full Adder</vt:lpstr>
      <vt:lpstr>Full Adder</vt:lpstr>
      <vt:lpstr>Define Innputs</vt:lpstr>
      <vt:lpstr>Define Inputs</vt:lpstr>
      <vt:lpstr>Define Inputs ….</vt:lpstr>
      <vt:lpstr>Simulate</vt:lpstr>
      <vt:lpstr>Demonstrate </vt:lpstr>
      <vt:lpstr>Demonstrate …</vt:lpstr>
      <vt:lpstr>Demonsstrate …</vt:lpstr>
      <vt:lpstr>Some Results</vt:lpstr>
      <vt:lpstr>Some results</vt:lpstr>
      <vt:lpstr>Circuit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Mohammed ELAffendi</dc:creator>
  <cp:lastModifiedBy>Prof Mohammed ELAffendi</cp:lastModifiedBy>
  <cp:revision>12</cp:revision>
  <dcterms:created xsi:type="dcterms:W3CDTF">2025-09-02T04:46:34Z</dcterms:created>
  <dcterms:modified xsi:type="dcterms:W3CDTF">2026-01-21T09:39:56Z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