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1"/>
  </p:notesMasterIdLst>
  <p:handoutMasterIdLst>
    <p:handoutMasterId r:id="rId22"/>
  </p:handoutMasterIdLst>
  <p:sldIdLst>
    <p:sldId id="317" r:id="rId5"/>
    <p:sldId id="332" r:id="rId6"/>
    <p:sldId id="318" r:id="rId7"/>
    <p:sldId id="326" r:id="rId8"/>
    <p:sldId id="319" r:id="rId9"/>
    <p:sldId id="320" r:id="rId10"/>
    <p:sldId id="321" r:id="rId11"/>
    <p:sldId id="327" r:id="rId12"/>
    <p:sldId id="328" r:id="rId13"/>
    <p:sldId id="329" r:id="rId14"/>
    <p:sldId id="322" r:id="rId15"/>
    <p:sldId id="330" r:id="rId16"/>
    <p:sldId id="323" r:id="rId17"/>
    <p:sldId id="331" r:id="rId18"/>
    <p:sldId id="324" r:id="rId19"/>
    <p:sldId id="32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5405" autoAdjust="0"/>
  </p:normalViewPr>
  <p:slideViewPr>
    <p:cSldViewPr snapToGrid="0">
      <p:cViewPr varScale="1">
        <p:scale>
          <a:sx n="67" d="100"/>
          <a:sy n="67" d="100"/>
        </p:scale>
        <p:origin x="965" y="278"/>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1/13/2026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1/13/2026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dirty="0"/>
              <a:t>Deutsch-Jozsa Algorithm Revisited</a:t>
            </a: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0A053-5C98-424D-31DC-CD21073B6444}"/>
              </a:ext>
            </a:extLst>
          </p:cNvPr>
          <p:cNvSpPr>
            <a:spLocks noGrp="1"/>
          </p:cNvSpPr>
          <p:nvPr>
            <p:ph type="title"/>
          </p:nvPr>
        </p:nvSpPr>
        <p:spPr/>
        <p:txBody>
          <a:bodyPr/>
          <a:lstStyle/>
          <a:p>
            <a:r>
              <a:rPr lang="en-US" dirty="0"/>
              <a:t>Recap: The Deutsch-Jozsa Problem</a:t>
            </a:r>
          </a:p>
        </p:txBody>
      </p:sp>
      <p:sp>
        <p:nvSpPr>
          <p:cNvPr id="3" name="Content Placeholder 2">
            <a:extLst>
              <a:ext uri="{FF2B5EF4-FFF2-40B4-BE49-F238E27FC236}">
                <a16:creationId xmlns:a16="http://schemas.microsoft.com/office/drawing/2014/main" id="{072C659B-4711-7E2F-8203-BD6C23FEA9BB}"/>
              </a:ext>
            </a:extLst>
          </p:cNvPr>
          <p:cNvSpPr>
            <a:spLocks noGrp="1"/>
          </p:cNvSpPr>
          <p:nvPr>
            <p:ph sz="quarter" idx="10"/>
          </p:nvPr>
        </p:nvSpPr>
        <p:spPr>
          <a:xfrm>
            <a:off x="914400" y="2039112"/>
            <a:ext cx="9898380" cy="3356576"/>
          </a:xfrm>
        </p:spPr>
        <p:txBody>
          <a:bodyPr>
            <a:normAutofit/>
          </a:bodyPr>
          <a:lstStyle/>
          <a:p>
            <a:r>
              <a:rPr lang="en-US" sz="2800" dirty="0">
                <a:latin typeface="Abadi" panose="020B0604020104020204" pitchFamily="34" charset="0"/>
              </a:rPr>
              <a:t>The Deutch-Jozsa Algorithm is a generalization of the Deutscher algorithm to n-bit functions</a:t>
            </a:r>
          </a:p>
          <a:p>
            <a:r>
              <a:rPr lang="en-US" sz="2800" dirty="0">
                <a:latin typeface="Abadi" panose="020B0604020104020204" pitchFamily="34" charset="0"/>
              </a:rPr>
              <a:t>The main problem is to check if a given multi-bit function is constant or balanced</a:t>
            </a:r>
          </a:p>
          <a:p>
            <a:r>
              <a:rPr lang="en-US" sz="2800" dirty="0">
                <a:latin typeface="Abadi" panose="020B0604020104020204" pitchFamily="34" charset="0"/>
              </a:rPr>
              <a:t>The function  is constant if it maps all inputs to the same value</a:t>
            </a:r>
          </a:p>
          <a:p>
            <a:r>
              <a:rPr lang="en-US" sz="2800" dirty="0">
                <a:latin typeface="Abadi" panose="020B0604020104020204" pitchFamily="34" charset="0"/>
              </a:rPr>
              <a:t>The function is balanced if half of its outputs are zero</a:t>
            </a:r>
          </a:p>
        </p:txBody>
      </p:sp>
      <p:sp>
        <p:nvSpPr>
          <p:cNvPr id="4" name="Slide Number Placeholder 3">
            <a:extLst>
              <a:ext uri="{FF2B5EF4-FFF2-40B4-BE49-F238E27FC236}">
                <a16:creationId xmlns:a16="http://schemas.microsoft.com/office/drawing/2014/main" id="{0302B5CB-1077-266D-0456-6FE5D1349D80}"/>
              </a:ext>
            </a:extLst>
          </p:cNvPr>
          <p:cNvSpPr>
            <a:spLocks noGrp="1"/>
          </p:cNvSpPr>
          <p:nvPr>
            <p:ph type="sldNum" sz="quarter" idx="4"/>
          </p:nvPr>
        </p:nvSpPr>
        <p:spPr/>
        <p:txBody>
          <a:bodyPr/>
          <a:lstStyle/>
          <a:p>
            <a:fld id="{58FB4751-880F-D840-AAA9-3A15815CC996}" type="slidenum">
              <a:rPr lang="en-US" smtClean="0"/>
              <a:pPr/>
              <a:t>2</a:t>
            </a:fld>
            <a:endParaRPr lang="en-US" dirty="0"/>
          </a:p>
        </p:txBody>
      </p:sp>
    </p:spTree>
    <p:extLst>
      <p:ext uri="{BB962C8B-B14F-4D97-AF65-F5344CB8AC3E}">
        <p14:creationId xmlns:p14="http://schemas.microsoft.com/office/powerpoint/2010/main" val="4104615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DF36A-FDF4-1D6A-1E3B-ACC76AF18787}"/>
              </a:ext>
            </a:extLst>
          </p:cNvPr>
          <p:cNvSpPr>
            <a:spLocks noGrp="1"/>
          </p:cNvSpPr>
          <p:nvPr>
            <p:ph type="title"/>
          </p:nvPr>
        </p:nvSpPr>
        <p:spPr/>
        <p:txBody>
          <a:bodyPr/>
          <a:lstStyle/>
          <a:p>
            <a:r>
              <a:rPr lang="en-US" dirty="0"/>
              <a:t>The Problem</a:t>
            </a:r>
          </a:p>
        </p:txBody>
      </p:sp>
      <p:graphicFrame>
        <p:nvGraphicFramePr>
          <p:cNvPr id="5" name="Content Placeholder 4">
            <a:extLst>
              <a:ext uri="{FF2B5EF4-FFF2-40B4-BE49-F238E27FC236}">
                <a16:creationId xmlns:a16="http://schemas.microsoft.com/office/drawing/2014/main" id="{4D9A2667-E4EA-88EB-A5D7-E8743062A6C5}"/>
              </a:ext>
            </a:extLst>
          </p:cNvPr>
          <p:cNvGraphicFramePr>
            <a:graphicFrameLocks noGrp="1"/>
          </p:cNvGraphicFramePr>
          <p:nvPr>
            <p:ph sz="quarter" idx="10"/>
          </p:nvPr>
        </p:nvGraphicFramePr>
        <p:xfrm>
          <a:off x="3267165" y="2038352"/>
          <a:ext cx="2444570" cy="3357559"/>
        </p:xfrm>
        <a:graphic>
          <a:graphicData uri="http://schemas.openxmlformats.org/drawingml/2006/table">
            <a:tbl>
              <a:tblPr/>
              <a:tblGrid>
                <a:gridCol w="488914">
                  <a:extLst>
                    <a:ext uri="{9D8B030D-6E8A-4147-A177-3AD203B41FA5}">
                      <a16:colId xmlns:a16="http://schemas.microsoft.com/office/drawing/2014/main" val="491390329"/>
                    </a:ext>
                  </a:extLst>
                </a:gridCol>
                <a:gridCol w="488914">
                  <a:extLst>
                    <a:ext uri="{9D8B030D-6E8A-4147-A177-3AD203B41FA5}">
                      <a16:colId xmlns:a16="http://schemas.microsoft.com/office/drawing/2014/main" val="1680051540"/>
                    </a:ext>
                  </a:extLst>
                </a:gridCol>
                <a:gridCol w="488914">
                  <a:extLst>
                    <a:ext uri="{9D8B030D-6E8A-4147-A177-3AD203B41FA5}">
                      <a16:colId xmlns:a16="http://schemas.microsoft.com/office/drawing/2014/main" val="1800740648"/>
                    </a:ext>
                  </a:extLst>
                </a:gridCol>
                <a:gridCol w="488914">
                  <a:extLst>
                    <a:ext uri="{9D8B030D-6E8A-4147-A177-3AD203B41FA5}">
                      <a16:colId xmlns:a16="http://schemas.microsoft.com/office/drawing/2014/main" val="3636361777"/>
                    </a:ext>
                  </a:extLst>
                </a:gridCol>
                <a:gridCol w="488914">
                  <a:extLst>
                    <a:ext uri="{9D8B030D-6E8A-4147-A177-3AD203B41FA5}">
                      <a16:colId xmlns:a16="http://schemas.microsoft.com/office/drawing/2014/main" val="4052888668"/>
                    </a:ext>
                  </a:extLst>
                </a:gridCol>
              </a:tblGrid>
              <a:tr h="312331">
                <a:tc gridSpan="5">
                  <a:txBody>
                    <a:bodyPr/>
                    <a:lstStyle/>
                    <a:p>
                      <a:pPr>
                        <a:buNone/>
                      </a:pPr>
                      <a:r>
                        <a:rPr lang="en-US" sz="1500"/>
                        <a:t>able 9-1: Four possible oracles</a:t>
                      </a:r>
                    </a:p>
                  </a:txBody>
                  <a:tcPr marL="78083" marR="78083" marT="39041" marB="39041" anchor="ctr">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61852747"/>
                  </a:ext>
                </a:extLst>
              </a:tr>
              <a:tr h="546580">
                <a:tc>
                  <a:txBody>
                    <a:bodyPr/>
                    <a:lstStyle/>
                    <a:p>
                      <a:pPr algn="l" fontAlgn="ctr">
                        <a:buNone/>
                      </a:pPr>
                      <a:r>
                        <a:rPr lang="en-US" sz="1500" b="0" i="1">
                          <a:effectLst/>
                          <a:latin typeface="Noto serif" panose="02020600060500020200" pitchFamily="18" charset="0"/>
                        </a:rPr>
                        <a:t>x</a:t>
                      </a:r>
                      <a:endParaRPr lang="en-US" sz="1500" b="0" i="0">
                        <a:effectLst/>
                        <a:latin typeface="Noto serif" panose="02020600060500020200" pitchFamily="18" charset="0"/>
                      </a:endParaRPr>
                    </a:p>
                  </a:txBody>
                  <a:tcPr marL="78083" marR="78083" marT="39041" marB="39041" anchor="ctr">
                    <a:lnL>
                      <a:noFill/>
                    </a:lnL>
                    <a:lnR>
                      <a:noFill/>
                    </a:lnR>
                    <a:lnB>
                      <a:noFill/>
                    </a:lnB>
                    <a:solidFill>
                      <a:srgbClr val="FFFFFF"/>
                    </a:solidFill>
                  </a:tcPr>
                </a:tc>
                <a:tc>
                  <a:txBody>
                    <a:bodyPr/>
                    <a:lstStyle/>
                    <a:p>
                      <a:pPr algn="l" fontAlgn="ctr">
                        <a:buNone/>
                      </a:pPr>
                      <a:r>
                        <a:rPr lang="en-US" sz="1500" b="0" i="1">
                          <a:effectLst/>
                          <a:latin typeface="Noto serif" panose="02020600060500020200" pitchFamily="18" charset="0"/>
                        </a:rPr>
                        <a:t>f</a:t>
                      </a:r>
                      <a:r>
                        <a:rPr lang="en-US" sz="1500" b="1" i="0" baseline="-25000">
                          <a:effectLst/>
                          <a:latin typeface="Noto serif" panose="02020600060500020200" pitchFamily="18" charset="0"/>
                        </a:rPr>
                        <a:t>0</a:t>
                      </a:r>
                      <a:r>
                        <a:rPr lang="en-US" sz="1500" b="0" i="0">
                          <a:effectLst/>
                          <a:latin typeface="Noto serif" panose="02020600060500020200" pitchFamily="18" charset="0"/>
                        </a:rPr>
                        <a:t>(</a:t>
                      </a:r>
                      <a:r>
                        <a:rPr lang="en-US" sz="1500" b="0" i="1">
                          <a:effectLst/>
                          <a:latin typeface="Noto serif" panose="02020600060500020200" pitchFamily="18" charset="0"/>
                        </a:rPr>
                        <a:t>x</a:t>
                      </a:r>
                      <a:r>
                        <a:rPr lang="en-US" sz="1500" b="0" i="0">
                          <a:effectLst/>
                          <a:latin typeface="Noto serif" panose="02020600060500020200" pitchFamily="18" charset="0"/>
                        </a:rPr>
                        <a:t>)</a:t>
                      </a:r>
                    </a:p>
                  </a:txBody>
                  <a:tcPr marL="78083" marR="78083" marT="39041" marB="39041" anchor="ctr">
                    <a:lnL>
                      <a:noFill/>
                    </a:lnL>
                    <a:lnR>
                      <a:noFill/>
                    </a:lnR>
                    <a:lnT>
                      <a:noFill/>
                    </a:lnT>
                    <a:lnB>
                      <a:noFill/>
                    </a:lnB>
                    <a:solidFill>
                      <a:srgbClr val="FFFFFF"/>
                    </a:solidFill>
                  </a:tcPr>
                </a:tc>
                <a:tc>
                  <a:txBody>
                    <a:bodyPr/>
                    <a:lstStyle/>
                    <a:p>
                      <a:pPr algn="l" fontAlgn="ctr">
                        <a:buNone/>
                      </a:pPr>
                      <a:r>
                        <a:rPr lang="en-US" sz="1500" b="0" i="1">
                          <a:effectLst/>
                          <a:latin typeface="Noto serif" panose="02020600060500020200" pitchFamily="18" charset="0"/>
                        </a:rPr>
                        <a:t>f</a:t>
                      </a:r>
                      <a:r>
                        <a:rPr lang="en-US" sz="1500" b="1" i="0" baseline="-25000">
                          <a:effectLst/>
                          <a:latin typeface="Noto serif" panose="02020600060500020200" pitchFamily="18" charset="0"/>
                        </a:rPr>
                        <a:t>1</a:t>
                      </a:r>
                      <a:r>
                        <a:rPr lang="en-US" sz="1500" b="0" i="0">
                          <a:effectLst/>
                          <a:latin typeface="Noto serif" panose="02020600060500020200" pitchFamily="18" charset="0"/>
                        </a:rPr>
                        <a:t>(</a:t>
                      </a:r>
                      <a:r>
                        <a:rPr lang="en-US" sz="1500" b="0" i="1">
                          <a:effectLst/>
                          <a:latin typeface="Noto serif" panose="02020600060500020200" pitchFamily="18" charset="0"/>
                        </a:rPr>
                        <a:t>x</a:t>
                      </a:r>
                      <a:r>
                        <a:rPr lang="en-US" sz="1500" b="0" i="0">
                          <a:effectLst/>
                          <a:latin typeface="Noto serif" panose="02020600060500020200" pitchFamily="18" charset="0"/>
                        </a:rPr>
                        <a:t>)</a:t>
                      </a:r>
                    </a:p>
                  </a:txBody>
                  <a:tcPr marL="78083" marR="78083" marT="39041" marB="39041" anchor="ctr">
                    <a:lnL>
                      <a:noFill/>
                    </a:lnL>
                    <a:lnR>
                      <a:noFill/>
                    </a:lnR>
                    <a:lnT>
                      <a:noFill/>
                    </a:lnT>
                    <a:lnB>
                      <a:noFill/>
                    </a:lnB>
                    <a:solidFill>
                      <a:srgbClr val="FFFFFF"/>
                    </a:solidFill>
                  </a:tcPr>
                </a:tc>
                <a:tc>
                  <a:txBody>
                    <a:bodyPr/>
                    <a:lstStyle/>
                    <a:p>
                      <a:pPr algn="l" fontAlgn="ctr">
                        <a:buNone/>
                      </a:pPr>
                      <a:r>
                        <a:rPr lang="en-US" sz="1500" b="0" i="1">
                          <a:effectLst/>
                          <a:latin typeface="Noto serif" panose="02020600060500020200" pitchFamily="18" charset="0"/>
                        </a:rPr>
                        <a:t>f</a:t>
                      </a:r>
                      <a:r>
                        <a:rPr lang="en-US" sz="1500" b="1" i="0" baseline="-25000">
                          <a:effectLst/>
                          <a:latin typeface="Noto serif" panose="02020600060500020200" pitchFamily="18" charset="0"/>
                        </a:rPr>
                        <a:t>2</a:t>
                      </a:r>
                      <a:r>
                        <a:rPr lang="en-US" sz="1500" b="0" i="0">
                          <a:effectLst/>
                          <a:latin typeface="Noto serif" panose="02020600060500020200" pitchFamily="18" charset="0"/>
                        </a:rPr>
                        <a:t>(</a:t>
                      </a:r>
                      <a:r>
                        <a:rPr lang="en-US" sz="1500" b="0" i="1">
                          <a:effectLst/>
                          <a:latin typeface="Noto serif" panose="02020600060500020200" pitchFamily="18" charset="0"/>
                        </a:rPr>
                        <a:t>x</a:t>
                      </a:r>
                      <a:r>
                        <a:rPr lang="en-US" sz="1500" b="0" i="0">
                          <a:effectLst/>
                          <a:latin typeface="Noto serif" panose="02020600060500020200" pitchFamily="18" charset="0"/>
                        </a:rPr>
                        <a:t>)</a:t>
                      </a:r>
                    </a:p>
                  </a:txBody>
                  <a:tcPr marL="78083" marR="78083" marT="39041" marB="39041" anchor="ctr">
                    <a:lnL>
                      <a:noFill/>
                    </a:lnL>
                    <a:lnR>
                      <a:noFill/>
                    </a:lnR>
                    <a:lnT>
                      <a:noFill/>
                    </a:lnT>
                    <a:lnB>
                      <a:noFill/>
                    </a:lnB>
                    <a:solidFill>
                      <a:srgbClr val="FFFFFF"/>
                    </a:solidFill>
                  </a:tcPr>
                </a:tc>
                <a:tc>
                  <a:txBody>
                    <a:bodyPr/>
                    <a:lstStyle/>
                    <a:p>
                      <a:pPr algn="l" fontAlgn="ctr">
                        <a:buNone/>
                      </a:pPr>
                      <a:r>
                        <a:rPr lang="en-US" sz="1500" b="0" i="1">
                          <a:effectLst/>
                          <a:latin typeface="Noto serif" panose="02020600060500020200" pitchFamily="18" charset="0"/>
                        </a:rPr>
                        <a:t>f</a:t>
                      </a:r>
                      <a:r>
                        <a:rPr lang="en-US" sz="1500" b="1" i="0" baseline="-25000">
                          <a:effectLst/>
                          <a:latin typeface="Noto serif" panose="02020600060500020200" pitchFamily="18" charset="0"/>
                        </a:rPr>
                        <a:t>3</a:t>
                      </a:r>
                      <a:r>
                        <a:rPr lang="en-US" sz="1500" b="0" i="0">
                          <a:effectLst/>
                          <a:latin typeface="Noto serif" panose="02020600060500020200" pitchFamily="18" charset="0"/>
                        </a:rPr>
                        <a:t>(</a:t>
                      </a:r>
                      <a:r>
                        <a:rPr lang="en-US" sz="1500" b="0" i="1">
                          <a:effectLst/>
                          <a:latin typeface="Noto serif" panose="02020600060500020200" pitchFamily="18" charset="0"/>
                        </a:rPr>
                        <a:t>x</a:t>
                      </a:r>
                      <a:r>
                        <a:rPr lang="en-US" sz="1500" b="0" i="0">
                          <a:effectLst/>
                          <a:latin typeface="Noto serif" panose="02020600060500020200" pitchFamily="18" charset="0"/>
                        </a:rPr>
                        <a:t>)</a:t>
                      </a:r>
                    </a:p>
                  </a:txBody>
                  <a:tcPr marL="78083" marR="78083" marT="39041" marB="39041" anchor="ctr">
                    <a:lnL>
                      <a:noFill/>
                    </a:lnL>
                    <a:lnR>
                      <a:noFill/>
                    </a:lnR>
                    <a:lnT>
                      <a:noFill/>
                    </a:lnT>
                    <a:lnB>
                      <a:noFill/>
                    </a:lnB>
                    <a:solidFill>
                      <a:srgbClr val="FFFFFF"/>
                    </a:solidFill>
                  </a:tcPr>
                </a:tc>
                <a:extLst>
                  <a:ext uri="{0D108BD9-81ED-4DB2-BD59-A6C34878D82A}">
                    <a16:rowId xmlns:a16="http://schemas.microsoft.com/office/drawing/2014/main" val="3537911604"/>
                  </a:ext>
                </a:extLst>
              </a:tr>
              <a:tr h="312331">
                <a:tc>
                  <a:txBody>
                    <a:bodyPr/>
                    <a:lstStyle/>
                    <a:p>
                      <a:pPr algn="l">
                        <a:buNone/>
                      </a:pPr>
                      <a:r>
                        <a:rPr lang="en-US" sz="1500" b="0" i="0">
                          <a:effectLst/>
                          <a:latin typeface="Noto serif" panose="02020600060500020200" pitchFamily="18" charset="0"/>
                        </a:rPr>
                        <a:t>000</a:t>
                      </a:r>
                    </a:p>
                  </a:txBody>
                  <a:tcPr marL="78083" marR="78083" marT="39041" marB="39041" anchor="ctr">
                    <a:lnL>
                      <a:noFill/>
                    </a:lnL>
                    <a:lnR>
                      <a:noFill/>
                    </a:lnR>
                    <a:lnT>
                      <a:noFill/>
                    </a:lnT>
                    <a:lnB>
                      <a:noFill/>
                    </a:lnB>
                    <a:solidFill>
                      <a:srgbClr val="E6E7E8"/>
                    </a:solidFill>
                  </a:tcPr>
                </a:tc>
                <a:tc>
                  <a:txBody>
                    <a:bodyPr/>
                    <a:lstStyle/>
                    <a:p>
                      <a:pPr algn="l">
                        <a:buNone/>
                      </a:pPr>
                      <a:r>
                        <a:rPr lang="en-US" sz="1500" b="0" i="0">
                          <a:effectLst/>
                          <a:latin typeface="Noto serif" panose="02020600060500020200" pitchFamily="18" charset="0"/>
                        </a:rPr>
                        <a:t>0</a:t>
                      </a:r>
                    </a:p>
                  </a:txBody>
                  <a:tcPr marL="78083" marR="78083" marT="39041" marB="39041" anchor="ctr">
                    <a:lnL>
                      <a:noFill/>
                    </a:lnL>
                    <a:lnR>
                      <a:noFill/>
                    </a:lnR>
                    <a:lnT>
                      <a:noFill/>
                    </a:lnT>
                    <a:lnB>
                      <a:noFill/>
                    </a:lnB>
                    <a:solidFill>
                      <a:srgbClr val="E6E7E8"/>
                    </a:solidFill>
                  </a:tcPr>
                </a:tc>
                <a:tc>
                  <a:txBody>
                    <a:bodyPr/>
                    <a:lstStyle/>
                    <a:p>
                      <a:pPr algn="l">
                        <a:buNone/>
                      </a:pPr>
                      <a:r>
                        <a:rPr lang="en-US" sz="1500" b="0" i="0">
                          <a:effectLst/>
                          <a:latin typeface="Noto serif" panose="02020600060500020200" pitchFamily="18" charset="0"/>
                        </a:rPr>
                        <a:t>1</a:t>
                      </a:r>
                    </a:p>
                  </a:txBody>
                  <a:tcPr marL="78083" marR="78083" marT="39041" marB="39041" anchor="ctr">
                    <a:lnL>
                      <a:noFill/>
                    </a:lnL>
                    <a:lnR>
                      <a:noFill/>
                    </a:lnR>
                    <a:lnT>
                      <a:noFill/>
                    </a:lnT>
                    <a:lnB>
                      <a:noFill/>
                    </a:lnB>
                    <a:solidFill>
                      <a:srgbClr val="E6E7E8"/>
                    </a:solidFill>
                  </a:tcPr>
                </a:tc>
                <a:tc>
                  <a:txBody>
                    <a:bodyPr/>
                    <a:lstStyle/>
                    <a:p>
                      <a:pPr algn="l">
                        <a:buNone/>
                      </a:pPr>
                      <a:r>
                        <a:rPr lang="en-US" sz="1500" b="0" i="0">
                          <a:effectLst/>
                          <a:latin typeface="Noto serif" panose="02020600060500020200" pitchFamily="18" charset="0"/>
                        </a:rPr>
                        <a:t>0</a:t>
                      </a:r>
                    </a:p>
                  </a:txBody>
                  <a:tcPr marL="78083" marR="78083" marT="39041" marB="39041" anchor="ctr">
                    <a:lnL>
                      <a:noFill/>
                    </a:lnL>
                    <a:lnR>
                      <a:noFill/>
                    </a:lnR>
                    <a:lnT>
                      <a:noFill/>
                    </a:lnT>
                    <a:lnB>
                      <a:noFill/>
                    </a:lnB>
                    <a:solidFill>
                      <a:srgbClr val="E6E7E8"/>
                    </a:solidFill>
                  </a:tcPr>
                </a:tc>
                <a:tc>
                  <a:txBody>
                    <a:bodyPr/>
                    <a:lstStyle/>
                    <a:p>
                      <a:pPr algn="l">
                        <a:buNone/>
                      </a:pPr>
                      <a:r>
                        <a:rPr lang="en-US" sz="1500" b="0" i="0">
                          <a:effectLst/>
                          <a:latin typeface="Noto serif" panose="02020600060500020200" pitchFamily="18" charset="0"/>
                        </a:rPr>
                        <a:t>1</a:t>
                      </a:r>
                    </a:p>
                  </a:txBody>
                  <a:tcPr marL="78083" marR="78083" marT="39041" marB="39041" anchor="ctr">
                    <a:lnL>
                      <a:noFill/>
                    </a:lnL>
                    <a:lnR>
                      <a:noFill/>
                    </a:lnR>
                    <a:lnT>
                      <a:noFill/>
                    </a:lnT>
                    <a:lnB>
                      <a:noFill/>
                    </a:lnB>
                    <a:solidFill>
                      <a:srgbClr val="E6E7E8"/>
                    </a:solidFill>
                  </a:tcPr>
                </a:tc>
                <a:extLst>
                  <a:ext uri="{0D108BD9-81ED-4DB2-BD59-A6C34878D82A}">
                    <a16:rowId xmlns:a16="http://schemas.microsoft.com/office/drawing/2014/main" val="1193624161"/>
                  </a:ext>
                </a:extLst>
              </a:tr>
              <a:tr h="312331">
                <a:tc>
                  <a:txBody>
                    <a:bodyPr/>
                    <a:lstStyle/>
                    <a:p>
                      <a:pPr algn="l">
                        <a:buNone/>
                      </a:pPr>
                      <a:r>
                        <a:rPr lang="en-US" sz="1500" b="0" i="0">
                          <a:effectLst/>
                          <a:latin typeface="Noto serif" panose="02020600060500020200" pitchFamily="18" charset="0"/>
                        </a:rPr>
                        <a:t>001</a:t>
                      </a:r>
                    </a:p>
                  </a:txBody>
                  <a:tcPr marL="78083" marR="78083" marT="39041" marB="39041" anchor="ctr">
                    <a:lnL>
                      <a:noFill/>
                    </a:lnL>
                    <a:lnR>
                      <a:noFill/>
                    </a:lnR>
                    <a:lnT>
                      <a:noFill/>
                    </a:lnT>
                    <a:lnB>
                      <a:noFill/>
                    </a:lnB>
                    <a:solidFill>
                      <a:srgbClr val="EEF2F6"/>
                    </a:solidFill>
                  </a:tcPr>
                </a:tc>
                <a:tc>
                  <a:txBody>
                    <a:bodyPr/>
                    <a:lstStyle/>
                    <a:p>
                      <a:pPr algn="l">
                        <a:buNone/>
                      </a:pPr>
                      <a:r>
                        <a:rPr lang="en-US" sz="1500" b="0" i="0">
                          <a:effectLst/>
                          <a:latin typeface="Noto serif" panose="02020600060500020200" pitchFamily="18" charset="0"/>
                        </a:rPr>
                        <a:t>0</a:t>
                      </a:r>
                    </a:p>
                  </a:txBody>
                  <a:tcPr marL="78083" marR="78083" marT="39041" marB="39041" anchor="ctr">
                    <a:lnL>
                      <a:noFill/>
                    </a:lnL>
                    <a:lnR>
                      <a:noFill/>
                    </a:lnR>
                    <a:lnT>
                      <a:noFill/>
                    </a:lnT>
                    <a:lnB>
                      <a:noFill/>
                    </a:lnB>
                    <a:solidFill>
                      <a:srgbClr val="EEF2F6"/>
                    </a:solidFill>
                  </a:tcPr>
                </a:tc>
                <a:tc>
                  <a:txBody>
                    <a:bodyPr/>
                    <a:lstStyle/>
                    <a:p>
                      <a:pPr algn="l">
                        <a:buNone/>
                      </a:pPr>
                      <a:r>
                        <a:rPr lang="en-US" sz="1500" b="0" i="0">
                          <a:effectLst/>
                          <a:latin typeface="Noto serif" panose="02020600060500020200" pitchFamily="18" charset="0"/>
                        </a:rPr>
                        <a:t>1</a:t>
                      </a:r>
                    </a:p>
                  </a:txBody>
                  <a:tcPr marL="78083" marR="78083" marT="39041" marB="39041" anchor="ctr">
                    <a:lnL>
                      <a:noFill/>
                    </a:lnL>
                    <a:lnR>
                      <a:noFill/>
                    </a:lnR>
                    <a:lnT>
                      <a:noFill/>
                    </a:lnT>
                    <a:lnB>
                      <a:noFill/>
                    </a:lnB>
                    <a:solidFill>
                      <a:srgbClr val="EEF2F6"/>
                    </a:solidFill>
                  </a:tcPr>
                </a:tc>
                <a:tc>
                  <a:txBody>
                    <a:bodyPr/>
                    <a:lstStyle/>
                    <a:p>
                      <a:pPr algn="l">
                        <a:buNone/>
                      </a:pPr>
                      <a:r>
                        <a:rPr lang="en-US" sz="1500" b="0" i="0">
                          <a:effectLst/>
                          <a:latin typeface="Noto serif" panose="02020600060500020200" pitchFamily="18" charset="0"/>
                        </a:rPr>
                        <a:t>0</a:t>
                      </a:r>
                    </a:p>
                  </a:txBody>
                  <a:tcPr marL="78083" marR="78083" marT="39041" marB="39041" anchor="ctr">
                    <a:lnL>
                      <a:noFill/>
                    </a:lnL>
                    <a:lnR>
                      <a:noFill/>
                    </a:lnR>
                    <a:lnT>
                      <a:noFill/>
                    </a:lnT>
                    <a:lnB>
                      <a:noFill/>
                    </a:lnB>
                    <a:solidFill>
                      <a:srgbClr val="EEF2F6"/>
                    </a:solidFill>
                  </a:tcPr>
                </a:tc>
                <a:tc>
                  <a:txBody>
                    <a:bodyPr/>
                    <a:lstStyle/>
                    <a:p>
                      <a:pPr algn="l">
                        <a:buNone/>
                      </a:pPr>
                      <a:r>
                        <a:rPr lang="en-US" sz="1500" b="0" i="0">
                          <a:effectLst/>
                          <a:latin typeface="Noto serif" panose="02020600060500020200" pitchFamily="18" charset="0"/>
                        </a:rPr>
                        <a:t>1</a:t>
                      </a:r>
                    </a:p>
                  </a:txBody>
                  <a:tcPr marL="78083" marR="78083" marT="39041" marB="39041" anchor="ctr">
                    <a:lnL>
                      <a:noFill/>
                    </a:lnL>
                    <a:lnR>
                      <a:noFill/>
                    </a:lnR>
                    <a:lnT>
                      <a:noFill/>
                    </a:lnT>
                    <a:lnB>
                      <a:noFill/>
                    </a:lnB>
                    <a:solidFill>
                      <a:srgbClr val="EEF2F6"/>
                    </a:solidFill>
                  </a:tcPr>
                </a:tc>
                <a:extLst>
                  <a:ext uri="{0D108BD9-81ED-4DB2-BD59-A6C34878D82A}">
                    <a16:rowId xmlns:a16="http://schemas.microsoft.com/office/drawing/2014/main" val="3392290573"/>
                  </a:ext>
                </a:extLst>
              </a:tr>
              <a:tr h="312331">
                <a:tc>
                  <a:txBody>
                    <a:bodyPr/>
                    <a:lstStyle/>
                    <a:p>
                      <a:pPr algn="l">
                        <a:buNone/>
                      </a:pPr>
                      <a:r>
                        <a:rPr lang="en-US" sz="1500" b="0" i="0">
                          <a:effectLst/>
                          <a:latin typeface="Noto serif" panose="02020600060500020200" pitchFamily="18" charset="0"/>
                        </a:rPr>
                        <a:t>010</a:t>
                      </a:r>
                    </a:p>
                  </a:txBody>
                  <a:tcPr marL="78083" marR="78083" marT="39041" marB="39041" anchor="ctr">
                    <a:lnL>
                      <a:noFill/>
                    </a:lnL>
                    <a:lnR>
                      <a:noFill/>
                    </a:lnR>
                    <a:lnT>
                      <a:noFill/>
                    </a:lnT>
                    <a:lnB>
                      <a:noFill/>
                    </a:lnB>
                    <a:solidFill>
                      <a:srgbClr val="E6E7E8"/>
                    </a:solidFill>
                  </a:tcPr>
                </a:tc>
                <a:tc>
                  <a:txBody>
                    <a:bodyPr/>
                    <a:lstStyle/>
                    <a:p>
                      <a:pPr algn="l">
                        <a:buNone/>
                      </a:pPr>
                      <a:r>
                        <a:rPr lang="en-US" sz="1500" b="0" i="0">
                          <a:effectLst/>
                          <a:latin typeface="Noto serif" panose="02020600060500020200" pitchFamily="18" charset="0"/>
                        </a:rPr>
                        <a:t>0</a:t>
                      </a:r>
                    </a:p>
                  </a:txBody>
                  <a:tcPr marL="78083" marR="78083" marT="39041" marB="39041" anchor="ctr">
                    <a:lnL>
                      <a:noFill/>
                    </a:lnL>
                    <a:lnR>
                      <a:noFill/>
                    </a:lnR>
                    <a:lnT>
                      <a:noFill/>
                    </a:lnT>
                    <a:lnB>
                      <a:noFill/>
                    </a:lnB>
                    <a:solidFill>
                      <a:srgbClr val="E6E7E8"/>
                    </a:solidFill>
                  </a:tcPr>
                </a:tc>
                <a:tc>
                  <a:txBody>
                    <a:bodyPr/>
                    <a:lstStyle/>
                    <a:p>
                      <a:pPr algn="l">
                        <a:buNone/>
                      </a:pPr>
                      <a:r>
                        <a:rPr lang="en-US" sz="1500" b="0" i="0">
                          <a:effectLst/>
                          <a:latin typeface="Noto serif" panose="02020600060500020200" pitchFamily="18" charset="0"/>
                        </a:rPr>
                        <a:t>1</a:t>
                      </a:r>
                    </a:p>
                  </a:txBody>
                  <a:tcPr marL="78083" marR="78083" marT="39041" marB="39041" anchor="ctr">
                    <a:lnL>
                      <a:noFill/>
                    </a:lnL>
                    <a:lnR>
                      <a:noFill/>
                    </a:lnR>
                    <a:lnT>
                      <a:noFill/>
                    </a:lnT>
                    <a:lnB>
                      <a:noFill/>
                    </a:lnB>
                    <a:solidFill>
                      <a:srgbClr val="E6E7E8"/>
                    </a:solidFill>
                  </a:tcPr>
                </a:tc>
                <a:tc>
                  <a:txBody>
                    <a:bodyPr/>
                    <a:lstStyle/>
                    <a:p>
                      <a:pPr algn="l">
                        <a:buNone/>
                      </a:pPr>
                      <a:r>
                        <a:rPr lang="en-US" sz="1500" b="0" i="0">
                          <a:effectLst/>
                          <a:latin typeface="Noto serif" panose="02020600060500020200" pitchFamily="18" charset="0"/>
                        </a:rPr>
                        <a:t>0</a:t>
                      </a:r>
                    </a:p>
                  </a:txBody>
                  <a:tcPr marL="78083" marR="78083" marT="39041" marB="39041" anchor="ctr">
                    <a:lnL>
                      <a:noFill/>
                    </a:lnL>
                    <a:lnR>
                      <a:noFill/>
                    </a:lnR>
                    <a:lnT>
                      <a:noFill/>
                    </a:lnT>
                    <a:lnB>
                      <a:noFill/>
                    </a:lnB>
                    <a:solidFill>
                      <a:srgbClr val="E6E7E8"/>
                    </a:solidFill>
                  </a:tcPr>
                </a:tc>
                <a:tc>
                  <a:txBody>
                    <a:bodyPr/>
                    <a:lstStyle/>
                    <a:p>
                      <a:pPr algn="l">
                        <a:buNone/>
                      </a:pPr>
                      <a:r>
                        <a:rPr lang="en-US" sz="1500" b="0" i="0">
                          <a:effectLst/>
                          <a:latin typeface="Noto serif" panose="02020600060500020200" pitchFamily="18" charset="0"/>
                        </a:rPr>
                        <a:t>0</a:t>
                      </a:r>
                    </a:p>
                  </a:txBody>
                  <a:tcPr marL="78083" marR="78083" marT="39041" marB="39041" anchor="ctr">
                    <a:lnL>
                      <a:noFill/>
                    </a:lnL>
                    <a:lnR>
                      <a:noFill/>
                    </a:lnR>
                    <a:lnT>
                      <a:noFill/>
                    </a:lnT>
                    <a:lnB>
                      <a:noFill/>
                    </a:lnB>
                    <a:solidFill>
                      <a:srgbClr val="E6E7E8"/>
                    </a:solidFill>
                  </a:tcPr>
                </a:tc>
                <a:extLst>
                  <a:ext uri="{0D108BD9-81ED-4DB2-BD59-A6C34878D82A}">
                    <a16:rowId xmlns:a16="http://schemas.microsoft.com/office/drawing/2014/main" val="1591516553"/>
                  </a:ext>
                </a:extLst>
              </a:tr>
              <a:tr h="312331">
                <a:tc>
                  <a:txBody>
                    <a:bodyPr/>
                    <a:lstStyle/>
                    <a:p>
                      <a:pPr algn="l">
                        <a:buNone/>
                      </a:pPr>
                      <a:r>
                        <a:rPr lang="en-US" sz="1500" b="0" i="0">
                          <a:effectLst/>
                          <a:latin typeface="Noto serif" panose="02020600060500020200" pitchFamily="18" charset="0"/>
                        </a:rPr>
                        <a:t>011</a:t>
                      </a:r>
                    </a:p>
                  </a:txBody>
                  <a:tcPr marL="78083" marR="78083" marT="39041" marB="39041" anchor="ctr">
                    <a:lnL>
                      <a:noFill/>
                    </a:lnL>
                    <a:lnR>
                      <a:noFill/>
                    </a:lnR>
                    <a:lnT>
                      <a:noFill/>
                    </a:lnT>
                    <a:lnB>
                      <a:noFill/>
                    </a:lnB>
                    <a:solidFill>
                      <a:srgbClr val="EEF2F6"/>
                    </a:solidFill>
                  </a:tcPr>
                </a:tc>
                <a:tc>
                  <a:txBody>
                    <a:bodyPr/>
                    <a:lstStyle/>
                    <a:p>
                      <a:pPr algn="l">
                        <a:buNone/>
                      </a:pPr>
                      <a:r>
                        <a:rPr lang="en-US" sz="1500" b="0" i="0">
                          <a:effectLst/>
                          <a:latin typeface="Noto serif" panose="02020600060500020200" pitchFamily="18" charset="0"/>
                        </a:rPr>
                        <a:t>0</a:t>
                      </a:r>
                    </a:p>
                  </a:txBody>
                  <a:tcPr marL="78083" marR="78083" marT="39041" marB="39041" anchor="ctr">
                    <a:lnL>
                      <a:noFill/>
                    </a:lnL>
                    <a:lnR>
                      <a:noFill/>
                    </a:lnR>
                    <a:lnT>
                      <a:noFill/>
                    </a:lnT>
                    <a:lnB>
                      <a:noFill/>
                    </a:lnB>
                    <a:solidFill>
                      <a:srgbClr val="EEF2F6"/>
                    </a:solidFill>
                  </a:tcPr>
                </a:tc>
                <a:tc>
                  <a:txBody>
                    <a:bodyPr/>
                    <a:lstStyle/>
                    <a:p>
                      <a:pPr algn="l">
                        <a:buNone/>
                      </a:pPr>
                      <a:r>
                        <a:rPr lang="en-US" sz="1500" b="0" i="0">
                          <a:effectLst/>
                          <a:latin typeface="Noto serif" panose="02020600060500020200" pitchFamily="18" charset="0"/>
                        </a:rPr>
                        <a:t>1</a:t>
                      </a:r>
                    </a:p>
                  </a:txBody>
                  <a:tcPr marL="78083" marR="78083" marT="39041" marB="39041" anchor="ctr">
                    <a:lnL>
                      <a:noFill/>
                    </a:lnL>
                    <a:lnR>
                      <a:noFill/>
                    </a:lnR>
                    <a:lnT>
                      <a:noFill/>
                    </a:lnT>
                    <a:lnB>
                      <a:noFill/>
                    </a:lnB>
                    <a:solidFill>
                      <a:srgbClr val="EEF2F6"/>
                    </a:solidFill>
                  </a:tcPr>
                </a:tc>
                <a:tc>
                  <a:txBody>
                    <a:bodyPr/>
                    <a:lstStyle/>
                    <a:p>
                      <a:pPr algn="l">
                        <a:buNone/>
                      </a:pPr>
                      <a:r>
                        <a:rPr lang="en-US" sz="1500" b="0" i="0">
                          <a:effectLst/>
                          <a:latin typeface="Noto serif" panose="02020600060500020200" pitchFamily="18" charset="0"/>
                        </a:rPr>
                        <a:t>0</a:t>
                      </a:r>
                    </a:p>
                  </a:txBody>
                  <a:tcPr marL="78083" marR="78083" marT="39041" marB="39041" anchor="ctr">
                    <a:lnL>
                      <a:noFill/>
                    </a:lnL>
                    <a:lnR>
                      <a:noFill/>
                    </a:lnR>
                    <a:lnT>
                      <a:noFill/>
                    </a:lnT>
                    <a:lnB>
                      <a:noFill/>
                    </a:lnB>
                    <a:solidFill>
                      <a:srgbClr val="EEF2F6"/>
                    </a:solidFill>
                  </a:tcPr>
                </a:tc>
                <a:tc>
                  <a:txBody>
                    <a:bodyPr/>
                    <a:lstStyle/>
                    <a:p>
                      <a:pPr algn="l">
                        <a:buNone/>
                      </a:pPr>
                      <a:r>
                        <a:rPr lang="en-US" sz="1500" b="0" i="0">
                          <a:effectLst/>
                          <a:latin typeface="Noto serif" panose="02020600060500020200" pitchFamily="18" charset="0"/>
                        </a:rPr>
                        <a:t>1</a:t>
                      </a:r>
                    </a:p>
                  </a:txBody>
                  <a:tcPr marL="78083" marR="78083" marT="39041" marB="39041" anchor="ctr">
                    <a:lnL>
                      <a:noFill/>
                    </a:lnL>
                    <a:lnR>
                      <a:noFill/>
                    </a:lnR>
                    <a:lnT>
                      <a:noFill/>
                    </a:lnT>
                    <a:lnB>
                      <a:noFill/>
                    </a:lnB>
                    <a:solidFill>
                      <a:srgbClr val="EEF2F6"/>
                    </a:solidFill>
                  </a:tcPr>
                </a:tc>
                <a:extLst>
                  <a:ext uri="{0D108BD9-81ED-4DB2-BD59-A6C34878D82A}">
                    <a16:rowId xmlns:a16="http://schemas.microsoft.com/office/drawing/2014/main" val="3294321059"/>
                  </a:ext>
                </a:extLst>
              </a:tr>
              <a:tr h="312331">
                <a:tc>
                  <a:txBody>
                    <a:bodyPr/>
                    <a:lstStyle/>
                    <a:p>
                      <a:pPr algn="l">
                        <a:buNone/>
                      </a:pPr>
                      <a:r>
                        <a:rPr lang="en-US" sz="1500" b="0" i="0">
                          <a:effectLst/>
                          <a:latin typeface="Noto serif" panose="02020600060500020200" pitchFamily="18" charset="0"/>
                        </a:rPr>
                        <a:t>100</a:t>
                      </a:r>
                    </a:p>
                  </a:txBody>
                  <a:tcPr marL="78083" marR="78083" marT="39041" marB="39041" anchor="ctr">
                    <a:lnL>
                      <a:noFill/>
                    </a:lnL>
                    <a:lnR>
                      <a:noFill/>
                    </a:lnR>
                    <a:lnT>
                      <a:noFill/>
                    </a:lnT>
                    <a:lnB>
                      <a:noFill/>
                    </a:lnB>
                    <a:solidFill>
                      <a:srgbClr val="E6E7E8"/>
                    </a:solidFill>
                  </a:tcPr>
                </a:tc>
                <a:tc>
                  <a:txBody>
                    <a:bodyPr/>
                    <a:lstStyle/>
                    <a:p>
                      <a:pPr algn="l">
                        <a:buNone/>
                      </a:pPr>
                      <a:r>
                        <a:rPr lang="en-US" sz="1500" b="0" i="0">
                          <a:effectLst/>
                          <a:latin typeface="Noto serif" panose="02020600060500020200" pitchFamily="18" charset="0"/>
                        </a:rPr>
                        <a:t>0</a:t>
                      </a:r>
                    </a:p>
                  </a:txBody>
                  <a:tcPr marL="78083" marR="78083" marT="39041" marB="39041" anchor="ctr">
                    <a:lnL>
                      <a:noFill/>
                    </a:lnL>
                    <a:lnR>
                      <a:noFill/>
                    </a:lnR>
                    <a:lnT>
                      <a:noFill/>
                    </a:lnT>
                    <a:lnB>
                      <a:noFill/>
                    </a:lnB>
                    <a:solidFill>
                      <a:srgbClr val="E6E7E8"/>
                    </a:solidFill>
                  </a:tcPr>
                </a:tc>
                <a:tc>
                  <a:txBody>
                    <a:bodyPr/>
                    <a:lstStyle/>
                    <a:p>
                      <a:pPr algn="l">
                        <a:buNone/>
                      </a:pPr>
                      <a:r>
                        <a:rPr lang="en-US" sz="1500" b="0" i="0">
                          <a:effectLst/>
                          <a:latin typeface="Noto serif" panose="02020600060500020200" pitchFamily="18" charset="0"/>
                        </a:rPr>
                        <a:t>1</a:t>
                      </a:r>
                    </a:p>
                  </a:txBody>
                  <a:tcPr marL="78083" marR="78083" marT="39041" marB="39041" anchor="ctr">
                    <a:lnL>
                      <a:noFill/>
                    </a:lnL>
                    <a:lnR>
                      <a:noFill/>
                    </a:lnR>
                    <a:lnT>
                      <a:noFill/>
                    </a:lnT>
                    <a:lnB>
                      <a:noFill/>
                    </a:lnB>
                    <a:solidFill>
                      <a:srgbClr val="E6E7E8"/>
                    </a:solidFill>
                  </a:tcPr>
                </a:tc>
                <a:tc>
                  <a:txBody>
                    <a:bodyPr/>
                    <a:lstStyle/>
                    <a:p>
                      <a:pPr algn="l">
                        <a:buNone/>
                      </a:pPr>
                      <a:r>
                        <a:rPr lang="en-US" sz="1500" b="0" i="0">
                          <a:effectLst/>
                          <a:latin typeface="Noto serif" panose="02020600060500020200" pitchFamily="18" charset="0"/>
                        </a:rPr>
                        <a:t>1</a:t>
                      </a:r>
                    </a:p>
                  </a:txBody>
                  <a:tcPr marL="78083" marR="78083" marT="39041" marB="39041" anchor="ctr">
                    <a:lnL>
                      <a:noFill/>
                    </a:lnL>
                    <a:lnR>
                      <a:noFill/>
                    </a:lnR>
                    <a:lnT>
                      <a:noFill/>
                    </a:lnT>
                    <a:lnB>
                      <a:noFill/>
                    </a:lnB>
                    <a:solidFill>
                      <a:srgbClr val="E6E7E8"/>
                    </a:solidFill>
                  </a:tcPr>
                </a:tc>
                <a:tc>
                  <a:txBody>
                    <a:bodyPr/>
                    <a:lstStyle/>
                    <a:p>
                      <a:pPr algn="l">
                        <a:buNone/>
                      </a:pPr>
                      <a:r>
                        <a:rPr lang="en-US" sz="1500" b="0" i="0">
                          <a:effectLst/>
                          <a:latin typeface="Noto serif" panose="02020600060500020200" pitchFamily="18" charset="0"/>
                        </a:rPr>
                        <a:t>0</a:t>
                      </a:r>
                    </a:p>
                  </a:txBody>
                  <a:tcPr marL="78083" marR="78083" marT="39041" marB="39041" anchor="ctr">
                    <a:lnL>
                      <a:noFill/>
                    </a:lnL>
                    <a:lnR>
                      <a:noFill/>
                    </a:lnR>
                    <a:lnT>
                      <a:noFill/>
                    </a:lnT>
                    <a:lnB>
                      <a:noFill/>
                    </a:lnB>
                    <a:solidFill>
                      <a:srgbClr val="E6E7E8"/>
                    </a:solidFill>
                  </a:tcPr>
                </a:tc>
                <a:extLst>
                  <a:ext uri="{0D108BD9-81ED-4DB2-BD59-A6C34878D82A}">
                    <a16:rowId xmlns:a16="http://schemas.microsoft.com/office/drawing/2014/main" val="982356627"/>
                  </a:ext>
                </a:extLst>
              </a:tr>
              <a:tr h="312331">
                <a:tc>
                  <a:txBody>
                    <a:bodyPr/>
                    <a:lstStyle/>
                    <a:p>
                      <a:pPr algn="l">
                        <a:buNone/>
                      </a:pPr>
                      <a:r>
                        <a:rPr lang="en-US" sz="1500" b="0" i="0">
                          <a:effectLst/>
                          <a:latin typeface="Noto serif" panose="02020600060500020200" pitchFamily="18" charset="0"/>
                        </a:rPr>
                        <a:t>101</a:t>
                      </a:r>
                    </a:p>
                  </a:txBody>
                  <a:tcPr marL="78083" marR="78083" marT="39041" marB="39041" anchor="ctr">
                    <a:lnL>
                      <a:noFill/>
                    </a:lnL>
                    <a:lnR>
                      <a:noFill/>
                    </a:lnR>
                    <a:lnT>
                      <a:noFill/>
                    </a:lnT>
                    <a:lnB>
                      <a:noFill/>
                    </a:lnB>
                    <a:solidFill>
                      <a:srgbClr val="EEF2F6"/>
                    </a:solidFill>
                  </a:tcPr>
                </a:tc>
                <a:tc>
                  <a:txBody>
                    <a:bodyPr/>
                    <a:lstStyle/>
                    <a:p>
                      <a:pPr algn="l">
                        <a:buNone/>
                      </a:pPr>
                      <a:r>
                        <a:rPr lang="en-US" sz="1500" b="0" i="0">
                          <a:effectLst/>
                          <a:latin typeface="Noto serif" panose="02020600060500020200" pitchFamily="18" charset="0"/>
                        </a:rPr>
                        <a:t>0</a:t>
                      </a:r>
                    </a:p>
                  </a:txBody>
                  <a:tcPr marL="78083" marR="78083" marT="39041" marB="39041" anchor="ctr">
                    <a:lnL>
                      <a:noFill/>
                    </a:lnL>
                    <a:lnR>
                      <a:noFill/>
                    </a:lnR>
                    <a:lnT>
                      <a:noFill/>
                    </a:lnT>
                    <a:lnB>
                      <a:noFill/>
                    </a:lnB>
                    <a:solidFill>
                      <a:srgbClr val="EEF2F6"/>
                    </a:solidFill>
                  </a:tcPr>
                </a:tc>
                <a:tc>
                  <a:txBody>
                    <a:bodyPr/>
                    <a:lstStyle/>
                    <a:p>
                      <a:pPr algn="l">
                        <a:buNone/>
                      </a:pPr>
                      <a:r>
                        <a:rPr lang="en-US" sz="1500" b="0" i="0">
                          <a:effectLst/>
                          <a:latin typeface="Noto serif" panose="02020600060500020200" pitchFamily="18" charset="0"/>
                        </a:rPr>
                        <a:t>1</a:t>
                      </a:r>
                    </a:p>
                  </a:txBody>
                  <a:tcPr marL="78083" marR="78083" marT="39041" marB="39041" anchor="ctr">
                    <a:lnL>
                      <a:noFill/>
                    </a:lnL>
                    <a:lnR>
                      <a:noFill/>
                    </a:lnR>
                    <a:lnT>
                      <a:noFill/>
                    </a:lnT>
                    <a:lnB>
                      <a:noFill/>
                    </a:lnB>
                    <a:solidFill>
                      <a:srgbClr val="EEF2F6"/>
                    </a:solidFill>
                  </a:tcPr>
                </a:tc>
                <a:tc>
                  <a:txBody>
                    <a:bodyPr/>
                    <a:lstStyle/>
                    <a:p>
                      <a:pPr algn="l">
                        <a:buNone/>
                      </a:pPr>
                      <a:r>
                        <a:rPr lang="en-US" sz="1500" b="0" i="0">
                          <a:effectLst/>
                          <a:latin typeface="Noto serif" panose="02020600060500020200" pitchFamily="18" charset="0"/>
                        </a:rPr>
                        <a:t>1</a:t>
                      </a:r>
                    </a:p>
                  </a:txBody>
                  <a:tcPr marL="78083" marR="78083" marT="39041" marB="39041" anchor="ctr">
                    <a:lnL>
                      <a:noFill/>
                    </a:lnL>
                    <a:lnR>
                      <a:noFill/>
                    </a:lnR>
                    <a:lnT>
                      <a:noFill/>
                    </a:lnT>
                    <a:lnB>
                      <a:noFill/>
                    </a:lnB>
                    <a:solidFill>
                      <a:srgbClr val="EEF2F6"/>
                    </a:solidFill>
                  </a:tcPr>
                </a:tc>
                <a:tc>
                  <a:txBody>
                    <a:bodyPr/>
                    <a:lstStyle/>
                    <a:p>
                      <a:pPr algn="l">
                        <a:buNone/>
                      </a:pPr>
                      <a:r>
                        <a:rPr lang="en-US" sz="1500" b="0" i="0">
                          <a:effectLst/>
                          <a:latin typeface="Noto serif" panose="02020600060500020200" pitchFamily="18" charset="0"/>
                        </a:rPr>
                        <a:t>0</a:t>
                      </a:r>
                    </a:p>
                  </a:txBody>
                  <a:tcPr marL="78083" marR="78083" marT="39041" marB="39041" anchor="ctr">
                    <a:lnL>
                      <a:noFill/>
                    </a:lnL>
                    <a:lnR>
                      <a:noFill/>
                    </a:lnR>
                    <a:lnT>
                      <a:noFill/>
                    </a:lnT>
                    <a:lnB>
                      <a:noFill/>
                    </a:lnB>
                    <a:solidFill>
                      <a:srgbClr val="EEF2F6"/>
                    </a:solidFill>
                  </a:tcPr>
                </a:tc>
                <a:extLst>
                  <a:ext uri="{0D108BD9-81ED-4DB2-BD59-A6C34878D82A}">
                    <a16:rowId xmlns:a16="http://schemas.microsoft.com/office/drawing/2014/main" val="2704967529"/>
                  </a:ext>
                </a:extLst>
              </a:tr>
              <a:tr h="312331">
                <a:tc>
                  <a:txBody>
                    <a:bodyPr/>
                    <a:lstStyle/>
                    <a:p>
                      <a:pPr algn="l">
                        <a:buNone/>
                      </a:pPr>
                      <a:r>
                        <a:rPr lang="en-US" sz="1500" b="0" i="0">
                          <a:effectLst/>
                          <a:latin typeface="Noto serif" panose="02020600060500020200" pitchFamily="18" charset="0"/>
                        </a:rPr>
                        <a:t>110</a:t>
                      </a:r>
                    </a:p>
                  </a:txBody>
                  <a:tcPr marL="78083" marR="78083" marT="39041" marB="39041" anchor="ctr">
                    <a:lnL>
                      <a:noFill/>
                    </a:lnL>
                    <a:lnR>
                      <a:noFill/>
                    </a:lnR>
                    <a:lnT>
                      <a:noFill/>
                    </a:lnT>
                    <a:lnB>
                      <a:noFill/>
                    </a:lnB>
                    <a:solidFill>
                      <a:srgbClr val="E6E7E8"/>
                    </a:solidFill>
                  </a:tcPr>
                </a:tc>
                <a:tc>
                  <a:txBody>
                    <a:bodyPr/>
                    <a:lstStyle/>
                    <a:p>
                      <a:pPr algn="l">
                        <a:buNone/>
                      </a:pPr>
                      <a:r>
                        <a:rPr lang="en-US" sz="1500" b="0" i="0">
                          <a:effectLst/>
                          <a:latin typeface="Noto serif" panose="02020600060500020200" pitchFamily="18" charset="0"/>
                        </a:rPr>
                        <a:t>0</a:t>
                      </a:r>
                    </a:p>
                  </a:txBody>
                  <a:tcPr marL="78083" marR="78083" marT="39041" marB="39041" anchor="ctr">
                    <a:lnL>
                      <a:noFill/>
                    </a:lnL>
                    <a:lnR>
                      <a:noFill/>
                    </a:lnR>
                    <a:lnT>
                      <a:noFill/>
                    </a:lnT>
                    <a:lnB>
                      <a:noFill/>
                    </a:lnB>
                    <a:solidFill>
                      <a:srgbClr val="E6E7E8"/>
                    </a:solidFill>
                  </a:tcPr>
                </a:tc>
                <a:tc>
                  <a:txBody>
                    <a:bodyPr/>
                    <a:lstStyle/>
                    <a:p>
                      <a:pPr algn="l">
                        <a:buNone/>
                      </a:pPr>
                      <a:r>
                        <a:rPr lang="en-US" sz="1500" b="0" i="0">
                          <a:effectLst/>
                          <a:latin typeface="Noto serif" panose="02020600060500020200" pitchFamily="18" charset="0"/>
                        </a:rPr>
                        <a:t>1</a:t>
                      </a:r>
                    </a:p>
                  </a:txBody>
                  <a:tcPr marL="78083" marR="78083" marT="39041" marB="39041" anchor="ctr">
                    <a:lnL>
                      <a:noFill/>
                    </a:lnL>
                    <a:lnR>
                      <a:noFill/>
                    </a:lnR>
                    <a:lnT>
                      <a:noFill/>
                    </a:lnT>
                    <a:lnB>
                      <a:noFill/>
                    </a:lnB>
                    <a:solidFill>
                      <a:srgbClr val="E6E7E8"/>
                    </a:solidFill>
                  </a:tcPr>
                </a:tc>
                <a:tc>
                  <a:txBody>
                    <a:bodyPr/>
                    <a:lstStyle/>
                    <a:p>
                      <a:pPr algn="l">
                        <a:buNone/>
                      </a:pPr>
                      <a:r>
                        <a:rPr lang="en-US" sz="1500" b="0" i="0">
                          <a:effectLst/>
                          <a:latin typeface="Noto serif" panose="02020600060500020200" pitchFamily="18" charset="0"/>
                        </a:rPr>
                        <a:t>1</a:t>
                      </a:r>
                    </a:p>
                  </a:txBody>
                  <a:tcPr marL="78083" marR="78083" marT="39041" marB="39041" anchor="ctr">
                    <a:lnL>
                      <a:noFill/>
                    </a:lnL>
                    <a:lnR>
                      <a:noFill/>
                    </a:lnR>
                    <a:lnT>
                      <a:noFill/>
                    </a:lnT>
                    <a:lnB>
                      <a:noFill/>
                    </a:lnB>
                    <a:solidFill>
                      <a:srgbClr val="E6E7E8"/>
                    </a:solidFill>
                  </a:tcPr>
                </a:tc>
                <a:tc>
                  <a:txBody>
                    <a:bodyPr/>
                    <a:lstStyle/>
                    <a:p>
                      <a:pPr algn="l">
                        <a:buNone/>
                      </a:pPr>
                      <a:r>
                        <a:rPr lang="en-US" sz="1500" b="0" i="0">
                          <a:effectLst/>
                          <a:latin typeface="Noto serif" panose="02020600060500020200" pitchFamily="18" charset="0"/>
                        </a:rPr>
                        <a:t>0</a:t>
                      </a:r>
                    </a:p>
                  </a:txBody>
                  <a:tcPr marL="78083" marR="78083" marT="39041" marB="39041" anchor="ctr">
                    <a:lnL>
                      <a:noFill/>
                    </a:lnL>
                    <a:lnR>
                      <a:noFill/>
                    </a:lnR>
                    <a:lnT>
                      <a:noFill/>
                    </a:lnT>
                    <a:lnB>
                      <a:noFill/>
                    </a:lnB>
                    <a:solidFill>
                      <a:srgbClr val="E6E7E8"/>
                    </a:solidFill>
                  </a:tcPr>
                </a:tc>
                <a:extLst>
                  <a:ext uri="{0D108BD9-81ED-4DB2-BD59-A6C34878D82A}">
                    <a16:rowId xmlns:a16="http://schemas.microsoft.com/office/drawing/2014/main" val="850174557"/>
                  </a:ext>
                </a:extLst>
              </a:tr>
              <a:tr h="312331">
                <a:tc>
                  <a:txBody>
                    <a:bodyPr/>
                    <a:lstStyle/>
                    <a:p>
                      <a:pPr algn="l">
                        <a:buNone/>
                      </a:pPr>
                      <a:r>
                        <a:rPr lang="en-US" sz="1500" b="0" i="0">
                          <a:effectLst/>
                          <a:latin typeface="Noto serif" panose="02020600060500020200" pitchFamily="18" charset="0"/>
                        </a:rPr>
                        <a:t>111</a:t>
                      </a:r>
                    </a:p>
                  </a:txBody>
                  <a:tcPr marL="78083" marR="78083" marT="39041" marB="39041" anchor="ctr">
                    <a:lnL>
                      <a:noFill/>
                    </a:lnL>
                    <a:lnR>
                      <a:noFill/>
                    </a:lnR>
                    <a:lnT>
                      <a:noFill/>
                    </a:lnT>
                    <a:lnB>
                      <a:noFill/>
                    </a:lnB>
                    <a:solidFill>
                      <a:srgbClr val="EEF2F6"/>
                    </a:solidFill>
                  </a:tcPr>
                </a:tc>
                <a:tc>
                  <a:txBody>
                    <a:bodyPr/>
                    <a:lstStyle/>
                    <a:p>
                      <a:pPr algn="l">
                        <a:buNone/>
                      </a:pPr>
                      <a:r>
                        <a:rPr lang="en-US" sz="1500" b="0" i="0">
                          <a:effectLst/>
                          <a:latin typeface="Noto serif" panose="02020600060500020200" pitchFamily="18" charset="0"/>
                        </a:rPr>
                        <a:t>0</a:t>
                      </a:r>
                    </a:p>
                  </a:txBody>
                  <a:tcPr marL="78083" marR="78083" marT="39041" marB="39041" anchor="ctr">
                    <a:lnL>
                      <a:noFill/>
                    </a:lnL>
                    <a:lnR>
                      <a:noFill/>
                    </a:lnR>
                    <a:lnT>
                      <a:noFill/>
                    </a:lnT>
                    <a:lnB>
                      <a:noFill/>
                    </a:lnB>
                    <a:solidFill>
                      <a:srgbClr val="EEF2F6"/>
                    </a:solidFill>
                  </a:tcPr>
                </a:tc>
                <a:tc>
                  <a:txBody>
                    <a:bodyPr/>
                    <a:lstStyle/>
                    <a:p>
                      <a:pPr algn="l">
                        <a:buNone/>
                      </a:pPr>
                      <a:r>
                        <a:rPr lang="en-US" sz="1500" b="0" i="0">
                          <a:effectLst/>
                          <a:latin typeface="Noto serif" panose="02020600060500020200" pitchFamily="18" charset="0"/>
                        </a:rPr>
                        <a:t>1</a:t>
                      </a:r>
                    </a:p>
                  </a:txBody>
                  <a:tcPr marL="78083" marR="78083" marT="39041" marB="39041" anchor="ctr">
                    <a:lnL>
                      <a:noFill/>
                    </a:lnL>
                    <a:lnR>
                      <a:noFill/>
                    </a:lnR>
                    <a:lnT>
                      <a:noFill/>
                    </a:lnT>
                    <a:lnB>
                      <a:noFill/>
                    </a:lnB>
                    <a:solidFill>
                      <a:srgbClr val="EEF2F6"/>
                    </a:solidFill>
                  </a:tcPr>
                </a:tc>
                <a:tc>
                  <a:txBody>
                    <a:bodyPr/>
                    <a:lstStyle/>
                    <a:p>
                      <a:pPr algn="l">
                        <a:buNone/>
                      </a:pPr>
                      <a:r>
                        <a:rPr lang="en-US" sz="1500" b="0" i="0">
                          <a:effectLst/>
                          <a:latin typeface="Noto serif" panose="02020600060500020200" pitchFamily="18" charset="0"/>
                        </a:rPr>
                        <a:t>1</a:t>
                      </a:r>
                    </a:p>
                  </a:txBody>
                  <a:tcPr marL="78083" marR="78083" marT="39041" marB="39041" anchor="ctr">
                    <a:lnL>
                      <a:noFill/>
                    </a:lnL>
                    <a:lnR>
                      <a:noFill/>
                    </a:lnR>
                    <a:lnT>
                      <a:noFill/>
                    </a:lnT>
                    <a:lnB>
                      <a:noFill/>
                    </a:lnB>
                    <a:solidFill>
                      <a:srgbClr val="EEF2F6"/>
                    </a:solidFill>
                  </a:tcPr>
                </a:tc>
                <a:tc>
                  <a:txBody>
                    <a:bodyPr/>
                    <a:lstStyle/>
                    <a:p>
                      <a:pPr algn="l">
                        <a:buNone/>
                      </a:pPr>
                      <a:r>
                        <a:rPr lang="en-US" sz="1500" b="0" i="0" dirty="0">
                          <a:effectLst/>
                          <a:latin typeface="Noto serif" panose="02020600060500020200" pitchFamily="18" charset="0"/>
                        </a:rPr>
                        <a:t>1</a:t>
                      </a:r>
                    </a:p>
                  </a:txBody>
                  <a:tcPr marL="78083" marR="78083" marT="39041" marB="39041" anchor="ctr">
                    <a:lnL>
                      <a:noFill/>
                    </a:lnL>
                    <a:lnR>
                      <a:noFill/>
                    </a:lnR>
                    <a:lnT>
                      <a:noFill/>
                    </a:lnT>
                    <a:lnB>
                      <a:noFill/>
                    </a:lnB>
                    <a:solidFill>
                      <a:srgbClr val="EEF2F6"/>
                    </a:solidFill>
                  </a:tcPr>
                </a:tc>
                <a:extLst>
                  <a:ext uri="{0D108BD9-81ED-4DB2-BD59-A6C34878D82A}">
                    <a16:rowId xmlns:a16="http://schemas.microsoft.com/office/drawing/2014/main" val="2574428172"/>
                  </a:ext>
                </a:extLst>
              </a:tr>
            </a:tbl>
          </a:graphicData>
        </a:graphic>
      </p:graphicFrame>
      <p:sp>
        <p:nvSpPr>
          <p:cNvPr id="4" name="Slide Number Placeholder 3">
            <a:extLst>
              <a:ext uri="{FF2B5EF4-FFF2-40B4-BE49-F238E27FC236}">
                <a16:creationId xmlns:a16="http://schemas.microsoft.com/office/drawing/2014/main" id="{0099369C-90D3-7E2F-A29C-D989C163C569}"/>
              </a:ext>
            </a:extLst>
          </p:cNvPr>
          <p:cNvSpPr>
            <a:spLocks noGrp="1"/>
          </p:cNvSpPr>
          <p:nvPr>
            <p:ph type="sldNum" sz="quarter" idx="4"/>
          </p:nvPr>
        </p:nvSpPr>
        <p:spPr/>
        <p:txBody>
          <a:bodyPr/>
          <a:lstStyle/>
          <a:p>
            <a:fld id="{58FB4751-880F-D840-AAA9-3A15815CC996}" type="slidenum">
              <a:rPr lang="en-US" smtClean="0"/>
              <a:pPr/>
              <a:t>3</a:t>
            </a:fld>
            <a:endParaRPr lang="en-US" dirty="0"/>
          </a:p>
        </p:txBody>
      </p:sp>
    </p:spTree>
    <p:extLst>
      <p:ext uri="{BB962C8B-B14F-4D97-AF65-F5344CB8AC3E}">
        <p14:creationId xmlns:p14="http://schemas.microsoft.com/office/powerpoint/2010/main" val="2802351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21F5F-E4B2-5961-C013-587666219955}"/>
              </a:ext>
            </a:extLst>
          </p:cNvPr>
          <p:cNvSpPr>
            <a:spLocks noGrp="1"/>
          </p:cNvSpPr>
          <p:nvPr>
            <p:ph type="title"/>
          </p:nvPr>
        </p:nvSpPr>
        <p:spPr>
          <a:xfrm>
            <a:off x="914400" y="240030"/>
            <a:ext cx="7534656" cy="914400"/>
          </a:xfrm>
        </p:spPr>
        <p:txBody>
          <a:bodyPr/>
          <a:lstStyle/>
          <a:p>
            <a:r>
              <a:rPr lang="en-US" dirty="0"/>
              <a:t>Initial Characterization of the Circuit</a:t>
            </a:r>
          </a:p>
        </p:txBody>
      </p:sp>
      <p:sp>
        <p:nvSpPr>
          <p:cNvPr id="3" name="Content Placeholder 2">
            <a:extLst>
              <a:ext uri="{FF2B5EF4-FFF2-40B4-BE49-F238E27FC236}">
                <a16:creationId xmlns:a16="http://schemas.microsoft.com/office/drawing/2014/main" id="{FFC489AD-EB33-51B1-4CE6-13B2A254AFEB}"/>
              </a:ext>
            </a:extLst>
          </p:cNvPr>
          <p:cNvSpPr>
            <a:spLocks noGrp="1"/>
          </p:cNvSpPr>
          <p:nvPr>
            <p:ph sz="quarter" idx="10"/>
          </p:nvPr>
        </p:nvSpPr>
        <p:spPr>
          <a:xfrm>
            <a:off x="560070" y="1497330"/>
            <a:ext cx="10355580" cy="5120640"/>
          </a:xfrm>
        </p:spPr>
        <p:txBody>
          <a:bodyPr>
            <a:normAutofit/>
          </a:bodyPr>
          <a:lstStyle/>
          <a:p>
            <a:r>
              <a:rPr lang="en-US" sz="2400" dirty="0">
                <a:latin typeface="Abadi" panose="020B0604020104020204" pitchFamily="34" charset="0"/>
              </a:rPr>
              <a:t>Create a superposition of all 2</a:t>
            </a:r>
            <a:r>
              <a:rPr lang="en-US" sz="2400" b="1" i="1" baseline="30000" dirty="0">
                <a:latin typeface="Abadi" panose="020B0604020104020204" pitchFamily="34" charset="0"/>
              </a:rPr>
              <a:t>n</a:t>
            </a:r>
            <a:r>
              <a:rPr lang="en-US" sz="2400" dirty="0">
                <a:latin typeface="Abadi" panose="020B0604020104020204" pitchFamily="34" charset="0"/>
              </a:rPr>
              <a:t> possible inputs and evaluate them all at once with quantum parallelism (one shot). </a:t>
            </a:r>
          </a:p>
          <a:p>
            <a:r>
              <a:rPr lang="en-US" sz="2400" dirty="0">
                <a:latin typeface="Abadi" panose="020B0604020104020204" pitchFamily="34" charset="0"/>
              </a:rPr>
              <a:t>Then we’ll use interference to process the results. </a:t>
            </a:r>
          </a:p>
          <a:p>
            <a:r>
              <a:rPr lang="en-US" sz="2400" dirty="0">
                <a:latin typeface="Abadi" panose="020B0604020104020204" pitchFamily="34" charset="0"/>
              </a:rPr>
              <a:t>If the function is constant and the outputs are all the same, the outputs will interfere so that the measured output will be all 0s. </a:t>
            </a:r>
          </a:p>
          <a:p>
            <a:r>
              <a:rPr lang="en-US" sz="2400" dirty="0">
                <a:latin typeface="Abadi" panose="020B0604020104020204" pitchFamily="34" charset="0"/>
              </a:rPr>
              <a:t>But if the function is balanced, the oracle’s outputs will interfere so that the measured output will be something other than all 0s (we don’t need to characterize that output any more precisely, since the conditions “all 0s” and “not all 0s” are all we need to distinguish the two possible classes).</a:t>
            </a:r>
          </a:p>
          <a:p>
            <a:r>
              <a:rPr lang="en-US" sz="2400" dirty="0">
                <a:latin typeface="Abadi" panose="020B0604020104020204" pitchFamily="34" charset="0"/>
              </a:rPr>
              <a:t> an all bitstring of </a:t>
            </a:r>
            <a:r>
              <a:rPr lang="en-US" sz="2400" i="1" dirty="0">
                <a:latin typeface="Abadi" panose="020B0604020104020204" pitchFamily="34" charset="0"/>
              </a:rPr>
              <a:t>n</a:t>
            </a:r>
            <a:r>
              <a:rPr lang="en-US" sz="2400" dirty="0">
                <a:latin typeface="Abadi" panose="020B0604020104020204" pitchFamily="34" charset="0"/>
              </a:rPr>
              <a:t> bits of value 0 will be referred as 0</a:t>
            </a:r>
            <a:r>
              <a:rPr lang="en-US" sz="2400" b="1" i="1" baseline="30000" dirty="0">
                <a:latin typeface="Abadi" panose="020B0604020104020204" pitchFamily="34" charset="0"/>
              </a:rPr>
              <a:t>n</a:t>
            </a:r>
            <a:r>
              <a:rPr lang="en-US" sz="2400" dirty="0">
                <a:latin typeface="Abadi" panose="020B0604020104020204" pitchFamily="34" charset="0"/>
              </a:rPr>
              <a:t>, and similarly write a bitstring of all 1 is referred to as 1</a:t>
            </a:r>
            <a:r>
              <a:rPr lang="en-US" sz="2400" b="1" i="1" baseline="30000" dirty="0">
                <a:latin typeface="Abadi" panose="020B0604020104020204" pitchFamily="34" charset="0"/>
              </a:rPr>
              <a:t>n</a:t>
            </a:r>
            <a:r>
              <a:rPr lang="en-US" sz="2400" dirty="0">
                <a:latin typeface="Abadi" panose="020B0604020104020204" pitchFamily="34" charset="0"/>
              </a:rPr>
              <a:t> for a bitstring of </a:t>
            </a:r>
            <a:r>
              <a:rPr lang="en-US" sz="2400" i="1" dirty="0">
                <a:latin typeface="Abadi" panose="020B0604020104020204" pitchFamily="34" charset="0"/>
              </a:rPr>
              <a:t>n</a:t>
            </a:r>
            <a:r>
              <a:rPr lang="en-US" sz="2400" dirty="0">
                <a:latin typeface="Abadi" panose="020B0604020104020204" pitchFamily="34" charset="0"/>
              </a:rPr>
              <a:t> bits that are all 1.</a:t>
            </a:r>
          </a:p>
          <a:p>
            <a:r>
              <a:rPr lang="en-US" sz="2400" dirty="0">
                <a:latin typeface="Abadi" panose="020B0604020104020204" pitchFamily="34" charset="0"/>
              </a:rPr>
              <a:t>The resulting high level design of the circuit is shown in the second slide</a:t>
            </a:r>
          </a:p>
        </p:txBody>
      </p:sp>
      <p:sp>
        <p:nvSpPr>
          <p:cNvPr id="4" name="Slide Number Placeholder 3">
            <a:extLst>
              <a:ext uri="{FF2B5EF4-FFF2-40B4-BE49-F238E27FC236}">
                <a16:creationId xmlns:a16="http://schemas.microsoft.com/office/drawing/2014/main" id="{CEAF79F9-6C15-87A2-22FC-06E6EF08C5BD}"/>
              </a:ext>
            </a:extLst>
          </p:cNvPr>
          <p:cNvSpPr>
            <a:spLocks noGrp="1"/>
          </p:cNvSpPr>
          <p:nvPr>
            <p:ph type="sldNum" sz="quarter" idx="4"/>
          </p:nvPr>
        </p:nvSpPr>
        <p:spPr/>
        <p:txBody>
          <a:bodyPr/>
          <a:lstStyle/>
          <a:p>
            <a:fld id="{58FB4751-880F-D840-AAA9-3A15815CC996}" type="slidenum">
              <a:rPr lang="en-US" smtClean="0"/>
              <a:pPr/>
              <a:t>4</a:t>
            </a:fld>
            <a:endParaRPr lang="en-US" dirty="0"/>
          </a:p>
        </p:txBody>
      </p:sp>
    </p:spTree>
    <p:extLst>
      <p:ext uri="{BB962C8B-B14F-4D97-AF65-F5344CB8AC3E}">
        <p14:creationId xmlns:p14="http://schemas.microsoft.com/office/powerpoint/2010/main" val="2010921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92AC7-6836-43CE-7085-0E2673FF5899}"/>
              </a:ext>
            </a:extLst>
          </p:cNvPr>
          <p:cNvSpPr>
            <a:spLocks noGrp="1"/>
          </p:cNvSpPr>
          <p:nvPr>
            <p:ph type="title"/>
          </p:nvPr>
        </p:nvSpPr>
        <p:spPr/>
        <p:txBody>
          <a:bodyPr/>
          <a:lstStyle/>
          <a:p>
            <a:r>
              <a:rPr lang="en-US" dirty="0"/>
              <a:t>Initial High Level Design of the Circuit</a:t>
            </a:r>
          </a:p>
        </p:txBody>
      </p:sp>
      <p:sp>
        <p:nvSpPr>
          <p:cNvPr id="4" name="Slide Number Placeholder 3">
            <a:extLst>
              <a:ext uri="{FF2B5EF4-FFF2-40B4-BE49-F238E27FC236}">
                <a16:creationId xmlns:a16="http://schemas.microsoft.com/office/drawing/2014/main" id="{C5AF0E8A-79F5-1B53-6FCE-55329FB9770D}"/>
              </a:ext>
            </a:extLst>
          </p:cNvPr>
          <p:cNvSpPr>
            <a:spLocks noGrp="1"/>
          </p:cNvSpPr>
          <p:nvPr>
            <p:ph type="sldNum" sz="quarter" idx="4"/>
          </p:nvPr>
        </p:nvSpPr>
        <p:spPr/>
        <p:txBody>
          <a:bodyPr/>
          <a:lstStyle/>
          <a:p>
            <a:fld id="{58FB4751-880F-D840-AAA9-3A15815CC996}" type="slidenum">
              <a:rPr lang="en-US" smtClean="0"/>
              <a:pPr/>
              <a:t>5</a:t>
            </a:fld>
            <a:endParaRPr lang="en-US" dirty="0"/>
          </a:p>
        </p:txBody>
      </p:sp>
      <p:pic>
        <p:nvPicPr>
          <p:cNvPr id="2050" name="Picture 2" descr="The n qubits of x and the 1 qubit of y go into a superposition step, the oracle f, an interference step, then measurement.">
            <a:extLst>
              <a:ext uri="{FF2B5EF4-FFF2-40B4-BE49-F238E27FC236}">
                <a16:creationId xmlns:a16="http://schemas.microsoft.com/office/drawing/2014/main" id="{24147622-F0C2-5F44-F7A4-931AA43264D3}"/>
              </a:ext>
            </a:extLst>
          </p:cNvPr>
          <p:cNvPicPr>
            <a:picLocks noGrp="1" noChangeAspect="1" noChangeArrowheads="1"/>
          </p:cNvPicPr>
          <p:nvPr>
            <p:ph sz="quarter" idx="10"/>
          </p:nvPr>
        </p:nvPicPr>
        <p:blipFill>
          <a:blip r:embed="rId2">
            <a:extLst>
              <a:ext uri="{28A0092B-C50C-407E-A947-70E740481C1C}">
                <a14:useLocalDpi xmlns:a14="http://schemas.microsoft.com/office/drawing/2010/main" val="0"/>
              </a:ext>
            </a:extLst>
          </a:blip>
          <a:srcRect/>
          <a:stretch>
            <a:fillRect/>
          </a:stretch>
        </p:blipFill>
        <p:spPr bwMode="auto">
          <a:xfrm>
            <a:off x="905279" y="2205990"/>
            <a:ext cx="8864979" cy="37376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9983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F815D-26D8-A6BC-DB5F-5D08AE948916}"/>
              </a:ext>
            </a:extLst>
          </p:cNvPr>
          <p:cNvSpPr>
            <a:spLocks noGrp="1"/>
          </p:cNvSpPr>
          <p:nvPr>
            <p:ph type="title"/>
          </p:nvPr>
        </p:nvSpPr>
        <p:spPr>
          <a:xfrm>
            <a:off x="1085850" y="217170"/>
            <a:ext cx="7534656" cy="914400"/>
          </a:xfrm>
        </p:spPr>
        <p:txBody>
          <a:bodyPr/>
          <a:lstStyle/>
          <a:p>
            <a:r>
              <a:rPr lang="en-US" dirty="0"/>
              <a:t>The Detailed Algorithm Circuit</a:t>
            </a:r>
          </a:p>
        </p:txBody>
      </p:sp>
      <p:sp>
        <p:nvSpPr>
          <p:cNvPr id="4" name="Slide Number Placeholder 3">
            <a:extLst>
              <a:ext uri="{FF2B5EF4-FFF2-40B4-BE49-F238E27FC236}">
                <a16:creationId xmlns:a16="http://schemas.microsoft.com/office/drawing/2014/main" id="{CB7CA463-E9BA-0CDD-7DC5-44646FB579B5}"/>
              </a:ext>
            </a:extLst>
          </p:cNvPr>
          <p:cNvSpPr>
            <a:spLocks noGrp="1"/>
          </p:cNvSpPr>
          <p:nvPr>
            <p:ph type="sldNum" sz="quarter" idx="4"/>
          </p:nvPr>
        </p:nvSpPr>
        <p:spPr/>
        <p:txBody>
          <a:bodyPr/>
          <a:lstStyle/>
          <a:p>
            <a:fld id="{58FB4751-880F-D840-AAA9-3A15815CC996}" type="slidenum">
              <a:rPr lang="en-US" smtClean="0"/>
              <a:pPr/>
              <a:t>6</a:t>
            </a:fld>
            <a:endParaRPr lang="en-US" dirty="0"/>
          </a:p>
        </p:txBody>
      </p:sp>
      <p:pic>
        <p:nvPicPr>
          <p:cNvPr id="3074" name="Picture 2" descr="The y register enters an X. All qubits enter H qugates. After the oracle, H is applied to all x qubits, then measurement.">
            <a:extLst>
              <a:ext uri="{FF2B5EF4-FFF2-40B4-BE49-F238E27FC236}">
                <a16:creationId xmlns:a16="http://schemas.microsoft.com/office/drawing/2014/main" id="{9B0A22FA-FBE6-7696-BA9E-2B13E7B6D18F}"/>
              </a:ext>
            </a:extLst>
          </p:cNvPr>
          <p:cNvPicPr>
            <a:picLocks noGrp="1" noChangeAspect="1" noChangeArrowheads="1"/>
          </p:cNvPicPr>
          <p:nvPr>
            <p:ph sz="quarter" idx="10"/>
          </p:nvPr>
        </p:nvPicPr>
        <p:blipFill>
          <a:blip r:embed="rId2">
            <a:extLst>
              <a:ext uri="{28A0092B-C50C-407E-A947-70E740481C1C}">
                <a14:useLocalDpi xmlns:a14="http://schemas.microsoft.com/office/drawing/2010/main" val="0"/>
              </a:ext>
            </a:extLst>
          </a:blip>
          <a:srcRect/>
          <a:stretch>
            <a:fillRect/>
          </a:stretch>
        </p:blipFill>
        <p:spPr bwMode="auto">
          <a:xfrm>
            <a:off x="1988820" y="1650766"/>
            <a:ext cx="7452360" cy="4408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1118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A57C6-8C55-69DE-A45F-6D57BE74AA86}"/>
              </a:ext>
            </a:extLst>
          </p:cNvPr>
          <p:cNvSpPr>
            <a:spLocks noGrp="1"/>
          </p:cNvSpPr>
          <p:nvPr>
            <p:ph type="title"/>
          </p:nvPr>
        </p:nvSpPr>
        <p:spPr/>
        <p:txBody>
          <a:bodyPr/>
          <a:lstStyle/>
          <a:p>
            <a:r>
              <a:rPr lang="en-US" dirty="0"/>
              <a:t>A More Compact Reprsentation of the Circuit</a:t>
            </a:r>
          </a:p>
        </p:txBody>
      </p:sp>
      <p:sp>
        <p:nvSpPr>
          <p:cNvPr id="4" name="Slide Number Placeholder 3">
            <a:extLst>
              <a:ext uri="{FF2B5EF4-FFF2-40B4-BE49-F238E27FC236}">
                <a16:creationId xmlns:a16="http://schemas.microsoft.com/office/drawing/2014/main" id="{BD352499-5C78-3241-BF27-6829D0D3F8B6}"/>
              </a:ext>
            </a:extLst>
          </p:cNvPr>
          <p:cNvSpPr>
            <a:spLocks noGrp="1"/>
          </p:cNvSpPr>
          <p:nvPr>
            <p:ph type="sldNum" sz="quarter" idx="4"/>
          </p:nvPr>
        </p:nvSpPr>
        <p:spPr/>
        <p:txBody>
          <a:bodyPr/>
          <a:lstStyle/>
          <a:p>
            <a:fld id="{58FB4751-880F-D840-AAA9-3A15815CC996}" type="slidenum">
              <a:rPr lang="en-US" smtClean="0"/>
              <a:pPr/>
              <a:t>7</a:t>
            </a:fld>
            <a:endParaRPr lang="en-US" dirty="0"/>
          </a:p>
        </p:txBody>
      </p:sp>
      <p:sp>
        <p:nvSpPr>
          <p:cNvPr id="5" name="Content Placeholder 4">
            <a:extLst>
              <a:ext uri="{FF2B5EF4-FFF2-40B4-BE49-F238E27FC236}">
                <a16:creationId xmlns:a16="http://schemas.microsoft.com/office/drawing/2014/main" id="{0DEA03AC-CE03-2ED0-1657-9C49A1007BF8}"/>
              </a:ext>
            </a:extLst>
          </p:cNvPr>
          <p:cNvSpPr>
            <a:spLocks noGrp="1"/>
          </p:cNvSpPr>
          <p:nvPr>
            <p:ph sz="quarter" idx="10"/>
          </p:nvPr>
        </p:nvSpPr>
        <p:spPr>
          <a:xfrm>
            <a:off x="445770" y="2039112"/>
            <a:ext cx="10824210" cy="4521708"/>
          </a:xfrm>
        </p:spPr>
        <p:txBody>
          <a:bodyPr/>
          <a:lstStyle/>
          <a:p>
            <a:r>
              <a:rPr lang="en-US" sz="2400" dirty="0">
                <a:latin typeface="Abadi" panose="020B0604020104020204" pitchFamily="34" charset="0"/>
              </a:rPr>
              <a:t>The figure below is more compact representation of the algorithm</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I</a:t>
            </a:r>
            <a:r>
              <a:rPr lang="en-US" sz="2400" dirty="0">
                <a:latin typeface="Abadi" panose="020B0604020104020204" pitchFamily="34" charset="0"/>
              </a:rPr>
              <a:t>n this figure all x qubits  are collectively drawn on a single row, applying the exponent tensor product n to each gate to stand for n gates.</a:t>
            </a:r>
          </a:p>
        </p:txBody>
      </p:sp>
      <p:pic>
        <p:nvPicPr>
          <p:cNvPr id="4102" name="Picture 6" descr="A compacted form for Figure 9-2.">
            <a:extLst>
              <a:ext uri="{FF2B5EF4-FFF2-40B4-BE49-F238E27FC236}">
                <a16:creationId xmlns:a16="http://schemas.microsoft.com/office/drawing/2014/main" id="{EB652C18-ECD2-128B-2766-74304FDA62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938" y="2849672"/>
            <a:ext cx="5991225" cy="1895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6319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C1D4D-7260-557B-7B8B-687A2A4296AD}"/>
              </a:ext>
            </a:extLst>
          </p:cNvPr>
          <p:cNvSpPr>
            <a:spLocks noGrp="1"/>
          </p:cNvSpPr>
          <p:nvPr>
            <p:ph type="title"/>
          </p:nvPr>
        </p:nvSpPr>
        <p:spPr>
          <a:xfrm>
            <a:off x="914400" y="0"/>
            <a:ext cx="7534656" cy="914400"/>
          </a:xfrm>
        </p:spPr>
        <p:txBody>
          <a:bodyPr/>
          <a:lstStyle/>
          <a:p>
            <a:r>
              <a:rPr lang="en-US" dirty="0"/>
              <a:t>Comments on the above Diagram</a:t>
            </a:r>
          </a:p>
        </p:txBody>
      </p:sp>
      <p:sp>
        <p:nvSpPr>
          <p:cNvPr id="3" name="Content Placeholder 2">
            <a:extLst>
              <a:ext uri="{FF2B5EF4-FFF2-40B4-BE49-F238E27FC236}">
                <a16:creationId xmlns:a16="http://schemas.microsoft.com/office/drawing/2014/main" id="{ABD884EB-23DE-05CD-86D7-0A86C1AB1317}"/>
              </a:ext>
            </a:extLst>
          </p:cNvPr>
          <p:cNvSpPr>
            <a:spLocks noGrp="1"/>
          </p:cNvSpPr>
          <p:nvPr>
            <p:ph sz="quarter" idx="10"/>
          </p:nvPr>
        </p:nvSpPr>
        <p:spPr>
          <a:xfrm>
            <a:off x="176784" y="1188720"/>
            <a:ext cx="11927586" cy="5486400"/>
          </a:xfrm>
        </p:spPr>
        <p:txBody>
          <a:bodyPr>
            <a:noAutofit/>
          </a:bodyPr>
          <a:lstStyle/>
          <a:p>
            <a:pPr marL="0" indent="0">
              <a:buNone/>
            </a:pPr>
            <a:r>
              <a:rPr lang="en-US" sz="2800" dirty="0">
                <a:latin typeface="Abadi" panose="020B0604020104020204" pitchFamily="34" charset="0"/>
              </a:rPr>
              <a:t>There are two new conventions in the above  diagram (previous slide): </a:t>
            </a:r>
          </a:p>
          <a:p>
            <a:r>
              <a:rPr lang="en-US" sz="2800" dirty="0">
                <a:latin typeface="Abadi" panose="020B0604020104020204" pitchFamily="34" charset="0"/>
              </a:rPr>
              <a:t>First, to represent a </a:t>
            </a:r>
            <a:r>
              <a:rPr lang="en-US" sz="2800" i="1" dirty="0">
                <a:latin typeface="Abadi" panose="020B0604020104020204" pitchFamily="34" charset="0"/>
              </a:rPr>
              <a:t>bundle</a:t>
            </a:r>
            <a:r>
              <a:rPr lang="en-US" sz="2800" dirty="0">
                <a:latin typeface="Abadi" panose="020B0604020104020204" pitchFamily="34" charset="0"/>
              </a:rPr>
              <a:t> of qubits we use a single wire but place a slash on it, along with the number of wires (or qubits) in the bundle. </a:t>
            </a:r>
          </a:p>
          <a:p>
            <a:r>
              <a:rPr lang="en-US" sz="2800" dirty="0">
                <a:latin typeface="Abadi" panose="020B0604020104020204" pitchFamily="34" charset="0"/>
              </a:rPr>
              <a:t>Here, the upper-left horizontal line represents a bundle of </a:t>
            </a:r>
            <a:r>
              <a:rPr lang="en-US" sz="2800" i="1" dirty="0">
                <a:latin typeface="Abadi" panose="020B0604020104020204" pitchFamily="34" charset="0"/>
              </a:rPr>
              <a:t>n</a:t>
            </a:r>
            <a:r>
              <a:rPr lang="en-US" sz="2800" dirty="0">
                <a:latin typeface="Abadi" panose="020B0604020104020204" pitchFamily="34" charset="0"/>
              </a:rPr>
              <a:t> qubits. This declaration continues for that wire through the rest of the circuit, unless it’s explicitly changed. </a:t>
            </a:r>
          </a:p>
          <a:p>
            <a:r>
              <a:rPr lang="en-US" sz="2800" dirty="0">
                <a:latin typeface="Abadi" panose="020B0604020104020204" pitchFamily="34" charset="0"/>
              </a:rPr>
              <a:t>Therefore, in the above diagram,  the upper line coming out of </a:t>
            </a:r>
            <a:r>
              <a:rPr lang="en-US" sz="2800" i="1" dirty="0">
                <a:latin typeface="Abadi" panose="020B0604020104020204" pitchFamily="34" charset="0"/>
              </a:rPr>
              <a:t>f</a:t>
            </a:r>
            <a:r>
              <a:rPr lang="en-US" sz="2800" dirty="0">
                <a:latin typeface="Abadi" panose="020B0604020104020204" pitchFamily="34" charset="0"/>
              </a:rPr>
              <a:t> still represents a bundle of </a:t>
            </a:r>
            <a:r>
              <a:rPr lang="en-US" sz="2800" i="1" dirty="0">
                <a:latin typeface="Abadi" panose="020B0604020104020204" pitchFamily="34" charset="0"/>
              </a:rPr>
              <a:t>n</a:t>
            </a:r>
            <a:r>
              <a:rPr lang="en-US" sz="2800" dirty="0">
                <a:latin typeface="Abadi" panose="020B0604020104020204" pitchFamily="34" charset="0"/>
              </a:rPr>
              <a:t> qubits. That bundle then goes into a bundle of </a:t>
            </a:r>
            <a:r>
              <a:rPr lang="en-US" sz="2800" i="1" dirty="0">
                <a:latin typeface="Abadi" panose="020B0604020104020204" pitchFamily="34" charset="0"/>
              </a:rPr>
              <a:t>n</a:t>
            </a:r>
            <a:r>
              <a:rPr lang="en-US" sz="2800" dirty="0">
                <a:latin typeface="Abadi" panose="020B0604020104020204" pitchFamily="34" charset="0"/>
              </a:rPr>
              <a:t> meters. The collective output of the meters is a bitstring of </a:t>
            </a:r>
            <a:r>
              <a:rPr lang="en-US" sz="2800" i="1" dirty="0">
                <a:latin typeface="Abadi" panose="020B0604020104020204" pitchFamily="34" charset="0"/>
              </a:rPr>
              <a:t>n</a:t>
            </a:r>
            <a:r>
              <a:rPr lang="en-US" sz="2800" dirty="0">
                <a:latin typeface="Abadi" panose="020B0604020104020204" pitchFamily="34" charset="0"/>
              </a:rPr>
              <a:t> classical bits.</a:t>
            </a:r>
          </a:p>
          <a:p>
            <a:r>
              <a:rPr lang="en-US" sz="2800" dirty="0">
                <a:latin typeface="Abadi" panose="020B0604020104020204" pitchFamily="34" charset="0"/>
              </a:rPr>
              <a:t>Treating multiple qubits as a group in this way often makes the diagrams simpler and easier to interpret. We call each such bundle of qubits a </a:t>
            </a:r>
            <a:r>
              <a:rPr lang="en-US" sz="2800" b="1" i="1" dirty="0">
                <a:latin typeface="Abadi" panose="020B0604020104020204" pitchFamily="34" charset="0"/>
              </a:rPr>
              <a:t>register</a:t>
            </a:r>
            <a:r>
              <a:rPr lang="en-US" sz="2800" b="1" dirty="0">
                <a:latin typeface="Abadi" panose="020B0604020104020204" pitchFamily="34" charset="0"/>
              </a:rPr>
              <a:t>.</a:t>
            </a:r>
          </a:p>
        </p:txBody>
      </p:sp>
      <p:sp>
        <p:nvSpPr>
          <p:cNvPr id="4" name="Slide Number Placeholder 3">
            <a:extLst>
              <a:ext uri="{FF2B5EF4-FFF2-40B4-BE49-F238E27FC236}">
                <a16:creationId xmlns:a16="http://schemas.microsoft.com/office/drawing/2014/main" id="{74930B94-64D4-B9EB-5A77-14BC4C533E02}"/>
              </a:ext>
            </a:extLst>
          </p:cNvPr>
          <p:cNvSpPr>
            <a:spLocks noGrp="1"/>
          </p:cNvSpPr>
          <p:nvPr>
            <p:ph type="sldNum" sz="quarter" idx="4"/>
          </p:nvPr>
        </p:nvSpPr>
        <p:spPr/>
        <p:txBody>
          <a:bodyPr/>
          <a:lstStyle/>
          <a:p>
            <a:fld id="{58FB4751-880F-D840-AAA9-3A15815CC996}" type="slidenum">
              <a:rPr lang="en-US" smtClean="0"/>
              <a:pPr/>
              <a:t>8</a:t>
            </a:fld>
            <a:endParaRPr lang="en-US" dirty="0"/>
          </a:p>
        </p:txBody>
      </p:sp>
    </p:spTree>
    <p:extLst>
      <p:ext uri="{BB962C8B-B14F-4D97-AF65-F5344CB8AC3E}">
        <p14:creationId xmlns:p14="http://schemas.microsoft.com/office/powerpoint/2010/main" val="221149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F45D7-561C-1AD1-5D33-520C09E1FD04}"/>
              </a:ext>
            </a:extLst>
          </p:cNvPr>
          <p:cNvSpPr>
            <a:spLocks noGrp="1"/>
          </p:cNvSpPr>
          <p:nvPr>
            <p:ph type="title"/>
          </p:nvPr>
        </p:nvSpPr>
        <p:spPr>
          <a:xfrm>
            <a:off x="914400" y="297180"/>
            <a:ext cx="7534656" cy="914400"/>
          </a:xfrm>
        </p:spPr>
        <p:txBody>
          <a:bodyPr/>
          <a:lstStyle/>
          <a:p>
            <a:r>
              <a:rPr lang="en-US" dirty="0"/>
              <a:t>Comments on the Above Diagram</a:t>
            </a:r>
          </a:p>
        </p:txBody>
      </p:sp>
      <p:sp>
        <p:nvSpPr>
          <p:cNvPr id="3" name="Content Placeholder 2">
            <a:extLst>
              <a:ext uri="{FF2B5EF4-FFF2-40B4-BE49-F238E27FC236}">
                <a16:creationId xmlns:a16="http://schemas.microsoft.com/office/drawing/2014/main" id="{5E2C317A-8093-F309-8107-184F2BDD96EC}"/>
              </a:ext>
            </a:extLst>
          </p:cNvPr>
          <p:cNvSpPr>
            <a:spLocks noGrp="1"/>
          </p:cNvSpPr>
          <p:nvPr>
            <p:ph sz="quarter" idx="10"/>
          </p:nvPr>
        </p:nvSpPr>
        <p:spPr>
          <a:xfrm>
            <a:off x="80010" y="1440181"/>
            <a:ext cx="11935206" cy="5335522"/>
          </a:xfrm>
        </p:spPr>
        <p:txBody>
          <a:bodyPr>
            <a:normAutofit/>
          </a:bodyPr>
          <a:lstStyle/>
          <a:p>
            <a:r>
              <a:rPr lang="en-US" sz="2800" dirty="0">
                <a:latin typeface="Abadi" panose="020B0604020104020204" pitchFamily="34" charset="0"/>
              </a:rPr>
              <a:t>The second new notation is the ⊗</a:t>
            </a:r>
            <a:r>
              <a:rPr lang="en-US" sz="2800" i="1" dirty="0">
                <a:latin typeface="Abadi" panose="020B0604020104020204" pitchFamily="34" charset="0"/>
              </a:rPr>
              <a:t>n</a:t>
            </a:r>
            <a:r>
              <a:rPr lang="en-US" sz="2800" dirty="0">
                <a:latin typeface="Abadi" panose="020B0604020104020204" pitchFamily="34" charset="0"/>
              </a:rPr>
              <a:t> exponent. This indicates that a state, gate, or meter is </a:t>
            </a:r>
            <a:r>
              <a:rPr lang="en-US" sz="2800" dirty="0" err="1">
                <a:latin typeface="Abadi" panose="020B0604020104020204" pitchFamily="34" charset="0"/>
              </a:rPr>
              <a:t>tensored</a:t>
            </a:r>
            <a:r>
              <a:rPr lang="en-US" sz="2800" dirty="0">
                <a:latin typeface="Abadi" panose="020B0604020104020204" pitchFamily="34" charset="0"/>
              </a:rPr>
              <a:t> with itself </a:t>
            </a:r>
            <a:r>
              <a:rPr lang="en-US" sz="2800" i="1" dirty="0">
                <a:latin typeface="Abadi" panose="020B0604020104020204" pitchFamily="34" charset="0"/>
              </a:rPr>
              <a:t>n</a:t>
            </a:r>
            <a:r>
              <a:rPr lang="en-US" sz="2800" dirty="0">
                <a:latin typeface="Abadi" panose="020B0604020104020204" pitchFamily="34" charset="0"/>
              </a:rPr>
              <a:t> times. </a:t>
            </a:r>
          </a:p>
          <a:p>
            <a:r>
              <a:rPr lang="en-US" sz="2800" dirty="0">
                <a:latin typeface="Abadi" panose="020B0604020104020204" pitchFamily="34" charset="0"/>
              </a:rPr>
              <a:t>For example, we can write |0⟩</a:t>
            </a:r>
            <a:r>
              <a:rPr lang="en-US" sz="2800" b="1" baseline="30000" dirty="0">
                <a:latin typeface="Abadi" panose="020B0604020104020204" pitchFamily="34" charset="0"/>
              </a:rPr>
              <a:t>⊗3</a:t>
            </a:r>
            <a:r>
              <a:rPr lang="en-US" sz="2800" dirty="0">
                <a:latin typeface="Abadi" panose="020B0604020104020204" pitchFamily="34" charset="0"/>
              </a:rPr>
              <a:t> = |0⟩ ⊗ |0⟩ ⊗ |0⟩ = |000⟩, and </a:t>
            </a:r>
            <a:r>
              <a:rPr lang="en-US" sz="2800" i="1" dirty="0">
                <a:latin typeface="Abadi" panose="020B0604020104020204" pitchFamily="34" charset="0"/>
              </a:rPr>
              <a:t>H</a:t>
            </a:r>
            <a:r>
              <a:rPr lang="en-US" sz="2800" b="1" baseline="30000" dirty="0">
                <a:latin typeface="Abadi" panose="020B0604020104020204" pitchFamily="34" charset="0"/>
              </a:rPr>
              <a:t>⊗3</a:t>
            </a:r>
            <a:r>
              <a:rPr lang="en-US" sz="2800" dirty="0">
                <a:latin typeface="Abadi" panose="020B0604020104020204" pitchFamily="34" charset="0"/>
              </a:rPr>
              <a:t> = </a:t>
            </a:r>
            <a:r>
              <a:rPr lang="en-US" sz="2800" i="1" dirty="0">
                <a:latin typeface="Abadi" panose="020B0604020104020204" pitchFamily="34" charset="0"/>
              </a:rPr>
              <a:t>H</a:t>
            </a:r>
            <a:r>
              <a:rPr lang="en-US" sz="2800" dirty="0">
                <a:latin typeface="Abadi" panose="020B0604020104020204" pitchFamily="34" charset="0"/>
              </a:rPr>
              <a:t> ⊗ </a:t>
            </a:r>
            <a:r>
              <a:rPr lang="en-US" sz="2800" i="1" dirty="0">
                <a:latin typeface="Abadi" panose="020B0604020104020204" pitchFamily="34" charset="0"/>
              </a:rPr>
              <a:t>H</a:t>
            </a:r>
            <a:r>
              <a:rPr lang="en-US" sz="2800" dirty="0">
                <a:latin typeface="Abadi" panose="020B0604020104020204" pitchFamily="34" charset="0"/>
              </a:rPr>
              <a:t> ⊗ </a:t>
            </a:r>
            <a:r>
              <a:rPr lang="en-US" sz="2800" i="1" dirty="0">
                <a:latin typeface="Abadi" panose="020B0604020104020204" pitchFamily="34" charset="0"/>
              </a:rPr>
              <a:t>H</a:t>
            </a:r>
            <a:r>
              <a:rPr lang="en-US" sz="2800" dirty="0">
                <a:latin typeface="Abadi" panose="020B0604020104020204" pitchFamily="34" charset="0"/>
              </a:rPr>
              <a:t>. Similarly, a meter with ⊗3 above and to its right represents a stack of three meters, applied to each of three qubits.</a:t>
            </a:r>
          </a:p>
          <a:p>
            <a:r>
              <a:rPr lang="en-US" sz="2800" dirty="0">
                <a:latin typeface="Abadi" panose="020B0604020104020204" pitchFamily="34" charset="0"/>
              </a:rPr>
              <a:t>In this case, the input |0⟩</a:t>
            </a:r>
            <a:r>
              <a:rPr lang="en-US" sz="2800" b="1" baseline="30000" dirty="0">
                <a:latin typeface="Abadi" panose="020B0604020104020204" pitchFamily="34" charset="0"/>
              </a:rPr>
              <a:t>⊗</a:t>
            </a:r>
            <a:r>
              <a:rPr lang="en-US" sz="2800" b="1" i="1" baseline="30000" dirty="0">
                <a:latin typeface="Abadi" panose="020B0604020104020204" pitchFamily="34" charset="0"/>
              </a:rPr>
              <a:t>n</a:t>
            </a:r>
            <a:r>
              <a:rPr lang="en-US" sz="2800" dirty="0">
                <a:latin typeface="Abadi" panose="020B0604020104020204" pitchFamily="34" charset="0"/>
              </a:rPr>
              <a:t> tells us that </a:t>
            </a:r>
            <a:r>
              <a:rPr lang="en-US" sz="2800" i="1" dirty="0">
                <a:latin typeface="Abadi" panose="020B0604020104020204" pitchFamily="34" charset="0"/>
              </a:rPr>
              <a:t>x</a:t>
            </a:r>
            <a:r>
              <a:rPr lang="en-US" sz="2800" dirty="0">
                <a:latin typeface="Abadi" panose="020B0604020104020204" pitchFamily="34" charset="0"/>
              </a:rPr>
              <a:t> is a system created by multiplying together </a:t>
            </a:r>
            <a:r>
              <a:rPr lang="en-US" sz="2800" i="1" dirty="0">
                <a:latin typeface="Abadi" panose="020B0604020104020204" pitchFamily="34" charset="0"/>
              </a:rPr>
              <a:t>n</a:t>
            </a:r>
            <a:r>
              <a:rPr lang="en-US" sz="2800" dirty="0">
                <a:latin typeface="Abadi" panose="020B0604020104020204" pitchFamily="34" charset="0"/>
              </a:rPr>
              <a:t> qubits, each in state |0⟩. This bundle is then run through </a:t>
            </a:r>
            <a:r>
              <a:rPr lang="en-US" sz="2800" i="1" dirty="0" err="1">
                <a:latin typeface="Abadi" panose="020B0604020104020204" pitchFamily="34" charset="0"/>
              </a:rPr>
              <a:t>H</a:t>
            </a:r>
            <a:r>
              <a:rPr lang="en-US" sz="2800" b="1" baseline="30000" dirty="0" err="1">
                <a:latin typeface="Abadi" panose="020B0604020104020204" pitchFamily="34" charset="0"/>
              </a:rPr>
              <a:t>⊗</a:t>
            </a:r>
            <a:r>
              <a:rPr lang="en-US" sz="2800" b="1" i="1" baseline="30000" dirty="0" err="1">
                <a:latin typeface="Abadi" panose="020B0604020104020204" pitchFamily="34" charset="0"/>
              </a:rPr>
              <a:t>n</a:t>
            </a:r>
            <a:r>
              <a:rPr lang="en-US" sz="2800" dirty="0">
                <a:latin typeface="Abadi" panose="020B0604020104020204" pitchFamily="34" charset="0"/>
              </a:rPr>
              <a:t>, a vertical system of gates composed of </a:t>
            </a:r>
            <a:r>
              <a:rPr lang="en-US" sz="2800" i="1" dirty="0">
                <a:latin typeface="Abadi" panose="020B0604020104020204" pitchFamily="34" charset="0"/>
              </a:rPr>
              <a:t>n</a:t>
            </a:r>
            <a:r>
              <a:rPr lang="en-US" sz="2800" dirty="0">
                <a:latin typeface="Abadi" panose="020B0604020104020204" pitchFamily="34" charset="0"/>
              </a:rPr>
              <a:t> copies of </a:t>
            </a:r>
            <a:r>
              <a:rPr lang="en-US" sz="2800" i="1" dirty="0">
                <a:latin typeface="Abadi" panose="020B0604020104020204" pitchFamily="34" charset="0"/>
              </a:rPr>
              <a:t>H</a:t>
            </a:r>
            <a:r>
              <a:rPr lang="en-US" sz="2800" dirty="0">
                <a:latin typeface="Abadi" panose="020B0604020104020204" pitchFamily="34" charset="0"/>
              </a:rPr>
              <a:t> stacked up and multiplied together. </a:t>
            </a:r>
          </a:p>
          <a:p>
            <a:r>
              <a:rPr lang="en-US" sz="2800" dirty="0">
                <a:latin typeface="Abadi" panose="020B0604020104020204" pitchFamily="34" charset="0"/>
              </a:rPr>
              <a:t>They all go through </a:t>
            </a:r>
            <a:r>
              <a:rPr lang="en-US" sz="2800" i="1" dirty="0">
                <a:latin typeface="Abadi" panose="020B0604020104020204" pitchFamily="34" charset="0"/>
              </a:rPr>
              <a:t>f</a:t>
            </a:r>
            <a:r>
              <a:rPr lang="en-US" sz="2800" dirty="0">
                <a:latin typeface="Abadi" panose="020B0604020104020204" pitchFamily="34" charset="0"/>
              </a:rPr>
              <a:t>, along with </a:t>
            </a:r>
            <a:r>
              <a:rPr lang="en-US" sz="2800" i="1" dirty="0">
                <a:latin typeface="Abadi" panose="020B0604020104020204" pitchFamily="34" charset="0"/>
              </a:rPr>
              <a:t>y</a:t>
            </a:r>
            <a:r>
              <a:rPr lang="en-US" sz="2800" dirty="0">
                <a:latin typeface="Abadi" panose="020B0604020104020204" pitchFamily="34" charset="0"/>
              </a:rPr>
              <a:t>. The qubits of </a:t>
            </a:r>
            <a:r>
              <a:rPr lang="en-US" sz="2800" i="1" dirty="0">
                <a:latin typeface="Abadi" panose="020B0604020104020204" pitchFamily="34" charset="0"/>
              </a:rPr>
              <a:t>x</a:t>
            </a:r>
            <a:r>
              <a:rPr lang="en-US" sz="2800" dirty="0">
                <a:latin typeface="Abadi" panose="020B0604020104020204" pitchFamily="34" charset="0"/>
              </a:rPr>
              <a:t> are then fed into another system of </a:t>
            </a:r>
            <a:r>
              <a:rPr lang="en-US" sz="2800" i="1" dirty="0">
                <a:latin typeface="Abadi" panose="020B0604020104020204" pitchFamily="34" charset="0"/>
              </a:rPr>
              <a:t>n</a:t>
            </a:r>
            <a:r>
              <a:rPr lang="en-US" sz="2800" dirty="0">
                <a:latin typeface="Abadi" panose="020B0604020104020204" pitchFamily="34" charset="0"/>
              </a:rPr>
              <a:t> copies of </a:t>
            </a:r>
            <a:r>
              <a:rPr lang="en-US" sz="2800" i="1" dirty="0">
                <a:latin typeface="Abadi" panose="020B0604020104020204" pitchFamily="34" charset="0"/>
              </a:rPr>
              <a:t>H</a:t>
            </a:r>
            <a:r>
              <a:rPr lang="en-US" sz="2800" dirty="0">
                <a:latin typeface="Abadi" panose="020B0604020104020204" pitchFamily="34" charset="0"/>
              </a:rPr>
              <a:t>, and then each qubit is measured independently, creating the </a:t>
            </a:r>
            <a:r>
              <a:rPr lang="en-US" sz="2800" i="1" dirty="0">
                <a:latin typeface="Abadi" panose="020B0604020104020204" pitchFamily="34" charset="0"/>
              </a:rPr>
              <a:t>n</a:t>
            </a:r>
            <a:r>
              <a:rPr lang="en-US" sz="2800" dirty="0">
                <a:latin typeface="Abadi" panose="020B0604020104020204" pitchFamily="34" charset="0"/>
              </a:rPr>
              <a:t>-bit output bitstring </a:t>
            </a:r>
            <a:r>
              <a:rPr lang="en-US" sz="2800" i="1" dirty="0">
                <a:latin typeface="Abadi" panose="020B0604020104020204" pitchFamily="34" charset="0"/>
              </a:rPr>
              <a:t>b</a:t>
            </a:r>
            <a:r>
              <a:rPr lang="en-US" sz="2800" dirty="0">
                <a:latin typeface="Abadi" panose="020B0604020104020204" pitchFamily="34" charset="0"/>
              </a:rPr>
              <a:t>. </a:t>
            </a:r>
          </a:p>
          <a:p>
            <a:endParaRPr lang="en-US" sz="2800" dirty="0">
              <a:latin typeface="Abadi" panose="020B0604020104020204" pitchFamily="34" charset="0"/>
            </a:endParaRPr>
          </a:p>
          <a:p>
            <a:endParaRPr lang="en-US" dirty="0"/>
          </a:p>
        </p:txBody>
      </p:sp>
      <p:sp>
        <p:nvSpPr>
          <p:cNvPr id="4" name="Slide Number Placeholder 3">
            <a:extLst>
              <a:ext uri="{FF2B5EF4-FFF2-40B4-BE49-F238E27FC236}">
                <a16:creationId xmlns:a16="http://schemas.microsoft.com/office/drawing/2014/main" id="{1AF916FA-32F0-71FC-C628-395E7325EBB9}"/>
              </a:ext>
            </a:extLst>
          </p:cNvPr>
          <p:cNvSpPr>
            <a:spLocks noGrp="1"/>
          </p:cNvSpPr>
          <p:nvPr>
            <p:ph type="sldNum" sz="quarter" idx="4"/>
          </p:nvPr>
        </p:nvSpPr>
        <p:spPr/>
        <p:txBody>
          <a:bodyPr/>
          <a:lstStyle/>
          <a:p>
            <a:fld id="{58FB4751-880F-D840-AAA9-3A15815CC996}" type="slidenum">
              <a:rPr lang="en-US" smtClean="0"/>
              <a:pPr/>
              <a:t>9</a:t>
            </a:fld>
            <a:endParaRPr lang="en-US" dirty="0"/>
          </a:p>
        </p:txBody>
      </p:sp>
    </p:spTree>
    <p:extLst>
      <p:ext uri="{BB962C8B-B14F-4D97-AF65-F5344CB8AC3E}">
        <p14:creationId xmlns:p14="http://schemas.microsoft.com/office/powerpoint/2010/main" val="3553326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96ABF-5A3D-1048-8518-F3CA4338062E}"/>
              </a:ext>
            </a:extLst>
          </p:cNvPr>
          <p:cNvSpPr>
            <a:spLocks noGrp="1"/>
          </p:cNvSpPr>
          <p:nvPr>
            <p:ph type="title"/>
          </p:nvPr>
        </p:nvSpPr>
        <p:spPr/>
        <p:txBody>
          <a:bodyPr/>
          <a:lstStyle/>
          <a:p>
            <a:r>
              <a:rPr lang="en-US" dirty="0"/>
              <a:t>First Step</a:t>
            </a:r>
          </a:p>
        </p:txBody>
      </p:sp>
      <p:sp>
        <p:nvSpPr>
          <p:cNvPr id="3" name="Content Placeholder 2">
            <a:extLst>
              <a:ext uri="{FF2B5EF4-FFF2-40B4-BE49-F238E27FC236}">
                <a16:creationId xmlns:a16="http://schemas.microsoft.com/office/drawing/2014/main" id="{2EF78306-CBA9-7E5E-B87D-555CC661FBAF}"/>
              </a:ext>
            </a:extLst>
          </p:cNvPr>
          <p:cNvSpPr>
            <a:spLocks noGrp="1"/>
          </p:cNvSpPr>
          <p:nvPr>
            <p:ph sz="quarter" idx="10"/>
          </p:nvPr>
        </p:nvSpPr>
        <p:spPr>
          <a:xfrm>
            <a:off x="914400" y="2039112"/>
            <a:ext cx="9818370" cy="4498848"/>
          </a:xfrm>
        </p:spPr>
        <p:txBody>
          <a:bodyPr/>
          <a:lstStyle/>
          <a:p>
            <a:endParaRPr lang="en-US" dirty="0"/>
          </a:p>
        </p:txBody>
      </p:sp>
      <p:sp>
        <p:nvSpPr>
          <p:cNvPr id="4" name="Slide Number Placeholder 3">
            <a:extLst>
              <a:ext uri="{FF2B5EF4-FFF2-40B4-BE49-F238E27FC236}">
                <a16:creationId xmlns:a16="http://schemas.microsoft.com/office/drawing/2014/main" id="{164D2DC9-E48A-26B5-8F15-2BF7C144BF56}"/>
              </a:ext>
            </a:extLst>
          </p:cNvPr>
          <p:cNvSpPr>
            <a:spLocks noGrp="1"/>
          </p:cNvSpPr>
          <p:nvPr>
            <p:ph type="sldNum" sz="quarter" idx="4"/>
          </p:nvPr>
        </p:nvSpPr>
        <p:spPr/>
        <p:txBody>
          <a:bodyPr/>
          <a:lstStyle/>
          <a:p>
            <a:fld id="{58FB4751-880F-D840-AAA9-3A15815CC996}" type="slidenum">
              <a:rPr lang="en-US" smtClean="0"/>
              <a:pPr/>
              <a:t>10</a:t>
            </a:fld>
            <a:endParaRPr lang="en-US" dirty="0"/>
          </a:p>
        </p:txBody>
      </p:sp>
    </p:spTree>
    <p:extLst>
      <p:ext uri="{BB962C8B-B14F-4D97-AF65-F5344CB8AC3E}">
        <p14:creationId xmlns:p14="http://schemas.microsoft.com/office/powerpoint/2010/main" val="1879197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C3DAA-E119-8EE3-A827-405CC8E0DDF3}"/>
              </a:ext>
            </a:extLst>
          </p:cNvPr>
          <p:cNvSpPr>
            <a:spLocks noGrp="1"/>
          </p:cNvSpPr>
          <p:nvPr>
            <p:ph type="title"/>
          </p:nvPr>
        </p:nvSpPr>
        <p:spPr>
          <a:xfrm>
            <a:off x="822960" y="127398"/>
            <a:ext cx="7534656" cy="914400"/>
          </a:xfrm>
        </p:spPr>
        <p:txBody>
          <a:bodyPr/>
          <a:lstStyle/>
          <a:p>
            <a:r>
              <a:rPr lang="en-US" dirty="0"/>
              <a:t>Step 1 Part 1: Before the Oracle</a:t>
            </a:r>
          </a:p>
        </p:txBody>
      </p:sp>
      <p:sp>
        <p:nvSpPr>
          <p:cNvPr id="4" name="Slide Number Placeholder 3">
            <a:extLst>
              <a:ext uri="{FF2B5EF4-FFF2-40B4-BE49-F238E27FC236}">
                <a16:creationId xmlns:a16="http://schemas.microsoft.com/office/drawing/2014/main" id="{A19E1DF6-6F53-7DA6-0AB9-FAA6B9ADCFC0}"/>
              </a:ext>
            </a:extLst>
          </p:cNvPr>
          <p:cNvSpPr>
            <a:spLocks noGrp="1"/>
          </p:cNvSpPr>
          <p:nvPr>
            <p:ph type="sldNum" sz="quarter" idx="4"/>
          </p:nvPr>
        </p:nvSpPr>
        <p:spPr/>
        <p:txBody>
          <a:bodyPr/>
          <a:lstStyle/>
          <a:p>
            <a:fld id="{58FB4751-880F-D840-AAA9-3A15815CC996}" type="slidenum">
              <a:rPr lang="en-US" smtClean="0"/>
              <a:pPr/>
              <a:t>11</a:t>
            </a:fld>
            <a:endParaRPr lang="en-US" dirty="0"/>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7447C261-CC06-40AB-CADC-98971A948C05}"/>
                  </a:ext>
                </a:extLst>
              </p:cNvPr>
              <p:cNvSpPr>
                <a:spLocks noGrp="1"/>
              </p:cNvSpPr>
              <p:nvPr>
                <p:ph sz="quarter" idx="10"/>
              </p:nvPr>
            </p:nvSpPr>
            <p:spPr>
              <a:xfrm>
                <a:off x="297180" y="1131569"/>
                <a:ext cx="11718036" cy="5644133"/>
              </a:xfrm>
            </p:spPr>
            <p:txBody>
              <a:bodyPr>
                <a:normAutofit/>
              </a:bodyPr>
              <a:lstStyle/>
              <a:p>
                <a:r>
                  <a:rPr lang="en-US" sz="2800" dirty="0">
                    <a:latin typeface="Abadi" panose="020B0604020104020204" pitchFamily="34" charset="0"/>
                  </a:rPr>
                  <a:t>All qubits start out as |0⟩. </a:t>
                </a:r>
              </a:p>
              <a:p>
                <a:r>
                  <a:rPr lang="en-US" sz="2800" dirty="0">
                    <a:latin typeface="Abadi" panose="020B0604020104020204" pitchFamily="34" charset="0"/>
                  </a:rPr>
                  <a:t>The </a:t>
                </a:r>
                <a:r>
                  <a:rPr lang="en-US" sz="2800" i="1" dirty="0">
                    <a:latin typeface="Abadi" panose="020B0604020104020204" pitchFamily="34" charset="0"/>
                  </a:rPr>
                  <a:t>y</a:t>
                </a:r>
                <a:r>
                  <a:rPr lang="en-US" sz="2800" dirty="0">
                    <a:latin typeface="Abadi" panose="020B0604020104020204" pitchFamily="34" charset="0"/>
                  </a:rPr>
                  <a:t> qubit is inverted by an </a:t>
                </a:r>
                <a:r>
                  <a:rPr lang="en-US" sz="2800" i="1" dirty="0">
                    <a:latin typeface="Abadi" panose="020B0604020104020204" pitchFamily="34" charset="0"/>
                  </a:rPr>
                  <a:t>X</a:t>
                </a:r>
                <a:r>
                  <a:rPr lang="en-US" sz="2800" dirty="0">
                    <a:latin typeface="Abadi" panose="020B0604020104020204" pitchFamily="34" charset="0"/>
                  </a:rPr>
                  <a:t> gate, and then each qubit in both </a:t>
                </a:r>
                <a:r>
                  <a:rPr lang="en-US" sz="2800" i="1" dirty="0">
                    <a:latin typeface="Abadi" panose="020B0604020104020204" pitchFamily="34" charset="0"/>
                  </a:rPr>
                  <a:t>x</a:t>
                </a:r>
                <a:r>
                  <a:rPr lang="en-US" sz="2800" dirty="0">
                    <a:latin typeface="Abadi" panose="020B0604020104020204" pitchFamily="34" charset="0"/>
                  </a:rPr>
                  <a:t> and </a:t>
                </a:r>
                <a:r>
                  <a:rPr lang="en-US" sz="2800" i="1" dirty="0">
                    <a:latin typeface="Abadi" panose="020B0604020104020204" pitchFamily="34" charset="0"/>
                  </a:rPr>
                  <a:t>y</a:t>
                </a:r>
                <a:r>
                  <a:rPr lang="en-US" sz="2800" dirty="0">
                    <a:latin typeface="Abadi" panose="020B0604020104020204" pitchFamily="34" charset="0"/>
                  </a:rPr>
                  <a:t> goes into an </a:t>
                </a:r>
                <a:r>
                  <a:rPr lang="en-US" sz="2800" i="1" dirty="0">
                    <a:latin typeface="Abadi" panose="020B0604020104020204" pitchFamily="34" charset="0"/>
                  </a:rPr>
                  <a:t>H</a:t>
                </a:r>
                <a:r>
                  <a:rPr lang="en-US" sz="2800" dirty="0">
                    <a:latin typeface="Abadi" panose="020B0604020104020204" pitchFamily="34" charset="0"/>
                  </a:rPr>
                  <a:t> gate, as shown in the figure below:</a:t>
                </a:r>
              </a:p>
              <a:p>
                <a:endParaRPr lang="en-US" sz="2800" dirty="0">
                  <a:latin typeface="Abadi" panose="020B0604020104020204" pitchFamily="34" charset="0"/>
                </a:endParaRPr>
              </a:p>
              <a:p>
                <a:endParaRPr lang="en-US" sz="2800" dirty="0">
                  <a:latin typeface="Abadi" panose="020B0604020104020204" pitchFamily="34" charset="0"/>
                </a:endParaRPr>
              </a:p>
              <a:p>
                <a:endParaRPr lang="en-US" sz="2800" dirty="0">
                  <a:latin typeface="Abadi" panose="020B0604020104020204" pitchFamily="34" charset="0"/>
                </a:endParaRPr>
              </a:p>
              <a:p>
                <a:endParaRPr lang="en-US" sz="2800" dirty="0">
                  <a:latin typeface="Abadi" panose="020B0604020104020204" pitchFamily="34" charset="0"/>
                </a:endParaRPr>
              </a:p>
              <a:p>
                <a:endParaRPr lang="en-US" sz="2800" dirty="0">
                  <a:latin typeface="Abadi" panose="020B0604020104020204" pitchFamily="34" charset="0"/>
                </a:endParaRPr>
              </a:p>
              <a:p>
                <a:pPr marL="0" indent="0">
                  <a:buNone/>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sz="2800" dirty="0" smtClean="0">
                              <a:latin typeface="Cambria Math" panose="02040503050406030204" pitchFamily="18" charset="0"/>
                            </a:rPr>
                          </m:ctrlPr>
                        </m:mPr>
                        <m:mr>
                          <m:e>
                            <m:d>
                              <m:dPr>
                                <m:begChr m:val=""/>
                                <m:endChr m:val="⟩"/>
                                <m:ctrlPr>
                                  <a:rPr lang="en-US" sz="2800" dirty="0" smtClean="0">
                                    <a:latin typeface="Cambria Math" panose="02040503050406030204" pitchFamily="18" charset="0"/>
                                  </a:rPr>
                                </m:ctrlPr>
                              </m:dPr>
                              <m:e>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𝜓</m:t>
                                    </m:r>
                                  </m:e>
                                  <m:sub>
                                    <m:r>
                                      <a:rPr lang="en-US" sz="2800" i="0" dirty="0" smtClean="0">
                                        <a:latin typeface="Cambria Math" panose="02040503050406030204" pitchFamily="18" charset="0"/>
                                      </a:rPr>
                                      <m:t>0</m:t>
                                    </m:r>
                                  </m:sub>
                                </m:sSub>
                                <m:r>
                                  <a:rPr lang="en-US" sz="2800" i="0" dirty="0" smtClean="0">
                                    <a:latin typeface="Cambria Math" panose="02040503050406030204" pitchFamily="18" charset="0"/>
                                  </a:rPr>
                                  <m:t>&gt;=</m:t>
                                </m:r>
                                <m:d>
                                  <m:dPr>
                                    <m:begChr m:val="|"/>
                                    <m:endChr m:val="|"/>
                                    <m:ctrlPr>
                                      <a:rPr lang="en-US" sz="2800" i="1" dirty="0" smtClean="0">
                                        <a:latin typeface="Cambria Math" panose="02040503050406030204" pitchFamily="18" charset="0"/>
                                      </a:rPr>
                                    </m:ctrlPr>
                                  </m:dPr>
                                  <m:e>
                                    <m:r>
                                      <a:rPr lang="en-US" sz="2800" i="0" dirty="0" smtClean="0">
                                        <a:latin typeface="Cambria Math" panose="02040503050406030204" pitchFamily="18" charset="0"/>
                                      </a:rPr>
                                      <m:t>0</m:t>
                                    </m:r>
                                    <m:sSup>
                                      <m:sSupPr>
                                        <m:ctrlPr>
                                          <a:rPr lang="en-US" sz="2800" i="1" dirty="0" smtClean="0">
                                            <a:latin typeface="Cambria Math" panose="02040503050406030204" pitchFamily="18" charset="0"/>
                                          </a:rPr>
                                        </m:ctrlPr>
                                      </m:sSupPr>
                                      <m:e>
                                        <m:d>
                                          <m:dPr>
                                            <m:begChr m:val=""/>
                                            <m:endChr m:val=""/>
                                            <m:ctrlPr>
                                              <a:rPr lang="en-US" sz="2800" i="1" dirty="0" smtClean="0">
                                                <a:latin typeface="Cambria Math" panose="02040503050406030204" pitchFamily="18" charset="0"/>
                                              </a:rPr>
                                            </m:ctrlPr>
                                          </m:dPr>
                                          <m:e>
                                            <m:r>
                                              <a:rPr lang="en-US" sz="2800" i="0" dirty="0" smtClean="0">
                                                <a:latin typeface="Cambria Math" panose="02040503050406030204" pitchFamily="18" charset="0"/>
                                              </a:rPr>
                                              <m:t>⟩</m:t>
                                            </m:r>
                                          </m:e>
                                        </m:d>
                                      </m:e>
                                      <m:sup>
                                        <m:r>
                                          <a:rPr lang="en-US" sz="2800" i="0" dirty="0" smtClean="0">
                                            <a:latin typeface="Cambria Math" panose="02040503050406030204" pitchFamily="18" charset="0"/>
                                          </a:rPr>
                                          <m:t>⊗</m:t>
                                        </m:r>
                                        <m:r>
                                          <a:rPr lang="en-US" sz="2800" i="1" dirty="0" smtClean="0">
                                            <a:latin typeface="Cambria Math" panose="02040503050406030204" pitchFamily="18" charset="0"/>
                                          </a:rPr>
                                          <m:t>𝑛</m:t>
                                        </m:r>
                                      </m:sup>
                                    </m:sSup>
                                  </m:e>
                                </m:d>
                                <m:r>
                                  <a:rPr lang="en-US" sz="2800" i="0" dirty="0" smtClean="0">
                                    <a:latin typeface="Cambria Math" panose="02040503050406030204" pitchFamily="18" charset="0"/>
                                  </a:rPr>
                                  <m:t>0</m:t>
                                </m:r>
                              </m:e>
                            </m:d>
                          </m:e>
                        </m:mr>
                        <m:mr>
                          <m:e>
                            <m:d>
                              <m:dPr>
                                <m:begChr m:val=""/>
                                <m:endChr m:val="⟩"/>
                                <m:ctrlPr>
                                  <a:rPr lang="en-US" sz="2800" i="1" dirty="0" smtClean="0">
                                    <a:latin typeface="Cambria Math" panose="02040503050406030204" pitchFamily="18" charset="0"/>
                                  </a:rPr>
                                </m:ctrlPr>
                              </m:dPr>
                              <m:e>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𝜓</m:t>
                                    </m:r>
                                  </m:e>
                                  <m:sub>
                                    <m:r>
                                      <a:rPr lang="en-US" sz="2800" i="0" dirty="0" smtClean="0">
                                        <a:latin typeface="Cambria Math" panose="02040503050406030204" pitchFamily="18" charset="0"/>
                                      </a:rPr>
                                      <m:t>1</m:t>
                                    </m:r>
                                  </m:sub>
                                </m:sSub>
                                <m:r>
                                  <a:rPr lang="en-US" sz="2800" i="0" dirty="0" smtClean="0">
                                    <a:latin typeface="Cambria Math" panose="02040503050406030204" pitchFamily="18" charset="0"/>
                                  </a:rPr>
                                  <m:t>&gt;=</m:t>
                                </m:r>
                                <m:d>
                                  <m:dPr>
                                    <m:begChr m:val="|"/>
                                    <m:endChr m:val="|"/>
                                    <m:ctrlPr>
                                      <a:rPr lang="en-US" sz="2800" i="1" dirty="0" smtClean="0">
                                        <a:latin typeface="Cambria Math" panose="02040503050406030204" pitchFamily="18" charset="0"/>
                                      </a:rPr>
                                    </m:ctrlPr>
                                  </m:dPr>
                                  <m:e>
                                    <m:r>
                                      <a:rPr lang="en-US" sz="2800" i="0" dirty="0" smtClean="0">
                                        <a:latin typeface="Cambria Math" panose="02040503050406030204" pitchFamily="18" charset="0"/>
                                      </a:rPr>
                                      <m:t>0</m:t>
                                    </m:r>
                                    <m:sSup>
                                      <m:sSupPr>
                                        <m:ctrlPr>
                                          <a:rPr lang="en-US" sz="2800" i="1" dirty="0" smtClean="0">
                                            <a:latin typeface="Cambria Math" panose="02040503050406030204" pitchFamily="18" charset="0"/>
                                          </a:rPr>
                                        </m:ctrlPr>
                                      </m:sSupPr>
                                      <m:e>
                                        <m:d>
                                          <m:dPr>
                                            <m:begChr m:val=""/>
                                            <m:endChr m:val=""/>
                                            <m:ctrlPr>
                                              <a:rPr lang="en-US" sz="2800" i="1" dirty="0" smtClean="0">
                                                <a:latin typeface="Cambria Math" panose="02040503050406030204" pitchFamily="18" charset="0"/>
                                              </a:rPr>
                                            </m:ctrlPr>
                                          </m:dPr>
                                          <m:e>
                                            <m:r>
                                              <a:rPr lang="en-US" sz="2800" i="0" dirty="0" smtClean="0">
                                                <a:latin typeface="Cambria Math" panose="02040503050406030204" pitchFamily="18" charset="0"/>
                                              </a:rPr>
                                              <m:t>⟩</m:t>
                                            </m:r>
                                          </m:e>
                                        </m:d>
                                      </m:e>
                                      <m:sup>
                                        <m:r>
                                          <a:rPr lang="en-US" sz="2800" i="0" dirty="0" smtClean="0">
                                            <a:latin typeface="Cambria Math" panose="02040503050406030204" pitchFamily="18" charset="0"/>
                                          </a:rPr>
                                          <m:t>⊗</m:t>
                                        </m:r>
                                        <m:r>
                                          <a:rPr lang="en-US" sz="2800" i="1" dirty="0" smtClean="0">
                                            <a:latin typeface="Cambria Math" panose="02040503050406030204" pitchFamily="18" charset="0"/>
                                          </a:rPr>
                                          <m:t>𝑛</m:t>
                                        </m:r>
                                      </m:sup>
                                    </m:sSup>
                                  </m:e>
                                </m:d>
                                <m:r>
                                  <a:rPr lang="en-US" sz="2800" i="0" dirty="0" smtClean="0">
                                    <a:latin typeface="Cambria Math" panose="02040503050406030204" pitchFamily="18" charset="0"/>
                                  </a:rPr>
                                  <m:t>1</m:t>
                                </m:r>
                              </m:e>
                            </m:d>
                          </m:e>
                        </m:mr>
                        <m:mr>
                          <m:e>
                            <m:d>
                              <m:dPr>
                                <m:begChr m:val=""/>
                                <m:endChr m:val="⟩"/>
                                <m:ctrlPr>
                                  <a:rPr lang="en-US" sz="2800" i="1" dirty="0" smtClean="0">
                                    <a:latin typeface="Cambria Math" panose="02040503050406030204" pitchFamily="18" charset="0"/>
                                  </a:rPr>
                                </m:ctrlPr>
                              </m:dPr>
                              <m:e>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𝜓</m:t>
                                    </m:r>
                                  </m:e>
                                  <m:sub>
                                    <m:r>
                                      <a:rPr lang="en-US" sz="2800" i="0" dirty="0" smtClean="0">
                                        <a:latin typeface="Cambria Math" panose="02040503050406030204" pitchFamily="18" charset="0"/>
                                      </a:rPr>
                                      <m:t>2</m:t>
                                    </m:r>
                                  </m:sub>
                                </m:sSub>
                                <m:r>
                                  <a:rPr lang="en-US" sz="2800" i="0" dirty="0" smtClean="0">
                                    <a:latin typeface="Cambria Math" panose="02040503050406030204" pitchFamily="18" charset="0"/>
                                  </a:rPr>
                                  <m:t>&gt;=</m:t>
                                </m:r>
                                <m:d>
                                  <m:dPr>
                                    <m:begChr m:val="|"/>
                                    <m:endChr m:val="|"/>
                                    <m:ctrlPr>
                                      <a:rPr lang="en-US" sz="2800" i="1" dirty="0" smtClean="0">
                                        <a:latin typeface="Cambria Math" panose="02040503050406030204" pitchFamily="18" charset="0"/>
                                      </a:rPr>
                                    </m:ctrlPr>
                                  </m:dPr>
                                  <m:e>
                                    <m:r>
                                      <a:rPr lang="en-US" sz="2800" i="0" dirty="0" smtClean="0">
                                        <a:latin typeface="Cambria Math" panose="02040503050406030204" pitchFamily="18" charset="0"/>
                                      </a:rPr>
                                      <m:t>+</m:t>
                                    </m:r>
                                    <m:sSup>
                                      <m:sSupPr>
                                        <m:ctrlPr>
                                          <a:rPr lang="en-US" sz="2800" i="1" dirty="0" smtClean="0">
                                            <a:latin typeface="Cambria Math" panose="02040503050406030204" pitchFamily="18" charset="0"/>
                                          </a:rPr>
                                        </m:ctrlPr>
                                      </m:sSupPr>
                                      <m:e>
                                        <m:d>
                                          <m:dPr>
                                            <m:begChr m:val=""/>
                                            <m:endChr m:val=""/>
                                            <m:ctrlPr>
                                              <a:rPr lang="en-US" sz="2800" i="1" dirty="0" smtClean="0">
                                                <a:latin typeface="Cambria Math" panose="02040503050406030204" pitchFamily="18" charset="0"/>
                                              </a:rPr>
                                            </m:ctrlPr>
                                          </m:dPr>
                                          <m:e>
                                            <m:r>
                                              <a:rPr lang="en-US" sz="2800" i="0" dirty="0" smtClean="0">
                                                <a:latin typeface="Cambria Math" panose="02040503050406030204" pitchFamily="18" charset="0"/>
                                              </a:rPr>
                                              <m:t>⟩</m:t>
                                            </m:r>
                                          </m:e>
                                        </m:d>
                                      </m:e>
                                      <m:sup>
                                        <m:r>
                                          <a:rPr lang="en-US" sz="2800" i="0" dirty="0" smtClean="0">
                                            <a:latin typeface="Cambria Math" panose="02040503050406030204" pitchFamily="18" charset="0"/>
                                          </a:rPr>
                                          <m:t>⊗</m:t>
                                        </m:r>
                                        <m:r>
                                          <a:rPr lang="en-US" sz="2800" i="1" dirty="0" smtClean="0">
                                            <a:latin typeface="Cambria Math" panose="02040503050406030204" pitchFamily="18" charset="0"/>
                                          </a:rPr>
                                          <m:t>𝑛</m:t>
                                        </m:r>
                                      </m:sup>
                                    </m:sSup>
                                  </m:e>
                                </m:d>
                                <m:r>
                                  <a:rPr lang="en-US" sz="2800" i="0" dirty="0" smtClean="0">
                                    <a:latin typeface="Cambria Math" panose="02040503050406030204" pitchFamily="18" charset="0"/>
                                  </a:rPr>
                                  <m:t>–</m:t>
                                </m:r>
                              </m:e>
                            </m:d>
                          </m:e>
                        </m:mr>
                      </m:m>
                    </m:oMath>
                  </m:oMathPara>
                </a14:m>
                <a:endParaRPr lang="en-US" sz="2800" dirty="0">
                  <a:latin typeface="Abadi" panose="020B0604020104020204" pitchFamily="34" charset="0"/>
                </a:endParaRPr>
              </a:p>
              <a:p>
                <a:endParaRPr lang="en-US" dirty="0"/>
              </a:p>
              <a:p>
                <a:endParaRPr lang="en-US" dirty="0"/>
              </a:p>
            </p:txBody>
          </p:sp>
        </mc:Choice>
        <mc:Fallback>
          <p:sp>
            <p:nvSpPr>
              <p:cNvPr id="5" name="Content Placeholder 4">
                <a:extLst>
                  <a:ext uri="{FF2B5EF4-FFF2-40B4-BE49-F238E27FC236}">
                    <a16:creationId xmlns:a16="http://schemas.microsoft.com/office/drawing/2014/main" id="{7447C261-CC06-40AB-CADC-98971A948C05}"/>
                  </a:ext>
                </a:extLst>
              </p:cNvPr>
              <p:cNvSpPr>
                <a:spLocks noGrp="1" noRot="1" noChangeAspect="1" noMove="1" noResize="1" noEditPoints="1" noAdjustHandles="1" noChangeArrowheads="1" noChangeShapeType="1" noTextEdit="1"/>
              </p:cNvSpPr>
              <p:nvPr>
                <p:ph sz="quarter" idx="10"/>
              </p:nvPr>
            </p:nvSpPr>
            <p:spPr>
              <a:xfrm>
                <a:off x="297180" y="1131569"/>
                <a:ext cx="11718036" cy="5644133"/>
              </a:xfrm>
              <a:blipFill>
                <a:blip r:embed="rId2"/>
                <a:stretch>
                  <a:fillRect l="-937" t="-2162"/>
                </a:stretch>
              </a:blipFill>
            </p:spPr>
            <p:txBody>
              <a:bodyPr/>
              <a:lstStyle/>
              <a:p>
                <a:r>
                  <a:rPr lang="en-US">
                    <a:noFill/>
                  </a:rPr>
                  <a:t> </a:t>
                </a:r>
              </a:p>
            </p:txBody>
          </p:sp>
        </mc:Fallback>
      </mc:AlternateContent>
      <p:pic>
        <p:nvPicPr>
          <p:cNvPr id="7" name="Picture 2" descr="The qubits of x and y make ket psi sub 0. y goes in X, making ket psi sub 1. All go into H qugates, making ket psi sub 2.">
            <a:extLst>
              <a:ext uri="{FF2B5EF4-FFF2-40B4-BE49-F238E27FC236}">
                <a16:creationId xmlns:a16="http://schemas.microsoft.com/office/drawing/2014/main" id="{71DEF763-6F5C-78F6-6713-FC62A7A0C5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8690" y="2707873"/>
            <a:ext cx="4194810" cy="21586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9574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78CD5-CFD8-FDFE-AC56-7750F9CAF43D}"/>
              </a:ext>
            </a:extLst>
          </p:cNvPr>
          <p:cNvSpPr>
            <a:spLocks noGrp="1"/>
          </p:cNvSpPr>
          <p:nvPr>
            <p:ph type="title"/>
          </p:nvPr>
        </p:nvSpPr>
        <p:spPr/>
        <p:txBody>
          <a:bodyPr/>
          <a:lstStyle/>
          <a:p>
            <a:r>
              <a:rPr lang="en-US" dirty="0"/>
              <a:t>Step 1:  part 1:   Before the Oracle</a:t>
            </a:r>
          </a:p>
        </p:txBody>
      </p:sp>
      <p:sp>
        <p:nvSpPr>
          <p:cNvPr id="3" name="Content Placeholder 2">
            <a:extLst>
              <a:ext uri="{FF2B5EF4-FFF2-40B4-BE49-F238E27FC236}">
                <a16:creationId xmlns:a16="http://schemas.microsoft.com/office/drawing/2014/main" id="{7051AC05-6C03-FDB3-D953-5E03D0FE7B74}"/>
              </a:ext>
            </a:extLst>
          </p:cNvPr>
          <p:cNvSpPr>
            <a:spLocks noGrp="1"/>
          </p:cNvSpPr>
          <p:nvPr>
            <p:ph sz="quarter" idx="10"/>
          </p:nvPr>
        </p:nvSpPr>
        <p:spPr>
          <a:xfrm>
            <a:off x="914400" y="2039112"/>
            <a:ext cx="8766810" cy="3356576"/>
          </a:xfrm>
        </p:spPr>
        <p:txBody>
          <a:bodyPr/>
          <a:lstStyle/>
          <a:p>
            <a:r>
              <a:rPr lang="en-US" sz="2800" dirty="0">
                <a:latin typeface="Abadi" panose="020B0604020104020204" pitchFamily="34" charset="0"/>
              </a:rPr>
              <a:t>Note that </a:t>
            </a:r>
            <a:r>
              <a:rPr lang="en-US" sz="2800" i="1" dirty="0">
                <a:latin typeface="Abadi" panose="020B0604020104020204" pitchFamily="34" charset="0"/>
              </a:rPr>
              <a:t>H</a:t>
            </a:r>
            <a:r>
              <a:rPr lang="en-US" sz="2800" dirty="0">
                <a:latin typeface="Abadi" panose="020B0604020104020204" pitchFamily="34" charset="0"/>
              </a:rPr>
              <a:t> |0⟩ = ∨ |0⟩ + ∨ |1⟩</a:t>
            </a:r>
          </a:p>
          <a:p>
            <a:r>
              <a:rPr lang="en-US" sz="2800" dirty="0">
                <a:latin typeface="Abadi" panose="020B0604020104020204" pitchFamily="34" charset="0"/>
              </a:rPr>
              <a:t>V =1/√2</a:t>
            </a:r>
          </a:p>
          <a:p>
            <a:r>
              <a:rPr lang="en-US" sz="2800" dirty="0">
                <a:latin typeface="Abadi" panose="020B0604020104020204" pitchFamily="34" charset="0"/>
              </a:rPr>
              <a:t>|+⟩ = zero initial state  superposition    ∨ |0⟩ + ∨ |1⟩</a:t>
            </a:r>
          </a:p>
          <a:p>
            <a:r>
              <a:rPr lang="en-US" sz="2800" dirty="0">
                <a:latin typeface="Abadi" panose="020B0604020104020204" pitchFamily="34" charset="0"/>
              </a:rPr>
              <a:t>|-⟩ = one initial state superposition      ∨ |0⟩ -∨ |1⟩</a:t>
            </a:r>
          </a:p>
          <a:p>
            <a:endParaRPr lang="en-US" dirty="0"/>
          </a:p>
        </p:txBody>
      </p:sp>
      <p:sp>
        <p:nvSpPr>
          <p:cNvPr id="4" name="Slide Number Placeholder 3">
            <a:extLst>
              <a:ext uri="{FF2B5EF4-FFF2-40B4-BE49-F238E27FC236}">
                <a16:creationId xmlns:a16="http://schemas.microsoft.com/office/drawing/2014/main" id="{39C9EFD6-BF92-5BFC-5EFE-FBC21B556601}"/>
              </a:ext>
            </a:extLst>
          </p:cNvPr>
          <p:cNvSpPr>
            <a:spLocks noGrp="1"/>
          </p:cNvSpPr>
          <p:nvPr>
            <p:ph type="sldNum" sz="quarter" idx="4"/>
          </p:nvPr>
        </p:nvSpPr>
        <p:spPr/>
        <p:txBody>
          <a:bodyPr/>
          <a:lstStyle/>
          <a:p>
            <a:fld id="{58FB4751-880F-D840-AAA9-3A15815CC996}" type="slidenum">
              <a:rPr lang="en-US" smtClean="0"/>
              <a:pPr/>
              <a:t>12</a:t>
            </a:fld>
            <a:endParaRPr lang="en-US" dirty="0"/>
          </a:p>
        </p:txBody>
      </p:sp>
    </p:spTree>
    <p:extLst>
      <p:ext uri="{BB962C8B-B14F-4D97-AF65-F5344CB8AC3E}">
        <p14:creationId xmlns:p14="http://schemas.microsoft.com/office/powerpoint/2010/main" val="4173352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5C980-523E-73CB-8549-93F5234D77D7}"/>
              </a:ext>
            </a:extLst>
          </p:cNvPr>
          <p:cNvSpPr>
            <a:spLocks noGrp="1"/>
          </p:cNvSpPr>
          <p:nvPr>
            <p:ph type="title"/>
          </p:nvPr>
        </p:nvSpPr>
        <p:spPr>
          <a:xfrm>
            <a:off x="914400" y="82298"/>
            <a:ext cx="7534656" cy="914400"/>
          </a:xfrm>
        </p:spPr>
        <p:txBody>
          <a:bodyPr/>
          <a:lstStyle/>
          <a:p>
            <a:r>
              <a:rPr lang="en-US" dirty="0"/>
              <a:t>Step 2: Querying the Oracle</a:t>
            </a:r>
          </a:p>
        </p:txBody>
      </p:sp>
      <p:sp>
        <p:nvSpPr>
          <p:cNvPr id="4" name="Slide Number Placeholder 3">
            <a:extLst>
              <a:ext uri="{FF2B5EF4-FFF2-40B4-BE49-F238E27FC236}">
                <a16:creationId xmlns:a16="http://schemas.microsoft.com/office/drawing/2014/main" id="{CC94AFF8-BD07-10D5-B0B0-0ABF90FA514F}"/>
              </a:ext>
            </a:extLst>
          </p:cNvPr>
          <p:cNvSpPr>
            <a:spLocks noGrp="1"/>
          </p:cNvSpPr>
          <p:nvPr>
            <p:ph type="sldNum" sz="quarter" idx="4"/>
          </p:nvPr>
        </p:nvSpPr>
        <p:spPr/>
        <p:txBody>
          <a:bodyPr/>
          <a:lstStyle/>
          <a:p>
            <a:fld id="{58FB4751-880F-D840-AAA9-3A15815CC996}" type="slidenum">
              <a:rPr lang="en-US" smtClean="0"/>
              <a:pPr/>
              <a:t>13</a:t>
            </a:fld>
            <a:endParaRPr lang="en-US" dirty="0"/>
          </a:p>
        </p:txBody>
      </p:sp>
      <p:sp>
        <p:nvSpPr>
          <p:cNvPr id="5" name="Content Placeholder 4">
            <a:extLst>
              <a:ext uri="{FF2B5EF4-FFF2-40B4-BE49-F238E27FC236}">
                <a16:creationId xmlns:a16="http://schemas.microsoft.com/office/drawing/2014/main" id="{EF636D28-A801-312A-73B9-A1EBD3778CCA}"/>
              </a:ext>
            </a:extLst>
          </p:cNvPr>
          <p:cNvSpPr>
            <a:spLocks noGrp="1"/>
          </p:cNvSpPr>
          <p:nvPr>
            <p:ph sz="quarter" idx="10"/>
          </p:nvPr>
        </p:nvSpPr>
        <p:spPr>
          <a:xfrm>
            <a:off x="514350" y="1120141"/>
            <a:ext cx="11269980" cy="5655562"/>
          </a:xfrm>
        </p:spPr>
        <p:txBody>
          <a:bodyPr/>
          <a:lstStyle/>
          <a:p>
            <a:r>
              <a:rPr lang="en-US" sz="2400" dirty="0">
                <a:latin typeface="Abadi" panose="020B0604020104020204" pitchFamily="34" charset="0"/>
              </a:rPr>
              <a:t>Now that we have placed </a:t>
            </a:r>
            <a:r>
              <a:rPr lang="en-US" sz="2400" i="1" dirty="0">
                <a:latin typeface="Abadi" panose="020B0604020104020204" pitchFamily="34" charset="0"/>
              </a:rPr>
              <a:t>x have been placed </a:t>
            </a:r>
            <a:r>
              <a:rPr lang="en-US" sz="2400" dirty="0">
                <a:latin typeface="Abadi" panose="020B0604020104020204" pitchFamily="34" charset="0"/>
              </a:rPr>
              <a:t> into an equal superposition of all possible inputs for </a:t>
            </a:r>
            <a:r>
              <a:rPr lang="en-US" sz="2400" i="1" dirty="0">
                <a:latin typeface="Abadi" panose="020B0604020104020204" pitchFamily="34" charset="0"/>
              </a:rPr>
              <a:t>n</a:t>
            </a:r>
            <a:r>
              <a:rPr lang="en-US" sz="2400" dirty="0">
                <a:latin typeface="Abadi" panose="020B0604020104020204" pitchFamily="34" charset="0"/>
              </a:rPr>
              <a:t> qubits, and y have been placed into |–⟩, we’re ready to give those inputs to the oracle. The diagram for this operation is shown below</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2" descr="Sending the n qubits of x, each in ket plus, and the qubit y in ken minus into the oracle, giving ket psi sub 3.">
            <a:extLst>
              <a:ext uri="{FF2B5EF4-FFF2-40B4-BE49-F238E27FC236}">
                <a16:creationId xmlns:a16="http://schemas.microsoft.com/office/drawing/2014/main" id="{98815A65-5A30-5029-41EF-183F3B697B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8013" y="2452528"/>
            <a:ext cx="5135697" cy="2990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9810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AA773-6176-33DE-5155-68FAB115F211}"/>
              </a:ext>
            </a:extLst>
          </p:cNvPr>
          <p:cNvSpPr>
            <a:spLocks noGrp="1"/>
          </p:cNvSpPr>
          <p:nvPr>
            <p:ph type="title"/>
          </p:nvPr>
        </p:nvSpPr>
        <p:spPr/>
        <p:txBody>
          <a:bodyPr/>
          <a:lstStyle/>
          <a:p>
            <a:r>
              <a:rPr lang="en-US" dirty="0"/>
              <a:t>The Oracle Role</a:t>
            </a:r>
          </a:p>
        </p:txBody>
      </p:sp>
      <p:sp>
        <p:nvSpPr>
          <p:cNvPr id="3" name="Content Placeholder 2">
            <a:extLst>
              <a:ext uri="{FF2B5EF4-FFF2-40B4-BE49-F238E27FC236}">
                <a16:creationId xmlns:a16="http://schemas.microsoft.com/office/drawing/2014/main" id="{6A8FBA4C-F34A-2069-C2E8-23B37B600B52}"/>
              </a:ext>
            </a:extLst>
          </p:cNvPr>
          <p:cNvSpPr>
            <a:spLocks noGrp="1"/>
          </p:cNvSpPr>
          <p:nvPr>
            <p:ph sz="quarter" idx="10"/>
          </p:nvPr>
        </p:nvSpPr>
        <p:spPr>
          <a:xfrm>
            <a:off x="365760" y="2039112"/>
            <a:ext cx="11826240" cy="4647438"/>
          </a:xfrm>
        </p:spPr>
        <p:txBody>
          <a:bodyPr>
            <a:normAutofit lnSpcReduction="10000"/>
          </a:bodyPr>
          <a:lstStyle/>
          <a:p>
            <a:r>
              <a:rPr lang="en-US" sz="2800" dirty="0">
                <a:latin typeface="Abadi" panose="020B0604020104020204" pitchFamily="34" charset="0"/>
              </a:rPr>
              <a:t>As  hinted before , and based on quantum superposition parallelism, the oracle will process each of the states in the superposition |</a:t>
            </a:r>
            <a:r>
              <a:rPr lang="en-US" sz="2800" i="1" dirty="0">
                <a:latin typeface="Abadi" panose="020B0604020104020204" pitchFamily="34" charset="0"/>
              </a:rPr>
              <a:t>ψ</a:t>
            </a:r>
            <a:r>
              <a:rPr lang="en-US" sz="2800" b="1" baseline="-25000" dirty="0">
                <a:latin typeface="Abadi" panose="020B0604020104020204" pitchFamily="34" charset="0"/>
              </a:rPr>
              <a:t>2</a:t>
            </a:r>
            <a:r>
              <a:rPr lang="en-US" sz="2800" dirty="0">
                <a:latin typeface="Abadi" panose="020B0604020104020204" pitchFamily="34" charset="0"/>
              </a:rPr>
              <a:t>⟩ at the same time and produce a new superposition |</a:t>
            </a:r>
            <a:r>
              <a:rPr lang="en-US" sz="2800" i="1" dirty="0">
                <a:latin typeface="Abadi" panose="020B0604020104020204" pitchFamily="34" charset="0"/>
              </a:rPr>
              <a:t>ψ</a:t>
            </a:r>
            <a:r>
              <a:rPr lang="en-US" sz="2800" b="1" baseline="-25000" dirty="0">
                <a:latin typeface="Abadi" panose="020B0604020104020204" pitchFamily="34" charset="0"/>
              </a:rPr>
              <a:t>3</a:t>
            </a:r>
            <a:r>
              <a:rPr lang="en-US" sz="2800" dirty="0">
                <a:latin typeface="Abadi" panose="020B0604020104020204" pitchFamily="34" charset="0"/>
              </a:rPr>
              <a:t>⟩ as output. </a:t>
            </a:r>
          </a:p>
          <a:p>
            <a:r>
              <a:rPr lang="en-US" sz="2800" dirty="0">
                <a:latin typeface="Abadi" panose="020B0604020104020204" pitchFamily="34" charset="0"/>
              </a:rPr>
              <a:t>Each state in the output superposition is the result of querying the oracle with the corresponding state in the input superposition.</a:t>
            </a:r>
          </a:p>
          <a:p>
            <a:r>
              <a:rPr lang="en-US" sz="2800" dirty="0">
                <a:latin typeface="Abadi" panose="020B0604020104020204" pitchFamily="34" charset="0"/>
              </a:rPr>
              <a:t>The result of applying The oracle, </a:t>
            </a:r>
            <a:r>
              <a:rPr lang="en-US" sz="2800" i="1" dirty="0">
                <a:latin typeface="Abadi" panose="020B0604020104020204" pitchFamily="34" charset="0"/>
              </a:rPr>
              <a:t>in one step</a:t>
            </a:r>
            <a:r>
              <a:rPr lang="en-US" sz="2800" dirty="0">
                <a:latin typeface="Abadi" panose="020B0604020104020204" pitchFamily="34" charset="0"/>
              </a:rPr>
              <a:t>, acts in parallel on every possible input of </a:t>
            </a:r>
            <a:r>
              <a:rPr lang="en-US" sz="2800" i="1" dirty="0">
                <a:latin typeface="Abadi" panose="020B0604020104020204" pitchFamily="34" charset="0"/>
              </a:rPr>
              <a:t>n</a:t>
            </a:r>
            <a:r>
              <a:rPr lang="en-US" sz="2800" dirty="0">
                <a:latin typeface="Abadi" panose="020B0604020104020204" pitchFamily="34" charset="0"/>
              </a:rPr>
              <a:t> qubits to produce a new superposition that contains the output of every input qubit.</a:t>
            </a:r>
          </a:p>
          <a:p>
            <a:r>
              <a:rPr lang="en-US" sz="2800" dirty="0">
                <a:latin typeface="Abadi" panose="020B0604020104020204" pitchFamily="34" charset="0"/>
              </a:rPr>
              <a:t>Each such output has the same form: the input state |</a:t>
            </a:r>
            <a:r>
              <a:rPr lang="en-US" sz="2800" i="1" dirty="0">
                <a:latin typeface="Abadi" panose="020B0604020104020204" pitchFamily="34" charset="0"/>
              </a:rPr>
              <a:t>k</a:t>
            </a:r>
            <a:r>
              <a:rPr lang="en-US" sz="2800" dirty="0">
                <a:latin typeface="Abadi" panose="020B0604020104020204" pitchFamily="34" charset="0"/>
              </a:rPr>
              <a:t>⟩ multiplied  with the </a:t>
            </a:r>
            <a:r>
              <a:rPr lang="en-US" sz="2800" i="1" dirty="0">
                <a:latin typeface="Abadi" panose="020B0604020104020204" pitchFamily="34" charset="0"/>
              </a:rPr>
              <a:t>y</a:t>
            </a:r>
            <a:r>
              <a:rPr lang="en-US" sz="2800" dirty="0">
                <a:latin typeface="Abadi" panose="020B0604020104020204" pitchFamily="34" charset="0"/>
              </a:rPr>
              <a:t> input |–⟩, multiplied by either 1 or –1, depending on the oracle’s response to that input.</a:t>
            </a:r>
          </a:p>
        </p:txBody>
      </p:sp>
      <p:sp>
        <p:nvSpPr>
          <p:cNvPr id="4" name="Slide Number Placeholder 3">
            <a:extLst>
              <a:ext uri="{FF2B5EF4-FFF2-40B4-BE49-F238E27FC236}">
                <a16:creationId xmlns:a16="http://schemas.microsoft.com/office/drawing/2014/main" id="{D8E5486E-7351-31BC-3453-B1278213A22C}"/>
              </a:ext>
            </a:extLst>
          </p:cNvPr>
          <p:cNvSpPr>
            <a:spLocks noGrp="1"/>
          </p:cNvSpPr>
          <p:nvPr>
            <p:ph type="sldNum" sz="quarter" idx="4"/>
          </p:nvPr>
        </p:nvSpPr>
        <p:spPr/>
        <p:txBody>
          <a:bodyPr/>
          <a:lstStyle/>
          <a:p>
            <a:fld id="{58FB4751-880F-D840-AAA9-3A15815CC996}" type="slidenum">
              <a:rPr lang="en-US" smtClean="0"/>
              <a:pPr/>
              <a:t>14</a:t>
            </a:fld>
            <a:endParaRPr lang="en-US" dirty="0"/>
          </a:p>
        </p:txBody>
      </p:sp>
    </p:spTree>
    <p:extLst>
      <p:ext uri="{BB962C8B-B14F-4D97-AF65-F5344CB8AC3E}">
        <p14:creationId xmlns:p14="http://schemas.microsoft.com/office/powerpoint/2010/main" val="2985522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4D9B9-F6F3-6D5B-8F53-446DAF3507EA}"/>
              </a:ext>
            </a:extLst>
          </p:cNvPr>
          <p:cNvSpPr>
            <a:spLocks noGrp="1"/>
          </p:cNvSpPr>
          <p:nvPr>
            <p:ph type="title"/>
          </p:nvPr>
        </p:nvSpPr>
        <p:spPr>
          <a:xfrm>
            <a:off x="1017270" y="171450"/>
            <a:ext cx="7534656" cy="914400"/>
          </a:xfrm>
        </p:spPr>
        <p:txBody>
          <a:bodyPr/>
          <a:lstStyle/>
          <a:p>
            <a:r>
              <a:rPr lang="en-US" dirty="0"/>
              <a:t>Step 3: Preprocessing &amp; Measurement</a:t>
            </a:r>
          </a:p>
        </p:txBody>
      </p:sp>
      <p:sp>
        <p:nvSpPr>
          <p:cNvPr id="4" name="Slide Number Placeholder 3">
            <a:extLst>
              <a:ext uri="{FF2B5EF4-FFF2-40B4-BE49-F238E27FC236}">
                <a16:creationId xmlns:a16="http://schemas.microsoft.com/office/drawing/2014/main" id="{EDC711AC-001D-EE9D-9CA6-FAC1AB6D8B6F}"/>
              </a:ext>
            </a:extLst>
          </p:cNvPr>
          <p:cNvSpPr>
            <a:spLocks noGrp="1"/>
          </p:cNvSpPr>
          <p:nvPr>
            <p:ph type="sldNum" sz="quarter" idx="4"/>
          </p:nvPr>
        </p:nvSpPr>
        <p:spPr/>
        <p:txBody>
          <a:bodyPr/>
          <a:lstStyle/>
          <a:p>
            <a:fld id="{58FB4751-880F-D840-AAA9-3A15815CC996}" type="slidenum">
              <a:rPr lang="en-US" smtClean="0"/>
              <a:pPr/>
              <a:t>15</a:t>
            </a:fld>
            <a:endParaRPr lang="en-US" dirty="0"/>
          </a:p>
        </p:txBody>
      </p:sp>
      <p:sp>
        <p:nvSpPr>
          <p:cNvPr id="5" name="Content Placeholder 4">
            <a:extLst>
              <a:ext uri="{FF2B5EF4-FFF2-40B4-BE49-F238E27FC236}">
                <a16:creationId xmlns:a16="http://schemas.microsoft.com/office/drawing/2014/main" id="{269FB8D2-D767-AC11-7E2A-3BD5D8EF162D}"/>
              </a:ext>
            </a:extLst>
          </p:cNvPr>
          <p:cNvSpPr>
            <a:spLocks noGrp="1"/>
          </p:cNvSpPr>
          <p:nvPr>
            <p:ph sz="quarter" idx="10"/>
          </p:nvPr>
        </p:nvSpPr>
        <p:spPr>
          <a:xfrm>
            <a:off x="491490" y="1314450"/>
            <a:ext cx="11292840" cy="5120640"/>
          </a:xfrm>
        </p:spPr>
        <p:txBody>
          <a:bodyPr>
            <a:normAutofit/>
          </a:bodyPr>
          <a:lstStyle/>
          <a:p>
            <a:r>
              <a:rPr lang="en-US" sz="2400" dirty="0">
                <a:latin typeface="Abadi" panose="020B0604020104020204" pitchFamily="34" charset="0"/>
              </a:rPr>
              <a:t>The postprocessing after measurement is very complex for this problem in it is out of context to go through it in this course</a:t>
            </a:r>
          </a:p>
          <a:p>
            <a:r>
              <a:rPr lang="en-US" sz="2400" dirty="0">
                <a:latin typeface="Abadi" panose="020B0604020104020204" pitchFamily="34" charset="0"/>
              </a:rPr>
              <a:t>The part of the circuit that will carry out the measurement process is given below:</a:t>
            </a:r>
          </a:p>
          <a:p>
            <a:pPr marL="0" indent="0">
              <a:buNone/>
            </a:pPr>
            <a:endParaRPr lang="en-US" sz="2400" dirty="0">
              <a:latin typeface="Abadi" panose="020B0604020104020204" pitchFamily="34" charset="0"/>
            </a:endParaRPr>
          </a:p>
        </p:txBody>
      </p:sp>
      <p:pic>
        <p:nvPicPr>
          <p:cNvPr id="6" name="Picture 2" descr="Every qugate in x goes into an H, creating ket psi sub 4. Then each qubit is measured, giving the n-bit output bitstring b.">
            <a:extLst>
              <a:ext uri="{FF2B5EF4-FFF2-40B4-BE49-F238E27FC236}">
                <a16:creationId xmlns:a16="http://schemas.microsoft.com/office/drawing/2014/main" id="{6C752A29-4C12-5AF9-CAC3-21861C1347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1069" y="3429000"/>
            <a:ext cx="5335481" cy="2252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938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9E87D-4389-9230-B59C-094092302016}"/>
              </a:ext>
            </a:extLst>
          </p:cNvPr>
          <p:cNvSpPr>
            <a:spLocks noGrp="1"/>
          </p:cNvSpPr>
          <p:nvPr>
            <p:ph type="title"/>
          </p:nvPr>
        </p:nvSpPr>
        <p:spPr>
          <a:xfrm>
            <a:off x="891540" y="329183"/>
            <a:ext cx="7534656" cy="914400"/>
          </a:xfrm>
        </p:spPr>
        <p:txBody>
          <a:bodyPr/>
          <a:lstStyle/>
          <a:p>
            <a:r>
              <a:rPr lang="en-US" dirty="0"/>
              <a:t>The Results</a:t>
            </a:r>
          </a:p>
        </p:txBody>
      </p:sp>
      <p:sp>
        <p:nvSpPr>
          <p:cNvPr id="3" name="Content Placeholder 2">
            <a:extLst>
              <a:ext uri="{FF2B5EF4-FFF2-40B4-BE49-F238E27FC236}">
                <a16:creationId xmlns:a16="http://schemas.microsoft.com/office/drawing/2014/main" id="{A87B12AD-5D30-F646-E564-EA9C6C7D101E}"/>
              </a:ext>
            </a:extLst>
          </p:cNvPr>
          <p:cNvSpPr>
            <a:spLocks noGrp="1"/>
          </p:cNvSpPr>
          <p:nvPr>
            <p:ph sz="quarter" idx="10"/>
          </p:nvPr>
        </p:nvSpPr>
        <p:spPr>
          <a:xfrm>
            <a:off x="445770" y="1428750"/>
            <a:ext cx="10789920" cy="5346953"/>
          </a:xfrm>
        </p:spPr>
        <p:txBody>
          <a:bodyPr/>
          <a:lstStyle/>
          <a:p>
            <a:r>
              <a:rPr lang="en-US" sz="2400" dirty="0">
                <a:latin typeface="Abadi" panose="020B0604020104020204" pitchFamily="34" charset="0"/>
              </a:rPr>
              <a:t>The results of the process are shown in  the histograms below</a:t>
            </a:r>
          </a:p>
          <a:p>
            <a:pPr marL="0" indent="0">
              <a:buNone/>
            </a:pPr>
            <a:endParaRPr lang="en-US" sz="2400" dirty="0">
              <a:latin typeface="Abadi" panose="020B0604020104020204" pitchFamily="34" charset="0"/>
            </a:endParaRPr>
          </a:p>
          <a:p>
            <a:endParaRPr lang="en-US" dirty="0"/>
          </a:p>
        </p:txBody>
      </p:sp>
      <p:sp>
        <p:nvSpPr>
          <p:cNvPr id="4" name="Slide Number Placeholder 3">
            <a:extLst>
              <a:ext uri="{FF2B5EF4-FFF2-40B4-BE49-F238E27FC236}">
                <a16:creationId xmlns:a16="http://schemas.microsoft.com/office/drawing/2014/main" id="{3FBB9803-CC5B-00D7-36E7-4BACC4F297BE}"/>
              </a:ext>
            </a:extLst>
          </p:cNvPr>
          <p:cNvSpPr>
            <a:spLocks noGrp="1"/>
          </p:cNvSpPr>
          <p:nvPr>
            <p:ph type="sldNum" sz="quarter" idx="4"/>
          </p:nvPr>
        </p:nvSpPr>
        <p:spPr/>
        <p:txBody>
          <a:bodyPr/>
          <a:lstStyle/>
          <a:p>
            <a:fld id="{58FB4751-880F-D840-AAA9-3A15815CC996}" type="slidenum">
              <a:rPr lang="en-US" smtClean="0"/>
              <a:pPr/>
              <a:t>16</a:t>
            </a:fld>
            <a:endParaRPr lang="en-US" dirty="0"/>
          </a:p>
        </p:txBody>
      </p:sp>
      <p:pic>
        <p:nvPicPr>
          <p:cNvPr id="8194" name="Picture 2" descr="Bar charts showing that a constant oracle returns a bitstring of zeroes, and balanced oracles return something else.">
            <a:extLst>
              <a:ext uri="{FF2B5EF4-FFF2-40B4-BE49-F238E27FC236}">
                <a16:creationId xmlns:a16="http://schemas.microsoft.com/office/drawing/2014/main" id="{A6ABD88C-EAB6-E1EE-84CB-5131FD0687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1583" y="2218943"/>
            <a:ext cx="8791575" cy="358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5618802"/>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{0073B422-1617-4E2E-9459-78B0276D11A3}TF1ed9553b-00c4-4092-846a-c8f7f2908f3beecd942f_win32-8e33096c3cfc</Template>
  <TotalTime>8823</TotalTime>
  <Words>1087</Words>
  <Application>Microsoft Office PowerPoint</Application>
  <PresentationFormat>Widescreen</PresentationFormat>
  <Paragraphs>132</Paragraphs>
  <Slides>16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Abadi</vt:lpstr>
      <vt:lpstr>Arial</vt:lpstr>
      <vt:lpstr>Calibri</vt:lpstr>
      <vt:lpstr>Cambria Math</vt:lpstr>
      <vt:lpstr>Courier New</vt:lpstr>
      <vt:lpstr>Gill Sans Nova Light</vt:lpstr>
      <vt:lpstr>Noto Serif</vt:lpstr>
      <vt:lpstr>Sagona Book</vt:lpstr>
      <vt:lpstr>Custom</vt:lpstr>
      <vt:lpstr>Deutsch-Jozsa Algorithm Revisited</vt:lpstr>
      <vt:lpstr>Recap: The Deutsch-Jozsa Problem</vt:lpstr>
      <vt:lpstr>The Problem</vt:lpstr>
      <vt:lpstr>Initial Characterization of the Circuit</vt:lpstr>
      <vt:lpstr>Initial High Level Design of the Circuit</vt:lpstr>
      <vt:lpstr>The Detailed Algorithm Circuit</vt:lpstr>
      <vt:lpstr>A More Compact Reprsentation of the Circuit</vt:lpstr>
      <vt:lpstr>Comments on the above Diagram</vt:lpstr>
      <vt:lpstr>Comments on the Above Diagram</vt:lpstr>
      <vt:lpstr>First Step</vt:lpstr>
      <vt:lpstr>Step 1 Part 1: Before the Oracle</vt:lpstr>
      <vt:lpstr>Step 1:  part 1:   Before the Oracle</vt:lpstr>
      <vt:lpstr>Step 2: Querying the Oracle</vt:lpstr>
      <vt:lpstr>The Oracle Role</vt:lpstr>
      <vt:lpstr>Step 3: Preprocessing &amp; Measurement</vt:lpstr>
      <vt:lpstr>The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Prof Mohammed ELAffendi</dc:creator>
  <cp:lastModifiedBy>Prof Mohammed ELAffendi</cp:lastModifiedBy>
  <cp:revision>19</cp:revision>
  <dcterms:created xsi:type="dcterms:W3CDTF">2026-01-13T03:41:03Z</dcterms:created>
  <dcterms:modified xsi:type="dcterms:W3CDTF">2026-01-19T06:44:34Z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