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317" r:id="rId5"/>
    <p:sldId id="328" r:id="rId6"/>
    <p:sldId id="330" r:id="rId7"/>
    <p:sldId id="329" r:id="rId8"/>
    <p:sldId id="334" r:id="rId9"/>
    <p:sldId id="335" r:id="rId10"/>
    <p:sldId id="336" r:id="rId11"/>
    <p:sldId id="337" r:id="rId12"/>
    <p:sldId id="338" r:id="rId13"/>
    <p:sldId id="339"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5405" autoAdjust="0"/>
  </p:normalViewPr>
  <p:slideViewPr>
    <p:cSldViewPr snapToGrid="0">
      <p:cViewPr varScale="1">
        <p:scale>
          <a:sx n="88" d="100"/>
          <a:sy n="88" d="100"/>
        </p:scale>
        <p:origin x="451" y="5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4/26/2026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4/26/2026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hyperlink" Target="https://chainspect.app/compare/solana-vs-ethereum" TargetMode="External"/><Relationship Id="rId3" Type="http://schemas.openxmlformats.org/officeDocument/2006/relationships/hyperlink" Target="https://cryptonews.com/academy/what-are-decentralized-applications-dapps/" TargetMode="External"/><Relationship Id="rId7" Type="http://schemas.openxmlformats.org/officeDocument/2006/relationships/hyperlink" Target="https://cryptonews.com/cryptocurrency/what-is-web3/" TargetMode="External"/><Relationship Id="rId2" Type="http://schemas.openxmlformats.org/officeDocument/2006/relationships/hyperlink" Target="https://cryptonews.com/academy/blockchain-technology/" TargetMode="External"/><Relationship Id="rId1" Type="http://schemas.openxmlformats.org/officeDocument/2006/relationships/slideLayout" Target="../slideLayouts/slideLayout5.xml"/><Relationship Id="rId6" Type="http://schemas.openxmlformats.org/officeDocument/2006/relationships/hyperlink" Target="https://cryptonews.com/academy/cardano-vs-solana/" TargetMode="External"/><Relationship Id="rId5" Type="http://schemas.openxmlformats.org/officeDocument/2006/relationships/hyperlink" Target="https://cryptonews.com/academy/what-is-a-governance-token/" TargetMode="External"/><Relationship Id="rId4" Type="http://schemas.openxmlformats.org/officeDocument/2006/relationships/hyperlink" Target="https://cryptonews.com/cryptocurrency/what-is-a-smart-contract/"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helius.dev/blog/alpenglow" TargetMode="External"/><Relationship Id="rId2" Type="http://schemas.openxmlformats.org/officeDocument/2006/relationships/hyperlink" Target="https://usa.visa.com/solutions/crypto/deep-dive-on-solana.html" TargetMode="External"/><Relationship Id="rId1" Type="http://schemas.openxmlformats.org/officeDocument/2006/relationships/slideLayout" Target="../slideLayouts/slideLayout5.xml"/><Relationship Id="rId4" Type="http://schemas.openxmlformats.org/officeDocument/2006/relationships/hyperlink" Target="https://cryptonews.com/cryptocurrency/crypto-with-lowest-fees/"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solana.com/news/solana-labs-completes-a-314-15m-private-token-sale-led-by-andreessen-horowitz-and-polychain-capital"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s://cryptonews.com/academy/crypto-nodes/" TargetMode="External"/><Relationship Id="rId2" Type="http://schemas.openxmlformats.org/officeDocument/2006/relationships/hyperlink" Target="https://cryptonews.com/cryptocurrency/proof-of-stake/" TargetMode="External"/><Relationship Id="rId1" Type="http://schemas.openxmlformats.org/officeDocument/2006/relationships/slideLayout" Target="../slideLayouts/slideLayout5.xml"/><Relationship Id="rId5" Type="http://schemas.openxmlformats.org/officeDocument/2006/relationships/hyperlink" Target="https://solanabeach.io/validators" TargetMode="External"/><Relationship Id="rId4" Type="http://schemas.openxmlformats.org/officeDocument/2006/relationships/hyperlink" Target="https://cryptonews.com/cryptocurrency/crypto-nodes-that-pa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hyperlink" Target="https://cryptonews.com/news/fastest-l1-ever-solanas-alpenglow-upgrade-has-traders-watching-300-next-solana-price-prediction/" TargetMode="External"/><Relationship Id="rId2" Type="http://schemas.openxmlformats.org/officeDocument/2006/relationships/hyperlink" Target="https://cryptonews.com/academy/what-is-solana-firedancer-and-why-is-it-important-for-the-network/" TargetMode="External"/><Relationship Id="rId1" Type="http://schemas.openxmlformats.org/officeDocument/2006/relationships/slideLayout" Target="../slideLayouts/slideLayout5.xml"/><Relationship Id="rId4" Type="http://schemas.openxmlformats.org/officeDocument/2006/relationships/hyperlink" Target="https://www.anza.xyz/blog/alpenglow-a-new-consensus-for-solana"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Emerging Blockchain Systems:</a:t>
            </a:r>
            <a:br>
              <a:rPr lang="en-US" dirty="0"/>
            </a:br>
            <a:r>
              <a:rPr lang="en-US" b="1" dirty="0"/>
              <a:t>Solana: Fast Transaction Processing, Minimal Finality Time</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FD620-36AD-6BC2-8D47-DF40A499608A}"/>
              </a:ext>
            </a:extLst>
          </p:cNvPr>
          <p:cNvSpPr>
            <a:spLocks noGrp="1"/>
          </p:cNvSpPr>
          <p:nvPr>
            <p:ph type="title"/>
          </p:nvPr>
        </p:nvSpPr>
        <p:spPr/>
        <p:txBody>
          <a:bodyPr/>
          <a:lstStyle/>
          <a:p>
            <a:r>
              <a:rPr lang="en-US" dirty="0"/>
              <a:t>Third Generation Blockchains</a:t>
            </a:r>
          </a:p>
        </p:txBody>
      </p:sp>
      <p:sp>
        <p:nvSpPr>
          <p:cNvPr id="3" name="Content Placeholder 2">
            <a:extLst>
              <a:ext uri="{FF2B5EF4-FFF2-40B4-BE49-F238E27FC236}">
                <a16:creationId xmlns:a16="http://schemas.microsoft.com/office/drawing/2014/main" id="{A1DC4636-482C-8879-4DEA-600E74DD622D}"/>
              </a:ext>
            </a:extLst>
          </p:cNvPr>
          <p:cNvSpPr>
            <a:spLocks noGrp="1"/>
          </p:cNvSpPr>
          <p:nvPr>
            <p:ph sz="quarter" idx="10"/>
          </p:nvPr>
        </p:nvSpPr>
        <p:spPr>
          <a:xfrm>
            <a:off x="914399" y="2039112"/>
            <a:ext cx="8842549" cy="3356576"/>
          </a:xfrm>
        </p:spPr>
        <p:txBody>
          <a:bodyPr>
            <a:normAutofit/>
          </a:bodyPr>
          <a:lstStyle/>
          <a:p>
            <a:r>
              <a:rPr lang="en-US" sz="2400" dirty="0">
                <a:latin typeface="Abadi" panose="020B0604020104020204" pitchFamily="34" charset="0"/>
              </a:rPr>
              <a:t>By 2025, emerging systems (3rd and 4th generations) address the limitations of earlier generations through innovations like sharding, zero-knowledge proofs, and hybrid consensus mechanisms, enabling faster, greener, and more interconnected networks. Below, I'll explain two representative pairs of pairs (total four pairs) </a:t>
            </a:r>
          </a:p>
          <a:p>
            <a:r>
              <a:rPr lang="en-US" sz="2400" dirty="0">
                <a:latin typeface="Abadi" panose="020B0604020104020204" pitchFamily="34" charset="0"/>
              </a:rPr>
              <a:t>This presentation covers Solana – 65,000 transactions per second, and growing</a:t>
            </a:r>
          </a:p>
          <a:p>
            <a:r>
              <a:rPr lang="en-US" sz="2400" dirty="0">
                <a:latin typeface="Abadi" panose="020B0604020104020204" pitchFamily="34" charset="0"/>
              </a:rPr>
              <a:t>Use Proof of History + Proof of Stake</a:t>
            </a:r>
          </a:p>
          <a:p>
            <a:endParaRPr lang="en-US" sz="2400" dirty="0">
              <a:latin typeface="Abadi" panose="020B0604020104020204" pitchFamily="34" charset="0"/>
            </a:endParaRPr>
          </a:p>
          <a:p>
            <a:endParaRPr lang="en-US" dirty="0"/>
          </a:p>
        </p:txBody>
      </p:sp>
      <p:sp>
        <p:nvSpPr>
          <p:cNvPr id="4" name="Slide Number Placeholder 3">
            <a:extLst>
              <a:ext uri="{FF2B5EF4-FFF2-40B4-BE49-F238E27FC236}">
                <a16:creationId xmlns:a16="http://schemas.microsoft.com/office/drawing/2014/main" id="{51473D65-2355-8387-CD1D-F1A72A4F2E55}"/>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4117806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1C42-0004-E8E5-4E4D-87F729A35FA5}"/>
              </a:ext>
            </a:extLst>
          </p:cNvPr>
          <p:cNvSpPr>
            <a:spLocks noGrp="1"/>
          </p:cNvSpPr>
          <p:nvPr>
            <p:ph type="title"/>
          </p:nvPr>
        </p:nvSpPr>
        <p:spPr>
          <a:xfrm>
            <a:off x="813917" y="130628"/>
            <a:ext cx="7534656" cy="914400"/>
          </a:xfrm>
        </p:spPr>
        <p:txBody>
          <a:bodyPr/>
          <a:lstStyle/>
          <a:p>
            <a:r>
              <a:rPr lang="en-US" dirty="0"/>
              <a:t>Solana</a:t>
            </a:r>
          </a:p>
        </p:txBody>
      </p:sp>
      <p:sp>
        <p:nvSpPr>
          <p:cNvPr id="3" name="Content Placeholder 2">
            <a:extLst>
              <a:ext uri="{FF2B5EF4-FFF2-40B4-BE49-F238E27FC236}">
                <a16:creationId xmlns:a16="http://schemas.microsoft.com/office/drawing/2014/main" id="{F7B01B3C-A294-27F7-3768-BA0E7E93A23C}"/>
              </a:ext>
            </a:extLst>
          </p:cNvPr>
          <p:cNvSpPr>
            <a:spLocks noGrp="1"/>
          </p:cNvSpPr>
          <p:nvPr>
            <p:ph sz="quarter" idx="10"/>
          </p:nvPr>
        </p:nvSpPr>
        <p:spPr>
          <a:xfrm>
            <a:off x="176784" y="1045029"/>
            <a:ext cx="11838431" cy="5812972"/>
          </a:xfrm>
        </p:spPr>
        <p:txBody>
          <a:bodyPr>
            <a:normAutofit/>
          </a:bodyPr>
          <a:lstStyle/>
          <a:p>
            <a:r>
              <a:rPr lang="en-US" sz="2800" dirty="0">
                <a:latin typeface="Abadi" panose="020B0604020104020204" pitchFamily="34" charset="0"/>
              </a:rPr>
              <a:t>Solana is a high-performance public blockchain known for its speed, low fees, and ability to scale. </a:t>
            </a:r>
          </a:p>
          <a:p>
            <a:r>
              <a:rPr lang="en-US" sz="2800" dirty="0">
                <a:latin typeface="Abadi" panose="020B0604020104020204" pitchFamily="34" charset="0"/>
              </a:rPr>
              <a:t>Launched in 2020, it supports smart contracts, decentralized apps (</a:t>
            </a:r>
            <a:r>
              <a:rPr lang="en-US" sz="2800" dirty="0" err="1">
                <a:latin typeface="Abadi" panose="020B0604020104020204" pitchFamily="34" charset="0"/>
              </a:rPr>
              <a:t>dApps</a:t>
            </a:r>
            <a:r>
              <a:rPr lang="en-US" sz="2800" dirty="0">
                <a:latin typeface="Abadi" panose="020B0604020104020204" pitchFamily="34" charset="0"/>
              </a:rPr>
              <a:t>), and digital assets — much like Ethereum, but faster and cheaper.</a:t>
            </a:r>
          </a:p>
          <a:p>
            <a:r>
              <a:rPr lang="en-US" sz="2800" dirty="0">
                <a:latin typeface="Abadi" panose="020B0604020104020204" pitchFamily="34" charset="0"/>
              </a:rPr>
              <a:t>It uses a proof-of-stake (</a:t>
            </a:r>
            <a:r>
              <a:rPr lang="en-US" sz="2800" dirty="0" err="1">
                <a:latin typeface="Abadi" panose="020B0604020104020204" pitchFamily="34" charset="0"/>
              </a:rPr>
              <a:t>PoS</a:t>
            </a:r>
            <a:r>
              <a:rPr lang="en-US" sz="2800" dirty="0">
                <a:latin typeface="Abadi" panose="020B0604020104020204" pitchFamily="34" charset="0"/>
              </a:rPr>
              <a:t>) consensus mechanism alongside a unique feature called proof-of-history (</a:t>
            </a:r>
            <a:r>
              <a:rPr lang="en-US" sz="2800" dirty="0" err="1">
                <a:latin typeface="Abadi" panose="020B0604020104020204" pitchFamily="34" charset="0"/>
              </a:rPr>
              <a:t>PoH</a:t>
            </a:r>
            <a:r>
              <a:rPr lang="en-US" sz="2800" dirty="0">
                <a:latin typeface="Abadi" panose="020B0604020104020204" pitchFamily="34" charset="0"/>
              </a:rPr>
              <a:t>), which timestamps transactions to keep the network in sync. This design helps Solana process thousands of transactions per second with near-instant finality.</a:t>
            </a:r>
          </a:p>
          <a:p>
            <a:r>
              <a:rPr lang="en-US" sz="2800" dirty="0">
                <a:latin typeface="Abadi" panose="020B0604020104020204" pitchFamily="34" charset="0"/>
              </a:rPr>
              <a:t>As of June 2025, Solana powers a $198B ecosystem, with its native token, SOL, valued at over $50.15B. </a:t>
            </a:r>
          </a:p>
          <a:p>
            <a:r>
              <a:rPr lang="en-US" sz="2800" dirty="0">
                <a:latin typeface="Abadi" panose="020B0604020104020204" pitchFamily="34" charset="0"/>
              </a:rPr>
              <a:t>It ranks sixth globally by market cap and is a favorite among developers aiming to build efficient, scalable blockchain applications.</a:t>
            </a:r>
          </a:p>
        </p:txBody>
      </p:sp>
      <p:sp>
        <p:nvSpPr>
          <p:cNvPr id="4" name="Slide Number Placeholder 3">
            <a:extLst>
              <a:ext uri="{FF2B5EF4-FFF2-40B4-BE49-F238E27FC236}">
                <a16:creationId xmlns:a16="http://schemas.microsoft.com/office/drawing/2014/main" id="{9982AA25-892E-E009-3A4C-B12A85869D9C}"/>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157222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8CCE1-E1C9-74CB-34BE-FB3681C1EFD2}"/>
              </a:ext>
            </a:extLst>
          </p:cNvPr>
          <p:cNvSpPr>
            <a:spLocks noGrp="1"/>
          </p:cNvSpPr>
          <p:nvPr>
            <p:ph type="title"/>
          </p:nvPr>
        </p:nvSpPr>
        <p:spPr>
          <a:xfrm>
            <a:off x="813916" y="82298"/>
            <a:ext cx="7534656" cy="914400"/>
          </a:xfrm>
        </p:spPr>
        <p:txBody>
          <a:bodyPr/>
          <a:lstStyle/>
          <a:p>
            <a:r>
              <a:rPr lang="en-US" dirty="0"/>
              <a:t>What is Solana?</a:t>
            </a:r>
          </a:p>
        </p:txBody>
      </p:sp>
      <p:sp>
        <p:nvSpPr>
          <p:cNvPr id="3" name="Content Placeholder 2">
            <a:extLst>
              <a:ext uri="{FF2B5EF4-FFF2-40B4-BE49-F238E27FC236}">
                <a16:creationId xmlns:a16="http://schemas.microsoft.com/office/drawing/2014/main" id="{6C6E20C9-4B21-F238-699C-807715826DEB}"/>
              </a:ext>
            </a:extLst>
          </p:cNvPr>
          <p:cNvSpPr>
            <a:spLocks noGrp="1"/>
          </p:cNvSpPr>
          <p:nvPr>
            <p:ph sz="quarter" idx="10"/>
          </p:nvPr>
        </p:nvSpPr>
        <p:spPr>
          <a:xfrm>
            <a:off x="371475" y="1205803"/>
            <a:ext cx="11475532" cy="5569900"/>
          </a:xfrm>
        </p:spPr>
        <p:txBody>
          <a:bodyPr>
            <a:noAutofit/>
          </a:bodyPr>
          <a:lstStyle/>
          <a:p>
            <a:r>
              <a:rPr lang="en-US" sz="2400" dirty="0">
                <a:latin typeface="Abadi" panose="020B0604020104020204" pitchFamily="34" charset="0"/>
              </a:rPr>
              <a:t>Solana is a public </a:t>
            </a:r>
            <a:r>
              <a:rPr lang="en-US" sz="2400" dirty="0">
                <a:latin typeface="Abadi" panose="020B0604020104020204" pitchFamily="34" charset="0"/>
                <a:hlinkClick r:id="rId2"/>
              </a:rPr>
              <a:t>blockchain</a:t>
            </a:r>
            <a:r>
              <a:rPr lang="en-US" sz="2400" dirty="0">
                <a:latin typeface="Abadi" panose="020B0604020104020204" pitchFamily="34" charset="0"/>
              </a:rPr>
              <a:t> that supports </a:t>
            </a:r>
            <a:r>
              <a:rPr lang="en-US" sz="2400" dirty="0" err="1">
                <a:latin typeface="Abadi" panose="020B0604020104020204" pitchFamily="34" charset="0"/>
                <a:hlinkClick r:id="rId3"/>
              </a:rPr>
              <a:t>dApps</a:t>
            </a:r>
            <a:r>
              <a:rPr lang="en-US" sz="2400" dirty="0">
                <a:latin typeface="Abadi" panose="020B0604020104020204" pitchFamily="34" charset="0"/>
              </a:rPr>
              <a:t> and crypto projects through </a:t>
            </a:r>
            <a:r>
              <a:rPr lang="en-US" sz="2400" dirty="0">
                <a:latin typeface="Abadi" panose="020B0604020104020204" pitchFamily="34" charset="0"/>
                <a:hlinkClick r:id="rId4"/>
              </a:rPr>
              <a:t>smart contracts</a:t>
            </a:r>
            <a:r>
              <a:rPr lang="en-US" sz="2400" dirty="0">
                <a:latin typeface="Abadi" panose="020B0604020104020204" pitchFamily="34" charset="0"/>
              </a:rPr>
              <a:t>, which are self-executing programs.</a:t>
            </a:r>
          </a:p>
          <a:p>
            <a:r>
              <a:rPr lang="en-US" sz="2400" dirty="0">
                <a:latin typeface="Abadi" panose="020B0604020104020204" pitchFamily="34" charset="0"/>
              </a:rPr>
              <a:t>The Solana ecosystem is supported by its native cryptocurrency, SOL, which allows holders to participate in consensus and </a:t>
            </a:r>
            <a:r>
              <a:rPr lang="en-US" sz="2400" dirty="0">
                <a:latin typeface="Abadi" panose="020B0604020104020204" pitchFamily="34" charset="0"/>
                <a:hlinkClick r:id="rId5"/>
              </a:rPr>
              <a:t>governance</a:t>
            </a:r>
            <a:r>
              <a:rPr lang="en-US" sz="2400" dirty="0">
                <a:latin typeface="Abadi" panose="020B0604020104020204" pitchFamily="34" charset="0"/>
              </a:rPr>
              <a:t>.</a:t>
            </a:r>
          </a:p>
          <a:p>
            <a:r>
              <a:rPr lang="en-US" sz="2400" dirty="0">
                <a:latin typeface="Abadi" panose="020B0604020104020204" pitchFamily="34" charset="0"/>
              </a:rPr>
              <a:t>While it offers features similar to Ethereum, BNB Chain, or Avalanche, </a:t>
            </a:r>
            <a:r>
              <a:rPr lang="en-US" sz="2400" dirty="0">
                <a:latin typeface="Abadi" panose="020B0604020104020204" pitchFamily="34" charset="0"/>
                <a:hlinkClick r:id="rId6"/>
              </a:rPr>
              <a:t>Solana</a:t>
            </a:r>
            <a:r>
              <a:rPr lang="en-US" sz="2400" dirty="0">
                <a:latin typeface="Abadi" panose="020B0604020104020204" pitchFamily="34" charset="0"/>
              </a:rPr>
              <a:t> prioritizes performance. It is one of the fastest blockchains, focusing on three key aspects: speed, throughput, and cost.</a:t>
            </a:r>
          </a:p>
          <a:p>
            <a:r>
              <a:rPr lang="en-US" sz="2400" dirty="0">
                <a:latin typeface="Abadi" panose="020B0604020104020204" pitchFamily="34" charset="0"/>
              </a:rPr>
              <a:t>With Solana’s high performance, blockchain-based apps can offer a seamless Web2-like experience. Although Ethereum has dominated </a:t>
            </a:r>
            <a:r>
              <a:rPr lang="en-US" sz="2400" dirty="0">
                <a:latin typeface="Abadi" panose="020B0604020104020204" pitchFamily="34" charset="0"/>
                <a:hlinkClick r:id="rId7"/>
              </a:rPr>
              <a:t>Web3</a:t>
            </a:r>
            <a:r>
              <a:rPr lang="en-US" sz="2400" dirty="0">
                <a:latin typeface="Abadi" panose="020B0604020104020204" pitchFamily="34" charset="0"/>
              </a:rPr>
              <a:t>, it has often faced congestion issues and high transaction fees, making resource-intensive </a:t>
            </a:r>
            <a:r>
              <a:rPr lang="en-US" sz="2400" dirty="0" err="1">
                <a:latin typeface="Abadi" panose="020B0604020104020204" pitchFamily="34" charset="0"/>
              </a:rPr>
              <a:t>dApps</a:t>
            </a:r>
            <a:r>
              <a:rPr lang="en-US" sz="2400" dirty="0">
                <a:latin typeface="Abadi" panose="020B0604020104020204" pitchFamily="34" charset="0"/>
              </a:rPr>
              <a:t> less practical.</a:t>
            </a:r>
          </a:p>
          <a:p>
            <a:r>
              <a:rPr lang="en-US" sz="2400" dirty="0">
                <a:latin typeface="Abadi" panose="020B0604020104020204" pitchFamily="34" charset="0"/>
              </a:rPr>
              <a:t>Solana can, in theory, support up to 65,000 transactions per second (TPS), compared to only around 15 TPS on Ethereum. As per </a:t>
            </a:r>
            <a:r>
              <a:rPr lang="en-US" sz="2400" dirty="0" err="1">
                <a:latin typeface="Abadi" panose="020B0604020104020204" pitchFamily="34" charset="0"/>
                <a:hlinkClick r:id="rId8"/>
              </a:rPr>
              <a:t>Chainspect</a:t>
            </a:r>
            <a:r>
              <a:rPr lang="en-US" sz="2400" dirty="0">
                <a:latin typeface="Abadi" panose="020B0604020104020204" pitchFamily="34" charset="0"/>
              </a:rPr>
              <a:t>, it currently has the highest real-time tips across all chains, overtaking the likes of BNB Chain and Tron</a:t>
            </a:r>
            <a:r>
              <a:rPr lang="en-US" dirty="0"/>
              <a:t>.</a:t>
            </a:r>
          </a:p>
        </p:txBody>
      </p:sp>
      <p:sp>
        <p:nvSpPr>
          <p:cNvPr id="4" name="Slide Number Placeholder 3">
            <a:extLst>
              <a:ext uri="{FF2B5EF4-FFF2-40B4-BE49-F238E27FC236}">
                <a16:creationId xmlns:a16="http://schemas.microsoft.com/office/drawing/2014/main" id="{104253A5-68D1-7AF3-50CA-4A4B22E44030}"/>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1247468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64161-9F8F-B9BE-66F8-AA7F64A4E285}"/>
              </a:ext>
            </a:extLst>
          </p:cNvPr>
          <p:cNvSpPr>
            <a:spLocks noGrp="1"/>
          </p:cNvSpPr>
          <p:nvPr>
            <p:ph type="title"/>
          </p:nvPr>
        </p:nvSpPr>
        <p:spPr>
          <a:xfrm>
            <a:off x="914399" y="266700"/>
            <a:ext cx="7534656" cy="914400"/>
          </a:xfrm>
        </p:spPr>
        <p:txBody>
          <a:bodyPr/>
          <a:lstStyle/>
          <a:p>
            <a:r>
              <a:rPr lang="en-US" dirty="0"/>
              <a:t>Speed, Finality and Transaction Cost </a:t>
            </a:r>
          </a:p>
        </p:txBody>
      </p:sp>
      <p:sp>
        <p:nvSpPr>
          <p:cNvPr id="3" name="Content Placeholder 2">
            <a:extLst>
              <a:ext uri="{FF2B5EF4-FFF2-40B4-BE49-F238E27FC236}">
                <a16:creationId xmlns:a16="http://schemas.microsoft.com/office/drawing/2014/main" id="{995442ED-A226-B44F-F15A-2A005F694530}"/>
              </a:ext>
            </a:extLst>
          </p:cNvPr>
          <p:cNvSpPr>
            <a:spLocks noGrp="1"/>
          </p:cNvSpPr>
          <p:nvPr>
            <p:ph sz="quarter" idx="10"/>
          </p:nvPr>
        </p:nvSpPr>
        <p:spPr>
          <a:xfrm>
            <a:off x="685800" y="1381125"/>
            <a:ext cx="10744199" cy="5210175"/>
          </a:xfrm>
        </p:spPr>
        <p:txBody>
          <a:bodyPr>
            <a:normAutofit/>
          </a:bodyPr>
          <a:lstStyle/>
          <a:p>
            <a:r>
              <a:rPr lang="en-US" sz="2400" dirty="0">
                <a:latin typeface="Abadi" panose="020B0604020104020204" pitchFamily="34" charset="0"/>
              </a:rPr>
              <a:t>Solana’s maximum capacity of 65,000 TPS is no coincidence. It was meant to challenge the throughput of Visa, the world’s largest payment provider. </a:t>
            </a:r>
            <a:r>
              <a:rPr lang="en-US" sz="2400" dirty="0">
                <a:latin typeface="Abadi" panose="020B0604020104020204" pitchFamily="34" charset="0"/>
                <a:hlinkClick r:id="rId2"/>
              </a:rPr>
              <a:t>Visa has a similar theoretical capacity</a:t>
            </a:r>
            <a:r>
              <a:rPr lang="en-US" sz="2400" dirty="0">
                <a:latin typeface="Abadi" panose="020B0604020104020204" pitchFamily="34" charset="0"/>
              </a:rPr>
              <a:t>, and Solana’s achievement reflects blockchain technology’s potential to compete with traditional finance.</a:t>
            </a:r>
          </a:p>
          <a:p>
            <a:r>
              <a:rPr lang="en-US" sz="2400" dirty="0">
                <a:latin typeface="Abadi" panose="020B0604020104020204" pitchFamily="34" charset="0"/>
              </a:rPr>
              <a:t>Besides its high throughput, Solana is also very fast, achieving finality in about 13 seconds. While this is much quicker than Ethereum’s 16-minute waiting time, it still lags compared to other high-performance chains like </a:t>
            </a:r>
            <a:r>
              <a:rPr lang="en-US" sz="2400" dirty="0" err="1">
                <a:latin typeface="Abadi" panose="020B0604020104020204" pitchFamily="34" charset="0"/>
              </a:rPr>
              <a:t>Algorand</a:t>
            </a:r>
            <a:r>
              <a:rPr lang="en-US" sz="2400" dirty="0">
                <a:latin typeface="Abadi" panose="020B0604020104020204" pitchFamily="34" charset="0"/>
              </a:rPr>
              <a:t>, Avalanche, and Sonic, which provide near-instant finality. Solana plans to reduce finality by 100 times with the </a:t>
            </a:r>
            <a:r>
              <a:rPr lang="en-US" sz="2400" dirty="0">
                <a:latin typeface="Abadi" panose="020B0604020104020204" pitchFamily="34" charset="0"/>
                <a:hlinkClick r:id="rId3"/>
              </a:rPr>
              <a:t>Alpenglow upgrade</a:t>
            </a:r>
            <a:r>
              <a:rPr lang="en-US" sz="2400" dirty="0">
                <a:latin typeface="Abadi" panose="020B0604020104020204" pitchFamily="34" charset="0"/>
              </a:rPr>
              <a:t>.</a:t>
            </a:r>
          </a:p>
          <a:p>
            <a:r>
              <a:rPr lang="en-US" sz="2400" dirty="0">
                <a:latin typeface="Abadi" panose="020B0604020104020204" pitchFamily="34" charset="0"/>
              </a:rPr>
              <a:t>Solana is also one of the </a:t>
            </a:r>
            <a:r>
              <a:rPr lang="en-US" sz="2400" dirty="0">
                <a:latin typeface="Abadi" panose="020B0604020104020204" pitchFamily="34" charset="0"/>
                <a:hlinkClick r:id="rId4"/>
              </a:rPr>
              <a:t>most cost-effective blockchains</a:t>
            </a:r>
            <a:r>
              <a:rPr lang="en-US" sz="2400" dirty="0">
                <a:latin typeface="Abadi" panose="020B0604020104020204" pitchFamily="34" charset="0"/>
              </a:rPr>
              <a:t>. The average transaction cost is only $0.01, cheaper than Avalanche or Ton.</a:t>
            </a:r>
          </a:p>
          <a:p>
            <a:endParaRPr lang="en-US" dirty="0"/>
          </a:p>
        </p:txBody>
      </p:sp>
      <p:sp>
        <p:nvSpPr>
          <p:cNvPr id="4" name="Slide Number Placeholder 3">
            <a:extLst>
              <a:ext uri="{FF2B5EF4-FFF2-40B4-BE49-F238E27FC236}">
                <a16:creationId xmlns:a16="http://schemas.microsoft.com/office/drawing/2014/main" id="{3BBCCF97-8793-144E-7A27-2B500504A491}"/>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557085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154EE-08D8-AEC0-CA8A-E80523F0C451}"/>
              </a:ext>
            </a:extLst>
          </p:cNvPr>
          <p:cNvSpPr>
            <a:spLocks noGrp="1"/>
          </p:cNvSpPr>
          <p:nvPr>
            <p:ph type="title"/>
          </p:nvPr>
        </p:nvSpPr>
        <p:spPr>
          <a:xfrm>
            <a:off x="857250" y="333375"/>
            <a:ext cx="7534656" cy="914400"/>
          </a:xfrm>
        </p:spPr>
        <p:txBody>
          <a:bodyPr/>
          <a:lstStyle/>
          <a:p>
            <a:r>
              <a:rPr lang="en-US" dirty="0"/>
              <a:t>The Story</a:t>
            </a:r>
          </a:p>
        </p:txBody>
      </p:sp>
      <p:sp>
        <p:nvSpPr>
          <p:cNvPr id="3" name="Content Placeholder 2">
            <a:extLst>
              <a:ext uri="{FF2B5EF4-FFF2-40B4-BE49-F238E27FC236}">
                <a16:creationId xmlns:a16="http://schemas.microsoft.com/office/drawing/2014/main" id="{E7A40A65-C540-9916-A93A-274D88BF8AD7}"/>
              </a:ext>
            </a:extLst>
          </p:cNvPr>
          <p:cNvSpPr>
            <a:spLocks noGrp="1"/>
          </p:cNvSpPr>
          <p:nvPr>
            <p:ph sz="quarter" idx="10"/>
          </p:nvPr>
        </p:nvSpPr>
        <p:spPr>
          <a:xfrm>
            <a:off x="333375" y="1362075"/>
            <a:ext cx="10839450" cy="5295899"/>
          </a:xfrm>
        </p:spPr>
        <p:txBody>
          <a:bodyPr>
            <a:normAutofit fontScale="92500"/>
          </a:bodyPr>
          <a:lstStyle/>
          <a:p>
            <a:r>
              <a:rPr lang="en-US" sz="2400" dirty="0">
                <a:latin typeface="Abadi" panose="020B0604020104020204" pitchFamily="34" charset="0"/>
              </a:rPr>
              <a:t>The story of Solana starts in 2017 with Anatoly Yakovenko, a computer scientist who aimed to improve existing blockchain infrastructure by introducing the </a:t>
            </a:r>
            <a:r>
              <a:rPr lang="en-US" sz="2400" dirty="0" err="1">
                <a:latin typeface="Abadi" panose="020B0604020104020204" pitchFamily="34" charset="0"/>
              </a:rPr>
              <a:t>PoH</a:t>
            </a:r>
            <a:r>
              <a:rPr lang="en-US" sz="2400" dirty="0">
                <a:latin typeface="Abadi" panose="020B0604020104020204" pitchFamily="34" charset="0"/>
              </a:rPr>
              <a:t> concept, which was essential for the network’s high performance.</a:t>
            </a:r>
          </a:p>
          <a:p>
            <a:r>
              <a:rPr lang="en-US" sz="2400" dirty="0">
                <a:latin typeface="Abadi" panose="020B0604020104020204" pitchFamily="34" charset="0"/>
              </a:rPr>
              <a:t>Yakovenko studied at the University of Illinois Urbana-Champaign and worked at Qualcomm and Dropbox before founding Solana.</a:t>
            </a:r>
          </a:p>
          <a:p>
            <a:r>
              <a:rPr lang="en-US" sz="2400" dirty="0">
                <a:latin typeface="Abadi" panose="020B0604020104020204" pitchFamily="34" charset="0"/>
              </a:rPr>
              <a:t>He established Solana Labs in 2017 and released several </a:t>
            </a:r>
            <a:r>
              <a:rPr lang="en-US" sz="2400" dirty="0" err="1">
                <a:latin typeface="Abadi" panose="020B0604020104020204" pitchFamily="34" charset="0"/>
              </a:rPr>
              <a:t>testnet</a:t>
            </a:r>
            <a:r>
              <a:rPr lang="en-US" sz="2400" dirty="0">
                <a:latin typeface="Abadi" panose="020B0604020104020204" pitchFamily="34" charset="0"/>
              </a:rPr>
              <a:t> versions in the following years.</a:t>
            </a:r>
          </a:p>
          <a:p>
            <a:r>
              <a:rPr lang="en-US" sz="2400" dirty="0">
                <a:latin typeface="Abadi" panose="020B0604020104020204" pitchFamily="34" charset="0"/>
              </a:rPr>
              <a:t>In 2020, Solana launched its </a:t>
            </a:r>
            <a:r>
              <a:rPr lang="en-US" sz="2400" dirty="0" err="1">
                <a:latin typeface="Abadi" panose="020B0604020104020204" pitchFamily="34" charset="0"/>
              </a:rPr>
              <a:t>mainnet</a:t>
            </a:r>
            <a:r>
              <a:rPr lang="en-US" sz="2400" dirty="0">
                <a:latin typeface="Abadi" panose="020B0604020104020204" pitchFamily="34" charset="0"/>
              </a:rPr>
              <a:t> beta shortly after securing $1.76 million in a public sale of its SOL coin.</a:t>
            </a:r>
          </a:p>
          <a:p>
            <a:r>
              <a:rPr lang="en-US" sz="2400" dirty="0">
                <a:latin typeface="Abadi" panose="020B0604020104020204" pitchFamily="34" charset="0"/>
              </a:rPr>
              <a:t>In addition to the public sale, Solana raised hundreds of millions during private token sales.</a:t>
            </a:r>
          </a:p>
          <a:p>
            <a:r>
              <a:rPr lang="en-US" sz="2400" dirty="0">
                <a:latin typeface="Abadi" panose="020B0604020104020204" pitchFamily="34" charset="0"/>
              </a:rPr>
              <a:t>It secured over $20 million through several private rounds between 2018 and 2019.</a:t>
            </a:r>
          </a:p>
          <a:p>
            <a:r>
              <a:rPr lang="en-US" sz="2400" dirty="0">
                <a:latin typeface="Abadi" panose="020B0604020104020204" pitchFamily="34" charset="0"/>
              </a:rPr>
              <a:t>In June 2021, </a:t>
            </a:r>
            <a:r>
              <a:rPr lang="en-US" sz="2400" dirty="0">
                <a:latin typeface="Abadi" panose="020B0604020104020204" pitchFamily="34" charset="0"/>
                <a:hlinkClick r:id="rId2"/>
              </a:rPr>
              <a:t>Solana Labs raised $314.15 million</a:t>
            </a:r>
            <a:r>
              <a:rPr lang="en-US" sz="2400" dirty="0">
                <a:latin typeface="Abadi" panose="020B0604020104020204" pitchFamily="34" charset="0"/>
              </a:rPr>
              <a:t> in a Series A round.</a:t>
            </a:r>
          </a:p>
          <a:p>
            <a:r>
              <a:rPr lang="en-US" sz="2400" dirty="0">
                <a:latin typeface="Abadi" panose="020B0604020104020204" pitchFamily="34" charset="0"/>
              </a:rPr>
              <a:t>Since then, Solana has been constantly improving its design and adding new features.</a:t>
            </a:r>
          </a:p>
          <a:p>
            <a:endParaRPr lang="en-US" dirty="0"/>
          </a:p>
        </p:txBody>
      </p:sp>
      <p:sp>
        <p:nvSpPr>
          <p:cNvPr id="4" name="Slide Number Placeholder 3">
            <a:extLst>
              <a:ext uri="{FF2B5EF4-FFF2-40B4-BE49-F238E27FC236}">
                <a16:creationId xmlns:a16="http://schemas.microsoft.com/office/drawing/2014/main" id="{9934BB01-071B-988E-5A21-3B41656CF417}"/>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9926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C77-9234-6157-121B-FD096998E978}"/>
              </a:ext>
            </a:extLst>
          </p:cNvPr>
          <p:cNvSpPr>
            <a:spLocks noGrp="1"/>
          </p:cNvSpPr>
          <p:nvPr>
            <p:ph type="title"/>
          </p:nvPr>
        </p:nvSpPr>
        <p:spPr>
          <a:xfrm>
            <a:off x="666750" y="95250"/>
            <a:ext cx="7534656" cy="914400"/>
          </a:xfrm>
        </p:spPr>
        <p:txBody>
          <a:bodyPr/>
          <a:lstStyle/>
          <a:p>
            <a:r>
              <a:rPr lang="en-US" dirty="0"/>
              <a:t>How Does it Work?</a:t>
            </a:r>
          </a:p>
        </p:txBody>
      </p:sp>
      <p:sp>
        <p:nvSpPr>
          <p:cNvPr id="3" name="Content Placeholder 2">
            <a:extLst>
              <a:ext uri="{FF2B5EF4-FFF2-40B4-BE49-F238E27FC236}">
                <a16:creationId xmlns:a16="http://schemas.microsoft.com/office/drawing/2014/main" id="{97E3C67E-9050-3714-077D-96E9D0C3CB70}"/>
              </a:ext>
            </a:extLst>
          </p:cNvPr>
          <p:cNvSpPr>
            <a:spLocks noGrp="1"/>
          </p:cNvSpPr>
          <p:nvPr>
            <p:ph sz="quarter" idx="10"/>
          </p:nvPr>
        </p:nvSpPr>
        <p:spPr>
          <a:xfrm>
            <a:off x="381000" y="1009650"/>
            <a:ext cx="10496550" cy="5676900"/>
          </a:xfrm>
        </p:spPr>
        <p:txBody>
          <a:bodyPr>
            <a:normAutofit fontScale="92500" lnSpcReduction="10000"/>
          </a:bodyPr>
          <a:lstStyle/>
          <a:p>
            <a:pPr marL="0" indent="0">
              <a:buNone/>
            </a:pPr>
            <a:r>
              <a:rPr lang="en-US" sz="2400" dirty="0">
                <a:latin typeface="Abadi" panose="020B0604020104020204" pitchFamily="34" charset="0"/>
              </a:rPr>
              <a:t>In what follows, we describe how Solana works (since its launch in 2020 –the situation will drastically change after the upcoming Alpenglow upgrade)</a:t>
            </a:r>
          </a:p>
          <a:p>
            <a:pPr marL="0" indent="0">
              <a:buNone/>
            </a:pPr>
            <a:r>
              <a:rPr lang="en-US" sz="2400" b="1" dirty="0">
                <a:latin typeface="Abadi" panose="020B0604020104020204" pitchFamily="34" charset="0"/>
              </a:rPr>
              <a:t>Proof-of-Stake (</a:t>
            </a:r>
            <a:r>
              <a:rPr lang="en-US" sz="2400" b="1" dirty="0" err="1">
                <a:latin typeface="Abadi" panose="020B0604020104020204" pitchFamily="34" charset="0"/>
              </a:rPr>
              <a:t>PoS</a:t>
            </a:r>
            <a:r>
              <a:rPr lang="en-US" sz="2400" b="1" dirty="0">
                <a:latin typeface="Abadi" panose="020B0604020104020204" pitchFamily="34" charset="0"/>
              </a:rPr>
              <a:t>)</a:t>
            </a:r>
          </a:p>
          <a:p>
            <a:r>
              <a:rPr lang="en-US" sz="2400" dirty="0">
                <a:latin typeface="Abadi" panose="020B0604020104020204" pitchFamily="34" charset="0"/>
              </a:rPr>
              <a:t>Solana relies on a </a:t>
            </a:r>
            <a:r>
              <a:rPr lang="en-US" sz="2400" dirty="0" err="1">
                <a:latin typeface="Abadi" panose="020B0604020104020204" pitchFamily="34" charset="0"/>
                <a:hlinkClick r:id="rId2"/>
              </a:rPr>
              <a:t>PoS</a:t>
            </a:r>
            <a:r>
              <a:rPr lang="en-US" sz="2400" dirty="0">
                <a:latin typeface="Abadi" panose="020B0604020104020204" pitchFamily="34" charset="0"/>
                <a:hlinkClick r:id="rId2"/>
              </a:rPr>
              <a:t> version</a:t>
            </a:r>
            <a:r>
              <a:rPr lang="en-US" sz="2400" dirty="0">
                <a:latin typeface="Abadi" panose="020B0604020104020204" pitchFamily="34" charset="0"/>
              </a:rPr>
              <a:t> where regular SOL holders delegate their staked coins to validators, who form the network’s backbone.</a:t>
            </a:r>
          </a:p>
          <a:p>
            <a:r>
              <a:rPr lang="en-US" sz="2400" dirty="0">
                <a:latin typeface="Abadi" panose="020B0604020104020204" pitchFamily="34" charset="0"/>
                <a:hlinkClick r:id="rId3"/>
              </a:rPr>
              <a:t>Validator nodes</a:t>
            </a:r>
            <a:r>
              <a:rPr lang="en-US" sz="2400" dirty="0">
                <a:latin typeface="Abadi" panose="020B0604020104020204" pitchFamily="34" charset="0"/>
              </a:rPr>
              <a:t> ensure Solana’s functionality and security, creating new blocks with transactions. They earn SOL rewards based on their share of staked coins. Part of the rewards is shared with delegators based on their staking contribution.</a:t>
            </a:r>
          </a:p>
          <a:p>
            <a:r>
              <a:rPr lang="en-US" sz="2400" dirty="0">
                <a:latin typeface="Abadi" panose="020B0604020104020204" pitchFamily="34" charset="0"/>
              </a:rPr>
              <a:t>Validators on Solana use high-performance hardware, with requirements much higher than those on Ethereum. For example, the minimum requirements to </a:t>
            </a:r>
            <a:r>
              <a:rPr lang="en-US" sz="2400" dirty="0">
                <a:latin typeface="Abadi" panose="020B0604020104020204" pitchFamily="34" charset="0"/>
                <a:hlinkClick r:id="rId4"/>
              </a:rPr>
              <a:t>run a Solana node</a:t>
            </a:r>
            <a:r>
              <a:rPr lang="en-US" sz="2400" dirty="0">
                <a:latin typeface="Abadi" panose="020B0604020104020204" pitchFamily="34" charset="0"/>
              </a:rPr>
              <a:t> are 256 GB of RAM (versus 8 GB on Ethereum), a 12-core CPU, and over 1 TB of storage space.</a:t>
            </a:r>
          </a:p>
          <a:p>
            <a:r>
              <a:rPr lang="en-US" sz="2400" dirty="0">
                <a:latin typeface="Abadi" panose="020B0604020104020204" pitchFamily="34" charset="0"/>
              </a:rPr>
              <a:t>As of this writing, there are </a:t>
            </a:r>
            <a:r>
              <a:rPr lang="en-US" sz="2400" dirty="0">
                <a:latin typeface="Abadi" panose="020B0604020104020204" pitchFamily="34" charset="0"/>
                <a:hlinkClick r:id="rId5"/>
              </a:rPr>
              <a:t>1,240 validators</a:t>
            </a:r>
            <a:r>
              <a:rPr lang="en-US" sz="2400" dirty="0">
                <a:latin typeface="Abadi" panose="020B0604020104020204" pitchFamily="34" charset="0"/>
              </a:rPr>
              <a:t>, 21 of which form the so-called </a:t>
            </a:r>
            <a:r>
              <a:rPr lang="en-US" sz="2400" dirty="0" err="1">
                <a:latin typeface="Abadi" panose="020B0604020104020204" pitchFamily="34" charset="0"/>
              </a:rPr>
              <a:t>superminority</a:t>
            </a:r>
            <a:r>
              <a:rPr lang="en-US" sz="2400" dirty="0">
                <a:latin typeface="Abadi" panose="020B0604020104020204" pitchFamily="34" charset="0"/>
              </a:rPr>
              <a:t>, as they control over 33% of the total stake. Some of the biggest validators include Helius, Binance, Coinbase, Ledger, and SOL Community.</a:t>
            </a:r>
          </a:p>
          <a:p>
            <a:r>
              <a:rPr lang="en-US" sz="2400" dirty="0">
                <a:latin typeface="Abadi" panose="020B0604020104020204" pitchFamily="34" charset="0"/>
              </a:rPr>
              <a:t>Solana validators are dispersed across all continents, though with a higher concentration in Europe and North America.</a:t>
            </a:r>
          </a:p>
          <a:p>
            <a:endParaRPr lang="en-US" dirty="0"/>
          </a:p>
        </p:txBody>
      </p:sp>
      <p:sp>
        <p:nvSpPr>
          <p:cNvPr id="4" name="Slide Number Placeholder 3">
            <a:extLst>
              <a:ext uri="{FF2B5EF4-FFF2-40B4-BE49-F238E27FC236}">
                <a16:creationId xmlns:a16="http://schemas.microsoft.com/office/drawing/2014/main" id="{A3B32D62-DA24-DD94-D64B-9DE39A9AD482}"/>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51346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7FE81-7FFA-AAD6-07C3-FD3F85783424}"/>
              </a:ext>
            </a:extLst>
          </p:cNvPr>
          <p:cNvSpPr>
            <a:spLocks noGrp="1"/>
          </p:cNvSpPr>
          <p:nvPr>
            <p:ph type="title"/>
          </p:nvPr>
        </p:nvSpPr>
        <p:spPr>
          <a:xfrm>
            <a:off x="781050" y="228600"/>
            <a:ext cx="7534656" cy="914400"/>
          </a:xfrm>
        </p:spPr>
        <p:txBody>
          <a:bodyPr/>
          <a:lstStyle/>
          <a:p>
            <a:r>
              <a:rPr lang="en-US" dirty="0"/>
              <a:t>Proof of History</a:t>
            </a:r>
          </a:p>
        </p:txBody>
      </p:sp>
      <p:sp>
        <p:nvSpPr>
          <p:cNvPr id="3" name="Content Placeholder 2">
            <a:extLst>
              <a:ext uri="{FF2B5EF4-FFF2-40B4-BE49-F238E27FC236}">
                <a16:creationId xmlns:a16="http://schemas.microsoft.com/office/drawing/2014/main" id="{9ECE5F91-9668-4B49-9889-47C9A30D41F6}"/>
              </a:ext>
            </a:extLst>
          </p:cNvPr>
          <p:cNvSpPr>
            <a:spLocks noGrp="1"/>
          </p:cNvSpPr>
          <p:nvPr>
            <p:ph sz="quarter" idx="10"/>
          </p:nvPr>
        </p:nvSpPr>
        <p:spPr>
          <a:xfrm>
            <a:off x="495300" y="1143000"/>
            <a:ext cx="10648950" cy="5295900"/>
          </a:xfrm>
        </p:spPr>
        <p:txBody>
          <a:bodyPr>
            <a:normAutofit fontScale="92500"/>
          </a:bodyPr>
          <a:lstStyle/>
          <a:p>
            <a:pPr marL="0" indent="0">
              <a:buNone/>
            </a:pPr>
            <a:r>
              <a:rPr lang="en-US" sz="2800" dirty="0">
                <a:latin typeface="Abadi" panose="020B0604020104020204" pitchFamily="34" charset="0"/>
              </a:rPr>
              <a:t>What sets Solana apart is its </a:t>
            </a:r>
            <a:r>
              <a:rPr lang="en-US" sz="2800" dirty="0" err="1">
                <a:latin typeface="Abadi" panose="020B0604020104020204" pitchFamily="34" charset="0"/>
              </a:rPr>
              <a:t>PoH</a:t>
            </a:r>
            <a:r>
              <a:rPr lang="en-US" sz="2800" dirty="0">
                <a:latin typeface="Abadi" panose="020B0604020104020204" pitchFamily="34" charset="0"/>
              </a:rPr>
              <a:t> mechanism, a cryptographic clock that timestamps and verifies the sequence of all network events.</a:t>
            </a:r>
          </a:p>
          <a:p>
            <a:r>
              <a:rPr lang="en-US" sz="2800" dirty="0" err="1">
                <a:latin typeface="Abadi" panose="020B0604020104020204" pitchFamily="34" charset="0"/>
              </a:rPr>
              <a:t>PoH</a:t>
            </a:r>
            <a:r>
              <a:rPr lang="en-US" sz="2800" dirty="0">
                <a:latin typeface="Abadi" panose="020B0604020104020204" pitchFamily="34" charset="0"/>
              </a:rPr>
              <a:t> enables validators to handle transactions in parallel, boosting throughput and reducing congestion. By timestamping each transaction before reaching a block, </a:t>
            </a:r>
            <a:r>
              <a:rPr lang="en-US" sz="2800" dirty="0" err="1">
                <a:latin typeface="Abadi" panose="020B0604020104020204" pitchFamily="34" charset="0"/>
              </a:rPr>
              <a:t>PoH</a:t>
            </a:r>
            <a:r>
              <a:rPr lang="en-US" sz="2800" dirty="0">
                <a:latin typeface="Abadi" panose="020B0604020104020204" pitchFamily="34" charset="0"/>
              </a:rPr>
              <a:t> streamlines the validation process.</a:t>
            </a:r>
          </a:p>
          <a:p>
            <a:r>
              <a:rPr lang="en-US" sz="2800" dirty="0">
                <a:latin typeface="Abadi" panose="020B0604020104020204" pitchFamily="34" charset="0"/>
              </a:rPr>
              <a:t>The </a:t>
            </a:r>
            <a:r>
              <a:rPr lang="en-US" sz="2800" dirty="0" err="1">
                <a:latin typeface="Abadi" panose="020B0604020104020204" pitchFamily="34" charset="0"/>
              </a:rPr>
              <a:t>PoH</a:t>
            </a:r>
            <a:r>
              <a:rPr lang="en-US" sz="2800" dirty="0">
                <a:latin typeface="Abadi" panose="020B0604020104020204" pitchFamily="34" charset="0"/>
              </a:rPr>
              <a:t> algorithm is closely associated with Solana’s Tower BFT (Byzantine Fault Tolerance) system, a consensus mechanism that helps validators agree even if some nodes fail or behave maliciously.</a:t>
            </a:r>
          </a:p>
          <a:p>
            <a:r>
              <a:rPr lang="en-US" sz="2800" dirty="0">
                <a:latin typeface="Abadi" panose="020B0604020104020204" pitchFamily="34" charset="0"/>
              </a:rPr>
              <a:t>Thanks to </a:t>
            </a:r>
            <a:r>
              <a:rPr lang="en-US" sz="2800" dirty="0" err="1">
                <a:latin typeface="Abadi" panose="020B0604020104020204" pitchFamily="34" charset="0"/>
              </a:rPr>
              <a:t>PoH</a:t>
            </a:r>
            <a:r>
              <a:rPr lang="en-US" sz="2800" dirty="0">
                <a:latin typeface="Abadi" panose="020B0604020104020204" pitchFamily="34" charset="0"/>
              </a:rPr>
              <a:t>, validators know the exact order of transactions without having to communicate with each other constantly. This way, Tower BFT reduces the communication requirements typical of other chains.</a:t>
            </a:r>
          </a:p>
          <a:p>
            <a:r>
              <a:rPr lang="en-US" sz="2800" dirty="0">
                <a:latin typeface="Abadi" panose="020B0604020104020204" pitchFamily="34" charset="0"/>
              </a:rPr>
              <a:t>Validators vote on the validity of each new block using Tower BFT. The blocks are added if at least 66% of validators approve them.</a:t>
            </a:r>
          </a:p>
          <a:p>
            <a:endParaRPr lang="en-US" dirty="0"/>
          </a:p>
        </p:txBody>
      </p:sp>
      <p:sp>
        <p:nvSpPr>
          <p:cNvPr id="4" name="Slide Number Placeholder 3">
            <a:extLst>
              <a:ext uri="{FF2B5EF4-FFF2-40B4-BE49-F238E27FC236}">
                <a16:creationId xmlns:a16="http://schemas.microsoft.com/office/drawing/2014/main" id="{C522FA0A-E8B9-2DAA-01C5-3B53BC387C1B}"/>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273606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F1838-87BF-7372-C435-BB27C99FFE5B}"/>
              </a:ext>
            </a:extLst>
          </p:cNvPr>
          <p:cNvSpPr>
            <a:spLocks noGrp="1"/>
          </p:cNvSpPr>
          <p:nvPr>
            <p:ph type="title"/>
          </p:nvPr>
        </p:nvSpPr>
        <p:spPr/>
        <p:txBody>
          <a:bodyPr/>
          <a:lstStyle/>
          <a:p>
            <a:r>
              <a:rPr lang="en-US" dirty="0"/>
              <a:t>The Proof of History Process</a:t>
            </a:r>
          </a:p>
        </p:txBody>
      </p:sp>
      <p:sp>
        <p:nvSpPr>
          <p:cNvPr id="3" name="Content Placeholder 2">
            <a:extLst>
              <a:ext uri="{FF2B5EF4-FFF2-40B4-BE49-F238E27FC236}">
                <a16:creationId xmlns:a16="http://schemas.microsoft.com/office/drawing/2014/main" id="{7BD964E6-6F83-8C67-C905-42A881DB6E9A}"/>
              </a:ext>
            </a:extLst>
          </p:cNvPr>
          <p:cNvSpPr>
            <a:spLocks noGrp="1"/>
          </p:cNvSpPr>
          <p:nvPr>
            <p:ph sz="quarter" idx="10"/>
          </p:nvPr>
        </p:nvSpPr>
        <p:spPr>
          <a:xfrm>
            <a:off x="381000" y="2039111"/>
            <a:ext cx="11315700" cy="4637913"/>
          </a:xfrm>
        </p:spPr>
        <p:txBody>
          <a:bodyPr>
            <a:normAutofit fontScale="92500" lnSpcReduction="20000"/>
          </a:bodyPr>
          <a:lstStyle/>
          <a:p>
            <a:pPr marL="0" indent="0">
              <a:buNone/>
            </a:pPr>
            <a:r>
              <a:rPr lang="en-US" sz="2400" b="1" dirty="0">
                <a:latin typeface="Abadi" panose="020B0604020104020204" pitchFamily="34" charset="0"/>
              </a:rPr>
              <a:t>A Typical </a:t>
            </a:r>
            <a:r>
              <a:rPr lang="en-US" sz="2400" b="1" dirty="0" err="1">
                <a:latin typeface="Abadi" panose="020B0604020104020204" pitchFamily="34" charset="0"/>
              </a:rPr>
              <a:t>Scenarion</a:t>
            </a:r>
            <a:endParaRPr lang="en-US" sz="2400" b="1" dirty="0">
              <a:latin typeface="Abadi" panose="020B0604020104020204" pitchFamily="34" charset="0"/>
            </a:endParaRPr>
          </a:p>
          <a:p>
            <a:r>
              <a:rPr lang="en-US" sz="2400" b="1" dirty="0">
                <a:latin typeface="Abadi" panose="020B0604020104020204" pitchFamily="34" charset="0"/>
              </a:rPr>
              <a:t>You submit a trade:</a:t>
            </a:r>
            <a:r>
              <a:rPr lang="en-US" sz="2400" dirty="0">
                <a:latin typeface="Abadi" panose="020B0604020104020204" pitchFamily="34" charset="0"/>
              </a:rPr>
              <a:t> A transaction request is sent to the network to exchange Token A for Token B.</a:t>
            </a:r>
          </a:p>
          <a:p>
            <a:r>
              <a:rPr lang="en-US" sz="2400" b="1" dirty="0">
                <a:latin typeface="Abadi" panose="020B0604020104020204" pitchFamily="34" charset="0"/>
              </a:rPr>
              <a:t>The transaction enters the </a:t>
            </a:r>
            <a:r>
              <a:rPr lang="en-US" sz="2400" b="1" dirty="0" err="1">
                <a:latin typeface="Abadi" panose="020B0604020104020204" pitchFamily="34" charset="0"/>
              </a:rPr>
              <a:t>PoH</a:t>
            </a:r>
            <a:r>
              <a:rPr lang="en-US" sz="2400" b="1" dirty="0">
                <a:latin typeface="Abadi" panose="020B0604020104020204" pitchFamily="34" charset="0"/>
              </a:rPr>
              <a:t> sequence:</a:t>
            </a:r>
            <a:r>
              <a:rPr lang="en-US" sz="2400" dirty="0">
                <a:latin typeface="Abadi" panose="020B0604020104020204" pitchFamily="34" charset="0"/>
              </a:rPr>
              <a:t> Before anything else happens, it gets hashed into Solana’s ongoing chain of SHA-256 hashes, which assigns it a unique, verifiable timestamp.</a:t>
            </a:r>
          </a:p>
          <a:p>
            <a:r>
              <a:rPr lang="en-US" sz="2400" b="1" dirty="0">
                <a:latin typeface="Abadi" panose="020B0604020104020204" pitchFamily="34" charset="0"/>
              </a:rPr>
              <a:t>The timestamp proves order:</a:t>
            </a:r>
            <a:r>
              <a:rPr lang="en-US" sz="2400" dirty="0">
                <a:latin typeface="Abadi" panose="020B0604020104020204" pitchFamily="34" charset="0"/>
              </a:rPr>
              <a:t> Because the hash is part of a sequence, anyone can see when it happened relative to other events, without relying on an external clock.</a:t>
            </a:r>
          </a:p>
          <a:p>
            <a:r>
              <a:rPr lang="en-US" sz="2400" b="1" dirty="0">
                <a:latin typeface="Abadi" panose="020B0604020104020204" pitchFamily="34" charset="0"/>
              </a:rPr>
              <a:t>Validators pre-order the transactions:</a:t>
            </a:r>
            <a:r>
              <a:rPr lang="en-US" sz="2400" dirty="0">
                <a:latin typeface="Abadi" panose="020B0604020104020204" pitchFamily="34" charset="0"/>
              </a:rPr>
              <a:t> Thanks to the built-in timeline, validators don’t need to waste time figuring out which trade came first. The ordering is already done.</a:t>
            </a:r>
          </a:p>
          <a:p>
            <a:r>
              <a:rPr lang="en-US" sz="2400" b="1" dirty="0">
                <a:latin typeface="Abadi" panose="020B0604020104020204" pitchFamily="34" charset="0"/>
              </a:rPr>
              <a:t>Consensus kicks in:</a:t>
            </a:r>
            <a:r>
              <a:rPr lang="en-US" sz="2400" dirty="0">
                <a:latin typeface="Abadi" panose="020B0604020104020204" pitchFamily="34" charset="0"/>
              </a:rPr>
              <a:t> Solana’s </a:t>
            </a:r>
            <a:r>
              <a:rPr lang="en-US" sz="2400" dirty="0" err="1">
                <a:latin typeface="Abadi" panose="020B0604020104020204" pitchFamily="34" charset="0"/>
              </a:rPr>
              <a:t>PoS</a:t>
            </a:r>
            <a:r>
              <a:rPr lang="en-US" sz="2400" dirty="0">
                <a:latin typeface="Abadi" panose="020B0604020104020204" pitchFamily="34" charset="0"/>
              </a:rPr>
              <a:t> + Tower BFT handles final agreement and confirmation, but it now works faster because </a:t>
            </a:r>
            <a:r>
              <a:rPr lang="en-US" sz="2400" dirty="0" err="1">
                <a:latin typeface="Abadi" panose="020B0604020104020204" pitchFamily="34" charset="0"/>
              </a:rPr>
              <a:t>PoH</a:t>
            </a:r>
            <a:r>
              <a:rPr lang="en-US" sz="2400" dirty="0">
                <a:latin typeface="Abadi" panose="020B0604020104020204" pitchFamily="34" charset="0"/>
              </a:rPr>
              <a:t> dealt with the timing.</a:t>
            </a:r>
          </a:p>
          <a:p>
            <a:r>
              <a:rPr lang="en-US" sz="2400" b="1" dirty="0">
                <a:latin typeface="Abadi" panose="020B0604020104020204" pitchFamily="34" charset="0"/>
              </a:rPr>
              <a:t>Finality and settlement:</a:t>
            </a:r>
            <a:r>
              <a:rPr lang="en-US" sz="2400" dirty="0">
                <a:latin typeface="Abadi" panose="020B0604020104020204" pitchFamily="34" charset="0"/>
              </a:rPr>
              <a:t> Your trade clears in under a second, and you receive Token B. Compared to traditional blockchains, the whole process took fewer steps and less coordination.</a:t>
            </a:r>
          </a:p>
          <a:p>
            <a:pPr marL="0" indent="0">
              <a:buNone/>
            </a:pPr>
            <a:endParaRPr lang="en-US" dirty="0"/>
          </a:p>
        </p:txBody>
      </p:sp>
      <p:sp>
        <p:nvSpPr>
          <p:cNvPr id="4" name="Slide Number Placeholder 3">
            <a:extLst>
              <a:ext uri="{FF2B5EF4-FFF2-40B4-BE49-F238E27FC236}">
                <a16:creationId xmlns:a16="http://schemas.microsoft.com/office/drawing/2014/main" id="{74C99897-8448-CCBF-4767-D0EF2E224469}"/>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3698275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D266-95BF-8730-26FE-846A254F1868}"/>
              </a:ext>
            </a:extLst>
          </p:cNvPr>
          <p:cNvSpPr>
            <a:spLocks noGrp="1"/>
          </p:cNvSpPr>
          <p:nvPr>
            <p:ph type="title"/>
          </p:nvPr>
        </p:nvSpPr>
        <p:spPr>
          <a:xfrm>
            <a:off x="914399" y="104775"/>
            <a:ext cx="7534656" cy="914400"/>
          </a:xfrm>
        </p:spPr>
        <p:txBody>
          <a:bodyPr/>
          <a:lstStyle/>
          <a:p>
            <a:r>
              <a:rPr lang="en-US" dirty="0"/>
              <a:t>Upcoming Solana Upgrades: </a:t>
            </a:r>
            <a:r>
              <a:rPr lang="en-US" dirty="0" err="1"/>
              <a:t>Firedancer</a:t>
            </a:r>
            <a:r>
              <a:rPr lang="en-US" dirty="0"/>
              <a:t> and  Alpenglow</a:t>
            </a:r>
          </a:p>
        </p:txBody>
      </p:sp>
      <p:sp>
        <p:nvSpPr>
          <p:cNvPr id="3" name="Content Placeholder 2">
            <a:extLst>
              <a:ext uri="{FF2B5EF4-FFF2-40B4-BE49-F238E27FC236}">
                <a16:creationId xmlns:a16="http://schemas.microsoft.com/office/drawing/2014/main" id="{501AB949-6A75-A1C3-DF74-D5EF2729ED5E}"/>
              </a:ext>
            </a:extLst>
          </p:cNvPr>
          <p:cNvSpPr>
            <a:spLocks noGrp="1"/>
          </p:cNvSpPr>
          <p:nvPr>
            <p:ph sz="quarter" idx="10"/>
          </p:nvPr>
        </p:nvSpPr>
        <p:spPr>
          <a:xfrm>
            <a:off x="914399" y="1123951"/>
            <a:ext cx="10277476" cy="5495924"/>
          </a:xfrm>
        </p:spPr>
        <p:txBody>
          <a:bodyPr>
            <a:normAutofit/>
          </a:bodyPr>
          <a:lstStyle/>
          <a:p>
            <a:r>
              <a:rPr lang="en-US" sz="2400" dirty="0">
                <a:latin typeface="Abadi" panose="020B0604020104020204" pitchFamily="34" charset="0"/>
              </a:rPr>
              <a:t>Solana’s already impressive performance is about to improve further with the </a:t>
            </a:r>
            <a:r>
              <a:rPr lang="en-US" sz="2400" b="1" dirty="0" err="1">
                <a:latin typeface="Abadi" panose="020B0604020104020204" pitchFamily="34" charset="0"/>
                <a:hlinkClick r:id="rId2"/>
              </a:rPr>
              <a:t>Firedancer</a:t>
            </a:r>
            <a:r>
              <a:rPr lang="en-US" sz="2400" b="1" dirty="0">
                <a:latin typeface="Abadi" panose="020B0604020104020204" pitchFamily="34" charset="0"/>
                <a:hlinkClick r:id="rId2"/>
              </a:rPr>
              <a:t> upgrade</a:t>
            </a:r>
            <a:r>
              <a:rPr lang="en-US" sz="2400" dirty="0">
                <a:latin typeface="Abadi" panose="020B0604020104020204" pitchFamily="34" charset="0"/>
              </a:rPr>
              <a:t>, which is about integrating an independent validator client to enhance Solana’s infrastructure.</a:t>
            </a:r>
          </a:p>
          <a:p>
            <a:r>
              <a:rPr lang="en-US" sz="2400" dirty="0">
                <a:latin typeface="Abadi" panose="020B0604020104020204" pitchFamily="34" charset="0"/>
              </a:rPr>
              <a:t>Developed by Web3 infrastructure firm Jump Crypto, Firedancer could handle over 1M TPS, a massive increase from Solana’s current capability. The client software has been running on </a:t>
            </a:r>
            <a:r>
              <a:rPr lang="en-US" sz="2400" dirty="0" err="1">
                <a:latin typeface="Abadi" panose="020B0604020104020204" pitchFamily="34" charset="0"/>
              </a:rPr>
              <a:t>testnet</a:t>
            </a:r>
            <a:r>
              <a:rPr lang="en-US" sz="2400" dirty="0">
                <a:latin typeface="Abadi" panose="020B0604020104020204" pitchFamily="34" charset="0"/>
              </a:rPr>
              <a:t> for years and is set to go live in 2025.</a:t>
            </a:r>
          </a:p>
          <a:p>
            <a:r>
              <a:rPr lang="en-US" sz="2400" dirty="0">
                <a:latin typeface="Abadi" panose="020B0604020104020204" pitchFamily="34" charset="0"/>
              </a:rPr>
              <a:t>Probably the biggest upgrade coming to Solana so far is the so-called </a:t>
            </a:r>
            <a:r>
              <a:rPr lang="en-US" sz="2400" b="1" dirty="0">
                <a:latin typeface="Abadi" panose="020B0604020104020204" pitchFamily="34" charset="0"/>
                <a:hlinkClick r:id="rId3"/>
              </a:rPr>
              <a:t>Alpenglow</a:t>
            </a:r>
            <a:r>
              <a:rPr lang="en-US" sz="2400" dirty="0">
                <a:latin typeface="Abadi" panose="020B0604020104020204" pitchFamily="34" charset="0"/>
              </a:rPr>
              <a:t>, which will rewrite the network’s consensus architecture by eliminating the </a:t>
            </a:r>
            <a:r>
              <a:rPr lang="en-US" sz="2400" dirty="0" err="1">
                <a:latin typeface="Abadi" panose="020B0604020104020204" pitchFamily="34" charset="0"/>
              </a:rPr>
              <a:t>PoH</a:t>
            </a:r>
            <a:r>
              <a:rPr lang="en-US" sz="2400" dirty="0">
                <a:latin typeface="Abadi" panose="020B0604020104020204" pitchFamily="34" charset="0"/>
              </a:rPr>
              <a:t> feature and the Tower BFT, which is used to reach consensus even if some nodes fail.</a:t>
            </a:r>
          </a:p>
          <a:p>
            <a:r>
              <a:rPr lang="en-US" sz="2400" dirty="0">
                <a:latin typeface="Abadi" panose="020B0604020104020204" pitchFamily="34" charset="0"/>
              </a:rPr>
              <a:t>The plan for this major overhaul was </a:t>
            </a:r>
            <a:r>
              <a:rPr lang="en-US" sz="2400" dirty="0">
                <a:latin typeface="Abadi" panose="020B0604020104020204" pitchFamily="34" charset="0"/>
                <a:hlinkClick r:id="rId4"/>
              </a:rPr>
              <a:t>announced in mid-May 2025</a:t>
            </a:r>
            <a:r>
              <a:rPr lang="en-US" sz="2400" dirty="0">
                <a:latin typeface="Abadi" panose="020B0604020104020204" pitchFamily="34" charset="0"/>
              </a:rPr>
              <a:t>, and one of the goals is to reduce transaction finality by 100 times, from about 13 seconds to 100 milliseconds.</a:t>
            </a:r>
          </a:p>
          <a:p>
            <a:pPr marL="0" indent="0">
              <a:buNone/>
            </a:pPr>
            <a:endParaRPr lang="en-US" dirty="0"/>
          </a:p>
        </p:txBody>
      </p:sp>
      <p:sp>
        <p:nvSpPr>
          <p:cNvPr id="4" name="Slide Number Placeholder 3">
            <a:extLst>
              <a:ext uri="{FF2B5EF4-FFF2-40B4-BE49-F238E27FC236}">
                <a16:creationId xmlns:a16="http://schemas.microsoft.com/office/drawing/2014/main" id="{8D2658E9-C882-ED67-ABDC-3DDDCA29DEE7}"/>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1715458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FB7A05E-BD7E-B8E7-DC5B-0A4F09CAF9E9}"/>
              </a:ext>
            </a:extLst>
          </p:cNvPr>
          <p:cNvSpPr>
            <a:spLocks noGrp="1"/>
          </p:cNvSpPr>
          <p:nvPr>
            <p:ph type="title"/>
          </p:nvPr>
        </p:nvSpPr>
        <p:spPr>
          <a:xfrm>
            <a:off x="792480" y="246414"/>
            <a:ext cx="10360152" cy="914400"/>
          </a:xfrm>
        </p:spPr>
        <p:txBody>
          <a:bodyPr/>
          <a:lstStyle/>
          <a:p>
            <a:r>
              <a:rPr lang="en-US" dirty="0"/>
              <a:t>Third Generation: </a:t>
            </a:r>
          </a:p>
        </p:txBody>
      </p:sp>
      <p:sp>
        <p:nvSpPr>
          <p:cNvPr id="4" name="Rectangle 1">
            <a:extLst>
              <a:ext uri="{FF2B5EF4-FFF2-40B4-BE49-F238E27FC236}">
                <a16:creationId xmlns:a16="http://schemas.microsoft.com/office/drawing/2014/main" id="{14BC43A5-A447-AD60-F5C2-480732D94DEF}"/>
              </a:ext>
            </a:extLst>
          </p:cNvPr>
          <p:cNvSpPr>
            <a:spLocks noChangeArrowheads="1"/>
          </p:cNvSpPr>
          <p:nvPr/>
        </p:nvSpPr>
        <p:spPr bwMode="auto">
          <a:xfrm>
            <a:off x="8113472" y="2039111"/>
            <a:ext cx="3163824" cy="38404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lnSpc>
                <a:spcPct val="90000"/>
              </a:lnSpc>
              <a:spcBef>
                <a:spcPts val="1000"/>
              </a:spcBef>
              <a:spcAft>
                <a:spcPct val="0"/>
              </a:spcAft>
              <a:buClrTx/>
              <a:buSzTx/>
              <a:tabLst/>
            </a:pPr>
            <a:endParaRPr kumimoji="0" lang="en-US" altLang="en-US" sz="2000" b="0" i="0" u="none" strike="noStrike" cap="none" normalizeH="0" baseline="0" dirty="0">
              <a:ln>
                <a:noFill/>
              </a:ln>
              <a:effectLst/>
            </a:endParaRPr>
          </a:p>
        </p:txBody>
      </p:sp>
      <p:sp>
        <p:nvSpPr>
          <p:cNvPr id="2" name="Slide Number Placeholder 1">
            <a:extLst>
              <a:ext uri="{FF2B5EF4-FFF2-40B4-BE49-F238E27FC236}">
                <a16:creationId xmlns:a16="http://schemas.microsoft.com/office/drawing/2014/main" id="{A2182CEB-1095-41FC-9E9F-1C48F55B76DB}"/>
              </a:ext>
            </a:extLst>
          </p:cNvPr>
          <p:cNvSpPr>
            <a:spLocks noGrp="1"/>
          </p:cNvSpPr>
          <p:nvPr>
            <p:ph type="sldNum" sz="quarter" idx="4"/>
          </p:nvPr>
        </p:nvSpPr>
        <p:spPr>
          <a:xfrm>
            <a:off x="11353800" y="5879804"/>
            <a:ext cx="661416" cy="895899"/>
          </a:xfrm>
        </p:spPr>
        <p:txBody>
          <a:bodyPr vert="horz" lIns="91440" tIns="45720" rIns="91440" bIns="45720" rtlCol="0" anchor="ctr">
            <a:normAutofit/>
          </a:bodyPr>
          <a:lstStyle/>
          <a:p>
            <a:pPr>
              <a:spcAft>
                <a:spcPts val="600"/>
              </a:spcAft>
            </a:pPr>
            <a:fld id="{58FB4751-880F-D840-AAA9-3A15815CC996}" type="slidenum">
              <a:rPr lang="en-US" smtClean="0"/>
              <a:pPr>
                <a:spcAft>
                  <a:spcPts val="600"/>
                </a:spcAft>
              </a:pPr>
              <a:t>11</a:t>
            </a:fld>
            <a:endParaRPr lang="en-US"/>
          </a:p>
        </p:txBody>
      </p:sp>
      <p:graphicFrame>
        <p:nvGraphicFramePr>
          <p:cNvPr id="3" name="Table 2">
            <a:extLst>
              <a:ext uri="{FF2B5EF4-FFF2-40B4-BE49-F238E27FC236}">
                <a16:creationId xmlns:a16="http://schemas.microsoft.com/office/drawing/2014/main" id="{49F519D3-2365-7490-AE31-CC3201C7BC39}"/>
              </a:ext>
            </a:extLst>
          </p:cNvPr>
          <p:cNvGraphicFramePr>
            <a:graphicFrameLocks noGrp="1"/>
          </p:cNvGraphicFramePr>
          <p:nvPr>
            <p:extLst>
              <p:ext uri="{D42A27DB-BD31-4B8C-83A1-F6EECF244321}">
                <p14:modId xmlns:p14="http://schemas.microsoft.com/office/powerpoint/2010/main" val="3131315676"/>
              </p:ext>
            </p:extLst>
          </p:nvPr>
        </p:nvGraphicFramePr>
        <p:xfrm>
          <a:off x="482321" y="1406769"/>
          <a:ext cx="10319658" cy="4913645"/>
        </p:xfrm>
        <a:graphic>
          <a:graphicData uri="http://schemas.openxmlformats.org/drawingml/2006/table">
            <a:tbl>
              <a:tblPr/>
              <a:tblGrid>
                <a:gridCol w="2875482">
                  <a:extLst>
                    <a:ext uri="{9D8B030D-6E8A-4147-A177-3AD203B41FA5}">
                      <a16:colId xmlns:a16="http://schemas.microsoft.com/office/drawing/2014/main" val="478523869"/>
                    </a:ext>
                  </a:extLst>
                </a:gridCol>
                <a:gridCol w="3702240">
                  <a:extLst>
                    <a:ext uri="{9D8B030D-6E8A-4147-A177-3AD203B41FA5}">
                      <a16:colId xmlns:a16="http://schemas.microsoft.com/office/drawing/2014/main" val="2721794757"/>
                    </a:ext>
                  </a:extLst>
                </a:gridCol>
                <a:gridCol w="3741936">
                  <a:extLst>
                    <a:ext uri="{9D8B030D-6E8A-4147-A177-3AD203B41FA5}">
                      <a16:colId xmlns:a16="http://schemas.microsoft.com/office/drawing/2014/main" val="2229916620"/>
                    </a:ext>
                  </a:extLst>
                </a:gridCol>
              </a:tblGrid>
              <a:tr h="403358">
                <a:tc>
                  <a:txBody>
                    <a:bodyPr/>
                    <a:lstStyle/>
                    <a:p>
                      <a:pPr algn="l" fontAlgn="ctr">
                        <a:buNone/>
                      </a:pPr>
                      <a:r>
                        <a:rPr lang="en-US" sz="1800" b="0" i="0" u="none" strike="noStrike">
                          <a:effectLst/>
                          <a:latin typeface="Arial" panose="020B0604020202020204" pitchFamily="34" charset="0"/>
                        </a:rPr>
                        <a:t>Blockchain</a:t>
                      </a:r>
                    </a:p>
                  </a:txBody>
                  <a:tcPr marL="64845" marR="64845" marT="32422" marB="32422" anchor="ctr">
                    <a:lnL>
                      <a:noFill/>
                    </a:lnL>
                    <a:lnR>
                      <a:noFill/>
                    </a:lnR>
                    <a:lnT>
                      <a:noFill/>
                    </a:lnT>
                    <a:lnB>
                      <a:noFill/>
                    </a:lnB>
                    <a:noFill/>
                  </a:tcPr>
                </a:tc>
                <a:tc>
                  <a:txBody>
                    <a:bodyPr/>
                    <a:lstStyle/>
                    <a:p>
                      <a:pPr algn="l" fontAlgn="ctr">
                        <a:buNone/>
                      </a:pPr>
                      <a:r>
                        <a:rPr lang="en-US" sz="1800" b="0" i="0" u="none" strike="noStrike">
                          <a:effectLst/>
                          <a:latin typeface="Arial" panose="020B0604020202020204" pitchFamily="34" charset="0"/>
                        </a:rPr>
                        <a:t>Key Features</a:t>
                      </a:r>
                    </a:p>
                  </a:txBody>
                  <a:tcPr marL="64845" marR="64845" marT="32422" marB="32422" anchor="ctr">
                    <a:lnL>
                      <a:noFill/>
                    </a:lnL>
                    <a:lnR>
                      <a:noFill/>
                    </a:lnR>
                    <a:lnT>
                      <a:noFill/>
                    </a:lnT>
                    <a:lnB>
                      <a:noFill/>
                    </a:lnB>
                    <a:noFill/>
                  </a:tcPr>
                </a:tc>
                <a:tc>
                  <a:txBody>
                    <a:bodyPr/>
                    <a:lstStyle/>
                    <a:p>
                      <a:pPr algn="l" fontAlgn="ctr">
                        <a:buNone/>
                      </a:pPr>
                      <a:r>
                        <a:rPr lang="en-US" sz="1800" b="0" i="0" u="none" strike="noStrike">
                          <a:effectLst/>
                          <a:latin typeface="Arial" panose="020B0604020202020204" pitchFamily="34" charset="0"/>
                        </a:rPr>
                        <a:t>How It Differs from Ethereum</a:t>
                      </a:r>
                    </a:p>
                  </a:txBody>
                  <a:tcPr marL="64845" marR="64845" marT="32422" marB="32422" anchor="ctr">
                    <a:lnL>
                      <a:noFill/>
                    </a:lnL>
                    <a:lnR>
                      <a:noFill/>
                    </a:lnR>
                    <a:lnT>
                      <a:noFill/>
                    </a:lnT>
                    <a:lnB>
                      <a:noFill/>
                    </a:lnB>
                    <a:noFill/>
                  </a:tcPr>
                </a:tc>
                <a:extLst>
                  <a:ext uri="{0D108BD9-81ED-4DB2-BD59-A6C34878D82A}">
                    <a16:rowId xmlns:a16="http://schemas.microsoft.com/office/drawing/2014/main" val="4270347000"/>
                  </a:ext>
                </a:extLst>
              </a:tr>
              <a:tr h="1503429">
                <a:tc>
                  <a:txBody>
                    <a:bodyPr/>
                    <a:lstStyle/>
                    <a:p>
                      <a:pPr algn="l" fontAlgn="ctr">
                        <a:buNone/>
                      </a:pPr>
                      <a:r>
                        <a:rPr lang="en-US" sz="1800" b="1" i="0" u="none" strike="noStrike" dirty="0">
                          <a:effectLst/>
                          <a:latin typeface="Arial" panose="020B0604020202020204" pitchFamily="34" charset="0"/>
                        </a:rPr>
                        <a:t>Cardano</a:t>
                      </a:r>
                      <a:endParaRPr lang="en-US" sz="1800" b="0" i="0" u="none" strike="noStrike" dirty="0">
                        <a:effectLst/>
                        <a:latin typeface="Arial" panose="020B0604020202020204" pitchFamily="34" charset="0"/>
                      </a:endParaRPr>
                    </a:p>
                  </a:txBody>
                  <a:tcPr marL="64845" marR="64845" marT="32422" marB="32422" anchor="ctr">
                    <a:lnL>
                      <a:noFill/>
                    </a:lnL>
                    <a:lnR>
                      <a:noFill/>
                    </a:lnR>
                    <a:lnT>
                      <a:noFill/>
                    </a:lnT>
                    <a:lnB>
                      <a:noFill/>
                    </a:lnB>
                    <a:noFill/>
                  </a:tcPr>
                </a:tc>
                <a:tc>
                  <a:txBody>
                    <a:bodyPr/>
                    <a:lstStyle/>
                    <a:p>
                      <a:pPr algn="l" fontAlgn="ctr">
                        <a:buNone/>
                      </a:pPr>
                      <a:r>
                        <a:rPr lang="en-US" sz="1800" b="0" i="0" u="none" strike="noStrike">
                          <a:effectLst/>
                          <a:latin typeface="Arial" panose="020B0604020202020204" pitchFamily="34" charset="0"/>
                        </a:rPr>
                        <a:t>- Proof-of-Stake (Ouroboros) - Peer-reviewed research - Hydra (Layer 2) for 1M+ TPS - On-chain governance</a:t>
                      </a:r>
                    </a:p>
                  </a:txBody>
                  <a:tcPr marL="64845" marR="64845" marT="32422" marB="32422" anchor="ctr">
                    <a:lnL>
                      <a:noFill/>
                    </a:lnL>
                    <a:lnR>
                      <a:noFill/>
                    </a:lnR>
                    <a:lnT>
                      <a:noFill/>
                    </a:lnT>
                    <a:lnB>
                      <a:noFill/>
                    </a:lnB>
                    <a:noFill/>
                  </a:tcPr>
                </a:tc>
                <a:tc>
                  <a:txBody>
                    <a:bodyPr/>
                    <a:lstStyle/>
                    <a:p>
                      <a:pPr algn="l" fontAlgn="ctr">
                        <a:buNone/>
                      </a:pPr>
                      <a:r>
                        <a:rPr lang="en-US" sz="1800" b="0" i="0" u="none" strike="noStrike">
                          <a:effectLst/>
                          <a:latin typeface="Arial" panose="020B0604020202020204" pitchFamily="34" charset="0"/>
                        </a:rPr>
                        <a:t>- </a:t>
                      </a:r>
                      <a:r>
                        <a:rPr lang="en-US" sz="1800" b="1" i="0" u="none" strike="noStrike">
                          <a:effectLst/>
                          <a:latin typeface="Arial" panose="020B0604020202020204" pitchFamily="34" charset="0"/>
                        </a:rPr>
                        <a:t>More academic &amp; secure</a:t>
                      </a:r>
                      <a:r>
                        <a:rPr lang="en-US" sz="1800" b="0" i="0" u="none" strike="noStrike">
                          <a:effectLst/>
                          <a:latin typeface="Arial" panose="020B0604020202020204" pitchFamily="34" charset="0"/>
                        </a:rPr>
                        <a:t> than Ethereum - Slower development but </a:t>
                      </a:r>
                      <a:r>
                        <a:rPr lang="en-US" sz="1800" b="1" i="0" u="none" strike="noStrike">
                          <a:effectLst/>
                          <a:latin typeface="Arial" panose="020B0604020202020204" pitchFamily="34" charset="0"/>
                        </a:rPr>
                        <a:t>no major outages</a:t>
                      </a:r>
                      <a:r>
                        <a:rPr lang="en-US" sz="1800" b="0" i="0" u="none" strike="noStrike">
                          <a:effectLst/>
                          <a:latin typeface="Arial" panose="020B0604020202020204" pitchFamily="34" charset="0"/>
                        </a:rPr>
                        <a:t> - </a:t>
                      </a:r>
                      <a:r>
                        <a:rPr lang="en-US" sz="1800" b="1" i="0" u="none" strike="noStrike">
                          <a:effectLst/>
                          <a:latin typeface="Arial" panose="020B0604020202020204" pitchFamily="34" charset="0"/>
                        </a:rPr>
                        <a:t>Native multi-asset support</a:t>
                      </a:r>
                      <a:r>
                        <a:rPr lang="en-US" sz="1800" b="0" i="0" u="none" strike="noStrike">
                          <a:effectLst/>
                          <a:latin typeface="Arial" panose="020B0604020202020204" pitchFamily="34" charset="0"/>
                        </a:rPr>
                        <a:t> (vs. ERC-20)</a:t>
                      </a:r>
                    </a:p>
                  </a:txBody>
                  <a:tcPr marL="64845" marR="64845" marT="32422" marB="32422" anchor="ctr">
                    <a:lnL>
                      <a:noFill/>
                    </a:lnL>
                    <a:lnR>
                      <a:noFill/>
                    </a:lnR>
                    <a:lnT>
                      <a:noFill/>
                    </a:lnT>
                    <a:lnB>
                      <a:noFill/>
                    </a:lnB>
                    <a:noFill/>
                  </a:tcPr>
                </a:tc>
                <a:extLst>
                  <a:ext uri="{0D108BD9-81ED-4DB2-BD59-A6C34878D82A}">
                    <a16:rowId xmlns:a16="http://schemas.microsoft.com/office/drawing/2014/main" val="3367701865"/>
                  </a:ext>
                </a:extLst>
              </a:tr>
              <a:tr h="1503429">
                <a:tc>
                  <a:txBody>
                    <a:bodyPr/>
                    <a:lstStyle/>
                    <a:p>
                      <a:pPr algn="l" fontAlgn="ctr">
                        <a:buNone/>
                      </a:pPr>
                      <a:r>
                        <a:rPr lang="en-US" sz="1800" b="1" i="0" u="none" strike="noStrike">
                          <a:effectLst/>
                          <a:latin typeface="Arial" panose="020B0604020202020204" pitchFamily="34" charset="0"/>
                        </a:rPr>
                        <a:t>Avalanche</a:t>
                      </a:r>
                      <a:endParaRPr lang="en-US" sz="1800" b="0" i="0" u="none" strike="noStrike">
                        <a:effectLst/>
                        <a:latin typeface="Arial" panose="020B0604020202020204" pitchFamily="34" charset="0"/>
                      </a:endParaRPr>
                    </a:p>
                  </a:txBody>
                  <a:tcPr marL="64845" marR="64845" marT="32422" marB="32422" anchor="ctr">
                    <a:lnL>
                      <a:noFill/>
                    </a:lnL>
                    <a:lnR>
                      <a:noFill/>
                    </a:lnR>
                    <a:lnT>
                      <a:noFill/>
                    </a:lnT>
                    <a:lnB>
                      <a:noFill/>
                    </a:lnB>
                    <a:noFill/>
                  </a:tcPr>
                </a:tc>
                <a:tc>
                  <a:txBody>
                    <a:bodyPr/>
                    <a:lstStyle/>
                    <a:p>
                      <a:pPr algn="l" fontAlgn="ctr">
                        <a:buNone/>
                      </a:pPr>
                      <a:r>
                        <a:rPr lang="en-US" sz="1800" b="0" i="0" u="none" strike="noStrike">
                          <a:effectLst/>
                          <a:latin typeface="Arial" panose="020B0604020202020204" pitchFamily="34" charset="0"/>
                        </a:rPr>
                        <a:t>- 3 chains: X (exchange), P (platform), C (contract) - Sub-second finality - 4,500+ TPS - Avalanche Warp Messaging (cross-subnet)</a:t>
                      </a:r>
                    </a:p>
                  </a:txBody>
                  <a:tcPr marL="64845" marR="64845" marT="32422" marB="32422" anchor="ctr">
                    <a:lnL>
                      <a:noFill/>
                    </a:lnL>
                    <a:lnR>
                      <a:noFill/>
                    </a:lnR>
                    <a:lnT>
                      <a:noFill/>
                    </a:lnT>
                    <a:lnB>
                      <a:noFill/>
                    </a:lnB>
                    <a:noFill/>
                  </a:tcPr>
                </a:tc>
                <a:tc>
                  <a:txBody>
                    <a:bodyPr/>
                    <a:lstStyle/>
                    <a:p>
                      <a:pPr algn="l" fontAlgn="ctr">
                        <a:buNone/>
                      </a:pPr>
                      <a:r>
                        <a:rPr lang="en-US" sz="1800" b="0" i="0" u="none" strike="noStrike">
                          <a:effectLst/>
                          <a:latin typeface="Arial" panose="020B0604020202020204" pitchFamily="34" charset="0"/>
                        </a:rPr>
                        <a:t>- </a:t>
                      </a:r>
                      <a:r>
                        <a:rPr lang="en-US" sz="1800" b="1" i="0" u="none" strike="noStrike">
                          <a:effectLst/>
                          <a:latin typeface="Arial" panose="020B0604020202020204" pitchFamily="34" charset="0"/>
                        </a:rPr>
                        <a:t>Faster finality</a:t>
                      </a:r>
                      <a:r>
                        <a:rPr lang="en-US" sz="1800" b="0" i="0" u="none" strike="noStrike">
                          <a:effectLst/>
                          <a:latin typeface="Arial" panose="020B0604020202020204" pitchFamily="34" charset="0"/>
                        </a:rPr>
                        <a:t> than Ethereum - </a:t>
                      </a:r>
                      <a:r>
                        <a:rPr lang="en-US" sz="1800" b="1" i="0" u="none" strike="noStrike">
                          <a:effectLst/>
                          <a:latin typeface="Arial" panose="020B0604020202020204" pitchFamily="34" charset="0"/>
                        </a:rPr>
                        <a:t>Custom subnets</a:t>
                      </a:r>
                      <a:r>
                        <a:rPr lang="en-US" sz="1800" b="0" i="0" u="none" strike="noStrike">
                          <a:effectLst/>
                          <a:latin typeface="Arial" panose="020B0604020202020204" pitchFamily="34" charset="0"/>
                        </a:rPr>
                        <a:t> = private blockchains with shared security - </a:t>
                      </a:r>
                      <a:r>
                        <a:rPr lang="en-US" sz="1800" b="1" i="0" u="none" strike="noStrike">
                          <a:effectLst/>
                          <a:latin typeface="Arial" panose="020B0604020202020204" pitchFamily="34" charset="0"/>
                        </a:rPr>
                        <a:t>No gas wars</a:t>
                      </a:r>
                      <a:endParaRPr lang="en-US" sz="1800" b="0" i="0" u="none" strike="noStrike">
                        <a:effectLst/>
                        <a:latin typeface="Arial" panose="020B0604020202020204" pitchFamily="34" charset="0"/>
                      </a:endParaRPr>
                    </a:p>
                  </a:txBody>
                  <a:tcPr marL="64845" marR="64845" marT="32422" marB="32422" anchor="ctr">
                    <a:lnL>
                      <a:noFill/>
                    </a:lnL>
                    <a:lnR>
                      <a:noFill/>
                    </a:lnR>
                    <a:lnT>
                      <a:noFill/>
                    </a:lnT>
                    <a:lnB>
                      <a:noFill/>
                    </a:lnB>
                    <a:noFill/>
                  </a:tcPr>
                </a:tc>
                <a:extLst>
                  <a:ext uri="{0D108BD9-81ED-4DB2-BD59-A6C34878D82A}">
                    <a16:rowId xmlns:a16="http://schemas.microsoft.com/office/drawing/2014/main" val="1575703892"/>
                  </a:ext>
                </a:extLst>
              </a:tr>
              <a:tr h="1503429">
                <a:tc>
                  <a:txBody>
                    <a:bodyPr/>
                    <a:lstStyle/>
                    <a:p>
                      <a:pPr algn="l" fontAlgn="ctr">
                        <a:buNone/>
                      </a:pPr>
                      <a:r>
                        <a:rPr lang="en-US" sz="1800" b="1" i="0" u="none" strike="noStrike">
                          <a:effectLst/>
                          <a:latin typeface="Arial" panose="020B0604020202020204" pitchFamily="34" charset="0"/>
                        </a:rPr>
                        <a:t>Cosmos</a:t>
                      </a:r>
                      <a:endParaRPr lang="en-US" sz="1800" b="0" i="0" u="none" strike="noStrike">
                        <a:effectLst/>
                        <a:latin typeface="Arial" panose="020B0604020202020204" pitchFamily="34" charset="0"/>
                      </a:endParaRPr>
                    </a:p>
                  </a:txBody>
                  <a:tcPr marL="64845" marR="64845" marT="32422" marB="32422" anchor="ctr">
                    <a:lnL>
                      <a:noFill/>
                    </a:lnL>
                    <a:lnR>
                      <a:noFill/>
                    </a:lnR>
                    <a:lnT>
                      <a:noFill/>
                    </a:lnT>
                    <a:lnB>
                      <a:noFill/>
                    </a:lnB>
                    <a:noFill/>
                  </a:tcPr>
                </a:tc>
                <a:tc>
                  <a:txBody>
                    <a:bodyPr/>
                    <a:lstStyle/>
                    <a:p>
                      <a:pPr algn="l" fontAlgn="ctr">
                        <a:buNone/>
                      </a:pPr>
                      <a:r>
                        <a:rPr lang="en-US" sz="1800" b="0" i="0" u="none" strike="noStrike">
                          <a:effectLst/>
                          <a:latin typeface="Arial" panose="020B0604020202020204" pitchFamily="34" charset="0"/>
                        </a:rPr>
                        <a:t>- Tendermint BFT consensus - IBC (Inter-Blockchain Communication) - 100+ sovereign chains connected</a:t>
                      </a:r>
                    </a:p>
                  </a:txBody>
                  <a:tcPr marL="64845" marR="64845" marT="32422" marB="32422" anchor="ctr">
                    <a:lnL>
                      <a:noFill/>
                    </a:lnL>
                    <a:lnR>
                      <a:noFill/>
                    </a:lnR>
                    <a:lnT>
                      <a:noFill/>
                    </a:lnT>
                    <a:lnB>
                      <a:noFill/>
                    </a:lnB>
                    <a:noFill/>
                  </a:tcPr>
                </a:tc>
                <a:tc>
                  <a:txBody>
                    <a:bodyPr/>
                    <a:lstStyle/>
                    <a:p>
                      <a:pPr algn="l" fontAlgn="ctr">
                        <a:buNone/>
                      </a:pPr>
                      <a:r>
                        <a:rPr lang="en-US" sz="1800" b="0" i="0" u="none" strike="noStrike" dirty="0">
                          <a:effectLst/>
                          <a:latin typeface="Arial" panose="020B0604020202020204" pitchFamily="34" charset="0"/>
                        </a:rPr>
                        <a:t>- </a:t>
                      </a:r>
                      <a:r>
                        <a:rPr lang="en-US" sz="1800" b="1" i="0" u="none" strike="noStrike" dirty="0">
                          <a:effectLst/>
                          <a:latin typeface="Arial" panose="020B0604020202020204" pitchFamily="34" charset="0"/>
                        </a:rPr>
                        <a:t>Not a single chain</a:t>
                      </a:r>
                      <a:r>
                        <a:rPr lang="en-US" sz="1800" b="0" i="0" u="none" strike="noStrike" dirty="0">
                          <a:effectLst/>
                          <a:latin typeface="Arial" panose="020B0604020202020204" pitchFamily="34" charset="0"/>
                        </a:rPr>
                        <a:t> — a </a:t>
                      </a:r>
                      <a:r>
                        <a:rPr lang="en-US" sz="1800" b="1" i="0" u="none" strike="noStrike" dirty="0">
                          <a:effectLst/>
                          <a:latin typeface="Arial" panose="020B0604020202020204" pitchFamily="34" charset="0"/>
                        </a:rPr>
                        <a:t>network of chains</a:t>
                      </a:r>
                      <a:r>
                        <a:rPr lang="en-US" sz="1800" b="0" i="0" u="none" strike="noStrike" dirty="0">
                          <a:effectLst/>
                          <a:latin typeface="Arial" panose="020B0604020202020204" pitchFamily="34" charset="0"/>
                        </a:rPr>
                        <a:t> - </a:t>
                      </a:r>
                      <a:r>
                        <a:rPr lang="en-US" sz="1800" b="1" i="0" u="none" strike="noStrike" dirty="0">
                          <a:effectLst/>
                          <a:latin typeface="Arial" panose="020B0604020202020204" pitchFamily="34" charset="0"/>
                        </a:rPr>
                        <a:t>Sovereign interoperability</a:t>
                      </a:r>
                      <a:r>
                        <a:rPr lang="en-US" sz="1800" b="0" i="0" u="none" strike="noStrike" dirty="0">
                          <a:effectLst/>
                          <a:latin typeface="Arial" panose="020B0604020202020204" pitchFamily="34" charset="0"/>
                        </a:rPr>
                        <a:t> (vs. Ethereum bridges) - Used by Binance Chain, Terra (pre-collapse)</a:t>
                      </a:r>
                    </a:p>
                  </a:txBody>
                  <a:tcPr marL="64845" marR="64845" marT="32422" marB="32422" anchor="ctr">
                    <a:lnL>
                      <a:noFill/>
                    </a:lnL>
                    <a:lnR>
                      <a:noFill/>
                    </a:lnR>
                    <a:lnT>
                      <a:noFill/>
                    </a:lnT>
                    <a:lnB>
                      <a:noFill/>
                    </a:lnB>
                    <a:noFill/>
                  </a:tcPr>
                </a:tc>
                <a:extLst>
                  <a:ext uri="{0D108BD9-81ED-4DB2-BD59-A6C34878D82A}">
                    <a16:rowId xmlns:a16="http://schemas.microsoft.com/office/drawing/2014/main" val="3106009769"/>
                  </a:ext>
                </a:extLst>
              </a:tr>
            </a:tbl>
          </a:graphicData>
        </a:graphic>
      </p:graphicFrame>
    </p:spTree>
    <p:extLst>
      <p:ext uri="{BB962C8B-B14F-4D97-AF65-F5344CB8AC3E}">
        <p14:creationId xmlns:p14="http://schemas.microsoft.com/office/powerpoint/2010/main" val="842086753"/>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{302681B8-793D-43D7-9054-F1B9BC554FF7}tf11964407_win32</Template>
  <TotalTime>14211</TotalTime>
  <Words>1560</Words>
  <Application>Microsoft Office PowerPoint</Application>
  <PresentationFormat>Widescreen</PresentationFormat>
  <Paragraphs>81</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Abadi</vt:lpstr>
      <vt:lpstr>Arial</vt:lpstr>
      <vt:lpstr>Calibri</vt:lpstr>
      <vt:lpstr>Courier New</vt:lpstr>
      <vt:lpstr>Gill Sans Nova Light</vt:lpstr>
      <vt:lpstr>Sagona Book</vt:lpstr>
      <vt:lpstr>Custom</vt:lpstr>
      <vt:lpstr>Emerging Blockchain Systems: Solana: Fast Transaction Processing, Minimal Finality Time</vt:lpstr>
      <vt:lpstr>Third Generation Blockchains</vt:lpstr>
      <vt:lpstr>Solana</vt:lpstr>
      <vt:lpstr>What is Solana?</vt:lpstr>
      <vt:lpstr>Speed, Finality and Transaction Cost </vt:lpstr>
      <vt:lpstr>The Story</vt:lpstr>
      <vt:lpstr>How Does it Work?</vt:lpstr>
      <vt:lpstr>Proof of History</vt:lpstr>
      <vt:lpstr>The Proof of History Process</vt:lpstr>
      <vt:lpstr>Upcoming Solana Upgrades: Firedancer and  Alpenglow</vt:lpstr>
      <vt:lpstr>Third Generation: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13</cp:revision>
  <dcterms:created xsi:type="dcterms:W3CDTF">2025-04-20T08:20:21Z</dcterms:created>
  <dcterms:modified xsi:type="dcterms:W3CDTF">2026-04-26T08:12:25Z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