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405" autoAdjust="0"/>
  </p:normalViewPr>
  <p:slideViewPr>
    <p:cSldViewPr snapToGrid="0">
      <p:cViewPr>
        <p:scale>
          <a:sx n="80" d="100"/>
          <a:sy n="80" d="100"/>
        </p:scale>
        <p:origin x="739" y="28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Shor Algorithm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BA3E-E63F-59B5-F17C-12D0C679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89427-9C2E-E534-5848-7B4B3ECD92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9885680" cy="4422648"/>
          </a:xfrm>
        </p:spPr>
        <p:txBody>
          <a:bodyPr/>
          <a:lstStyle/>
          <a:p>
            <a:r>
              <a:rPr lang="en-US" dirty="0"/>
              <a:t>Shor’s algorithm is one of the most famous quantum algorithms, created by mathematician Peter Shor in 1994. </a:t>
            </a:r>
          </a:p>
          <a:p>
            <a:r>
              <a:rPr lang="en-US" dirty="0"/>
              <a:t>It showed, for the first time, that a quantum computer could solve a problem much faster than any known classical method. </a:t>
            </a:r>
          </a:p>
          <a:p>
            <a:r>
              <a:rPr lang="en-US" dirty="0"/>
              <a:t>The problem it solves is called integer factorization, breaking a large number N into the prime numbers that multiply to make it: </a:t>
            </a:r>
          </a:p>
          <a:p>
            <a:r>
              <a:rPr lang="en-US" dirty="0"/>
              <a:t>                                      N =</a:t>
            </a:r>
            <a:r>
              <a:rPr lang="en-US" dirty="0" err="1"/>
              <a:t>p×q</a:t>
            </a:r>
            <a:r>
              <a:rPr lang="en-US" dirty="0"/>
              <a:t> </a:t>
            </a:r>
          </a:p>
          <a:p>
            <a:r>
              <a:rPr lang="en-US" dirty="0"/>
              <a:t>This is important because the security of many encryption systems, such as RSA, is based on the fact that factoring large numbers is slow on classical computers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C89C1-03EF-33A4-6165-F31356046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04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83835-C194-EB8D-6044-3313FAF6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00" y="172720"/>
            <a:ext cx="7534656" cy="914400"/>
          </a:xfrm>
        </p:spPr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9D01A-6AA7-EA1F-74FE-51D314B9697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5" y="1190625"/>
            <a:ext cx="11563350" cy="549465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Choose a random number that is smaller than N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Then, using quantum computing, find the period of the function </a:t>
            </a:r>
            <a:r>
              <a:rPr lang="da-DK" sz="2400" dirty="0">
                <a:latin typeface="Abadi" panose="020B0604020104020204" pitchFamily="34" charset="0"/>
              </a:rPr>
              <a:t>f(x) = a</a:t>
            </a:r>
            <a:r>
              <a:rPr lang="da-DK" sz="2400" strike="sngStrike" baseline="30000" dirty="0">
                <a:latin typeface="Abadi" panose="020B0604020104020204" pitchFamily="34" charset="0"/>
              </a:rPr>
              <a:t>x</a:t>
            </a:r>
            <a:r>
              <a:rPr lang="da-DK" sz="2400" dirty="0">
                <a:latin typeface="Abadi" panose="020B0604020104020204" pitchFamily="34" charset="0"/>
              </a:rPr>
              <a:t> mod N</a:t>
            </a:r>
            <a:endParaRPr lang="en-US" sz="2400" dirty="0">
              <a:latin typeface="Abadi" panose="020B0604020104020204" pitchFamily="34" charset="0"/>
            </a:endParaRPr>
          </a:p>
          <a:p>
            <a:endParaRPr lang="en-US" sz="2400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badi" panose="020B0604020104020204" pitchFamily="34" charset="0"/>
            </a:endParaRP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dirty="0">
                <a:latin typeface="Abadi" panose="020B0604020104020204" pitchFamily="34" charset="0"/>
              </a:rPr>
              <a:t>The period is the smallest number r such that: </a:t>
            </a:r>
            <a:r>
              <a:rPr lang="en-US" sz="2400" dirty="0" err="1">
                <a:latin typeface="Abadi" panose="020B0604020104020204" pitchFamily="34" charset="0"/>
              </a:rPr>
              <a:t>a</a:t>
            </a:r>
            <a:r>
              <a:rPr lang="en-US" sz="2400" baseline="30000" dirty="0" err="1">
                <a:latin typeface="Abadi" panose="020B0604020104020204" pitchFamily="34" charset="0"/>
              </a:rPr>
              <a:t>r</a:t>
            </a:r>
            <a:r>
              <a:rPr lang="en-US" sz="2400" dirty="0">
                <a:latin typeface="Abadi" panose="020B0604020104020204" pitchFamily="34" charset="0"/>
              </a:rPr>
              <a:t> ≡ 1 (mod N)  </a:t>
            </a:r>
          </a:p>
          <a:p>
            <a:r>
              <a:rPr lang="en-US" sz="2400" dirty="0">
                <a:latin typeface="Abadi" panose="020B0604020104020204" pitchFamily="34" charset="0"/>
              </a:rPr>
              <a:t>Once  r is known, it can be used to find the factors of N efficiently. </a:t>
            </a:r>
          </a:p>
          <a:p>
            <a:r>
              <a:rPr lang="en-US" sz="2400" dirty="0">
                <a:latin typeface="Abadi" panose="020B0604020104020204" pitchFamily="34" charset="0"/>
              </a:rPr>
              <a:t>Finding the period r is where quantum computing excels. </a:t>
            </a:r>
          </a:p>
          <a:p>
            <a:r>
              <a:rPr lang="en-US" sz="2400" dirty="0">
                <a:latin typeface="Abadi" panose="020B0604020104020204" pitchFamily="34" charset="0"/>
              </a:rPr>
              <a:t>A classical computer would need to test many values of  x, but a quantum computer can find r quickly using a process called the Quantum Fourier Transform (QFT). </a:t>
            </a:r>
          </a:p>
          <a:p>
            <a:r>
              <a:rPr lang="en-US" sz="2400" dirty="0">
                <a:latin typeface="Abadi" panose="020B0604020104020204" pitchFamily="34" charset="0"/>
              </a:rPr>
              <a:t>Once the period is known, the remaining steps are simple math done on a normal computer to find the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18030-DB4E-1A8B-9381-F4A4EC64F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05236-51D9-014B-2DE9-32849D61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221" y="2573633"/>
            <a:ext cx="2476715" cy="5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6E5-3622-A2C9-FA80-65A42EAF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325120"/>
            <a:ext cx="7534656" cy="914400"/>
          </a:xfrm>
        </p:spPr>
        <p:txBody>
          <a:bodyPr/>
          <a:lstStyle/>
          <a:p>
            <a:r>
              <a:rPr lang="en-US" dirty="0"/>
              <a:t>Shor’s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48164-4B30-6931-0065-57DCDE9C9C2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9440" y="1473201"/>
            <a:ext cx="10982960" cy="5302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Shor's algorithm is a quantum algorithm designed to factor large composite integers efficiently, which is exponentially faster than the best known classical algorithms for large numbers. </a:t>
            </a:r>
          </a:p>
          <a:p>
            <a:pPr marL="0" indent="0">
              <a:buNone/>
            </a:pPr>
            <a:r>
              <a:rPr lang="en-US" sz="2800" dirty="0"/>
              <a:t>It leverages quantum superposition, entanglement, and the quantum Fourier transform (QFT) to solve the problem. </a:t>
            </a:r>
          </a:p>
          <a:p>
            <a:pPr marL="0" indent="0">
              <a:buNone/>
            </a:pPr>
            <a:r>
              <a:rPr lang="en-US" sz="2800" dirty="0"/>
              <a:t>The core idea is to reduce factorization to finding the period (or order) of a modular exponentiation function, which is hard classically but efficient quantumly.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DFFCF-CC7B-4C4D-6FFF-DE6C3B379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0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AFD7-808A-25CA-1880-A52C819D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60" y="138430"/>
            <a:ext cx="9530080" cy="91440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AC04-A236-2186-CA2B-DA062BCA28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8960" y="1323975"/>
            <a:ext cx="11013440" cy="5259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Given a large composite number N that is a product of two large primes: : </a:t>
            </a:r>
          </a:p>
          <a:p>
            <a:r>
              <a:rPr lang="en-US" sz="2400" dirty="0">
                <a:latin typeface="Abadi" panose="020B0604020104020204" pitchFamily="34" charset="0"/>
              </a:rPr>
              <a:t>Pick a random base (a): Choose a random integer a (1 &lt; a &lt; N) that is coprime to N (i.e., </a:t>
            </a:r>
            <a:r>
              <a:rPr lang="en-US" sz="2400" dirty="0" err="1">
                <a:latin typeface="Abadi" panose="020B0604020104020204" pitchFamily="34" charset="0"/>
              </a:rPr>
              <a:t>gcd</a:t>
            </a:r>
            <a:r>
              <a:rPr lang="en-US" sz="2400" dirty="0">
                <a:latin typeface="Abadi" panose="020B0604020104020204" pitchFamily="34" charset="0"/>
              </a:rPr>
              <a:t>(a, N) = 1). </a:t>
            </a:r>
          </a:p>
          <a:p>
            <a:r>
              <a:rPr lang="en-US" sz="2400" dirty="0">
                <a:latin typeface="Abadi" panose="020B0604020104020204" pitchFamily="34" charset="0"/>
              </a:rPr>
              <a:t>If not coprime, you've already found a factor via </a:t>
            </a:r>
            <a:r>
              <a:rPr lang="en-US" sz="2400" dirty="0" err="1">
                <a:latin typeface="Abadi" panose="020B0604020104020204" pitchFamily="34" charset="0"/>
              </a:rPr>
              <a:t>gcd</a:t>
            </a:r>
            <a:r>
              <a:rPr lang="en-US" sz="2400" dirty="0">
                <a:latin typeface="Abadi" panose="020B0604020104020204" pitchFamily="34" charset="0"/>
              </a:rPr>
              <a:t>.</a:t>
            </a:r>
          </a:p>
          <a:p>
            <a:r>
              <a:rPr lang="en-US" sz="2400" dirty="0">
                <a:latin typeface="Abadi" panose="020B0604020104020204" pitchFamily="34" charset="0"/>
              </a:rPr>
              <a:t>Define the periodic function: Consider the function f(x) = </a:t>
            </a:r>
            <a:r>
              <a:rPr lang="en-US" sz="2400" dirty="0" err="1">
                <a:latin typeface="Abadi" panose="020B0604020104020204" pitchFamily="34" charset="0"/>
              </a:rPr>
              <a:t>a^x</a:t>
            </a:r>
            <a:r>
              <a:rPr lang="en-US" sz="2400" dirty="0">
                <a:latin typeface="Abadi" panose="020B0604020104020204" pitchFamily="34" charset="0"/>
              </a:rPr>
              <a:t> mod N.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This function is periodic with some period r, where r is the smallest positive integer such that </a:t>
            </a:r>
            <a:r>
              <a:rPr lang="en-US" sz="2400" dirty="0" err="1">
                <a:latin typeface="Abadi" panose="020B0604020104020204" pitchFamily="34" charset="0"/>
              </a:rPr>
              <a:t>a^r</a:t>
            </a:r>
            <a:r>
              <a:rPr lang="en-US" sz="2400" dirty="0">
                <a:latin typeface="Abadi" panose="020B0604020104020204" pitchFamily="34" charset="0"/>
              </a:rPr>
              <a:t> ≡ 1 mod N (this r is called the order of a modulo N).</a:t>
            </a:r>
          </a:p>
          <a:p>
            <a:r>
              <a:rPr lang="en-US" sz="2400" dirty="0">
                <a:latin typeface="Abadi" panose="020B0604020104020204" pitchFamily="34" charset="0"/>
              </a:rPr>
              <a:t>Find the period r: This is the key step, done quantumly. </a:t>
            </a:r>
          </a:p>
          <a:p>
            <a:r>
              <a:rPr lang="en-US" sz="2400" dirty="0">
                <a:latin typeface="Abadi" panose="020B0604020104020204" pitchFamily="34" charset="0"/>
              </a:rPr>
              <a:t>Once you have r, check if it's even. If not, pick a new a and repeat.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99329-0F03-FEB0-D5E5-191CA23D2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313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0297-FBCF-BA02-9C0D-A6B7E2BF9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3587"/>
            <a:ext cx="7534656" cy="914400"/>
          </a:xfrm>
        </p:spPr>
        <p:txBody>
          <a:bodyPr/>
          <a:lstStyle/>
          <a:p>
            <a:r>
              <a:rPr lang="en-US" dirty="0"/>
              <a:t>Shor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1F5E-3636-7D73-E3EC-B9E1338878F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2479" y="1459991"/>
            <a:ext cx="10474961" cy="51644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Pick a number </a:t>
            </a:r>
            <a:r>
              <a:rPr lang="en-US" sz="2400" i="1" dirty="0">
                <a:latin typeface="Abadi" panose="020B0604020104020204" pitchFamily="34" charset="0"/>
              </a:rPr>
              <a:t>a</a:t>
            </a:r>
            <a:r>
              <a:rPr lang="en-US" sz="2400" dirty="0">
                <a:latin typeface="Abadi" panose="020B0604020104020204" pitchFamily="34" charset="0"/>
              </a:rPr>
              <a:t>, which is a co-prime with </a:t>
            </a:r>
            <a:r>
              <a:rPr lang="en-US" sz="2400" i="1" dirty="0">
                <a:latin typeface="Abadi" panose="020B0604020104020204" pitchFamily="34" charset="0"/>
              </a:rPr>
              <a:t>N</a:t>
            </a:r>
            <a:r>
              <a:rPr lang="en-US" sz="2400" dirty="0">
                <a:latin typeface="Abadi" panose="020B0604020104020204" pitchFamily="34" charset="0"/>
              </a:rPr>
              <a:t>. (Classical computer);</a:t>
            </a:r>
          </a:p>
          <a:p>
            <a:r>
              <a:rPr lang="en-US" sz="2400" dirty="0">
                <a:latin typeface="Abadi" panose="020B0604020104020204" pitchFamily="34" charset="0"/>
              </a:rPr>
              <a:t>Need to find the smallest </a:t>
            </a:r>
            <a:r>
              <a:rPr lang="en-US" sz="2400" i="1" dirty="0">
                <a:latin typeface="Abadi" panose="020B0604020104020204" pitchFamily="34" charset="0"/>
              </a:rPr>
              <a:t>r</a:t>
            </a:r>
            <a:r>
              <a:rPr lang="en-US" sz="2400" dirty="0">
                <a:latin typeface="Abadi" panose="020B0604020104020204" pitchFamily="34" charset="0"/>
              </a:rPr>
              <a:t> such that </a:t>
            </a:r>
            <a:r>
              <a:rPr lang="en-US" sz="2400" i="1" dirty="0">
                <a:latin typeface="Abadi" panose="020B0604020104020204" pitchFamily="34" charset="0"/>
              </a:rPr>
              <a:t>a</a:t>
            </a:r>
            <a:r>
              <a:rPr lang="en-US" sz="3200" dirty="0">
                <a:latin typeface="Abadi" panose="020B0604020104020204" pitchFamily="34" charset="0"/>
              </a:rPr>
              <a:t>ʳ</a:t>
            </a:r>
            <a:r>
              <a:rPr lang="en-US" sz="2400" dirty="0">
                <a:latin typeface="Abadi" panose="020B0604020104020204" pitchFamily="34" charset="0"/>
              </a:rPr>
              <a:t>≡1(mod </a:t>
            </a:r>
            <a:r>
              <a:rPr lang="en-US" sz="2400" i="1" dirty="0">
                <a:latin typeface="Abadi" panose="020B0604020104020204" pitchFamily="34" charset="0"/>
              </a:rPr>
              <a:t>N</a:t>
            </a:r>
            <a:r>
              <a:rPr lang="en-US" sz="2400" dirty="0">
                <a:latin typeface="Abadi" panose="020B0604020104020204" pitchFamily="34" charset="0"/>
              </a:rPr>
              <a:t>).</a:t>
            </a:r>
          </a:p>
          <a:p>
            <a:r>
              <a:rPr lang="en-US" sz="2400" dirty="0">
                <a:latin typeface="Abadi" panose="020B0604020104020204" pitchFamily="34" charset="0"/>
              </a:rPr>
              <a:t>If </a:t>
            </a:r>
            <a:r>
              <a:rPr lang="en-US" sz="2400" i="1" dirty="0">
                <a:latin typeface="Abadi" panose="020B0604020104020204" pitchFamily="34" charset="0"/>
              </a:rPr>
              <a:t>r</a:t>
            </a:r>
            <a:r>
              <a:rPr lang="en-US" sz="2400" dirty="0">
                <a:latin typeface="Abadi" panose="020B0604020104020204" pitchFamily="34" charset="0"/>
              </a:rPr>
              <a:t> is even: Go to the next step. If </a:t>
            </a:r>
            <a:r>
              <a:rPr lang="en-US" sz="2400" i="1" dirty="0">
                <a:latin typeface="Abadi" panose="020B0604020104020204" pitchFamily="34" charset="0"/>
              </a:rPr>
              <a:t>r</a:t>
            </a:r>
            <a:r>
              <a:rPr lang="en-US" sz="2400" dirty="0">
                <a:latin typeface="Abadi" panose="020B0604020104020204" pitchFamily="34" charset="0"/>
              </a:rPr>
              <a:t> is odd go back to pick another </a:t>
            </a:r>
            <a:r>
              <a:rPr lang="en-US" sz="2400" i="1" dirty="0">
                <a:latin typeface="Abadi" panose="020B0604020104020204" pitchFamily="34" charset="0"/>
              </a:rPr>
              <a:t>a</a:t>
            </a:r>
            <a:r>
              <a:rPr lang="en-US" sz="2400" dirty="0">
                <a:latin typeface="Abadi" panose="020B0604020104020204" pitchFamily="34" charset="0"/>
              </a:rPr>
              <a:t>.</a:t>
            </a:r>
          </a:p>
          <a:p>
            <a:r>
              <a:rPr lang="en-US" sz="2400" dirty="0">
                <a:latin typeface="Abadi" panose="020B0604020104020204" pitchFamily="34" charset="0"/>
              </a:rPr>
              <a:t>If </a:t>
            </a:r>
            <a:r>
              <a:rPr lang="en-US" sz="2400" i="1" dirty="0">
                <a:latin typeface="Abadi" panose="020B0604020104020204" pitchFamily="34" charset="0"/>
              </a:rPr>
              <a:t>r</a:t>
            </a:r>
            <a:r>
              <a:rPr lang="en-US" sz="2400" dirty="0">
                <a:latin typeface="Abadi" panose="020B0604020104020204" pitchFamily="34" charset="0"/>
              </a:rPr>
              <a:t> is even then we found the non-trivial square root of </a:t>
            </a:r>
            <a:r>
              <a:rPr lang="en-US" sz="2400" i="1" dirty="0">
                <a:latin typeface="Abadi" panose="020B0604020104020204" pitchFamily="34" charset="0"/>
              </a:rPr>
              <a:t>N</a:t>
            </a:r>
            <a:r>
              <a:rPr lang="en-US" sz="2400" dirty="0">
                <a:latin typeface="Abadi" panose="020B0604020104020204" pitchFamily="34" charset="0"/>
              </a:rPr>
              <a:t>;</a:t>
            </a:r>
          </a:p>
          <a:p>
            <a:r>
              <a:rPr lang="en-US" sz="2400" dirty="0">
                <a:latin typeface="Abadi" panose="020B0604020104020204" pitchFamily="34" charset="0"/>
              </a:rPr>
              <a:t>Define x=pow(</a:t>
            </a:r>
            <a:r>
              <a:rPr lang="en-US" sz="2400" i="1" dirty="0">
                <a:latin typeface="Abadi" panose="020B0604020104020204" pitchFamily="34" charset="0"/>
              </a:rPr>
              <a:t>a, r/2). </a:t>
            </a:r>
            <a:r>
              <a:rPr lang="en-US" sz="2400" dirty="0">
                <a:latin typeface="Abadi" panose="020B0604020104020204" pitchFamily="34" charset="0"/>
              </a:rPr>
              <a:t>(on a Classical computer);</a:t>
            </a:r>
          </a:p>
          <a:p>
            <a:r>
              <a:rPr lang="en-US" sz="2400" dirty="0">
                <a:latin typeface="Abadi" panose="020B0604020104020204" pitchFamily="34" charset="0"/>
              </a:rPr>
              <a:t>If </a:t>
            </a:r>
            <a:r>
              <a:rPr lang="en-US" sz="2400" i="1" dirty="0">
                <a:latin typeface="Abadi" panose="020B0604020104020204" pitchFamily="34" charset="0"/>
              </a:rPr>
              <a:t>x</a:t>
            </a:r>
            <a:r>
              <a:rPr lang="en-US" sz="2400" dirty="0">
                <a:latin typeface="Abadi" panose="020B0604020104020204" pitchFamily="34" charset="0"/>
              </a:rPr>
              <a:t>+1≡0(mod </a:t>
            </a:r>
            <a:r>
              <a:rPr lang="en-US" sz="2400" i="1" dirty="0">
                <a:latin typeface="Abadi" panose="020B0604020104020204" pitchFamily="34" charset="0"/>
              </a:rPr>
              <a:t>N</a:t>
            </a:r>
            <a:r>
              <a:rPr lang="en-US" sz="2400" dirty="0">
                <a:latin typeface="Abadi" panose="020B0604020104020204" pitchFamily="34" charset="0"/>
              </a:rPr>
              <a:t>); then one of </a:t>
            </a:r>
            <a:r>
              <a:rPr lang="en-US" sz="2400" i="1" dirty="0" err="1">
                <a:latin typeface="Abadi" panose="020B0604020104020204" pitchFamily="34" charset="0"/>
              </a:rPr>
              <a:t>p</a:t>
            </a:r>
            <a:r>
              <a:rPr lang="en-US" sz="2400" dirty="0" err="1">
                <a:latin typeface="Abadi" panose="020B0604020104020204" pitchFamily="34" charset="0"/>
              </a:rPr>
              <a:t>,</a:t>
            </a:r>
            <a:r>
              <a:rPr lang="en-US" sz="2400" i="1" dirty="0" err="1">
                <a:latin typeface="Abadi" panose="020B0604020104020204" pitchFamily="34" charset="0"/>
              </a:rPr>
              <a:t>q</a:t>
            </a:r>
            <a:r>
              <a:rPr lang="en-US" sz="2400" dirty="0">
                <a:latin typeface="Abadi" panose="020B0604020104020204" pitchFamily="34" charset="0"/>
              </a:rPr>
              <a:t> is contained in </a:t>
            </a:r>
            <a:r>
              <a:rPr lang="en-US" sz="2400" dirty="0" err="1">
                <a:latin typeface="Abadi" panose="020B0604020104020204" pitchFamily="34" charset="0"/>
              </a:rPr>
              <a:t>gcd</a:t>
            </a:r>
            <a:r>
              <a:rPr lang="en-US" sz="2400" dirty="0">
                <a:latin typeface="Abadi" panose="020B0604020104020204" pitchFamily="34" charset="0"/>
              </a:rPr>
              <a:t>(</a:t>
            </a:r>
            <a:r>
              <a:rPr lang="en-US" sz="2400" i="1" dirty="0">
                <a:latin typeface="Abadi" panose="020B0604020104020204" pitchFamily="34" charset="0"/>
              </a:rPr>
              <a:t>x</a:t>
            </a:r>
            <a:r>
              <a:rPr lang="en-US" sz="2400" dirty="0">
                <a:latin typeface="Abadi" panose="020B0604020104020204" pitchFamily="34" charset="0"/>
              </a:rPr>
              <a:t>+1, </a:t>
            </a:r>
            <a:r>
              <a:rPr lang="en-US" sz="2400" i="1" dirty="0">
                <a:latin typeface="Abadi" panose="020B0604020104020204" pitchFamily="34" charset="0"/>
              </a:rPr>
              <a:t>N</a:t>
            </a:r>
            <a:r>
              <a:rPr lang="en-US" sz="2400" dirty="0">
                <a:latin typeface="Abadi" panose="020B0604020104020204" pitchFamily="34" charset="0"/>
              </a:rPr>
              <a:t>) or </a:t>
            </a:r>
            <a:r>
              <a:rPr lang="en-US" sz="2400" dirty="0" err="1">
                <a:latin typeface="Abadi" panose="020B0604020104020204" pitchFamily="34" charset="0"/>
              </a:rPr>
              <a:t>gcd</a:t>
            </a:r>
            <a:r>
              <a:rPr lang="en-US" sz="2400" dirty="0">
                <a:latin typeface="Abadi" panose="020B0604020104020204" pitchFamily="34" charset="0"/>
              </a:rPr>
              <a:t>(</a:t>
            </a:r>
            <a:r>
              <a:rPr lang="en-US" sz="2400" i="1" dirty="0">
                <a:latin typeface="Abadi" panose="020B0604020104020204" pitchFamily="34" charset="0"/>
              </a:rPr>
              <a:t>x</a:t>
            </a:r>
            <a:r>
              <a:rPr lang="en-US" sz="2400" dirty="0">
                <a:latin typeface="Abadi" panose="020B0604020104020204" pitchFamily="34" charset="0"/>
              </a:rPr>
              <a:t>−1, </a:t>
            </a:r>
            <a:r>
              <a:rPr lang="en-US" sz="2400" i="1" dirty="0">
                <a:latin typeface="Abadi" panose="020B0604020104020204" pitchFamily="34" charset="0"/>
              </a:rPr>
              <a:t>N</a:t>
            </a:r>
            <a:r>
              <a:rPr lang="en-US" sz="2400" dirty="0">
                <a:latin typeface="Abadi" panose="020B0604020104020204" pitchFamily="34" charset="0"/>
              </a:rPr>
              <a:t>). (Classical computer);</a:t>
            </a:r>
          </a:p>
          <a:p>
            <a:r>
              <a:rPr lang="en-US" sz="2400" dirty="0">
                <a:latin typeface="Abadi" panose="020B0604020104020204" pitchFamily="34" charset="0"/>
              </a:rPr>
              <a:t>If these fail (from step 3); we start everything by considering different </a:t>
            </a:r>
            <a:r>
              <a:rPr lang="en-US" sz="2400" i="1" dirty="0">
                <a:latin typeface="Abadi" panose="020B0604020104020204" pitchFamily="34" charset="0"/>
              </a:rPr>
              <a:t>a</a:t>
            </a:r>
            <a:r>
              <a:rPr lang="en-US" sz="2400" dirty="0">
                <a:latin typeface="Abadi" panose="020B0604020104020204" pitchFamily="34" charset="0"/>
              </a:rPr>
              <a:t>.</a:t>
            </a:r>
          </a:p>
          <a:p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BA6EA-8277-571F-FDE5-64380DE97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34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785E-2C71-4CB1-B624-2F77CD0C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Quantum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4B927-40B5-7B04-D379-637F8B7765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1"/>
            <a:ext cx="10149840" cy="414261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The main point of Shor’s algorithm is to find the non-trivial square root of the number that we would like to factorize i.e. </a:t>
            </a:r>
            <a:r>
              <a:rPr lang="en-US" sz="2400" i="1" dirty="0">
                <a:latin typeface="Abadi" panose="020B0604020104020204" pitchFamily="34" charset="0"/>
              </a:rPr>
              <a:t>N</a:t>
            </a:r>
            <a:r>
              <a:rPr lang="en-US" sz="2400" dirty="0">
                <a:latin typeface="Abadi" panose="020B0604020104020204" pitchFamily="34" charset="0"/>
              </a:rPr>
              <a:t>. </a:t>
            </a:r>
          </a:p>
          <a:p>
            <a:r>
              <a:rPr lang="en-US" sz="2400" dirty="0">
                <a:latin typeface="Abadi" panose="020B0604020104020204" pitchFamily="34" charset="0"/>
              </a:rPr>
              <a:t>As </a:t>
            </a:r>
            <a:r>
              <a:rPr lang="en-US" sz="2400" i="1" dirty="0">
                <a:latin typeface="Abadi" panose="020B0604020104020204" pitchFamily="34" charset="0"/>
              </a:rPr>
              <a:t>N</a:t>
            </a:r>
            <a:r>
              <a:rPr lang="en-US" sz="2400" dirty="0">
                <a:latin typeface="Abadi" panose="020B0604020104020204" pitchFamily="34" charset="0"/>
              </a:rPr>
              <a:t> gets larger, the calculations become exponentially heavy. </a:t>
            </a:r>
          </a:p>
          <a:p>
            <a:r>
              <a:rPr lang="en-US" sz="2400" dirty="0">
                <a:latin typeface="Abadi" panose="020B0604020104020204" pitchFamily="34" charset="0"/>
              </a:rPr>
              <a:t>Shor’s great idea was to propose a quantum algorithm to find the order (period) </a:t>
            </a:r>
            <a:r>
              <a:rPr lang="en-US" sz="2400" i="1" dirty="0">
                <a:latin typeface="Abadi" panose="020B0604020104020204" pitchFamily="34" charset="0"/>
              </a:rPr>
              <a:t>r</a:t>
            </a:r>
            <a:r>
              <a:rPr lang="en-US" sz="2400" dirty="0">
                <a:latin typeface="Abadi" panose="020B0604020104020204" pitchFamily="34" charset="0"/>
              </a:rPr>
              <a:t> for which we get the non-trivial square root and then </a:t>
            </a:r>
            <a:r>
              <a:rPr lang="en-US" sz="2400" i="1" dirty="0">
                <a:latin typeface="Abadi" panose="020B0604020104020204" pitchFamily="34" charset="0"/>
              </a:rPr>
              <a:t>the whole problem of factoring boils down to order finding</a:t>
            </a:r>
            <a:r>
              <a:rPr lang="en-US" sz="2400" dirty="0">
                <a:latin typeface="Abadi" panose="020B0604020104020204" pitchFamily="34" charset="0"/>
              </a:rPr>
              <a:t>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 algorithm partially runs on a quantum computer to find the order </a:t>
            </a:r>
            <a:r>
              <a:rPr lang="en-US" sz="2400" i="1" dirty="0">
                <a:latin typeface="Abadi" panose="020B0604020104020204" pitchFamily="34" charset="0"/>
              </a:rPr>
              <a:t>r</a:t>
            </a:r>
            <a:r>
              <a:rPr lang="en-US" sz="2400" dirty="0">
                <a:latin typeface="Abadi" panose="020B0604020104020204" pitchFamily="34" charset="0"/>
              </a:rPr>
              <a:t>, sandwiched between classical pre and post-processing.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 next question should be: How we can use quantum computing for order finding?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CDF53-9A08-B56A-DFC9-D3C46B814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74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79EC4-8F0F-7B7F-244F-901AB342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760" y="0"/>
            <a:ext cx="9603740" cy="914400"/>
          </a:xfrm>
        </p:spPr>
        <p:txBody>
          <a:bodyPr/>
          <a:lstStyle/>
          <a:p>
            <a:r>
              <a:rPr lang="en-US" dirty="0"/>
              <a:t>Simple Example for finding  the period (order)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2186-009C-F4A4-4DF0-B6DEDB832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AF6865-F78D-43C7-F09B-C600EA07626B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599122" y="1295607"/>
            <a:ext cx="1027207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 = 15.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Pick the first coprime a = 2 (randomly;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gcd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(2, 15) = 1, so it's coprime).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Compute f(x) = 2^x mod 15 for x = 0,1,2,...: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2^0 = 1 mod 15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2^1 = 2 mod 15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2^2 = 4 mod 15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2^3 = 8 mod 15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2^4 = 16 ≡ 1 mod 15 (back to 1, so period r = 4).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 = 4 (found via period search; quantumly, this is fast).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 is even, so compute a^{r/2} = 2^2 = 4.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gcd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(4 - 1, 15) =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gcd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(3, 15) = 3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gcd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(4 + 1, 15) =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gcd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(5, 15) = 5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 Factors are 3 and 5. </a:t>
            </a:r>
          </a:p>
        </p:txBody>
      </p:sp>
    </p:spTree>
    <p:extLst>
      <p:ext uri="{BB962C8B-B14F-4D97-AF65-F5344CB8AC3E}">
        <p14:creationId xmlns:p14="http://schemas.microsoft.com/office/powerpoint/2010/main" val="644466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197C6-0BD3-803E-AB81-25B26252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69850"/>
            <a:ext cx="10677525" cy="914400"/>
          </a:xfrm>
        </p:spPr>
        <p:txBody>
          <a:bodyPr/>
          <a:lstStyle/>
          <a:p>
            <a:r>
              <a:rPr lang="en-US" dirty="0"/>
              <a:t>How the Quantum Fourier Transform Speeds the Period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C9322-D18B-46F6-4205-8740B2A7BF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5275" y="984250"/>
            <a:ext cx="11719941" cy="567055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The speedup in Shor's algorithm comes from using the </a:t>
            </a:r>
            <a:r>
              <a:rPr lang="en-US" b="1" dirty="0">
                <a:latin typeface="Abadi" panose="020B0604020104020204" pitchFamily="34" charset="0"/>
              </a:rPr>
              <a:t>Quantum Fourier Transform (QFT)</a:t>
            </a:r>
            <a:r>
              <a:rPr lang="en-US" dirty="0">
                <a:latin typeface="Abadi" panose="020B0604020104020204" pitchFamily="34" charset="0"/>
              </a:rPr>
              <a:t>, a quantum analog of the classical Discrete Fourier Transform (DFT). </a:t>
            </a:r>
          </a:p>
          <a:p>
            <a:r>
              <a:rPr lang="en-US" dirty="0">
                <a:latin typeface="Abadi" panose="020B0604020104020204" pitchFamily="34" charset="0"/>
              </a:rPr>
              <a:t>The QFT efficiently extracts periodicities (frequencies) from a superposition of states, allowing period finding in polynomial time instead of exponential.</a:t>
            </a:r>
          </a:p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Why Fourier Transform Helps</a:t>
            </a:r>
          </a:p>
          <a:p>
            <a:r>
              <a:rPr lang="en-US" dirty="0">
                <a:latin typeface="Abadi" panose="020B0604020104020204" pitchFamily="34" charset="0"/>
              </a:rPr>
              <a:t>The period r manifests as a repeating pattern in the function f(x) = </a:t>
            </a:r>
            <a:r>
              <a:rPr lang="en-US" dirty="0" err="1">
                <a:latin typeface="Abadi" panose="020B0604020104020204" pitchFamily="34" charset="0"/>
              </a:rPr>
              <a:t>a^x</a:t>
            </a:r>
            <a:r>
              <a:rPr lang="en-US" dirty="0">
                <a:latin typeface="Abadi" panose="020B0604020104020204" pitchFamily="34" charset="0"/>
              </a:rPr>
              <a:t> mod N.</a:t>
            </a:r>
          </a:p>
          <a:p>
            <a:r>
              <a:rPr lang="en-US" dirty="0">
                <a:latin typeface="Abadi" panose="020B0604020104020204" pitchFamily="34" charset="0"/>
              </a:rPr>
              <a:t>In quantum computing, we create a superposition over many x values: |ψ⟩ = (1/√Q) Σ |x⟩ |</a:t>
            </a:r>
            <a:r>
              <a:rPr lang="en-US" dirty="0" err="1">
                <a:latin typeface="Abadi" panose="020B0604020104020204" pitchFamily="34" charset="0"/>
              </a:rPr>
              <a:t>a^x</a:t>
            </a:r>
            <a:r>
              <a:rPr lang="en-US" dirty="0">
                <a:latin typeface="Abadi" panose="020B0604020104020204" pitchFamily="34" charset="0"/>
              </a:rPr>
              <a:t> mod N⟩, where Q is a power of 2 larger than N^2 (to ensure accuracy).</a:t>
            </a:r>
          </a:p>
          <a:p>
            <a:r>
              <a:rPr lang="en-US" dirty="0">
                <a:latin typeface="Abadi" panose="020B0604020104020204" pitchFamily="34" charset="0"/>
              </a:rPr>
              <a:t>Measuring the second register (|</a:t>
            </a:r>
            <a:r>
              <a:rPr lang="en-US" dirty="0" err="1">
                <a:latin typeface="Abadi" panose="020B0604020104020204" pitchFamily="34" charset="0"/>
              </a:rPr>
              <a:t>a^x</a:t>
            </a:r>
            <a:r>
              <a:rPr lang="en-US" dirty="0">
                <a:latin typeface="Abadi" panose="020B0604020104020204" pitchFamily="34" charset="0"/>
              </a:rPr>
              <a:t> mod N⟩) collapses it to some value s, leaving the first register in a superposition of x where </a:t>
            </a:r>
            <a:r>
              <a:rPr lang="en-US" dirty="0" err="1">
                <a:latin typeface="Abadi" panose="020B0604020104020204" pitchFamily="34" charset="0"/>
              </a:rPr>
              <a:t>a^x</a:t>
            </a:r>
            <a:r>
              <a:rPr lang="en-US" dirty="0">
                <a:latin typeface="Abadi" panose="020B0604020104020204" pitchFamily="34" charset="0"/>
              </a:rPr>
              <a:t> ≡ s mod N. These x are arithmetic progressions with difference r: x0, x0+r, x0+2r, ..., creating a periodic signal with period r.</a:t>
            </a:r>
          </a:p>
          <a:p>
            <a:r>
              <a:rPr lang="en-US" dirty="0">
                <a:latin typeface="Abadi" panose="020B0604020104020204" pitchFamily="34" charset="0"/>
              </a:rPr>
              <a:t>Applying QFT to this periodic superposition transforms it into peaks at frequencies that are multiples of Q/r (approximately).</a:t>
            </a:r>
          </a:p>
          <a:p>
            <a:r>
              <a:rPr lang="en-US" dirty="0">
                <a:latin typeface="Abadi" panose="020B0604020104020204" pitchFamily="34" charset="0"/>
              </a:rPr>
              <a:t>Measuring after QFT gives a value y close to k*(Q/r) for integer k, from which we can estimate 1/r (hence r) using continued fractions approximation.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49F4A-794A-2D77-32AB-2D5D08935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126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9EA5-64F2-FFD3-08ED-ACEE78DFD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85725"/>
            <a:ext cx="9572625" cy="657225"/>
          </a:xfrm>
        </p:spPr>
        <p:txBody>
          <a:bodyPr/>
          <a:lstStyle/>
          <a:p>
            <a:r>
              <a:rPr lang="en-US" dirty="0"/>
              <a:t>How QFT Speeds the Period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642AA-9B90-4769-4AA8-9468391FC6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6784" y="838201"/>
            <a:ext cx="12015216" cy="5867400"/>
          </a:xfrm>
        </p:spPr>
        <p:txBody>
          <a:bodyPr>
            <a:normAutofit fontScale="92500" lnSpcReduction="10000"/>
          </a:bodyPr>
          <a:lstStyle/>
          <a:p>
            <a:endParaRPr lang="en-US" b="1" dirty="0"/>
          </a:p>
          <a:p>
            <a:r>
              <a:rPr lang="en-US" dirty="0">
                <a:latin typeface="Abadi" panose="020B0604020104020204" pitchFamily="34" charset="0"/>
              </a:rPr>
              <a:t>The QFT is like DFT: For a periodic signal with period r, DFT outputs spikes at frequency 1/r (and harmonics). Classically, DFT on M points takes O(M log M) time via FFT, but to resolve r up to N, M needs to be ~N^2, and evaluating </a:t>
            </a:r>
            <a:r>
              <a:rPr lang="en-US" dirty="0" err="1">
                <a:latin typeface="Abadi" panose="020B0604020104020204" pitchFamily="34" charset="0"/>
              </a:rPr>
              <a:t>a^x</a:t>
            </a:r>
            <a:r>
              <a:rPr lang="en-US" dirty="0">
                <a:latin typeface="Abadi" panose="020B0604020104020204" pitchFamily="34" charset="0"/>
              </a:rPr>
              <a:t> mod N for all points is O(N^2 log N) time—still too slow for large N.</a:t>
            </a:r>
          </a:p>
          <a:p>
            <a:r>
              <a:rPr lang="en-US" dirty="0">
                <a:latin typeface="Abadi" panose="020B0604020104020204" pitchFamily="34" charset="0"/>
              </a:rPr>
              <a:t>Quantumly:</a:t>
            </a:r>
          </a:p>
          <a:p>
            <a:r>
              <a:rPr lang="en-US" dirty="0">
                <a:latin typeface="Abadi" panose="020B0604020104020204" pitchFamily="34" charset="0"/>
              </a:rPr>
              <a:t>Superposition evaluates </a:t>
            </a:r>
            <a:r>
              <a:rPr lang="en-US" dirty="0" err="1">
                <a:latin typeface="Abadi" panose="020B0604020104020204" pitchFamily="34" charset="0"/>
              </a:rPr>
              <a:t>a^x</a:t>
            </a:r>
            <a:r>
              <a:rPr lang="en-US" dirty="0">
                <a:latin typeface="Abadi" panose="020B0604020104020204" pitchFamily="34" charset="0"/>
              </a:rPr>
              <a:t> mod N for all x "in parallel" via quantum parallelism.</a:t>
            </a:r>
          </a:p>
          <a:p>
            <a:r>
              <a:rPr lang="en-US" dirty="0">
                <a:latin typeface="Abadi" panose="020B0604020104020204" pitchFamily="34" charset="0"/>
              </a:rPr>
              <a:t>QFT is implemented with O((log Q)^2) = O((log N)^2) gates, exponentially faster.</a:t>
            </a:r>
          </a:p>
          <a:p>
            <a:r>
              <a:rPr lang="en-US" dirty="0">
                <a:latin typeface="Abadi" panose="020B0604020104020204" pitchFamily="34" charset="0"/>
              </a:rPr>
              <a:t>Overall: Shor's runs in O((log N)^3) time on a quantum computer.</a:t>
            </a:r>
          </a:p>
          <a:p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Simple Illustration with Fourier Transform</a:t>
            </a:r>
          </a:p>
          <a:p>
            <a:r>
              <a:rPr lang="en-US" dirty="0">
                <a:latin typeface="Abadi" panose="020B0604020104020204" pitchFamily="34" charset="0"/>
              </a:rPr>
              <a:t>Suppose a signal like [1,0,0,1,0,0,1,0,0,...] (period 3 over 9 points).</a:t>
            </a:r>
          </a:p>
          <a:p>
            <a:r>
              <a:rPr lang="en-US" dirty="0">
                <a:latin typeface="Abadi" panose="020B0604020104020204" pitchFamily="34" charset="0"/>
              </a:rPr>
              <a:t>DFT/FFT outputs peaks at frequencies 0, 3/9=1/3, 6/9=2/3 (multiples of 1/period).</a:t>
            </a:r>
          </a:p>
          <a:p>
            <a:r>
              <a:rPr lang="en-US" dirty="0">
                <a:latin typeface="Abadi" panose="020B0604020104020204" pitchFamily="34" charset="0"/>
              </a:rPr>
              <a:t>Peak at 1/3 implies period=3.</a:t>
            </a:r>
          </a:p>
          <a:p>
            <a:r>
              <a:rPr lang="en-US" dirty="0">
                <a:latin typeface="Abadi" panose="020B0604020104020204" pitchFamily="34" charset="0"/>
              </a:rPr>
              <a:t>In Shor's, QFT finds these frequencies, and post-processing (continued fractions) extracts r exactly with high probability.</a:t>
            </a:r>
          </a:p>
          <a:p>
            <a:r>
              <a:rPr lang="en-US" dirty="0">
                <a:latin typeface="Abadi" panose="020B0604020104020204" pitchFamily="34" charset="0"/>
              </a:rPr>
              <a:t>Thus, QFT turns the hard period search into efficient frequency estimation, enabling quantum factorization to break RSA-sized numbers in seconds on a large quantum computer, vs. years classically.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C80A2-1BBF-1D3F-4926-157189589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481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C4B0-9AE9-A659-F7FC-5DD9C4FF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1600"/>
            <a:ext cx="7534656" cy="914400"/>
          </a:xfrm>
        </p:spPr>
        <p:txBody>
          <a:bodyPr/>
          <a:lstStyle/>
          <a:p>
            <a:r>
              <a:rPr lang="en-US" dirty="0"/>
              <a:t>Sample QFT Superpositions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0DE31-8AB8-F998-30B9-81B65394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9E7A65-E5D8-05B5-1610-AE7E29C3385D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10146934" cy="338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4379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{0073B422-1617-4E2E-9459-78B0276D11A3}TF1ed9553b-00c4-4092-846a-c8f7f2908f3beecd942f_win32-8e33096c3cfc</Template>
  <TotalTime>7226</TotalTime>
  <Words>1438</Words>
  <Application>Microsoft Office PowerPoint</Application>
  <PresentationFormat>Widescreen</PresentationFormat>
  <Paragraphs>93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Abadi</vt:lpstr>
      <vt:lpstr>Arial</vt:lpstr>
      <vt:lpstr>Calibri</vt:lpstr>
      <vt:lpstr>Courier New</vt:lpstr>
      <vt:lpstr>Gill Sans Nova Light</vt:lpstr>
      <vt:lpstr>Sagona Book</vt:lpstr>
      <vt:lpstr>Custom</vt:lpstr>
      <vt:lpstr>Shor Algorithm</vt:lpstr>
      <vt:lpstr>The Problem</vt:lpstr>
      <vt:lpstr>How it Works</vt:lpstr>
      <vt:lpstr>Shor’s Approach</vt:lpstr>
      <vt:lpstr>Overview</vt:lpstr>
      <vt:lpstr>Shor Algorithm</vt:lpstr>
      <vt:lpstr>The Role of Quantum Computing</vt:lpstr>
      <vt:lpstr>Simple Example for finding  the period (order) r</vt:lpstr>
      <vt:lpstr>How the Quantum Fourier Transform Speeds the Period Computation</vt:lpstr>
      <vt:lpstr>How QFT Speeds the Period Computation</vt:lpstr>
      <vt:lpstr>Sample QFT Superpositions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 Mohammed ELAffendi</dc:creator>
  <cp:lastModifiedBy>Prof Mohammed ELAffendi</cp:lastModifiedBy>
  <cp:revision>3</cp:revision>
  <dcterms:created xsi:type="dcterms:W3CDTF">2026-01-06T05:55:18Z</dcterms:created>
  <dcterms:modified xsi:type="dcterms:W3CDTF">2026-01-11T06:21:59Z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