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317" r:id="rId5"/>
    <p:sldId id="318" r:id="rId6"/>
    <p:sldId id="319" r:id="rId7"/>
    <p:sldId id="320" r:id="rId8"/>
    <p:sldId id="321" r:id="rId9"/>
    <p:sldId id="322" r:id="rId10"/>
    <p:sldId id="323" r:id="rId11"/>
    <p:sldId id="324" r:id="rId12"/>
    <p:sldId id="325" r:id="rId13"/>
    <p:sldId id="326" r:id="rId14"/>
    <p:sldId id="327" r:id="rId15"/>
    <p:sldId id="328" r:id="rId16"/>
    <p:sldId id="330" r:id="rId17"/>
    <p:sldId id="331" r:id="rId18"/>
    <p:sldId id="332" r:id="rId19"/>
    <p:sldId id="333" r:id="rId20"/>
    <p:sldId id="32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405" autoAdjust="0"/>
  </p:normalViewPr>
  <p:slideViewPr>
    <p:cSldViewPr snapToGrid="0">
      <p:cViewPr>
        <p:scale>
          <a:sx n="86" d="100"/>
          <a:sy n="86" d="100"/>
        </p:scale>
        <p:origin x="230" y="28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1/26/2026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Getting Started With LangChain</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4EA7-1ACA-7207-E7E8-78173FAD69DD}"/>
              </a:ext>
            </a:extLst>
          </p:cNvPr>
          <p:cNvSpPr>
            <a:spLocks noGrp="1"/>
          </p:cNvSpPr>
          <p:nvPr>
            <p:ph type="title"/>
          </p:nvPr>
        </p:nvSpPr>
        <p:spPr/>
        <p:txBody>
          <a:bodyPr/>
          <a:lstStyle/>
          <a:p>
            <a:r>
              <a:rPr lang="en-US" dirty="0"/>
              <a:t>Installation</a:t>
            </a:r>
          </a:p>
        </p:txBody>
      </p:sp>
      <p:sp>
        <p:nvSpPr>
          <p:cNvPr id="3" name="Content Placeholder 2">
            <a:extLst>
              <a:ext uri="{FF2B5EF4-FFF2-40B4-BE49-F238E27FC236}">
                <a16:creationId xmlns:a16="http://schemas.microsoft.com/office/drawing/2014/main" id="{7985274F-40CD-5357-5ADB-CA154B2D069B}"/>
              </a:ext>
            </a:extLst>
          </p:cNvPr>
          <p:cNvSpPr>
            <a:spLocks noGrp="1"/>
          </p:cNvSpPr>
          <p:nvPr>
            <p:ph sz="quarter" idx="10"/>
          </p:nvPr>
        </p:nvSpPr>
        <p:spPr>
          <a:xfrm>
            <a:off x="914400" y="2039112"/>
            <a:ext cx="8920480" cy="3356576"/>
          </a:xfrm>
        </p:spPr>
        <p:txBody>
          <a:bodyPr/>
          <a:lstStyle/>
          <a:p>
            <a:pPr marL="0" indent="0">
              <a:buNone/>
            </a:pPr>
            <a:r>
              <a:rPr lang="en-US" sz="2800" dirty="0">
                <a:latin typeface="Abadi" panose="020B0604020104020204" pitchFamily="34" charset="0"/>
              </a:rPr>
              <a:t>Before installation you need to generate an </a:t>
            </a:r>
            <a:r>
              <a:rPr lang="en-US" sz="2800" dirty="0" err="1">
                <a:latin typeface="Abadi" panose="020B0604020104020204" pitchFamily="34" charset="0"/>
              </a:rPr>
              <a:t>openai</a:t>
            </a:r>
            <a:r>
              <a:rPr lang="en-US" sz="2800" dirty="0">
                <a:latin typeface="Abadi" panose="020B0604020104020204" pitchFamily="34" charset="0"/>
              </a:rPr>
              <a:t> API key and use it in LangChain applications</a:t>
            </a:r>
          </a:p>
          <a:p>
            <a:pPr marL="0" indent="0">
              <a:buNone/>
            </a:pPr>
            <a:r>
              <a:rPr lang="en-US" sz="2800" dirty="0">
                <a:latin typeface="Abadi" panose="020B0604020104020204" pitchFamily="34" charset="0"/>
              </a:rPr>
              <a:t>Install the LangChain Libraries</a:t>
            </a:r>
          </a:p>
          <a:p>
            <a:pPr fontAlgn="base"/>
            <a:r>
              <a:rPr lang="en-US" sz="2800" dirty="0">
                <a:latin typeface="Abadi" panose="020B0604020104020204" pitchFamily="34" charset="0"/>
              </a:rPr>
              <a:t>pip install </a:t>
            </a:r>
            <a:r>
              <a:rPr lang="en-US" sz="2800" dirty="0" err="1">
                <a:latin typeface="Abadi" panose="020B0604020104020204" pitchFamily="34" charset="0"/>
              </a:rPr>
              <a:t>langchain</a:t>
            </a:r>
            <a:r>
              <a:rPr lang="en-US" sz="2800" dirty="0">
                <a:latin typeface="Abadi" panose="020B0604020104020204" pitchFamily="34" charset="0"/>
              </a:rPr>
              <a:t> </a:t>
            </a:r>
            <a:r>
              <a:rPr lang="en-US" sz="2800" dirty="0" err="1">
                <a:latin typeface="Abadi" panose="020B0604020104020204" pitchFamily="34" charset="0"/>
              </a:rPr>
              <a:t>langchain-openai</a:t>
            </a:r>
            <a:r>
              <a:rPr lang="en-US" sz="2800" dirty="0">
                <a:latin typeface="Abadi" panose="020B0604020104020204" pitchFamily="34" charset="0"/>
              </a:rPr>
              <a:t> </a:t>
            </a:r>
            <a:r>
              <a:rPr lang="en-US" sz="2800" dirty="0" err="1">
                <a:latin typeface="Abadi" panose="020B0604020104020204" pitchFamily="34" charset="0"/>
              </a:rPr>
              <a:t>langchain</a:t>
            </a:r>
            <a:r>
              <a:rPr lang="en-US" sz="2800" dirty="0">
                <a:latin typeface="Abadi" panose="020B0604020104020204" pitchFamily="34" charset="0"/>
              </a:rPr>
              <a:t>-community </a:t>
            </a:r>
          </a:p>
          <a:p>
            <a:pPr fontAlgn="base"/>
            <a:r>
              <a:rPr lang="en-US" sz="2800" dirty="0">
                <a:latin typeface="Abadi" panose="020B0604020104020204" pitchFamily="34" charset="0"/>
              </a:rPr>
              <a:t>pip install </a:t>
            </a:r>
            <a:r>
              <a:rPr lang="en-US" sz="2800" dirty="0" err="1">
                <a:latin typeface="Abadi" panose="020B0604020104020204" pitchFamily="34" charset="0"/>
              </a:rPr>
              <a:t>langchain</a:t>
            </a:r>
            <a:r>
              <a:rPr lang="en-US" sz="2800" dirty="0">
                <a:latin typeface="Abadi" panose="020B0604020104020204" pitchFamily="34" charset="0"/>
              </a:rPr>
              <a:t>-text-splitters </a:t>
            </a:r>
            <a:r>
              <a:rPr lang="en-US" sz="2800" dirty="0" err="1">
                <a:latin typeface="Abadi" panose="020B0604020104020204" pitchFamily="34" charset="0"/>
              </a:rPr>
              <a:t>langchain-postgres</a:t>
            </a:r>
            <a:endParaRPr lang="en-US" sz="2800" dirty="0">
              <a:latin typeface="Abadi" panose="020B0604020104020204" pitchFamily="34" charset="0"/>
            </a:endParaRPr>
          </a:p>
          <a:p>
            <a:pPr marL="0" indent="0">
              <a:buNone/>
            </a:pPr>
            <a:r>
              <a:rPr lang="en-US" sz="2800" dirty="0">
                <a:latin typeface="Abadi" panose="020B0604020104020204" pitchFamily="34" charset="0"/>
              </a:rPr>
              <a:t>:</a:t>
            </a:r>
          </a:p>
          <a:p>
            <a:pPr marL="0" indent="0">
              <a:buNone/>
            </a:pPr>
            <a:endParaRPr lang="en-US" sz="2800" dirty="0">
              <a:latin typeface="Abadi" panose="020B0604020104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F43CAF5C-FE21-834E-2B58-742307F6487C}"/>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3899249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C581-4B84-CB96-2A22-178282B8A2F7}"/>
              </a:ext>
            </a:extLst>
          </p:cNvPr>
          <p:cNvSpPr>
            <a:spLocks noGrp="1"/>
          </p:cNvSpPr>
          <p:nvPr>
            <p:ph type="title"/>
          </p:nvPr>
        </p:nvSpPr>
        <p:spPr/>
        <p:txBody>
          <a:bodyPr/>
          <a:lstStyle/>
          <a:p>
            <a:r>
              <a:rPr lang="en-US" dirty="0"/>
              <a:t>LLMs are the Driving Engines</a:t>
            </a:r>
          </a:p>
        </p:txBody>
      </p:sp>
      <p:sp>
        <p:nvSpPr>
          <p:cNvPr id="3" name="Content Placeholder 2">
            <a:extLst>
              <a:ext uri="{FF2B5EF4-FFF2-40B4-BE49-F238E27FC236}">
                <a16:creationId xmlns:a16="http://schemas.microsoft.com/office/drawing/2014/main" id="{343FFC30-29D7-9161-1FA2-D314F3FEF4EC}"/>
              </a:ext>
            </a:extLst>
          </p:cNvPr>
          <p:cNvSpPr>
            <a:spLocks noGrp="1"/>
          </p:cNvSpPr>
          <p:nvPr>
            <p:ph sz="quarter" idx="10"/>
          </p:nvPr>
        </p:nvSpPr>
        <p:spPr>
          <a:xfrm>
            <a:off x="914400" y="2039112"/>
            <a:ext cx="9235440" cy="4201668"/>
          </a:xfrm>
        </p:spPr>
        <p:txBody>
          <a:bodyPr/>
          <a:lstStyle/>
          <a:p>
            <a:pPr fontAlgn="base"/>
            <a:r>
              <a:rPr lang="en-US" sz="2400" dirty="0">
                <a:latin typeface="Abadi" panose="020B0604020104020204" pitchFamily="34" charset="0"/>
              </a:rPr>
              <a:t>LLMs are the driving engine behind most generative AI applications. LangChain provides two simple interfaces to interact with any LLM API provider:</a:t>
            </a:r>
          </a:p>
          <a:p>
            <a:pPr marL="0" indent="0" fontAlgn="base">
              <a:buNone/>
            </a:pPr>
            <a:r>
              <a:rPr lang="en-US" sz="2400" dirty="0">
                <a:latin typeface="Abadi" panose="020B0604020104020204" pitchFamily="34" charset="0"/>
              </a:rPr>
              <a:t>         Chat models</a:t>
            </a:r>
          </a:p>
          <a:p>
            <a:pPr marL="0" indent="0" fontAlgn="base">
              <a:buNone/>
            </a:pPr>
            <a:r>
              <a:rPr lang="en-US" sz="2400" dirty="0">
                <a:latin typeface="Abadi" panose="020B0604020104020204" pitchFamily="34" charset="0"/>
              </a:rPr>
              <a:t>          LLMs</a:t>
            </a:r>
          </a:p>
          <a:p>
            <a:pPr fontAlgn="base"/>
            <a:r>
              <a:rPr lang="en-US" sz="2400" dirty="0">
                <a:latin typeface="Abadi" panose="020B0604020104020204" pitchFamily="34" charset="0"/>
              </a:rPr>
              <a:t>The LLM interface simply takes a string prompt as input, sends the input to the model provider, and then returns the model prediction as output.</a:t>
            </a:r>
          </a:p>
          <a:p>
            <a:pPr fontAlgn="base"/>
            <a:r>
              <a:rPr lang="en-US" sz="2400" dirty="0">
                <a:latin typeface="Abadi" panose="020B0604020104020204" pitchFamily="34" charset="0"/>
              </a:rPr>
              <a:t>Let’s import </a:t>
            </a:r>
            <a:r>
              <a:rPr lang="en-US" sz="2400" dirty="0" err="1">
                <a:latin typeface="Abadi" panose="020B0604020104020204" pitchFamily="34" charset="0"/>
              </a:rPr>
              <a:t>LangChain’s</a:t>
            </a:r>
            <a:r>
              <a:rPr lang="en-US" sz="2400" dirty="0">
                <a:latin typeface="Abadi" panose="020B0604020104020204" pitchFamily="34" charset="0"/>
              </a:rPr>
              <a:t> OpenAI LLM wrapper to invoke a model prediction using a simple prompt:</a:t>
            </a:r>
          </a:p>
          <a:p>
            <a:endParaRPr lang="en-US" dirty="0"/>
          </a:p>
        </p:txBody>
      </p:sp>
      <p:sp>
        <p:nvSpPr>
          <p:cNvPr id="4" name="Slide Number Placeholder 3">
            <a:extLst>
              <a:ext uri="{FF2B5EF4-FFF2-40B4-BE49-F238E27FC236}">
                <a16:creationId xmlns:a16="http://schemas.microsoft.com/office/drawing/2014/main" id="{1BEC5215-F131-4697-D69C-FF4A90515DFA}"/>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385820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49D19-D100-9A9F-6D54-A587CFC0E0B3}"/>
              </a:ext>
            </a:extLst>
          </p:cNvPr>
          <p:cNvSpPr>
            <a:spLocks noGrp="1"/>
          </p:cNvSpPr>
          <p:nvPr>
            <p:ph type="title"/>
          </p:nvPr>
        </p:nvSpPr>
        <p:spPr/>
        <p:txBody>
          <a:bodyPr/>
          <a:lstStyle/>
          <a:p>
            <a:r>
              <a:rPr lang="en-US" dirty="0"/>
              <a:t>Using LLM</a:t>
            </a:r>
          </a:p>
        </p:txBody>
      </p:sp>
      <p:sp>
        <p:nvSpPr>
          <p:cNvPr id="3" name="Content Placeholder 2">
            <a:extLst>
              <a:ext uri="{FF2B5EF4-FFF2-40B4-BE49-F238E27FC236}">
                <a16:creationId xmlns:a16="http://schemas.microsoft.com/office/drawing/2014/main" id="{87B7411E-E039-E9D2-B6BB-9CF5B9ABE847}"/>
              </a:ext>
            </a:extLst>
          </p:cNvPr>
          <p:cNvSpPr>
            <a:spLocks noGrp="1"/>
          </p:cNvSpPr>
          <p:nvPr>
            <p:ph sz="quarter" idx="10"/>
          </p:nvPr>
        </p:nvSpPr>
        <p:spPr>
          <a:xfrm>
            <a:off x="914400" y="2039112"/>
            <a:ext cx="8069580" cy="3356576"/>
          </a:xfrm>
        </p:spPr>
        <p:txBody>
          <a:bodyPr/>
          <a:lstStyle/>
          <a:p>
            <a:pPr marL="0" indent="0" fontAlgn="base">
              <a:buNone/>
            </a:pPr>
            <a:r>
              <a:rPr lang="en-US" sz="2400" dirty="0">
                <a:latin typeface="Abadi" panose="020B0604020104020204" pitchFamily="34" charset="0"/>
              </a:rPr>
              <a:t>from </a:t>
            </a:r>
            <a:r>
              <a:rPr lang="en-US" sz="2400" dirty="0" err="1">
                <a:latin typeface="Abadi" panose="020B0604020104020204" pitchFamily="34" charset="0"/>
              </a:rPr>
              <a:t>langchain_openai.llms</a:t>
            </a:r>
            <a:r>
              <a:rPr lang="en-US" sz="2400" dirty="0">
                <a:latin typeface="Abadi" panose="020B0604020104020204" pitchFamily="34" charset="0"/>
              </a:rPr>
              <a:t> import OpenAI</a:t>
            </a:r>
          </a:p>
          <a:p>
            <a:pPr marL="0" indent="0" fontAlgn="base">
              <a:buNone/>
            </a:pPr>
            <a:r>
              <a:rPr lang="en-US" sz="2400" dirty="0">
                <a:latin typeface="Abadi" panose="020B0604020104020204" pitchFamily="34" charset="0"/>
              </a:rPr>
              <a:t>model = OpenAI(model="gpt-3.5-turbo")</a:t>
            </a:r>
          </a:p>
          <a:p>
            <a:pPr marL="0" indent="0" fontAlgn="base">
              <a:buNone/>
            </a:pPr>
            <a:r>
              <a:rPr lang="en-US" sz="2400" dirty="0" err="1">
                <a:latin typeface="Abadi" panose="020B0604020104020204" pitchFamily="34" charset="0"/>
              </a:rPr>
              <a:t>model.invoke</a:t>
            </a:r>
            <a:r>
              <a:rPr lang="en-US" sz="2400" dirty="0">
                <a:latin typeface="Abadi" panose="020B0604020104020204" pitchFamily="34" charset="0"/>
              </a:rPr>
              <a:t>("The sky is")</a:t>
            </a:r>
          </a:p>
          <a:p>
            <a:pPr marL="0" indent="0">
              <a:buNone/>
            </a:pPr>
            <a:endParaRPr lang="en-US" dirty="0"/>
          </a:p>
        </p:txBody>
      </p:sp>
      <p:sp>
        <p:nvSpPr>
          <p:cNvPr id="4" name="Slide Number Placeholder 3">
            <a:extLst>
              <a:ext uri="{FF2B5EF4-FFF2-40B4-BE49-F238E27FC236}">
                <a16:creationId xmlns:a16="http://schemas.microsoft.com/office/drawing/2014/main" id="{8F25EFA1-92A1-DA0A-77BB-4C55544495E3}"/>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1710102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64545-7942-C560-7BF8-07331DC17482}"/>
              </a:ext>
            </a:extLst>
          </p:cNvPr>
          <p:cNvSpPr>
            <a:spLocks noGrp="1"/>
          </p:cNvSpPr>
          <p:nvPr>
            <p:ph type="title"/>
          </p:nvPr>
        </p:nvSpPr>
        <p:spPr/>
        <p:txBody>
          <a:bodyPr/>
          <a:lstStyle/>
          <a:p>
            <a:r>
              <a:rPr lang="en-US" dirty="0"/>
              <a:t>Parameters to Configure </a:t>
            </a:r>
          </a:p>
        </p:txBody>
      </p:sp>
      <p:sp>
        <p:nvSpPr>
          <p:cNvPr id="3" name="Content Placeholder 2">
            <a:extLst>
              <a:ext uri="{FF2B5EF4-FFF2-40B4-BE49-F238E27FC236}">
                <a16:creationId xmlns:a16="http://schemas.microsoft.com/office/drawing/2014/main" id="{25B867C9-A3EC-ACAA-2BC6-F95DC354516D}"/>
              </a:ext>
            </a:extLst>
          </p:cNvPr>
          <p:cNvSpPr>
            <a:spLocks noGrp="1"/>
          </p:cNvSpPr>
          <p:nvPr>
            <p:ph sz="quarter" idx="10"/>
          </p:nvPr>
        </p:nvSpPr>
        <p:spPr>
          <a:xfrm>
            <a:off x="537210" y="2039112"/>
            <a:ext cx="11654790" cy="4399788"/>
          </a:xfrm>
        </p:spPr>
        <p:txBody>
          <a:bodyPr>
            <a:normAutofit/>
          </a:bodyPr>
          <a:lstStyle/>
          <a:p>
            <a:pPr marL="0" indent="0" fontAlgn="base">
              <a:buNone/>
            </a:pPr>
            <a:r>
              <a:rPr lang="en-US" sz="2400" dirty="0">
                <a:latin typeface="Abadi" panose="020B0604020104020204" pitchFamily="34" charset="0"/>
              </a:rPr>
              <a:t>Other useful parameters to configure include the following, offered by most providers.</a:t>
            </a:r>
          </a:p>
          <a:p>
            <a:pPr marL="0" indent="0" fontAlgn="base">
              <a:buNone/>
            </a:pPr>
            <a:r>
              <a:rPr lang="en-US" sz="2400" i="1" dirty="0">
                <a:latin typeface="Abadi" panose="020B0604020104020204" pitchFamily="34" charset="0"/>
              </a:rPr>
              <a:t>1- temperature</a:t>
            </a:r>
          </a:p>
          <a:p>
            <a:pPr marL="0" indent="0" fontAlgn="base">
              <a:buNone/>
            </a:pPr>
            <a:r>
              <a:rPr lang="en-US" sz="2400" dirty="0">
                <a:latin typeface="Abadi" panose="020B0604020104020204" pitchFamily="34" charset="0"/>
              </a:rPr>
              <a:t>This controls the sampling algorithm used to generate output. Lower values produce more predictable outputs (for example, 0.1), while higher values generate more creative, or unexpected, results (such as 0.9). Different tasks will need different values for this parameter. For instance, producing structured output usually benefits from a lower temperature, whereas creative writing tasks do better with a higher value:</a:t>
            </a:r>
          </a:p>
          <a:p>
            <a:pPr marL="0" indent="0" fontAlgn="base">
              <a:buNone/>
            </a:pPr>
            <a:r>
              <a:rPr lang="en-US" sz="2400" i="1" dirty="0">
                <a:latin typeface="Abadi" panose="020B0604020104020204" pitchFamily="34" charset="0"/>
              </a:rPr>
              <a:t>2- </a:t>
            </a:r>
            <a:r>
              <a:rPr lang="en-US" sz="2400" i="1" dirty="0" err="1">
                <a:latin typeface="Abadi" panose="020B0604020104020204" pitchFamily="34" charset="0"/>
              </a:rPr>
              <a:t>max_tokens</a:t>
            </a:r>
            <a:endParaRPr lang="en-US" sz="2400" i="1" dirty="0">
              <a:latin typeface="Abadi" panose="020B0604020104020204" pitchFamily="34" charset="0"/>
            </a:endParaRPr>
          </a:p>
          <a:p>
            <a:pPr marL="0" indent="0" fontAlgn="base">
              <a:buNone/>
            </a:pPr>
            <a:r>
              <a:rPr lang="en-US" sz="2400" dirty="0">
                <a:latin typeface="Abadi" panose="020B0604020104020204" pitchFamily="34" charset="0"/>
              </a:rPr>
              <a:t>This limits the size (and cost) of the output. A lower value may cause the LLM to stop generating the output before getting to a natural end, so it may appear to have been truncated.</a:t>
            </a:r>
          </a:p>
          <a:p>
            <a:endParaRPr lang="en-US" dirty="0"/>
          </a:p>
        </p:txBody>
      </p:sp>
      <p:sp>
        <p:nvSpPr>
          <p:cNvPr id="4" name="Slide Number Placeholder 3">
            <a:extLst>
              <a:ext uri="{FF2B5EF4-FFF2-40B4-BE49-F238E27FC236}">
                <a16:creationId xmlns:a16="http://schemas.microsoft.com/office/drawing/2014/main" id="{53D5FCA0-72FD-E3B2-9332-6A1311DD505F}"/>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2485539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44B-F399-567E-86E7-5B16DCF2045A}"/>
              </a:ext>
            </a:extLst>
          </p:cNvPr>
          <p:cNvSpPr>
            <a:spLocks noGrp="1"/>
          </p:cNvSpPr>
          <p:nvPr>
            <p:ph type="title"/>
          </p:nvPr>
        </p:nvSpPr>
        <p:spPr/>
        <p:txBody>
          <a:bodyPr/>
          <a:lstStyle/>
          <a:p>
            <a:r>
              <a:rPr lang="en-US" dirty="0"/>
              <a:t>The Chat Model Interface </a:t>
            </a:r>
          </a:p>
        </p:txBody>
      </p:sp>
      <p:sp>
        <p:nvSpPr>
          <p:cNvPr id="3" name="Content Placeholder 2">
            <a:extLst>
              <a:ext uri="{FF2B5EF4-FFF2-40B4-BE49-F238E27FC236}">
                <a16:creationId xmlns:a16="http://schemas.microsoft.com/office/drawing/2014/main" id="{5FC74954-9DA4-58D9-EF3F-8888DE8B8817}"/>
              </a:ext>
            </a:extLst>
          </p:cNvPr>
          <p:cNvSpPr>
            <a:spLocks noGrp="1"/>
          </p:cNvSpPr>
          <p:nvPr>
            <p:ph sz="quarter" idx="10"/>
          </p:nvPr>
        </p:nvSpPr>
        <p:spPr>
          <a:xfrm>
            <a:off x="914400" y="2039112"/>
            <a:ext cx="8606790" cy="3356576"/>
          </a:xfrm>
        </p:spPr>
        <p:txBody>
          <a:bodyPr/>
          <a:lstStyle/>
          <a:p>
            <a:pPr marL="0" indent="0" fontAlgn="base">
              <a:buNone/>
            </a:pPr>
            <a:r>
              <a:rPr lang="en-US" sz="2400" dirty="0">
                <a:latin typeface="Abadi" panose="020B0604020104020204" pitchFamily="34" charset="0"/>
              </a:rPr>
              <a:t>from </a:t>
            </a:r>
            <a:r>
              <a:rPr lang="en-US" sz="2400" dirty="0" err="1">
                <a:latin typeface="Abadi" panose="020B0604020104020204" pitchFamily="34" charset="0"/>
              </a:rPr>
              <a:t>langchain_openai.chat_models</a:t>
            </a:r>
            <a:r>
              <a:rPr lang="en-US" sz="2400" dirty="0">
                <a:latin typeface="Abadi" panose="020B0604020104020204" pitchFamily="34" charset="0"/>
              </a:rPr>
              <a:t> import </a:t>
            </a:r>
            <a:r>
              <a:rPr lang="en-US" sz="2400" dirty="0" err="1">
                <a:latin typeface="Abadi" panose="020B0604020104020204" pitchFamily="34" charset="0"/>
              </a:rPr>
              <a:t>ChatOpenAI</a:t>
            </a:r>
            <a:endParaRPr lang="en-US" sz="2400" dirty="0">
              <a:latin typeface="Abadi" panose="020B0604020104020204" pitchFamily="34" charset="0"/>
            </a:endParaRPr>
          </a:p>
          <a:p>
            <a:pPr marL="0" indent="0" fontAlgn="base">
              <a:buNone/>
            </a:pPr>
            <a:r>
              <a:rPr lang="en-US" sz="2400" dirty="0">
                <a:latin typeface="Abadi" panose="020B0604020104020204" pitchFamily="34" charset="0"/>
              </a:rPr>
              <a:t>from </a:t>
            </a:r>
            <a:r>
              <a:rPr lang="en-US" sz="2400" dirty="0" err="1">
                <a:latin typeface="Abadi" panose="020B0604020104020204" pitchFamily="34" charset="0"/>
              </a:rPr>
              <a:t>langchain_core.messages</a:t>
            </a:r>
            <a:r>
              <a:rPr lang="en-US" sz="2400" dirty="0">
                <a:latin typeface="Abadi" panose="020B0604020104020204" pitchFamily="34" charset="0"/>
              </a:rPr>
              <a:t> import </a:t>
            </a:r>
            <a:r>
              <a:rPr lang="en-US" sz="2400" dirty="0" err="1">
                <a:latin typeface="Abadi" panose="020B0604020104020204" pitchFamily="34" charset="0"/>
              </a:rPr>
              <a:t>HumanMessage</a:t>
            </a:r>
            <a:endParaRPr lang="en-US" sz="2400" dirty="0">
              <a:latin typeface="Abadi" panose="020B0604020104020204" pitchFamily="34" charset="0"/>
            </a:endParaRPr>
          </a:p>
          <a:p>
            <a:pPr fontAlgn="base"/>
            <a:endParaRPr lang="en-US" sz="2400" dirty="0">
              <a:latin typeface="Abadi" panose="020B0604020104020204" pitchFamily="34" charset="0"/>
            </a:endParaRPr>
          </a:p>
          <a:p>
            <a:pPr marL="0" indent="0" fontAlgn="base">
              <a:buNone/>
            </a:pPr>
            <a:r>
              <a:rPr lang="en-US" sz="2400" dirty="0">
                <a:latin typeface="Abadi" panose="020B0604020104020204" pitchFamily="34" charset="0"/>
              </a:rPr>
              <a:t>model = </a:t>
            </a:r>
            <a:r>
              <a:rPr lang="en-US" sz="2400" dirty="0" err="1">
                <a:latin typeface="Abadi" panose="020B0604020104020204" pitchFamily="34" charset="0"/>
              </a:rPr>
              <a:t>ChatOpenAI</a:t>
            </a:r>
            <a:r>
              <a:rPr lang="en-US" sz="2400" dirty="0">
                <a:latin typeface="Abadi" panose="020B0604020104020204" pitchFamily="34" charset="0"/>
              </a:rPr>
              <a:t>()</a:t>
            </a:r>
          </a:p>
          <a:p>
            <a:pPr marL="0" indent="0" fontAlgn="base">
              <a:buNone/>
            </a:pPr>
            <a:r>
              <a:rPr lang="en-US" sz="2400" dirty="0">
                <a:latin typeface="Abadi" panose="020B0604020104020204" pitchFamily="34" charset="0"/>
              </a:rPr>
              <a:t>prompt = [</a:t>
            </a:r>
            <a:r>
              <a:rPr lang="en-US" sz="2400" dirty="0" err="1">
                <a:latin typeface="Abadi" panose="020B0604020104020204" pitchFamily="34" charset="0"/>
              </a:rPr>
              <a:t>HumanMessage</a:t>
            </a:r>
            <a:r>
              <a:rPr lang="en-US" sz="2400" dirty="0">
                <a:latin typeface="Abadi" panose="020B0604020104020204" pitchFamily="34" charset="0"/>
              </a:rPr>
              <a:t>("What is the capital of France?")]</a:t>
            </a:r>
          </a:p>
          <a:p>
            <a:pPr fontAlgn="base"/>
            <a:endParaRPr lang="en-US" sz="2400" dirty="0">
              <a:latin typeface="Abadi" panose="020B0604020104020204" pitchFamily="34" charset="0"/>
            </a:endParaRPr>
          </a:p>
          <a:p>
            <a:pPr marL="0" indent="0" fontAlgn="base">
              <a:buNone/>
            </a:pPr>
            <a:r>
              <a:rPr lang="en-US" sz="2400" dirty="0" err="1">
                <a:latin typeface="Abadi" panose="020B0604020104020204" pitchFamily="34" charset="0"/>
              </a:rPr>
              <a:t>model.invoke</a:t>
            </a:r>
            <a:r>
              <a:rPr lang="en-US" sz="2400" dirty="0">
                <a:latin typeface="Abadi" panose="020B0604020104020204" pitchFamily="34" charset="0"/>
              </a:rPr>
              <a:t>(prompt)</a:t>
            </a:r>
          </a:p>
          <a:p>
            <a:endParaRPr lang="en-US" dirty="0"/>
          </a:p>
        </p:txBody>
      </p:sp>
      <p:sp>
        <p:nvSpPr>
          <p:cNvPr id="4" name="Slide Number Placeholder 3">
            <a:extLst>
              <a:ext uri="{FF2B5EF4-FFF2-40B4-BE49-F238E27FC236}">
                <a16:creationId xmlns:a16="http://schemas.microsoft.com/office/drawing/2014/main" id="{02B9188D-DE1D-B659-88BC-AF3DF3BF2C5C}"/>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2316786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45EB-7526-EA83-9D55-DBBF831B8ACA}"/>
              </a:ext>
            </a:extLst>
          </p:cNvPr>
          <p:cNvSpPr>
            <a:spLocks noGrp="1"/>
          </p:cNvSpPr>
          <p:nvPr>
            <p:ph type="title"/>
          </p:nvPr>
        </p:nvSpPr>
        <p:spPr/>
        <p:txBody>
          <a:bodyPr/>
          <a:lstStyle/>
          <a:p>
            <a:r>
              <a:rPr lang="en-US" dirty="0"/>
              <a:t>Types of Messages</a:t>
            </a:r>
          </a:p>
        </p:txBody>
      </p:sp>
      <p:sp>
        <p:nvSpPr>
          <p:cNvPr id="3" name="Content Placeholder 2">
            <a:extLst>
              <a:ext uri="{FF2B5EF4-FFF2-40B4-BE49-F238E27FC236}">
                <a16:creationId xmlns:a16="http://schemas.microsoft.com/office/drawing/2014/main" id="{661E0EC0-790F-514C-56F8-9A7D6117F546}"/>
              </a:ext>
            </a:extLst>
          </p:cNvPr>
          <p:cNvSpPr>
            <a:spLocks noGrp="1"/>
          </p:cNvSpPr>
          <p:nvPr>
            <p:ph sz="quarter" idx="10"/>
          </p:nvPr>
        </p:nvSpPr>
        <p:spPr>
          <a:xfrm>
            <a:off x="176784" y="2039111"/>
            <a:ext cx="11698987" cy="4409313"/>
          </a:xfrm>
        </p:spPr>
        <p:txBody>
          <a:bodyPr>
            <a:normAutofit fontScale="92500" lnSpcReduction="20000"/>
          </a:bodyPr>
          <a:lstStyle/>
          <a:p>
            <a:pPr marL="0" indent="0" fontAlgn="base">
              <a:buNone/>
            </a:pPr>
            <a:r>
              <a:rPr lang="en-US" sz="2400" dirty="0">
                <a:latin typeface="Abadi" panose="020B0604020104020204" pitchFamily="34" charset="0"/>
              </a:rPr>
              <a:t>Instead of a single prompt string, chat models make use of different types of chat message interfaces associated with each role mentioned previously. These include the following:</a:t>
            </a:r>
          </a:p>
          <a:p>
            <a:pPr fontAlgn="base"/>
            <a:r>
              <a:rPr lang="en-US" sz="2400" i="1" dirty="0" err="1">
                <a:latin typeface="Abadi" panose="020B0604020104020204" pitchFamily="34" charset="0"/>
              </a:rPr>
              <a:t>HumanMessage</a:t>
            </a:r>
            <a:endParaRPr lang="en-US" sz="2400" i="1" dirty="0">
              <a:latin typeface="Abadi" panose="020B0604020104020204" pitchFamily="34" charset="0"/>
            </a:endParaRPr>
          </a:p>
          <a:p>
            <a:pPr marL="0" indent="0" fontAlgn="base">
              <a:buNone/>
            </a:pPr>
            <a:r>
              <a:rPr lang="en-US" sz="2400" dirty="0">
                <a:latin typeface="Abadi" panose="020B0604020104020204" pitchFamily="34" charset="0"/>
              </a:rPr>
              <a:t>A message sent from the perspective of the human, with the user role</a:t>
            </a:r>
          </a:p>
          <a:p>
            <a:pPr fontAlgn="base"/>
            <a:r>
              <a:rPr lang="en-US" sz="2400" i="1" dirty="0" err="1">
                <a:latin typeface="Abadi" panose="020B0604020104020204" pitchFamily="34" charset="0"/>
              </a:rPr>
              <a:t>AIMessage</a:t>
            </a:r>
            <a:endParaRPr lang="en-US" sz="2400" i="1" dirty="0">
              <a:latin typeface="Abadi" panose="020B0604020104020204" pitchFamily="34" charset="0"/>
            </a:endParaRPr>
          </a:p>
          <a:p>
            <a:pPr marL="0" indent="0" fontAlgn="base">
              <a:buNone/>
            </a:pPr>
            <a:r>
              <a:rPr lang="en-US" sz="2400" dirty="0">
                <a:latin typeface="Abadi" panose="020B0604020104020204" pitchFamily="34" charset="0"/>
              </a:rPr>
              <a:t>A message sent from the perspective of the AI that the human is interacting with, with the assistant role</a:t>
            </a:r>
          </a:p>
          <a:p>
            <a:pPr fontAlgn="base"/>
            <a:r>
              <a:rPr lang="en-US" sz="2400" i="1" dirty="0" err="1">
                <a:latin typeface="Abadi" panose="020B0604020104020204" pitchFamily="34" charset="0"/>
              </a:rPr>
              <a:t>SystemMessage</a:t>
            </a:r>
            <a:endParaRPr lang="en-US" sz="2400" i="1" dirty="0">
              <a:latin typeface="Abadi" panose="020B0604020104020204" pitchFamily="34" charset="0"/>
            </a:endParaRPr>
          </a:p>
          <a:p>
            <a:pPr marL="0" indent="0" fontAlgn="base">
              <a:buNone/>
            </a:pPr>
            <a:r>
              <a:rPr lang="en-US" sz="2400" dirty="0">
                <a:latin typeface="Abadi" panose="020B0604020104020204" pitchFamily="34" charset="0"/>
              </a:rPr>
              <a:t>A message setting the instructions the AI should follow, with the system role</a:t>
            </a:r>
          </a:p>
          <a:p>
            <a:pPr fontAlgn="base"/>
            <a:r>
              <a:rPr lang="en-US" sz="2400" i="1" dirty="0" err="1">
                <a:latin typeface="Abadi" panose="020B0604020104020204" pitchFamily="34" charset="0"/>
              </a:rPr>
              <a:t>ChatMessage</a:t>
            </a:r>
            <a:endParaRPr lang="en-US" sz="2400" i="1" dirty="0">
              <a:latin typeface="Abadi" panose="020B0604020104020204" pitchFamily="34" charset="0"/>
            </a:endParaRPr>
          </a:p>
          <a:p>
            <a:pPr marL="0" indent="0" fontAlgn="base">
              <a:buNone/>
            </a:pPr>
            <a:r>
              <a:rPr lang="en-US" sz="2400" dirty="0">
                <a:latin typeface="Abadi" panose="020B0604020104020204" pitchFamily="34" charset="0"/>
              </a:rPr>
              <a:t>A message allowing for arbitrary setting of role</a:t>
            </a:r>
          </a:p>
          <a:p>
            <a:pPr fontAlgn="base"/>
            <a:r>
              <a:rPr lang="en-US" sz="2400" dirty="0">
                <a:latin typeface="Abadi" panose="020B0604020104020204" pitchFamily="34" charset="0"/>
              </a:rPr>
              <a:t>Let’s incorporate a </a:t>
            </a:r>
            <a:r>
              <a:rPr lang="en-US" sz="2400" dirty="0" err="1">
                <a:latin typeface="Abadi" panose="020B0604020104020204" pitchFamily="34" charset="0"/>
              </a:rPr>
              <a:t>SystemMessage</a:t>
            </a:r>
            <a:r>
              <a:rPr lang="en-US" sz="2400" dirty="0">
                <a:latin typeface="Abadi" panose="020B0604020104020204" pitchFamily="34" charset="0"/>
              </a:rPr>
              <a:t> instruction in our example:</a:t>
            </a:r>
          </a:p>
          <a:p>
            <a:pPr marL="0" indent="0">
              <a:buNone/>
            </a:pPr>
            <a:endParaRPr lang="en-US" dirty="0"/>
          </a:p>
        </p:txBody>
      </p:sp>
      <p:sp>
        <p:nvSpPr>
          <p:cNvPr id="4" name="Slide Number Placeholder 3">
            <a:extLst>
              <a:ext uri="{FF2B5EF4-FFF2-40B4-BE49-F238E27FC236}">
                <a16:creationId xmlns:a16="http://schemas.microsoft.com/office/drawing/2014/main" id="{B361E40A-AA46-38D4-7A7F-A9981E632465}"/>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890596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4068-94C3-8F00-77FB-0CB9AA1E3FBC}"/>
              </a:ext>
            </a:extLst>
          </p:cNvPr>
          <p:cNvSpPr>
            <a:spLocks noGrp="1"/>
          </p:cNvSpPr>
          <p:nvPr>
            <p:ph type="title"/>
          </p:nvPr>
        </p:nvSpPr>
        <p:spPr/>
        <p:txBody>
          <a:bodyPr/>
          <a:lstStyle/>
          <a:p>
            <a:r>
              <a:rPr lang="en-US" dirty="0"/>
              <a:t>Simple Example</a:t>
            </a:r>
          </a:p>
        </p:txBody>
      </p:sp>
      <p:sp>
        <p:nvSpPr>
          <p:cNvPr id="3" name="Content Placeholder 2">
            <a:extLst>
              <a:ext uri="{FF2B5EF4-FFF2-40B4-BE49-F238E27FC236}">
                <a16:creationId xmlns:a16="http://schemas.microsoft.com/office/drawing/2014/main" id="{986F9412-3AC7-9816-F2AD-296A6A10F4C2}"/>
              </a:ext>
            </a:extLst>
          </p:cNvPr>
          <p:cNvSpPr>
            <a:spLocks noGrp="1"/>
          </p:cNvSpPr>
          <p:nvPr>
            <p:ph sz="quarter" idx="10"/>
          </p:nvPr>
        </p:nvSpPr>
        <p:spPr>
          <a:xfrm>
            <a:off x="914400" y="2039112"/>
            <a:ext cx="11100816" cy="4609338"/>
          </a:xfrm>
        </p:spPr>
        <p:txBody>
          <a:bodyPr>
            <a:noAutofit/>
          </a:bodyPr>
          <a:lstStyle/>
          <a:p>
            <a:pPr marL="0" indent="0" fontAlgn="base">
              <a:buNone/>
            </a:pPr>
            <a:r>
              <a:rPr lang="en-US" sz="2400" dirty="0">
                <a:latin typeface="Abadi" panose="020B0604020104020204" pitchFamily="34" charset="0"/>
              </a:rPr>
              <a:t>from </a:t>
            </a:r>
            <a:r>
              <a:rPr lang="en-US" sz="2400" dirty="0" err="1">
                <a:latin typeface="Abadi" panose="020B0604020104020204" pitchFamily="34" charset="0"/>
              </a:rPr>
              <a:t>langchain_core.messages</a:t>
            </a:r>
            <a:r>
              <a:rPr lang="en-US" sz="2400" dirty="0">
                <a:latin typeface="Abadi" panose="020B0604020104020204" pitchFamily="34" charset="0"/>
              </a:rPr>
              <a:t> import </a:t>
            </a:r>
            <a:r>
              <a:rPr lang="en-US" sz="2400" dirty="0" err="1">
                <a:latin typeface="Abadi" panose="020B0604020104020204" pitchFamily="34" charset="0"/>
              </a:rPr>
              <a:t>HumanMessage</a:t>
            </a:r>
            <a:r>
              <a:rPr lang="en-US" sz="2400" dirty="0">
                <a:latin typeface="Abadi" panose="020B0604020104020204" pitchFamily="34" charset="0"/>
              </a:rPr>
              <a:t>, </a:t>
            </a:r>
            <a:r>
              <a:rPr lang="en-US" sz="2400" dirty="0" err="1">
                <a:latin typeface="Abadi" panose="020B0604020104020204" pitchFamily="34" charset="0"/>
              </a:rPr>
              <a:t>SystemMessage</a:t>
            </a:r>
            <a:endParaRPr lang="en-US" sz="2400" dirty="0">
              <a:latin typeface="Abadi" panose="020B0604020104020204" pitchFamily="34" charset="0"/>
            </a:endParaRPr>
          </a:p>
          <a:p>
            <a:pPr marL="0" indent="0" fontAlgn="base">
              <a:buNone/>
            </a:pPr>
            <a:r>
              <a:rPr lang="en-US" sz="2400" dirty="0">
                <a:latin typeface="Abadi" panose="020B0604020104020204" pitchFamily="34" charset="0"/>
              </a:rPr>
              <a:t>from </a:t>
            </a:r>
            <a:r>
              <a:rPr lang="en-US" sz="2400" dirty="0" err="1">
                <a:latin typeface="Abadi" panose="020B0604020104020204" pitchFamily="34" charset="0"/>
              </a:rPr>
              <a:t>langchain_openai.chat_models</a:t>
            </a:r>
            <a:r>
              <a:rPr lang="en-US" sz="2400" dirty="0">
                <a:latin typeface="Abadi" panose="020B0604020104020204" pitchFamily="34" charset="0"/>
              </a:rPr>
              <a:t> import </a:t>
            </a:r>
            <a:r>
              <a:rPr lang="en-US" sz="2400" dirty="0" err="1">
                <a:latin typeface="Abadi" panose="020B0604020104020204" pitchFamily="34" charset="0"/>
              </a:rPr>
              <a:t>ChatOpenAI</a:t>
            </a:r>
            <a:endParaRPr lang="en-US" sz="2400" dirty="0">
              <a:latin typeface="Abadi" panose="020B0604020104020204" pitchFamily="34" charset="0"/>
            </a:endParaRPr>
          </a:p>
          <a:p>
            <a:pPr marL="0" indent="0" fontAlgn="base">
              <a:buNone/>
            </a:pPr>
            <a:endParaRPr lang="en-US" sz="2400" dirty="0">
              <a:latin typeface="Abadi" panose="020B0604020104020204" pitchFamily="34" charset="0"/>
            </a:endParaRPr>
          </a:p>
          <a:p>
            <a:pPr marL="0" indent="0" fontAlgn="base">
              <a:buNone/>
            </a:pPr>
            <a:r>
              <a:rPr lang="en-US" sz="2400" dirty="0">
                <a:latin typeface="Abadi" panose="020B0604020104020204" pitchFamily="34" charset="0"/>
              </a:rPr>
              <a:t>model = </a:t>
            </a:r>
            <a:r>
              <a:rPr lang="en-US" sz="2400" dirty="0" err="1">
                <a:latin typeface="Abadi" panose="020B0604020104020204" pitchFamily="34" charset="0"/>
              </a:rPr>
              <a:t>ChatOpenAI</a:t>
            </a:r>
            <a:r>
              <a:rPr lang="en-US" sz="2400" dirty="0">
                <a:latin typeface="Abadi" panose="020B0604020104020204" pitchFamily="34" charset="0"/>
              </a:rPr>
              <a:t>()</a:t>
            </a:r>
          </a:p>
          <a:p>
            <a:pPr marL="0" indent="0" fontAlgn="base">
              <a:buNone/>
            </a:pPr>
            <a:r>
              <a:rPr lang="en-US" sz="2400" dirty="0" err="1">
                <a:latin typeface="Abadi" panose="020B0604020104020204" pitchFamily="34" charset="0"/>
              </a:rPr>
              <a:t>system_msg</a:t>
            </a:r>
            <a:r>
              <a:rPr lang="en-US" sz="2400" dirty="0">
                <a:latin typeface="Abadi" panose="020B0604020104020204" pitchFamily="34" charset="0"/>
              </a:rPr>
              <a:t> = </a:t>
            </a:r>
            <a:r>
              <a:rPr lang="en-US" sz="2400" dirty="0" err="1">
                <a:latin typeface="Abadi" panose="020B0604020104020204" pitchFamily="34" charset="0"/>
              </a:rPr>
              <a:t>SystemMessage</a:t>
            </a:r>
            <a:r>
              <a:rPr lang="en-US" sz="2400" dirty="0">
                <a:latin typeface="Abadi" panose="020B0604020104020204" pitchFamily="34" charset="0"/>
              </a:rPr>
              <a:t>(</a:t>
            </a:r>
          </a:p>
          <a:p>
            <a:pPr marL="0" indent="0" fontAlgn="base">
              <a:buNone/>
            </a:pPr>
            <a:r>
              <a:rPr lang="en-US" sz="2400" dirty="0">
                <a:latin typeface="Abadi" panose="020B0604020104020204" pitchFamily="34" charset="0"/>
              </a:rPr>
              <a:t>    '''You are a helpful assistant that responds to questions with three </a:t>
            </a:r>
          </a:p>
          <a:p>
            <a:pPr marL="0" indent="0" fontAlgn="base">
              <a:buNone/>
            </a:pPr>
            <a:r>
              <a:rPr lang="en-US" sz="2400" dirty="0">
                <a:latin typeface="Abadi" panose="020B0604020104020204" pitchFamily="34" charset="0"/>
              </a:rPr>
              <a:t>        exclamation marks.'''</a:t>
            </a:r>
          </a:p>
          <a:p>
            <a:pPr marL="0" indent="0" fontAlgn="base">
              <a:buNone/>
            </a:pPr>
            <a:r>
              <a:rPr lang="en-US" sz="2400" dirty="0">
                <a:latin typeface="Abadi" panose="020B0604020104020204" pitchFamily="34" charset="0"/>
              </a:rPr>
              <a:t>)</a:t>
            </a:r>
          </a:p>
          <a:p>
            <a:pPr marL="0" indent="0" fontAlgn="base">
              <a:buNone/>
            </a:pPr>
            <a:r>
              <a:rPr lang="en-US" sz="2400" dirty="0" err="1">
                <a:latin typeface="Abadi" panose="020B0604020104020204" pitchFamily="34" charset="0"/>
              </a:rPr>
              <a:t>human_msg</a:t>
            </a:r>
            <a:r>
              <a:rPr lang="en-US" sz="2400" dirty="0">
                <a:latin typeface="Abadi" panose="020B0604020104020204" pitchFamily="34" charset="0"/>
              </a:rPr>
              <a:t> = </a:t>
            </a:r>
            <a:r>
              <a:rPr lang="en-US" sz="2400" dirty="0" err="1">
                <a:latin typeface="Abadi" panose="020B0604020104020204" pitchFamily="34" charset="0"/>
              </a:rPr>
              <a:t>HumanMessage</a:t>
            </a:r>
            <a:r>
              <a:rPr lang="en-US" sz="2400" dirty="0">
                <a:latin typeface="Abadi" panose="020B0604020104020204" pitchFamily="34" charset="0"/>
              </a:rPr>
              <a:t>('What is the capital of France?')</a:t>
            </a:r>
          </a:p>
          <a:p>
            <a:pPr marL="0" indent="0">
              <a:buNone/>
            </a:pPr>
            <a:br>
              <a:rPr lang="en-US" sz="2400" dirty="0"/>
            </a:br>
            <a:endParaRPr lang="en-US" sz="2400" dirty="0"/>
          </a:p>
        </p:txBody>
      </p:sp>
      <p:sp>
        <p:nvSpPr>
          <p:cNvPr id="4" name="Slide Number Placeholder 3">
            <a:extLst>
              <a:ext uri="{FF2B5EF4-FFF2-40B4-BE49-F238E27FC236}">
                <a16:creationId xmlns:a16="http://schemas.microsoft.com/office/drawing/2014/main" id="{8AC49588-2573-88A3-A340-7D8796A76124}"/>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61314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89A8E-F951-A404-1118-0BEC54616636}"/>
              </a:ext>
            </a:extLst>
          </p:cNvPr>
          <p:cNvSpPr>
            <a:spLocks noGrp="1"/>
          </p:cNvSpPr>
          <p:nvPr>
            <p:ph type="title"/>
          </p:nvPr>
        </p:nvSpPr>
        <p:spPr>
          <a:xfrm>
            <a:off x="809625" y="76200"/>
            <a:ext cx="7534656" cy="523875"/>
          </a:xfrm>
        </p:spPr>
        <p:txBody>
          <a:bodyPr/>
          <a:lstStyle/>
          <a:p>
            <a:r>
              <a:rPr lang="en-US" dirty="0"/>
              <a:t>Prompts</a:t>
            </a:r>
          </a:p>
        </p:txBody>
      </p:sp>
      <p:sp>
        <p:nvSpPr>
          <p:cNvPr id="3" name="Content Placeholder 2">
            <a:extLst>
              <a:ext uri="{FF2B5EF4-FFF2-40B4-BE49-F238E27FC236}">
                <a16:creationId xmlns:a16="http://schemas.microsoft.com/office/drawing/2014/main" id="{FF26A1C7-2CC8-FBBA-80DE-0D89F0956EE0}"/>
              </a:ext>
            </a:extLst>
          </p:cNvPr>
          <p:cNvSpPr>
            <a:spLocks noGrp="1"/>
          </p:cNvSpPr>
          <p:nvPr>
            <p:ph sz="quarter" idx="10"/>
          </p:nvPr>
        </p:nvSpPr>
        <p:spPr>
          <a:xfrm>
            <a:off x="666750" y="704850"/>
            <a:ext cx="11266170" cy="5924550"/>
          </a:xfrm>
        </p:spPr>
        <p:txBody>
          <a:bodyPr>
            <a:normAutofit fontScale="92500" lnSpcReduction="20000"/>
          </a:bodyPr>
          <a:lstStyle/>
          <a:p>
            <a:pPr marL="0" indent="0" fontAlgn="base">
              <a:buNone/>
            </a:pPr>
            <a:r>
              <a:rPr lang="en-US" dirty="0">
                <a:latin typeface="Abadi" panose="020B0604020104020204" pitchFamily="34" charset="0"/>
              </a:rPr>
              <a:t>from </a:t>
            </a:r>
            <a:r>
              <a:rPr lang="en-US" dirty="0" err="1">
                <a:latin typeface="Abadi" panose="020B0604020104020204" pitchFamily="34" charset="0"/>
              </a:rPr>
              <a:t>langchain_core.prompts</a:t>
            </a:r>
            <a:r>
              <a:rPr lang="en-US" dirty="0">
                <a:latin typeface="Abadi" panose="020B0604020104020204" pitchFamily="34" charset="0"/>
              </a:rPr>
              <a:t> import </a:t>
            </a:r>
            <a:r>
              <a:rPr lang="en-US" dirty="0" err="1">
                <a:latin typeface="Abadi" panose="020B0604020104020204" pitchFamily="34" charset="0"/>
              </a:rPr>
              <a:t>PromptTemplate</a:t>
            </a:r>
            <a:endParaRPr lang="en-US" dirty="0">
              <a:latin typeface="Abadi" panose="020B0604020104020204" pitchFamily="34" charset="0"/>
            </a:endParaRPr>
          </a:p>
          <a:p>
            <a:pPr marL="0" indent="0" fontAlgn="base">
              <a:buNone/>
            </a:pPr>
            <a:r>
              <a:rPr lang="en-US" dirty="0">
                <a:latin typeface="Abadi" panose="020B0604020104020204" pitchFamily="34" charset="0"/>
              </a:rPr>
              <a:t>template = </a:t>
            </a:r>
            <a:r>
              <a:rPr lang="en-US" dirty="0" err="1">
                <a:latin typeface="Abadi" panose="020B0604020104020204" pitchFamily="34" charset="0"/>
              </a:rPr>
              <a:t>PromptTemplate.from_template</a:t>
            </a:r>
            <a:r>
              <a:rPr lang="en-US" dirty="0">
                <a:latin typeface="Abadi" panose="020B0604020104020204" pitchFamily="34" charset="0"/>
              </a:rPr>
              <a:t>("""Answer the question based on the</a:t>
            </a:r>
          </a:p>
          <a:p>
            <a:pPr marL="0" indent="0" fontAlgn="base">
              <a:buNone/>
            </a:pPr>
            <a:r>
              <a:rPr lang="en-US" dirty="0">
                <a:latin typeface="Abadi" panose="020B0604020104020204" pitchFamily="34" charset="0"/>
              </a:rPr>
              <a:t>    context below. If the question cannot be answered using the information     provided, answer with "I don't know".</a:t>
            </a:r>
          </a:p>
          <a:p>
            <a:pPr marL="0" indent="0" fontAlgn="base">
              <a:buNone/>
            </a:pPr>
            <a:endParaRPr lang="en-US" dirty="0">
              <a:latin typeface="Abadi" panose="020B0604020104020204" pitchFamily="34" charset="0"/>
            </a:endParaRPr>
          </a:p>
          <a:p>
            <a:pPr marL="0" indent="0" fontAlgn="base">
              <a:buNone/>
            </a:pPr>
            <a:r>
              <a:rPr lang="en-US" dirty="0">
                <a:latin typeface="Abadi" panose="020B0604020104020204" pitchFamily="34" charset="0"/>
              </a:rPr>
              <a:t>Context: {context}</a:t>
            </a:r>
          </a:p>
          <a:p>
            <a:pPr marL="0" indent="0" fontAlgn="base">
              <a:buNone/>
            </a:pPr>
            <a:r>
              <a:rPr lang="en-US" dirty="0">
                <a:latin typeface="Abadi" panose="020B0604020104020204" pitchFamily="34" charset="0"/>
              </a:rPr>
              <a:t>Question: {question}</a:t>
            </a:r>
          </a:p>
          <a:p>
            <a:pPr marL="0" indent="0" fontAlgn="base">
              <a:buNone/>
            </a:pPr>
            <a:r>
              <a:rPr lang="en-US" dirty="0">
                <a:latin typeface="Abadi" panose="020B0604020104020204" pitchFamily="34" charset="0"/>
              </a:rPr>
              <a:t>Answer: """)</a:t>
            </a:r>
          </a:p>
          <a:p>
            <a:pPr marL="0" indent="0" fontAlgn="base">
              <a:buNone/>
            </a:pPr>
            <a:r>
              <a:rPr lang="en-US" dirty="0" err="1">
                <a:latin typeface="Abadi" panose="020B0604020104020204" pitchFamily="34" charset="0"/>
              </a:rPr>
              <a:t>template.invoke</a:t>
            </a:r>
            <a:r>
              <a:rPr lang="en-US" dirty="0">
                <a:latin typeface="Abadi" panose="020B0604020104020204" pitchFamily="34" charset="0"/>
              </a:rPr>
              <a:t>({</a:t>
            </a:r>
          </a:p>
          <a:p>
            <a:pPr marL="0" indent="0" fontAlgn="base">
              <a:buNone/>
            </a:pPr>
            <a:r>
              <a:rPr lang="en-US" dirty="0">
                <a:latin typeface="Abadi" panose="020B0604020104020204" pitchFamily="34" charset="0"/>
              </a:rPr>
              <a:t>    "context": """The most recent advancements in NLP are being driven by Large </a:t>
            </a:r>
          </a:p>
          <a:p>
            <a:pPr marL="0" indent="0" fontAlgn="base">
              <a:buNone/>
            </a:pPr>
            <a:r>
              <a:rPr lang="en-US" dirty="0">
                <a:latin typeface="Abadi" panose="020B0604020104020204" pitchFamily="34" charset="0"/>
              </a:rPr>
              <a:t>        Language Models (LLMs). These models outperform their smaller </a:t>
            </a:r>
          </a:p>
          <a:p>
            <a:pPr marL="0" indent="0" fontAlgn="base">
              <a:buNone/>
            </a:pPr>
            <a:r>
              <a:rPr lang="en-US" dirty="0">
                <a:latin typeface="Abadi" panose="020B0604020104020204" pitchFamily="34" charset="0"/>
              </a:rPr>
              <a:t>        counterparts and have become invaluable for developers who are creating </a:t>
            </a:r>
          </a:p>
          <a:p>
            <a:pPr marL="0" indent="0" fontAlgn="base">
              <a:buNone/>
            </a:pPr>
            <a:r>
              <a:rPr lang="en-US" dirty="0">
                <a:latin typeface="Abadi" panose="020B0604020104020204" pitchFamily="34" charset="0"/>
              </a:rPr>
              <a:t>        applications with NLP capabilities. Developers can tap into these </a:t>
            </a:r>
          </a:p>
          <a:p>
            <a:pPr marL="0" indent="0" fontAlgn="base">
              <a:buNone/>
            </a:pPr>
            <a:r>
              <a:rPr lang="en-US" dirty="0">
                <a:latin typeface="Abadi" panose="020B0604020104020204" pitchFamily="34" charset="0"/>
              </a:rPr>
              <a:t>        models through Hugging Face's `transformers` library, or by utilizing </a:t>
            </a:r>
          </a:p>
          <a:p>
            <a:pPr marL="0" indent="0" fontAlgn="base">
              <a:buNone/>
            </a:pPr>
            <a:r>
              <a:rPr lang="en-US" dirty="0">
                <a:latin typeface="Abadi" panose="020B0604020104020204" pitchFamily="34" charset="0"/>
              </a:rPr>
              <a:t>        OpenAI and </a:t>
            </a:r>
            <a:r>
              <a:rPr lang="en-US" dirty="0" err="1">
                <a:latin typeface="Abadi" panose="020B0604020104020204" pitchFamily="34" charset="0"/>
              </a:rPr>
              <a:t>Cohere's</a:t>
            </a:r>
            <a:r>
              <a:rPr lang="en-US" dirty="0">
                <a:latin typeface="Abadi" panose="020B0604020104020204" pitchFamily="34" charset="0"/>
              </a:rPr>
              <a:t> offerings through the `</a:t>
            </a:r>
            <a:r>
              <a:rPr lang="en-US" dirty="0" err="1">
                <a:latin typeface="Abadi" panose="020B0604020104020204" pitchFamily="34" charset="0"/>
              </a:rPr>
              <a:t>openai</a:t>
            </a:r>
            <a:r>
              <a:rPr lang="en-US" dirty="0">
                <a:latin typeface="Abadi" panose="020B0604020104020204" pitchFamily="34" charset="0"/>
              </a:rPr>
              <a:t>` and `cohere` </a:t>
            </a:r>
          </a:p>
          <a:p>
            <a:pPr marL="0" indent="0" fontAlgn="base">
              <a:buNone/>
            </a:pPr>
            <a:r>
              <a:rPr lang="en-US" dirty="0">
                <a:latin typeface="Abadi" panose="020B0604020104020204" pitchFamily="34" charset="0"/>
              </a:rPr>
              <a:t>        libraries, respectively.""",</a:t>
            </a:r>
          </a:p>
          <a:p>
            <a:pPr marL="0" indent="0" fontAlgn="base">
              <a:buNone/>
            </a:pPr>
            <a:r>
              <a:rPr lang="en-US" dirty="0">
                <a:latin typeface="Abadi" panose="020B0604020104020204" pitchFamily="34" charset="0"/>
              </a:rPr>
              <a:t>    "question": "Which model providers offer LLMs?"</a:t>
            </a:r>
          </a:p>
          <a:p>
            <a:pPr marL="0" indent="0" fontAlgn="base">
              <a:buNone/>
            </a:pPr>
            <a:r>
              <a:rPr lang="en-US" dirty="0">
                <a:latin typeface="Abadi" panose="020B0604020104020204" pitchFamily="34" charset="0"/>
              </a:rPr>
              <a:t>})</a:t>
            </a:r>
          </a:p>
          <a:p>
            <a:pPr marL="0" indent="0">
              <a:buNone/>
            </a:pPr>
            <a:endParaRPr lang="en-US" dirty="0"/>
          </a:p>
        </p:txBody>
      </p:sp>
      <p:sp>
        <p:nvSpPr>
          <p:cNvPr id="4" name="Slide Number Placeholder 3">
            <a:extLst>
              <a:ext uri="{FF2B5EF4-FFF2-40B4-BE49-F238E27FC236}">
                <a16:creationId xmlns:a16="http://schemas.microsoft.com/office/drawing/2014/main" id="{62F72F06-1EAC-CF17-B43B-0DB93E8510FD}"/>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1800570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AFF62-85D9-2388-B41B-ACF1016D01CA}"/>
              </a:ext>
            </a:extLst>
          </p:cNvPr>
          <p:cNvSpPr>
            <a:spLocks noGrp="1"/>
          </p:cNvSpPr>
          <p:nvPr>
            <p:ph type="title"/>
          </p:nvPr>
        </p:nvSpPr>
        <p:spPr/>
        <p:txBody>
          <a:bodyPr/>
          <a:lstStyle/>
          <a:p>
            <a:r>
              <a:rPr lang="en-US" dirty="0"/>
              <a:t>Building a Chat Application?</a:t>
            </a:r>
          </a:p>
        </p:txBody>
      </p:sp>
      <p:sp>
        <p:nvSpPr>
          <p:cNvPr id="3" name="Content Placeholder 2">
            <a:extLst>
              <a:ext uri="{FF2B5EF4-FFF2-40B4-BE49-F238E27FC236}">
                <a16:creationId xmlns:a16="http://schemas.microsoft.com/office/drawing/2014/main" id="{44C23241-7DD6-321D-D8C4-48467B44C161}"/>
              </a:ext>
            </a:extLst>
          </p:cNvPr>
          <p:cNvSpPr>
            <a:spLocks noGrp="1"/>
          </p:cNvSpPr>
          <p:nvPr>
            <p:ph sz="quarter" idx="10"/>
          </p:nvPr>
        </p:nvSpPr>
        <p:spPr>
          <a:xfrm>
            <a:off x="914400" y="2039112"/>
            <a:ext cx="8995410" cy="3356576"/>
          </a:xfrm>
        </p:spPr>
        <p:txBody>
          <a:bodyPr>
            <a:normAutofit/>
          </a:bodyPr>
          <a:lstStyle/>
          <a:p>
            <a:r>
              <a:rPr lang="en-US" sz="2400" dirty="0">
                <a:latin typeface="Abadi" panose="020B0604020104020204" pitchFamily="34" charset="0"/>
              </a:rPr>
              <a:t>If you’re looking to build an AI chat application, the </a:t>
            </a:r>
            <a:r>
              <a:rPr lang="en-US" sz="2400" dirty="0" err="1">
                <a:latin typeface="Abadi" panose="020B0604020104020204" pitchFamily="34" charset="0"/>
              </a:rPr>
              <a:t>ChatPromptTemplate</a:t>
            </a:r>
            <a:r>
              <a:rPr lang="en-US" sz="2400" dirty="0">
                <a:latin typeface="Abadi" panose="020B0604020104020204" pitchFamily="34" charset="0"/>
              </a:rPr>
              <a:t> can be used instead to provide dynamic inputs based on the role of the chat message:</a:t>
            </a:r>
          </a:p>
        </p:txBody>
      </p:sp>
      <p:sp>
        <p:nvSpPr>
          <p:cNvPr id="4" name="Slide Number Placeholder 3">
            <a:extLst>
              <a:ext uri="{FF2B5EF4-FFF2-40B4-BE49-F238E27FC236}">
                <a16:creationId xmlns:a16="http://schemas.microsoft.com/office/drawing/2014/main" id="{FDB194CF-8305-F7D0-230E-B533ABC53FD4}"/>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803677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3E0F3-93EE-8315-CD24-E63BE5837407}"/>
              </a:ext>
            </a:extLst>
          </p:cNvPr>
          <p:cNvSpPr>
            <a:spLocks noGrp="1"/>
          </p:cNvSpPr>
          <p:nvPr>
            <p:ph type="title"/>
          </p:nvPr>
        </p:nvSpPr>
        <p:spPr>
          <a:xfrm>
            <a:off x="790575" y="0"/>
            <a:ext cx="7534656" cy="914400"/>
          </a:xfrm>
        </p:spPr>
        <p:txBody>
          <a:bodyPr/>
          <a:lstStyle/>
          <a:p>
            <a:r>
              <a:rPr lang="en-US" dirty="0" err="1"/>
              <a:t>ChatPromptTemplate</a:t>
            </a:r>
            <a:endParaRPr lang="en-US" dirty="0"/>
          </a:p>
        </p:txBody>
      </p:sp>
      <p:sp>
        <p:nvSpPr>
          <p:cNvPr id="3" name="Content Placeholder 2">
            <a:extLst>
              <a:ext uri="{FF2B5EF4-FFF2-40B4-BE49-F238E27FC236}">
                <a16:creationId xmlns:a16="http://schemas.microsoft.com/office/drawing/2014/main" id="{1FB25184-597B-679A-AB28-CD169471CBF6}"/>
              </a:ext>
            </a:extLst>
          </p:cNvPr>
          <p:cNvSpPr>
            <a:spLocks noGrp="1"/>
          </p:cNvSpPr>
          <p:nvPr>
            <p:ph sz="quarter" idx="10"/>
          </p:nvPr>
        </p:nvSpPr>
        <p:spPr>
          <a:xfrm>
            <a:off x="685800" y="1076325"/>
            <a:ext cx="10668000" cy="5781675"/>
          </a:xfrm>
        </p:spPr>
        <p:txBody>
          <a:bodyPr>
            <a:normAutofit fontScale="77500" lnSpcReduction="20000"/>
          </a:bodyPr>
          <a:lstStyle/>
          <a:p>
            <a:pPr marL="0" indent="0" fontAlgn="base">
              <a:buNone/>
            </a:pPr>
            <a:r>
              <a:rPr lang="en-US" dirty="0">
                <a:latin typeface="Abadi" panose="020B0604020104020204" pitchFamily="34" charset="0"/>
              </a:rPr>
              <a:t>from </a:t>
            </a:r>
            <a:r>
              <a:rPr lang="en-US" dirty="0" err="1">
                <a:latin typeface="Abadi" panose="020B0604020104020204" pitchFamily="34" charset="0"/>
              </a:rPr>
              <a:t>langchain_core.prompts</a:t>
            </a:r>
            <a:r>
              <a:rPr lang="en-US" dirty="0">
                <a:latin typeface="Abadi" panose="020B0604020104020204" pitchFamily="34" charset="0"/>
              </a:rPr>
              <a:t> import </a:t>
            </a:r>
            <a:r>
              <a:rPr lang="en-US" dirty="0" err="1">
                <a:latin typeface="Abadi" panose="020B0604020104020204" pitchFamily="34" charset="0"/>
              </a:rPr>
              <a:t>ChatPromptTemplate</a:t>
            </a:r>
            <a:endParaRPr lang="en-US" dirty="0">
              <a:latin typeface="Abadi" panose="020B0604020104020204" pitchFamily="34" charset="0"/>
            </a:endParaRPr>
          </a:p>
          <a:p>
            <a:pPr marL="0" indent="0" fontAlgn="base">
              <a:buNone/>
            </a:pPr>
            <a:r>
              <a:rPr lang="en-US" dirty="0">
                <a:latin typeface="Abadi" panose="020B0604020104020204" pitchFamily="34" charset="0"/>
              </a:rPr>
              <a:t>template = </a:t>
            </a:r>
            <a:r>
              <a:rPr lang="en-US" dirty="0" err="1">
                <a:latin typeface="Abadi" panose="020B0604020104020204" pitchFamily="34" charset="0"/>
              </a:rPr>
              <a:t>ChatPromptTemplate.from_messages</a:t>
            </a:r>
            <a:r>
              <a:rPr lang="en-US" dirty="0">
                <a:latin typeface="Abadi" panose="020B0604020104020204" pitchFamily="34" charset="0"/>
              </a:rPr>
              <a:t>([</a:t>
            </a:r>
          </a:p>
          <a:p>
            <a:pPr marL="0" indent="0" fontAlgn="base">
              <a:buNone/>
            </a:pPr>
            <a:r>
              <a:rPr lang="en-US" dirty="0">
                <a:latin typeface="Abadi" panose="020B0604020104020204" pitchFamily="34" charset="0"/>
              </a:rPr>
              <a:t>    ('system', '''Answer the question based on the context below. If the </a:t>
            </a:r>
          </a:p>
          <a:p>
            <a:pPr marL="0" indent="0" fontAlgn="base">
              <a:buNone/>
            </a:pPr>
            <a:r>
              <a:rPr lang="en-US" dirty="0">
                <a:latin typeface="Abadi" panose="020B0604020104020204" pitchFamily="34" charset="0"/>
              </a:rPr>
              <a:t>        question cannot be answered using the information provided, answer with </a:t>
            </a:r>
          </a:p>
          <a:p>
            <a:pPr marL="0" indent="0" fontAlgn="base">
              <a:buNone/>
            </a:pPr>
            <a:r>
              <a:rPr lang="en-US" dirty="0">
                <a:latin typeface="Abadi" panose="020B0604020104020204" pitchFamily="34" charset="0"/>
              </a:rPr>
              <a:t>        "I don\'t know".'''),</a:t>
            </a:r>
          </a:p>
          <a:p>
            <a:pPr marL="0" indent="0" fontAlgn="base">
              <a:buNone/>
            </a:pPr>
            <a:r>
              <a:rPr lang="en-US" dirty="0">
                <a:latin typeface="Abadi" panose="020B0604020104020204" pitchFamily="34" charset="0"/>
              </a:rPr>
              <a:t>    ('human', 'Context: {context}'),</a:t>
            </a:r>
          </a:p>
          <a:p>
            <a:pPr marL="0" indent="0" fontAlgn="base">
              <a:buNone/>
            </a:pPr>
            <a:r>
              <a:rPr lang="en-US" dirty="0">
                <a:latin typeface="Abadi" panose="020B0604020104020204" pitchFamily="34" charset="0"/>
              </a:rPr>
              <a:t>    ('human', 'Question: {question}'),</a:t>
            </a:r>
          </a:p>
          <a:p>
            <a:pPr marL="0" indent="0" fontAlgn="base">
              <a:buNone/>
            </a:pPr>
            <a:r>
              <a:rPr lang="en-US" dirty="0">
                <a:latin typeface="Abadi" panose="020B0604020104020204" pitchFamily="34" charset="0"/>
              </a:rPr>
              <a:t>])</a:t>
            </a:r>
          </a:p>
          <a:p>
            <a:pPr marL="0" indent="0" fontAlgn="base">
              <a:buNone/>
            </a:pPr>
            <a:endParaRPr lang="en-US" dirty="0">
              <a:latin typeface="Abadi" panose="020B0604020104020204" pitchFamily="34" charset="0"/>
            </a:endParaRPr>
          </a:p>
          <a:p>
            <a:pPr marL="0" indent="0" fontAlgn="base">
              <a:buNone/>
            </a:pPr>
            <a:r>
              <a:rPr lang="en-US" dirty="0" err="1">
                <a:latin typeface="Abadi" panose="020B0604020104020204" pitchFamily="34" charset="0"/>
              </a:rPr>
              <a:t>template.invoke</a:t>
            </a:r>
            <a:r>
              <a:rPr lang="en-US" dirty="0">
                <a:latin typeface="Abadi" panose="020B0604020104020204" pitchFamily="34" charset="0"/>
              </a:rPr>
              <a:t>({</a:t>
            </a:r>
          </a:p>
          <a:p>
            <a:pPr marL="0" indent="0" fontAlgn="base">
              <a:buNone/>
            </a:pPr>
            <a:r>
              <a:rPr lang="en-US" dirty="0">
                <a:latin typeface="Abadi" panose="020B0604020104020204" pitchFamily="34" charset="0"/>
              </a:rPr>
              <a:t>    "context": """The most recent advancements in NLP are being driven by Large </a:t>
            </a:r>
          </a:p>
          <a:p>
            <a:pPr marL="0" indent="0" fontAlgn="base">
              <a:buNone/>
            </a:pPr>
            <a:r>
              <a:rPr lang="en-US" dirty="0">
                <a:latin typeface="Abadi" panose="020B0604020104020204" pitchFamily="34" charset="0"/>
              </a:rPr>
              <a:t>        Language Models (LLMs). These models outperform their smaller </a:t>
            </a:r>
          </a:p>
          <a:p>
            <a:pPr marL="0" indent="0" fontAlgn="base">
              <a:buNone/>
            </a:pPr>
            <a:r>
              <a:rPr lang="en-US" dirty="0">
                <a:latin typeface="Abadi" panose="020B0604020104020204" pitchFamily="34" charset="0"/>
              </a:rPr>
              <a:t>        counterparts and have become invaluable for developers who are creating </a:t>
            </a:r>
          </a:p>
          <a:p>
            <a:pPr marL="0" indent="0" fontAlgn="base">
              <a:buNone/>
            </a:pPr>
            <a:r>
              <a:rPr lang="en-US" dirty="0">
                <a:latin typeface="Abadi" panose="020B0604020104020204" pitchFamily="34" charset="0"/>
              </a:rPr>
              <a:t>        applications with NLP capabilities. Developers can tap into these </a:t>
            </a:r>
          </a:p>
          <a:p>
            <a:pPr marL="0" indent="0" fontAlgn="base">
              <a:buNone/>
            </a:pPr>
            <a:r>
              <a:rPr lang="en-US" dirty="0">
                <a:latin typeface="Abadi" panose="020B0604020104020204" pitchFamily="34" charset="0"/>
              </a:rPr>
              <a:t>        models through Hugging Face's `transformers` library, or by utilizing </a:t>
            </a:r>
          </a:p>
          <a:p>
            <a:pPr marL="0" indent="0" fontAlgn="base">
              <a:buNone/>
            </a:pPr>
            <a:r>
              <a:rPr lang="en-US" dirty="0">
                <a:latin typeface="Abadi" panose="020B0604020104020204" pitchFamily="34" charset="0"/>
              </a:rPr>
              <a:t>        OpenAI and </a:t>
            </a:r>
            <a:r>
              <a:rPr lang="en-US" dirty="0" err="1">
                <a:latin typeface="Abadi" panose="020B0604020104020204" pitchFamily="34" charset="0"/>
              </a:rPr>
              <a:t>Cohere's</a:t>
            </a:r>
            <a:r>
              <a:rPr lang="en-US" dirty="0">
                <a:latin typeface="Abadi" panose="020B0604020104020204" pitchFamily="34" charset="0"/>
              </a:rPr>
              <a:t> offerings through the `</a:t>
            </a:r>
            <a:r>
              <a:rPr lang="en-US" dirty="0" err="1">
                <a:latin typeface="Abadi" panose="020B0604020104020204" pitchFamily="34" charset="0"/>
              </a:rPr>
              <a:t>openai</a:t>
            </a:r>
            <a:r>
              <a:rPr lang="en-US" dirty="0">
                <a:latin typeface="Abadi" panose="020B0604020104020204" pitchFamily="34" charset="0"/>
              </a:rPr>
              <a:t>` and `cohere` </a:t>
            </a:r>
          </a:p>
          <a:p>
            <a:pPr marL="0" indent="0" fontAlgn="base">
              <a:buNone/>
            </a:pPr>
            <a:r>
              <a:rPr lang="en-US" dirty="0">
                <a:latin typeface="Abadi" panose="020B0604020104020204" pitchFamily="34" charset="0"/>
              </a:rPr>
              <a:t>        libraries, respectively.""",</a:t>
            </a:r>
          </a:p>
          <a:p>
            <a:pPr marL="0" indent="0" fontAlgn="base">
              <a:buNone/>
            </a:pPr>
            <a:r>
              <a:rPr lang="en-US" dirty="0">
                <a:latin typeface="Abadi" panose="020B0604020104020204" pitchFamily="34" charset="0"/>
              </a:rPr>
              <a:t>    "question": "Which model providers offer LLMs?"</a:t>
            </a:r>
          </a:p>
          <a:p>
            <a:pPr marL="0" indent="0" fontAlgn="base">
              <a:buNone/>
            </a:pPr>
            <a:r>
              <a:rPr lang="en-US" dirty="0">
                <a:latin typeface="Abadi" panose="020B0604020104020204" pitchFamily="34" charset="0"/>
              </a:rPr>
              <a:t>})</a:t>
            </a:r>
          </a:p>
          <a:p>
            <a:pPr marL="0" indent="0">
              <a:buNone/>
            </a:pPr>
            <a:endParaRPr lang="en-US" dirty="0"/>
          </a:p>
        </p:txBody>
      </p:sp>
      <p:sp>
        <p:nvSpPr>
          <p:cNvPr id="4" name="Slide Number Placeholder 3">
            <a:extLst>
              <a:ext uri="{FF2B5EF4-FFF2-40B4-BE49-F238E27FC236}">
                <a16:creationId xmlns:a16="http://schemas.microsoft.com/office/drawing/2014/main" id="{FFAFB647-1295-6D07-B0C8-68AEF9A7AB0D}"/>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2264036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C85AE-0473-5C20-F894-CF4550181985}"/>
              </a:ext>
            </a:extLst>
          </p:cNvPr>
          <p:cNvSpPr>
            <a:spLocks noGrp="1"/>
          </p:cNvSpPr>
          <p:nvPr>
            <p:ph type="title"/>
          </p:nvPr>
        </p:nvSpPr>
        <p:spPr>
          <a:xfrm>
            <a:off x="666750" y="76200"/>
            <a:ext cx="7534656" cy="533400"/>
          </a:xfrm>
        </p:spPr>
        <p:txBody>
          <a:bodyPr/>
          <a:lstStyle/>
          <a:p>
            <a:r>
              <a:rPr lang="en-US" dirty="0"/>
              <a:t>A Complete Chatbot</a:t>
            </a:r>
          </a:p>
        </p:txBody>
      </p:sp>
      <p:sp>
        <p:nvSpPr>
          <p:cNvPr id="3" name="Content Placeholder 2">
            <a:extLst>
              <a:ext uri="{FF2B5EF4-FFF2-40B4-BE49-F238E27FC236}">
                <a16:creationId xmlns:a16="http://schemas.microsoft.com/office/drawing/2014/main" id="{AF51D458-0FCC-399C-A02D-00D2BE905774}"/>
              </a:ext>
            </a:extLst>
          </p:cNvPr>
          <p:cNvSpPr>
            <a:spLocks noGrp="1"/>
          </p:cNvSpPr>
          <p:nvPr>
            <p:ph sz="quarter" idx="10"/>
          </p:nvPr>
        </p:nvSpPr>
        <p:spPr>
          <a:xfrm>
            <a:off x="176784" y="609600"/>
            <a:ext cx="11691365" cy="6057900"/>
          </a:xfrm>
        </p:spPr>
        <p:txBody>
          <a:bodyPr>
            <a:normAutofit fontScale="92500" lnSpcReduction="20000"/>
          </a:bodyPr>
          <a:lstStyle/>
          <a:p>
            <a:pPr marL="0" indent="0" fontAlgn="base">
              <a:buNone/>
            </a:pPr>
            <a:r>
              <a:rPr lang="en-US" dirty="0">
                <a:latin typeface="Abadi" panose="020B0604020104020204" pitchFamily="34" charset="0"/>
              </a:rPr>
              <a:t>import {</a:t>
            </a:r>
            <a:r>
              <a:rPr lang="en-US" dirty="0" err="1">
                <a:latin typeface="Abadi" panose="020B0604020104020204" pitchFamily="34" charset="0"/>
              </a:rPr>
              <a:t>ChatOpenAI</a:t>
            </a:r>
            <a:r>
              <a:rPr lang="en-US" dirty="0">
                <a:latin typeface="Abadi" panose="020B0604020104020204" pitchFamily="34" charset="0"/>
              </a:rPr>
              <a:t>} from '@</a:t>
            </a:r>
            <a:r>
              <a:rPr lang="en-US" dirty="0" err="1">
                <a:latin typeface="Abadi" panose="020B0604020104020204" pitchFamily="34" charset="0"/>
              </a:rPr>
              <a:t>langchain</a:t>
            </a:r>
            <a:r>
              <a:rPr lang="en-US" dirty="0">
                <a:latin typeface="Abadi" panose="020B0604020104020204" pitchFamily="34" charset="0"/>
              </a:rPr>
              <a:t>/</a:t>
            </a:r>
            <a:r>
              <a:rPr lang="en-US" dirty="0" err="1">
                <a:latin typeface="Abadi" panose="020B0604020104020204" pitchFamily="34" charset="0"/>
              </a:rPr>
              <a:t>openai</a:t>
            </a:r>
            <a:r>
              <a:rPr lang="en-US" dirty="0">
                <a:latin typeface="Abadi" panose="020B0604020104020204" pitchFamily="34" charset="0"/>
              </a:rPr>
              <a:t>'</a:t>
            </a:r>
          </a:p>
          <a:p>
            <a:pPr marL="0" indent="0" fontAlgn="base">
              <a:buNone/>
            </a:pPr>
            <a:r>
              <a:rPr lang="en-US" dirty="0">
                <a:latin typeface="Abadi" panose="020B0604020104020204" pitchFamily="34" charset="0"/>
              </a:rPr>
              <a:t>import {</a:t>
            </a:r>
            <a:r>
              <a:rPr lang="en-US" dirty="0" err="1">
                <a:latin typeface="Abadi" panose="020B0604020104020204" pitchFamily="34" charset="0"/>
              </a:rPr>
              <a:t>ChatPromptTemplate</a:t>
            </a:r>
            <a:r>
              <a:rPr lang="en-US" dirty="0">
                <a:latin typeface="Abadi" panose="020B0604020104020204" pitchFamily="34" charset="0"/>
              </a:rPr>
              <a:t>} from '@</a:t>
            </a:r>
            <a:r>
              <a:rPr lang="en-US" dirty="0" err="1">
                <a:latin typeface="Abadi" panose="020B0604020104020204" pitchFamily="34" charset="0"/>
              </a:rPr>
              <a:t>langchain</a:t>
            </a:r>
            <a:r>
              <a:rPr lang="en-US" dirty="0">
                <a:latin typeface="Abadi" panose="020B0604020104020204" pitchFamily="34" charset="0"/>
              </a:rPr>
              <a:t>/core/prompts'</a:t>
            </a:r>
          </a:p>
          <a:p>
            <a:pPr marL="0" indent="0" fontAlgn="base">
              <a:buNone/>
            </a:pPr>
            <a:r>
              <a:rPr lang="en-US" dirty="0">
                <a:latin typeface="Abadi" panose="020B0604020104020204" pitchFamily="34" charset="0"/>
              </a:rPr>
              <a:t>import {</a:t>
            </a:r>
            <a:r>
              <a:rPr lang="en-US" dirty="0" err="1">
                <a:latin typeface="Abadi" panose="020B0604020104020204" pitchFamily="34" charset="0"/>
              </a:rPr>
              <a:t>RunnableLambda</a:t>
            </a:r>
            <a:r>
              <a:rPr lang="en-US" dirty="0">
                <a:latin typeface="Abadi" panose="020B0604020104020204" pitchFamily="34" charset="0"/>
              </a:rPr>
              <a:t>} from '@</a:t>
            </a:r>
            <a:r>
              <a:rPr lang="en-US" dirty="0" err="1">
                <a:latin typeface="Abadi" panose="020B0604020104020204" pitchFamily="34" charset="0"/>
              </a:rPr>
              <a:t>langchain</a:t>
            </a:r>
            <a:r>
              <a:rPr lang="en-US" dirty="0">
                <a:latin typeface="Abadi" panose="020B0604020104020204" pitchFamily="34" charset="0"/>
              </a:rPr>
              <a:t>/core/</a:t>
            </a:r>
            <a:r>
              <a:rPr lang="en-US" dirty="0" err="1">
                <a:latin typeface="Abadi" panose="020B0604020104020204" pitchFamily="34" charset="0"/>
              </a:rPr>
              <a:t>runnables</a:t>
            </a:r>
            <a:r>
              <a:rPr lang="en-US" dirty="0">
                <a:latin typeface="Abadi" panose="020B0604020104020204" pitchFamily="34" charset="0"/>
              </a:rPr>
              <a:t>'</a:t>
            </a:r>
          </a:p>
          <a:p>
            <a:pPr marL="0" indent="0" fontAlgn="base">
              <a:buNone/>
            </a:pPr>
            <a:r>
              <a:rPr lang="en-US" dirty="0">
                <a:latin typeface="Abadi" panose="020B0604020104020204" pitchFamily="34" charset="0"/>
              </a:rPr>
              <a:t>// the building blocks</a:t>
            </a:r>
          </a:p>
          <a:p>
            <a:pPr marL="0" indent="0" fontAlgn="base">
              <a:buNone/>
            </a:pPr>
            <a:r>
              <a:rPr lang="en-US" dirty="0">
                <a:latin typeface="Abadi" panose="020B0604020104020204" pitchFamily="34" charset="0"/>
              </a:rPr>
              <a:t>const template = </a:t>
            </a:r>
            <a:r>
              <a:rPr lang="en-US" dirty="0" err="1">
                <a:latin typeface="Abadi" panose="020B0604020104020204" pitchFamily="34" charset="0"/>
              </a:rPr>
              <a:t>ChatPromptTemplate.fromMessages</a:t>
            </a:r>
            <a:r>
              <a:rPr lang="en-US" dirty="0">
                <a:latin typeface="Abadi" panose="020B0604020104020204" pitchFamily="34" charset="0"/>
              </a:rPr>
              <a:t>([</a:t>
            </a:r>
          </a:p>
          <a:p>
            <a:pPr marL="0" indent="0" fontAlgn="base">
              <a:buNone/>
            </a:pPr>
            <a:r>
              <a:rPr lang="en-US" dirty="0">
                <a:latin typeface="Abadi" panose="020B0604020104020204" pitchFamily="34" charset="0"/>
              </a:rPr>
              <a:t>  ['system', 'You are a helpful assistant.'],</a:t>
            </a:r>
          </a:p>
          <a:p>
            <a:pPr marL="0" indent="0" fontAlgn="base">
              <a:buNone/>
            </a:pPr>
            <a:r>
              <a:rPr lang="en-US" dirty="0">
                <a:latin typeface="Abadi" panose="020B0604020104020204" pitchFamily="34" charset="0"/>
              </a:rPr>
              <a:t>  ['human', '{question}'],</a:t>
            </a:r>
          </a:p>
          <a:p>
            <a:pPr marL="0" indent="0" fontAlgn="base">
              <a:buNone/>
            </a:pPr>
            <a:r>
              <a:rPr lang="en-US" dirty="0">
                <a:latin typeface="Abadi" panose="020B0604020104020204" pitchFamily="34" charset="0"/>
              </a:rPr>
              <a:t>])</a:t>
            </a:r>
          </a:p>
          <a:p>
            <a:pPr marL="0" indent="0" fontAlgn="base">
              <a:buNone/>
            </a:pPr>
            <a:r>
              <a:rPr lang="en-US" dirty="0">
                <a:latin typeface="Abadi" panose="020B0604020104020204" pitchFamily="34" charset="0"/>
              </a:rPr>
              <a:t>const model = new </a:t>
            </a:r>
            <a:r>
              <a:rPr lang="en-US" dirty="0" err="1">
                <a:latin typeface="Abadi" panose="020B0604020104020204" pitchFamily="34" charset="0"/>
              </a:rPr>
              <a:t>ChatOpenAI</a:t>
            </a:r>
            <a:r>
              <a:rPr lang="en-US" dirty="0">
                <a:latin typeface="Abadi" panose="020B0604020104020204" pitchFamily="34" charset="0"/>
              </a:rPr>
              <a:t>()</a:t>
            </a:r>
          </a:p>
          <a:p>
            <a:pPr marL="0" indent="0" fontAlgn="base">
              <a:buNone/>
            </a:pPr>
            <a:r>
              <a:rPr lang="en-US" dirty="0">
                <a:latin typeface="Abadi" panose="020B0604020104020204" pitchFamily="34" charset="0"/>
              </a:rPr>
              <a:t>// combine them in a function</a:t>
            </a:r>
          </a:p>
          <a:p>
            <a:pPr marL="0" indent="0" fontAlgn="base">
              <a:buNone/>
            </a:pPr>
            <a:r>
              <a:rPr lang="en-US" dirty="0">
                <a:latin typeface="Abadi" panose="020B0604020104020204" pitchFamily="34" charset="0"/>
              </a:rPr>
              <a:t>// </a:t>
            </a:r>
            <a:r>
              <a:rPr lang="en-US" dirty="0" err="1">
                <a:latin typeface="Abadi" panose="020B0604020104020204" pitchFamily="34" charset="0"/>
              </a:rPr>
              <a:t>RunnableLambda</a:t>
            </a:r>
            <a:r>
              <a:rPr lang="en-US" dirty="0">
                <a:latin typeface="Abadi" panose="020B0604020104020204" pitchFamily="34" charset="0"/>
              </a:rPr>
              <a:t> adds the same Runnable interface for any function you write</a:t>
            </a:r>
          </a:p>
          <a:p>
            <a:pPr marL="0" indent="0" fontAlgn="base">
              <a:buNone/>
            </a:pPr>
            <a:endParaRPr lang="en-US" dirty="0">
              <a:latin typeface="Abadi" panose="020B0604020104020204" pitchFamily="34" charset="0"/>
            </a:endParaRPr>
          </a:p>
          <a:p>
            <a:pPr marL="0" indent="0" fontAlgn="base">
              <a:buNone/>
            </a:pPr>
            <a:r>
              <a:rPr lang="en-US" dirty="0">
                <a:latin typeface="Abadi" panose="020B0604020104020204" pitchFamily="34" charset="0"/>
              </a:rPr>
              <a:t>const chatbot = </a:t>
            </a:r>
            <a:r>
              <a:rPr lang="en-US" dirty="0" err="1">
                <a:latin typeface="Abadi" panose="020B0604020104020204" pitchFamily="34" charset="0"/>
              </a:rPr>
              <a:t>RunnableLambda.from</a:t>
            </a:r>
            <a:r>
              <a:rPr lang="en-US" dirty="0">
                <a:latin typeface="Abadi" panose="020B0604020104020204" pitchFamily="34" charset="0"/>
              </a:rPr>
              <a:t>(async values =&gt; {</a:t>
            </a:r>
          </a:p>
          <a:p>
            <a:pPr marL="0" indent="0" fontAlgn="base">
              <a:buNone/>
            </a:pPr>
            <a:r>
              <a:rPr lang="en-US" dirty="0">
                <a:latin typeface="Abadi" panose="020B0604020104020204" pitchFamily="34" charset="0"/>
              </a:rPr>
              <a:t>  const prompt = await </a:t>
            </a:r>
            <a:r>
              <a:rPr lang="en-US" dirty="0" err="1">
                <a:latin typeface="Abadi" panose="020B0604020104020204" pitchFamily="34" charset="0"/>
              </a:rPr>
              <a:t>template.invoke</a:t>
            </a:r>
            <a:r>
              <a:rPr lang="en-US" dirty="0">
                <a:latin typeface="Abadi" panose="020B0604020104020204" pitchFamily="34" charset="0"/>
              </a:rPr>
              <a:t>(values)</a:t>
            </a:r>
          </a:p>
          <a:p>
            <a:pPr marL="0" indent="0" fontAlgn="base">
              <a:buNone/>
            </a:pPr>
            <a:r>
              <a:rPr lang="en-US" dirty="0">
                <a:latin typeface="Abadi" panose="020B0604020104020204" pitchFamily="34" charset="0"/>
              </a:rPr>
              <a:t>  return await </a:t>
            </a:r>
            <a:r>
              <a:rPr lang="en-US" dirty="0" err="1">
                <a:latin typeface="Abadi" panose="020B0604020104020204" pitchFamily="34" charset="0"/>
              </a:rPr>
              <a:t>model.invoke</a:t>
            </a:r>
            <a:r>
              <a:rPr lang="en-US" dirty="0">
                <a:latin typeface="Abadi" panose="020B0604020104020204" pitchFamily="34" charset="0"/>
              </a:rPr>
              <a:t>(prompt)</a:t>
            </a:r>
          </a:p>
          <a:p>
            <a:pPr marL="0" indent="0" fontAlgn="base">
              <a:buNone/>
            </a:pPr>
            <a:r>
              <a:rPr lang="en-US" dirty="0">
                <a:latin typeface="Abadi" panose="020B0604020104020204" pitchFamily="34" charset="0"/>
              </a:rPr>
              <a:t>})</a:t>
            </a:r>
          </a:p>
          <a:p>
            <a:pPr marL="0" indent="0" fontAlgn="base">
              <a:buNone/>
            </a:pPr>
            <a:r>
              <a:rPr lang="en-US" dirty="0">
                <a:latin typeface="Abadi" panose="020B0604020104020204" pitchFamily="34" charset="0"/>
              </a:rPr>
              <a:t>// use it</a:t>
            </a:r>
          </a:p>
          <a:p>
            <a:pPr marL="0" indent="0" fontAlgn="base">
              <a:buNone/>
            </a:pPr>
            <a:r>
              <a:rPr lang="en-US" dirty="0">
                <a:latin typeface="Abadi" panose="020B0604020104020204" pitchFamily="34" charset="0"/>
              </a:rPr>
              <a:t>await </a:t>
            </a:r>
            <a:r>
              <a:rPr lang="en-US" dirty="0" err="1">
                <a:latin typeface="Abadi" panose="020B0604020104020204" pitchFamily="34" charset="0"/>
              </a:rPr>
              <a:t>chatbot.invoke</a:t>
            </a:r>
            <a:r>
              <a:rPr lang="en-US" dirty="0">
                <a:latin typeface="Abadi" panose="020B0604020104020204" pitchFamily="34" charset="0"/>
              </a:rPr>
              <a:t>({</a:t>
            </a:r>
          </a:p>
          <a:p>
            <a:pPr marL="0" indent="0">
              <a:buNone/>
            </a:pPr>
            <a:endParaRPr lang="en-US" dirty="0"/>
          </a:p>
        </p:txBody>
      </p:sp>
      <p:sp>
        <p:nvSpPr>
          <p:cNvPr id="4" name="Slide Number Placeholder 3">
            <a:extLst>
              <a:ext uri="{FF2B5EF4-FFF2-40B4-BE49-F238E27FC236}">
                <a16:creationId xmlns:a16="http://schemas.microsoft.com/office/drawing/2014/main" id="{3F6ACA2F-4D6C-A327-76B9-483191456122}"/>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657557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5C53B-F838-8D60-0B03-4E9AC0F5BB0B}"/>
              </a:ext>
            </a:extLst>
          </p:cNvPr>
          <p:cNvSpPr>
            <a:spLocks noGrp="1"/>
          </p:cNvSpPr>
          <p:nvPr>
            <p:ph type="title"/>
          </p:nvPr>
        </p:nvSpPr>
        <p:spPr/>
        <p:txBody>
          <a:bodyPr/>
          <a:lstStyle/>
          <a:p>
            <a:r>
              <a:rPr lang="en-US" dirty="0" err="1"/>
              <a:t>LanGrpah</a:t>
            </a:r>
            <a:endParaRPr lang="en-US" dirty="0"/>
          </a:p>
        </p:txBody>
      </p:sp>
      <p:sp>
        <p:nvSpPr>
          <p:cNvPr id="3" name="Content Placeholder 2">
            <a:extLst>
              <a:ext uri="{FF2B5EF4-FFF2-40B4-BE49-F238E27FC236}">
                <a16:creationId xmlns:a16="http://schemas.microsoft.com/office/drawing/2014/main" id="{7BA80391-5753-9EAE-4394-FBA3AFAEDA90}"/>
              </a:ext>
            </a:extLst>
          </p:cNvPr>
          <p:cNvSpPr>
            <a:spLocks noGrp="1"/>
          </p:cNvSpPr>
          <p:nvPr>
            <p:ph sz="quarter" idx="10"/>
          </p:nvPr>
        </p:nvSpPr>
        <p:spPr>
          <a:xfrm>
            <a:off x="771524" y="1953387"/>
            <a:ext cx="8372475" cy="3356576"/>
          </a:xfrm>
        </p:spPr>
        <p:txBody>
          <a:bodyPr/>
          <a:lstStyle/>
          <a:p>
            <a:pPr marL="0" indent="0">
              <a:buNone/>
            </a:pPr>
            <a:r>
              <a:rPr lang="en-US" sz="2400" dirty="0" err="1">
                <a:latin typeface="Abadi" panose="020B0604020104020204" pitchFamily="34" charset="0"/>
              </a:rPr>
              <a:t>LangGraph</a:t>
            </a:r>
            <a:r>
              <a:rPr lang="en-US" sz="2400" dirty="0">
                <a:latin typeface="Abadi" panose="020B0604020104020204" pitchFamily="34" charset="0"/>
              </a:rPr>
              <a:t> is a library built on top of LangChain, designed to add cyclic computational capabilities to your LLM applications.</a:t>
            </a:r>
          </a:p>
          <a:p>
            <a:pPr marL="0" indent="0">
              <a:buNone/>
            </a:pPr>
            <a:r>
              <a:rPr lang="en-US" sz="2400" dirty="0">
                <a:latin typeface="Abadi" panose="020B0604020104020204" pitchFamily="34" charset="0"/>
              </a:rPr>
              <a:t>While LangChain allows you to define chains of computation (Directed Acyclic Graphs or DAGs), </a:t>
            </a:r>
            <a:r>
              <a:rPr lang="en-US" sz="2400" dirty="0" err="1">
                <a:latin typeface="Abadi" panose="020B0604020104020204" pitchFamily="34" charset="0"/>
              </a:rPr>
              <a:t>LangGraph</a:t>
            </a:r>
            <a:r>
              <a:rPr lang="en-US" sz="2400" dirty="0">
                <a:latin typeface="Abadi" panose="020B0604020104020204" pitchFamily="34" charset="0"/>
              </a:rPr>
              <a:t> introduces the ability to add cycles, enabling more complex, agent-like behaviors where you can call an LLM in a loop, asking it what action to take next.</a:t>
            </a:r>
          </a:p>
          <a:p>
            <a:endParaRPr lang="en-US" dirty="0"/>
          </a:p>
        </p:txBody>
      </p:sp>
      <p:sp>
        <p:nvSpPr>
          <p:cNvPr id="4" name="Slide Number Placeholder 3">
            <a:extLst>
              <a:ext uri="{FF2B5EF4-FFF2-40B4-BE49-F238E27FC236}">
                <a16:creationId xmlns:a16="http://schemas.microsoft.com/office/drawing/2014/main" id="{85F6ABAA-5533-EEDC-67CA-4655CC7896A6}"/>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3025008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0A3D9-79D8-76FA-F1D7-3D5FB95A1FA7}"/>
              </a:ext>
            </a:extLst>
          </p:cNvPr>
          <p:cNvSpPr>
            <a:spLocks noGrp="1"/>
          </p:cNvSpPr>
          <p:nvPr>
            <p:ph type="title"/>
          </p:nvPr>
        </p:nvSpPr>
        <p:spPr/>
        <p:txBody>
          <a:bodyPr/>
          <a:lstStyle/>
          <a:p>
            <a:r>
              <a:rPr lang="en-US" dirty="0" err="1"/>
              <a:t>LanGraph</a:t>
            </a:r>
            <a:endParaRPr lang="en-US" dirty="0"/>
          </a:p>
        </p:txBody>
      </p:sp>
      <p:sp>
        <p:nvSpPr>
          <p:cNvPr id="3" name="Content Placeholder 2">
            <a:extLst>
              <a:ext uri="{FF2B5EF4-FFF2-40B4-BE49-F238E27FC236}">
                <a16:creationId xmlns:a16="http://schemas.microsoft.com/office/drawing/2014/main" id="{AFCCE087-354A-C9F2-4873-B36F3F0D6D8F}"/>
              </a:ext>
            </a:extLst>
          </p:cNvPr>
          <p:cNvSpPr>
            <a:spLocks noGrp="1"/>
          </p:cNvSpPr>
          <p:nvPr>
            <p:ph sz="quarter" idx="10"/>
          </p:nvPr>
        </p:nvSpPr>
        <p:spPr>
          <a:xfrm>
            <a:off x="914399" y="2039112"/>
            <a:ext cx="8429625" cy="3356576"/>
          </a:xfrm>
        </p:spPr>
        <p:txBody>
          <a:bodyPr/>
          <a:lstStyle/>
          <a:p>
            <a:r>
              <a:rPr lang="en-US" sz="2800" dirty="0" err="1">
                <a:latin typeface="Abadi" panose="020B0604020104020204" pitchFamily="34" charset="0"/>
              </a:rPr>
              <a:t>LangGraph</a:t>
            </a:r>
            <a:r>
              <a:rPr lang="en-US" sz="2800" dirty="0">
                <a:latin typeface="Abadi" panose="020B0604020104020204" pitchFamily="34" charset="0"/>
              </a:rPr>
              <a:t> is a powerful tool for building stateful, multi-actor applications with Large Language Models (LLMs). </a:t>
            </a:r>
          </a:p>
          <a:p>
            <a:r>
              <a:rPr lang="en-US" sz="2800" dirty="0">
                <a:latin typeface="Abadi" panose="020B0604020104020204" pitchFamily="34" charset="0"/>
              </a:rPr>
              <a:t>It extends the LangChain library, allowing you to coordinate multiple chains (or actors) across multiple steps of computation in a cyclic manne</a:t>
            </a:r>
            <a:r>
              <a:rPr lang="en-US" dirty="0">
                <a:latin typeface="Abadi" panose="020B0604020104020204" pitchFamily="34" charset="0"/>
              </a:rPr>
              <a:t>r. </a:t>
            </a:r>
          </a:p>
        </p:txBody>
      </p:sp>
      <p:sp>
        <p:nvSpPr>
          <p:cNvPr id="4" name="Slide Number Placeholder 3">
            <a:extLst>
              <a:ext uri="{FF2B5EF4-FFF2-40B4-BE49-F238E27FC236}">
                <a16:creationId xmlns:a16="http://schemas.microsoft.com/office/drawing/2014/main" id="{BDB179FA-A2E3-98F2-9684-D1077C72C529}"/>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2898104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E83DF-286D-F877-4C13-8B3B66229A16}"/>
              </a:ext>
            </a:extLst>
          </p:cNvPr>
          <p:cNvSpPr>
            <a:spLocks noGrp="1"/>
          </p:cNvSpPr>
          <p:nvPr>
            <p:ph type="title"/>
          </p:nvPr>
        </p:nvSpPr>
        <p:spPr/>
        <p:txBody>
          <a:bodyPr/>
          <a:lstStyle/>
          <a:p>
            <a:r>
              <a:rPr lang="en-US" dirty="0" err="1"/>
              <a:t>Langraph</a:t>
            </a:r>
            <a:r>
              <a:rPr lang="en-US" dirty="0"/>
              <a:t> Key Concepts</a:t>
            </a:r>
          </a:p>
        </p:txBody>
      </p:sp>
      <p:sp>
        <p:nvSpPr>
          <p:cNvPr id="3" name="Content Placeholder 2">
            <a:extLst>
              <a:ext uri="{FF2B5EF4-FFF2-40B4-BE49-F238E27FC236}">
                <a16:creationId xmlns:a16="http://schemas.microsoft.com/office/drawing/2014/main" id="{429A0988-9B00-C31D-6FFF-42ABF3660359}"/>
              </a:ext>
            </a:extLst>
          </p:cNvPr>
          <p:cNvSpPr>
            <a:spLocks noGrp="1"/>
          </p:cNvSpPr>
          <p:nvPr>
            <p:ph sz="quarter" idx="10"/>
          </p:nvPr>
        </p:nvSpPr>
        <p:spPr>
          <a:xfrm>
            <a:off x="914399" y="2039112"/>
            <a:ext cx="10149841" cy="3984498"/>
          </a:xfrm>
        </p:spPr>
        <p:txBody>
          <a:bodyPr>
            <a:normAutofit/>
          </a:bodyPr>
          <a:lstStyle/>
          <a:p>
            <a:r>
              <a:rPr lang="en-US" sz="2400" b="1" dirty="0">
                <a:latin typeface="Abadi" panose="020B0604020104020204" pitchFamily="34" charset="0"/>
              </a:rPr>
              <a:t>Stateful Graph:</a:t>
            </a:r>
            <a:r>
              <a:rPr lang="en-US" sz="2400" dirty="0">
                <a:latin typeface="Abadi" panose="020B0604020104020204" pitchFamily="34" charset="0"/>
              </a:rPr>
              <a:t> </a:t>
            </a:r>
            <a:r>
              <a:rPr lang="en-US" sz="2400" dirty="0" err="1">
                <a:latin typeface="Abadi" panose="020B0604020104020204" pitchFamily="34" charset="0"/>
              </a:rPr>
              <a:t>LangGraph</a:t>
            </a:r>
            <a:r>
              <a:rPr lang="en-US" sz="2400" dirty="0">
                <a:latin typeface="Abadi" panose="020B0604020104020204" pitchFamily="34" charset="0"/>
              </a:rPr>
              <a:t> revolves around the concept of a stateful graph, where each node in the graph represents a step in your computation, and the graph maintains a state that is passed around and updated as the computation progresses.</a:t>
            </a:r>
          </a:p>
          <a:p>
            <a:r>
              <a:rPr lang="en-US" sz="2400" b="1" dirty="0">
                <a:latin typeface="Abadi" panose="020B0604020104020204" pitchFamily="34" charset="0"/>
              </a:rPr>
              <a:t>Nodes:</a:t>
            </a:r>
            <a:r>
              <a:rPr lang="en-US" sz="2400" dirty="0">
                <a:latin typeface="Abadi" panose="020B0604020104020204" pitchFamily="34" charset="0"/>
              </a:rPr>
              <a:t> Nodes are the building blocks of your </a:t>
            </a:r>
            <a:r>
              <a:rPr lang="en-US" sz="2400" dirty="0" err="1">
                <a:latin typeface="Abadi" panose="020B0604020104020204" pitchFamily="34" charset="0"/>
              </a:rPr>
              <a:t>LangGraph</a:t>
            </a:r>
            <a:r>
              <a:rPr lang="en-US" sz="2400" dirty="0">
                <a:latin typeface="Abadi" panose="020B0604020104020204" pitchFamily="34" charset="0"/>
              </a:rPr>
              <a:t>. Each node represents a function or a computation step. You define nodes to perform specific tasks, such as processing input, making decisions, or interacting with external APIs.</a:t>
            </a:r>
          </a:p>
          <a:p>
            <a:r>
              <a:rPr lang="en-US" sz="2400" b="1" dirty="0">
                <a:latin typeface="Abadi" panose="020B0604020104020204" pitchFamily="34" charset="0"/>
              </a:rPr>
              <a:t>Edges:</a:t>
            </a:r>
            <a:r>
              <a:rPr lang="en-US" sz="2400" dirty="0">
                <a:latin typeface="Abadi" panose="020B0604020104020204" pitchFamily="34" charset="0"/>
              </a:rPr>
              <a:t> Edges connect the nodes in your graph, defining the flow of computation. </a:t>
            </a:r>
            <a:r>
              <a:rPr lang="en-US" sz="2400" dirty="0" err="1">
                <a:latin typeface="Abadi" panose="020B0604020104020204" pitchFamily="34" charset="0"/>
              </a:rPr>
              <a:t>LangGraph</a:t>
            </a:r>
            <a:r>
              <a:rPr lang="en-US" sz="2400" dirty="0">
                <a:latin typeface="Abadi" panose="020B0604020104020204" pitchFamily="34" charset="0"/>
              </a:rPr>
              <a:t> supports conditional edges, allowing you to dynamically determine </a:t>
            </a:r>
            <a:r>
              <a:rPr lang="en-US" sz="2400" dirty="0" err="1">
                <a:latin typeface="Abadi" panose="020B0604020104020204" pitchFamily="34" charset="0"/>
              </a:rPr>
              <a:t>th</a:t>
            </a:r>
            <a:endParaRPr lang="en-US" sz="2400" dirty="0">
              <a:latin typeface="Abadi" panose="020B0604020104020204" pitchFamily="34" charset="0"/>
            </a:endParaRPr>
          </a:p>
          <a:p>
            <a:endParaRPr lang="en-US" dirty="0"/>
          </a:p>
        </p:txBody>
      </p:sp>
      <p:sp>
        <p:nvSpPr>
          <p:cNvPr id="4" name="Slide Number Placeholder 3">
            <a:extLst>
              <a:ext uri="{FF2B5EF4-FFF2-40B4-BE49-F238E27FC236}">
                <a16:creationId xmlns:a16="http://schemas.microsoft.com/office/drawing/2014/main" id="{FE8E48E2-F630-E1F3-C72F-76BD9DFCFA5A}"/>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1146625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654F-BFC7-D163-735F-1252770144A5}"/>
              </a:ext>
            </a:extLst>
          </p:cNvPr>
          <p:cNvSpPr>
            <a:spLocks noGrp="1"/>
          </p:cNvSpPr>
          <p:nvPr>
            <p:ph type="title"/>
          </p:nvPr>
        </p:nvSpPr>
        <p:spPr>
          <a:xfrm>
            <a:off x="742950" y="82298"/>
            <a:ext cx="7534656" cy="527302"/>
          </a:xfrm>
        </p:spPr>
        <p:txBody>
          <a:bodyPr/>
          <a:lstStyle/>
          <a:p>
            <a:r>
              <a:rPr lang="en-US" dirty="0"/>
              <a:t>A Very Simple Example</a:t>
            </a:r>
          </a:p>
        </p:txBody>
      </p:sp>
      <p:sp>
        <p:nvSpPr>
          <p:cNvPr id="3" name="Content Placeholder 2">
            <a:extLst>
              <a:ext uri="{FF2B5EF4-FFF2-40B4-BE49-F238E27FC236}">
                <a16:creationId xmlns:a16="http://schemas.microsoft.com/office/drawing/2014/main" id="{93362317-1C1E-946B-960B-290BC5D09F1B}"/>
              </a:ext>
            </a:extLst>
          </p:cNvPr>
          <p:cNvSpPr>
            <a:spLocks noGrp="1"/>
          </p:cNvSpPr>
          <p:nvPr>
            <p:ph sz="quarter" idx="10"/>
          </p:nvPr>
        </p:nvSpPr>
        <p:spPr>
          <a:xfrm>
            <a:off x="297180" y="609600"/>
            <a:ext cx="10755630" cy="6166102"/>
          </a:xfrm>
        </p:spPr>
        <p:txBody>
          <a:bodyPr>
            <a:normAutofit fontScale="77500" lnSpcReduction="20000"/>
          </a:bodyPr>
          <a:lstStyle/>
          <a:p>
            <a:pPr marL="0" indent="0">
              <a:buNone/>
            </a:pPr>
            <a:r>
              <a:rPr lang="en-US" sz="2600" dirty="0">
                <a:latin typeface="Abadi" panose="020B0604020104020204" pitchFamily="34" charset="0"/>
              </a:rPr>
              <a:t>from </a:t>
            </a:r>
            <a:r>
              <a:rPr lang="en-US" sz="2600" dirty="0" err="1">
                <a:latin typeface="Abadi" panose="020B0604020104020204" pitchFamily="34" charset="0"/>
              </a:rPr>
              <a:t>langgraph.graph</a:t>
            </a:r>
            <a:r>
              <a:rPr lang="en-US" sz="2600" dirty="0">
                <a:latin typeface="Abadi" panose="020B0604020104020204" pitchFamily="34" charset="0"/>
              </a:rPr>
              <a:t> import </a:t>
            </a:r>
            <a:r>
              <a:rPr lang="en-US" sz="2600" dirty="0" err="1">
                <a:latin typeface="Abadi" panose="020B0604020104020204" pitchFamily="34" charset="0"/>
              </a:rPr>
              <a:t>StateGraph</a:t>
            </a:r>
            <a:r>
              <a:rPr lang="en-US" sz="2600" dirty="0">
                <a:latin typeface="Abadi" panose="020B0604020104020204" pitchFamily="34" charset="0"/>
              </a:rPr>
              <a:t>, START, END</a:t>
            </a:r>
          </a:p>
          <a:p>
            <a:pPr marL="0" indent="0">
              <a:buNone/>
            </a:pPr>
            <a:r>
              <a:rPr lang="en-US" sz="2600" dirty="0">
                <a:latin typeface="Abadi" panose="020B0604020104020204" pitchFamily="34" charset="0"/>
              </a:rPr>
              <a:t># Define agents</a:t>
            </a:r>
          </a:p>
          <a:p>
            <a:pPr marL="0" indent="0">
              <a:buNone/>
            </a:pPr>
            <a:r>
              <a:rPr lang="en-US" sz="2600" dirty="0">
                <a:latin typeface="Abadi" panose="020B0604020104020204" pitchFamily="34" charset="0"/>
              </a:rPr>
              <a:t>def </a:t>
            </a:r>
            <a:r>
              <a:rPr lang="en-US" sz="2600" dirty="0" err="1">
                <a:latin typeface="Abadi" panose="020B0604020104020204" pitchFamily="34" charset="0"/>
              </a:rPr>
              <a:t>research_node</a:t>
            </a:r>
            <a:r>
              <a:rPr lang="en-US" sz="2600" dirty="0">
                <a:latin typeface="Abadi" panose="020B0604020104020204" pitchFamily="34" charset="0"/>
              </a:rPr>
              <a:t>(state):</a:t>
            </a:r>
          </a:p>
          <a:p>
            <a:pPr marL="0" indent="0">
              <a:buNone/>
            </a:pPr>
            <a:r>
              <a:rPr lang="en-US" sz="2600" dirty="0">
                <a:latin typeface="Abadi" panose="020B0604020104020204" pitchFamily="34" charset="0"/>
              </a:rPr>
              <a:t># Research logic here</a:t>
            </a:r>
          </a:p>
          <a:p>
            <a:pPr marL="0" indent="0">
              <a:buNone/>
            </a:pPr>
            <a:r>
              <a:rPr lang="en-US" sz="2600" dirty="0">
                <a:latin typeface="Abadi" panose="020B0604020104020204" pitchFamily="34" charset="0"/>
              </a:rPr>
              <a:t>return {"messages": [{"content": "Research complete", "name": "researcher"}]}</a:t>
            </a:r>
          </a:p>
          <a:p>
            <a:pPr marL="0" indent="0">
              <a:buNone/>
            </a:pPr>
            <a:br>
              <a:rPr lang="en-US" sz="2600" dirty="0">
                <a:latin typeface="Abadi" panose="020B0604020104020204" pitchFamily="34" charset="0"/>
              </a:rPr>
            </a:br>
            <a:r>
              <a:rPr lang="en-US" sz="2600" dirty="0">
                <a:latin typeface="Abadi" panose="020B0604020104020204" pitchFamily="34" charset="0"/>
              </a:rPr>
              <a:t>def </a:t>
            </a:r>
            <a:r>
              <a:rPr lang="en-US" sz="2600" dirty="0" err="1">
                <a:latin typeface="Abadi" panose="020B0604020104020204" pitchFamily="34" charset="0"/>
              </a:rPr>
              <a:t>chart_node</a:t>
            </a:r>
            <a:r>
              <a:rPr lang="en-US" sz="2600" dirty="0">
                <a:latin typeface="Abadi" panose="020B0604020104020204" pitchFamily="34" charset="0"/>
              </a:rPr>
              <a:t>(state):</a:t>
            </a:r>
          </a:p>
          <a:p>
            <a:pPr marL="0" indent="0">
              <a:buNone/>
            </a:pPr>
            <a:r>
              <a:rPr lang="en-US" sz="2600" dirty="0">
                <a:latin typeface="Abadi" panose="020B0604020104020204" pitchFamily="34" charset="0"/>
              </a:rPr>
              <a:t># Chart generation logic here</a:t>
            </a:r>
          </a:p>
          <a:p>
            <a:pPr marL="0" indent="0">
              <a:buNone/>
            </a:pPr>
            <a:r>
              <a:rPr lang="en-US" sz="2600" dirty="0">
                <a:latin typeface="Abadi" panose="020B0604020104020204" pitchFamily="34" charset="0"/>
              </a:rPr>
              <a:t>return {"messages": [{"content": "Chart generated", "name": "</a:t>
            </a:r>
            <a:r>
              <a:rPr lang="en-US" sz="2600" dirty="0" err="1">
                <a:latin typeface="Abadi" panose="020B0604020104020204" pitchFamily="34" charset="0"/>
              </a:rPr>
              <a:t>chart_generator</a:t>
            </a:r>
            <a:r>
              <a:rPr lang="en-US" sz="2600" dirty="0">
                <a:latin typeface="Abadi" panose="020B0604020104020204" pitchFamily="34" charset="0"/>
              </a:rPr>
              <a:t>"}]}</a:t>
            </a:r>
          </a:p>
          <a:p>
            <a:pPr marL="0" indent="0">
              <a:buNone/>
            </a:pPr>
            <a:br>
              <a:rPr lang="en-US" sz="2600" dirty="0">
                <a:latin typeface="Abadi" panose="020B0604020104020204" pitchFamily="34" charset="0"/>
              </a:rPr>
            </a:br>
            <a:endParaRPr lang="en-US" sz="2600" dirty="0">
              <a:latin typeface="Abadi" panose="020B0604020104020204" pitchFamily="34" charset="0"/>
            </a:endParaRPr>
          </a:p>
          <a:p>
            <a:pPr marL="0" indent="0">
              <a:buNone/>
            </a:pPr>
            <a:r>
              <a:rPr lang="en-US" sz="2600" dirty="0">
                <a:latin typeface="Abadi" panose="020B0604020104020204" pitchFamily="34" charset="0"/>
              </a:rPr>
              <a:t># Build multi-agent graph</a:t>
            </a:r>
          </a:p>
          <a:p>
            <a:pPr marL="0" indent="0">
              <a:buNone/>
            </a:pPr>
            <a:r>
              <a:rPr lang="en-US" sz="2600" dirty="0">
                <a:latin typeface="Abadi" panose="020B0604020104020204" pitchFamily="34" charset="0"/>
              </a:rPr>
              <a:t>workflow = </a:t>
            </a:r>
            <a:r>
              <a:rPr lang="en-US" sz="2600" dirty="0" err="1">
                <a:latin typeface="Abadi" panose="020B0604020104020204" pitchFamily="34" charset="0"/>
              </a:rPr>
              <a:t>StateGraph</a:t>
            </a:r>
            <a:r>
              <a:rPr lang="en-US" sz="2600" dirty="0">
                <a:latin typeface="Abadi" panose="020B0604020104020204" pitchFamily="34" charset="0"/>
              </a:rPr>
              <a:t>()</a:t>
            </a:r>
          </a:p>
          <a:p>
            <a:pPr marL="0" indent="0">
              <a:buNone/>
            </a:pPr>
            <a:r>
              <a:rPr lang="en-US" sz="2600" dirty="0" err="1">
                <a:latin typeface="Abadi" panose="020B0604020104020204" pitchFamily="34" charset="0"/>
              </a:rPr>
              <a:t>workflow.add_node</a:t>
            </a:r>
            <a:r>
              <a:rPr lang="en-US" sz="2600" dirty="0">
                <a:latin typeface="Abadi" panose="020B0604020104020204" pitchFamily="34" charset="0"/>
              </a:rPr>
              <a:t>("researcher", </a:t>
            </a:r>
            <a:r>
              <a:rPr lang="en-US" sz="2600" dirty="0" err="1">
                <a:latin typeface="Abadi" panose="020B0604020104020204" pitchFamily="34" charset="0"/>
              </a:rPr>
              <a:t>research_node</a:t>
            </a:r>
            <a:r>
              <a:rPr lang="en-US" sz="2600" dirty="0">
                <a:latin typeface="Abadi" panose="020B0604020104020204" pitchFamily="34" charset="0"/>
              </a:rPr>
              <a:t>)</a:t>
            </a:r>
          </a:p>
          <a:p>
            <a:pPr marL="0" indent="0">
              <a:buNone/>
            </a:pPr>
            <a:r>
              <a:rPr lang="en-US" sz="2600" dirty="0" err="1">
                <a:latin typeface="Abadi" panose="020B0604020104020204" pitchFamily="34" charset="0"/>
              </a:rPr>
              <a:t>workflow.add_node</a:t>
            </a:r>
            <a:r>
              <a:rPr lang="en-US" sz="2600" dirty="0">
                <a:latin typeface="Abadi" panose="020B0604020104020204" pitchFamily="34" charset="0"/>
              </a:rPr>
              <a:t>("</a:t>
            </a:r>
            <a:r>
              <a:rPr lang="en-US" sz="2600" dirty="0" err="1">
                <a:latin typeface="Abadi" panose="020B0604020104020204" pitchFamily="34" charset="0"/>
              </a:rPr>
              <a:t>chart_generator</a:t>
            </a:r>
            <a:r>
              <a:rPr lang="en-US" sz="2600" dirty="0">
                <a:latin typeface="Abadi" panose="020B0604020104020204" pitchFamily="34" charset="0"/>
              </a:rPr>
              <a:t>", </a:t>
            </a:r>
            <a:r>
              <a:rPr lang="en-US" sz="2600" dirty="0" err="1">
                <a:latin typeface="Abadi" panose="020B0604020104020204" pitchFamily="34" charset="0"/>
              </a:rPr>
              <a:t>chart_node</a:t>
            </a:r>
            <a:r>
              <a:rPr lang="en-US" sz="2600" dirty="0">
                <a:latin typeface="Abadi" panose="020B0604020104020204" pitchFamily="34" charset="0"/>
              </a:rPr>
              <a:t>)</a:t>
            </a:r>
          </a:p>
          <a:p>
            <a:pPr marL="0" indent="0">
              <a:buNone/>
            </a:pPr>
            <a:r>
              <a:rPr lang="en-US" sz="2600" dirty="0" err="1">
                <a:latin typeface="Abadi" panose="020B0604020104020204" pitchFamily="34" charset="0"/>
              </a:rPr>
              <a:t>workflow.add_conditional_edges</a:t>
            </a:r>
            <a:r>
              <a:rPr lang="en-US" sz="2600" dirty="0">
                <a:latin typeface="Abadi" panose="020B0604020104020204" pitchFamily="34" charset="0"/>
              </a:rPr>
              <a:t>("researcher", lambda state: "</a:t>
            </a:r>
            <a:r>
              <a:rPr lang="en-US" sz="2600" dirty="0" err="1">
                <a:latin typeface="Abadi" panose="020B0604020104020204" pitchFamily="34" charset="0"/>
              </a:rPr>
              <a:t>chart_generator</a:t>
            </a:r>
            <a:r>
              <a:rPr lang="en-US" sz="2600" dirty="0">
                <a:latin typeface="Abadi" panose="020B0604020104020204" pitchFamily="34" charset="0"/>
              </a:rPr>
              <a:t>", {"</a:t>
            </a:r>
            <a:r>
              <a:rPr lang="en-US" sz="2600" dirty="0" err="1">
                <a:latin typeface="Abadi" panose="020B0604020104020204" pitchFamily="34" charset="0"/>
              </a:rPr>
              <a:t>chart_generator</a:t>
            </a:r>
            <a:r>
              <a:rPr lang="en-US" sz="2600" dirty="0">
                <a:latin typeface="Abadi" panose="020B0604020104020204" pitchFamily="34" charset="0"/>
              </a:rPr>
              <a:t>": "</a:t>
            </a:r>
            <a:r>
              <a:rPr lang="en-US" sz="2600" dirty="0" err="1">
                <a:latin typeface="Abadi" panose="020B0604020104020204" pitchFamily="34" charset="0"/>
              </a:rPr>
              <a:t>chart_generator</a:t>
            </a:r>
            <a:r>
              <a:rPr lang="en-US" sz="2600" dirty="0">
                <a:latin typeface="Abadi" panose="020B0604020104020204" pitchFamily="34" charset="0"/>
              </a:rPr>
              <a:t>"})</a:t>
            </a:r>
          </a:p>
          <a:p>
            <a:pPr marL="0" indent="0">
              <a:buNone/>
            </a:pPr>
            <a:r>
              <a:rPr lang="en-US" sz="2600" dirty="0" err="1">
                <a:latin typeface="Abadi" panose="020B0604020104020204" pitchFamily="34" charset="0"/>
              </a:rPr>
              <a:t>workflow.add_edge</a:t>
            </a:r>
            <a:r>
              <a:rPr lang="en-US" sz="2600" dirty="0">
                <a:latin typeface="Abadi" panose="020B0604020104020204" pitchFamily="34" charset="0"/>
              </a:rPr>
              <a:t>(START, "researcher")</a:t>
            </a:r>
          </a:p>
          <a:p>
            <a:pPr marL="0" indent="0">
              <a:buNone/>
            </a:pPr>
            <a:r>
              <a:rPr lang="en-US" sz="2600" dirty="0" err="1">
                <a:latin typeface="Abadi" panose="020B0604020104020204" pitchFamily="34" charset="0"/>
              </a:rPr>
              <a:t>workflow.add_edge</a:t>
            </a:r>
            <a:r>
              <a:rPr lang="en-US" sz="2600" dirty="0">
                <a:latin typeface="Abadi" panose="020B0604020104020204" pitchFamily="34" charset="0"/>
              </a:rPr>
              <a:t>("</a:t>
            </a:r>
            <a:r>
              <a:rPr lang="en-US" sz="2600" dirty="0" err="1">
                <a:latin typeface="Abadi" panose="020B0604020104020204" pitchFamily="34" charset="0"/>
              </a:rPr>
              <a:t>chart_generator</a:t>
            </a:r>
            <a:r>
              <a:rPr lang="en-US" sz="2600" dirty="0">
                <a:latin typeface="Abadi" panose="020B0604020104020204" pitchFamily="34" charset="0"/>
              </a:rPr>
              <a:t>", END)</a:t>
            </a:r>
          </a:p>
          <a:p>
            <a:endParaRPr lang="en-US" dirty="0"/>
          </a:p>
        </p:txBody>
      </p:sp>
      <p:sp>
        <p:nvSpPr>
          <p:cNvPr id="4" name="Slide Number Placeholder 3">
            <a:extLst>
              <a:ext uri="{FF2B5EF4-FFF2-40B4-BE49-F238E27FC236}">
                <a16:creationId xmlns:a16="http://schemas.microsoft.com/office/drawing/2014/main" id="{E00DEC33-B67D-5068-FE25-B7E68E89A8A9}"/>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4206905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F14E1-6A6A-BDA4-714F-B1AC50D2C259}"/>
              </a:ext>
            </a:extLst>
          </p:cNvPr>
          <p:cNvSpPr>
            <a:spLocks noGrp="1"/>
          </p:cNvSpPr>
          <p:nvPr>
            <p:ph type="title"/>
          </p:nvPr>
        </p:nvSpPr>
        <p:spPr/>
        <p:txBody>
          <a:bodyPr/>
          <a:lstStyle/>
          <a:p>
            <a:r>
              <a:rPr lang="en-US" dirty="0"/>
              <a:t>Building an Agent Using </a:t>
            </a:r>
            <a:r>
              <a:rPr lang="en-US" dirty="0" err="1"/>
              <a:t>LanGraph</a:t>
            </a:r>
            <a:endParaRPr lang="en-US" dirty="0"/>
          </a:p>
        </p:txBody>
      </p:sp>
      <p:sp>
        <p:nvSpPr>
          <p:cNvPr id="3" name="Content Placeholder 2">
            <a:extLst>
              <a:ext uri="{FF2B5EF4-FFF2-40B4-BE49-F238E27FC236}">
                <a16:creationId xmlns:a16="http://schemas.microsoft.com/office/drawing/2014/main" id="{4D800036-68F6-9423-CBA8-6F3860E3EF0A}"/>
              </a:ext>
            </a:extLst>
          </p:cNvPr>
          <p:cNvSpPr>
            <a:spLocks noGrp="1"/>
          </p:cNvSpPr>
          <p:nvPr>
            <p:ph sz="quarter" idx="10"/>
          </p:nvPr>
        </p:nvSpPr>
        <p:spPr/>
        <p:txBody>
          <a:bodyPr/>
          <a:lstStyle/>
          <a:p>
            <a:r>
              <a:rPr lang="en-US" dirty="0"/>
              <a:t>pip install </a:t>
            </a:r>
            <a:r>
              <a:rPr lang="en-US" dirty="0" err="1"/>
              <a:t>duckduckgo</a:t>
            </a:r>
            <a:r>
              <a:rPr lang="en-US" dirty="0"/>
              <a:t>-search</a:t>
            </a:r>
          </a:p>
          <a:p>
            <a:endParaRPr lang="en-US" dirty="0"/>
          </a:p>
        </p:txBody>
      </p:sp>
      <p:sp>
        <p:nvSpPr>
          <p:cNvPr id="4" name="Slide Number Placeholder 3">
            <a:extLst>
              <a:ext uri="{FF2B5EF4-FFF2-40B4-BE49-F238E27FC236}">
                <a16:creationId xmlns:a16="http://schemas.microsoft.com/office/drawing/2014/main" id="{494FBC24-D52C-0670-D1C5-33FBE9D58EFA}"/>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3348761184"/>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{3E0998BC-959F-44CC-A2C4-07763E6CD35D}TF1ed9553b-00c4-4092-846a-c8f7f2908f3beecd942f_win32-8e33096c3cfc</Template>
  <TotalTime>1560</TotalTime>
  <Words>1391</Words>
  <Application>Microsoft Office PowerPoint</Application>
  <PresentationFormat>Widescreen</PresentationFormat>
  <Paragraphs>158</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Abadi</vt:lpstr>
      <vt:lpstr>Arial</vt:lpstr>
      <vt:lpstr>Calibri</vt:lpstr>
      <vt:lpstr>Courier New</vt:lpstr>
      <vt:lpstr>Gill Sans Nova Light</vt:lpstr>
      <vt:lpstr>Sagona Book</vt:lpstr>
      <vt:lpstr>Custom</vt:lpstr>
      <vt:lpstr>Getting Started With LangChain</vt:lpstr>
      <vt:lpstr>Installation</vt:lpstr>
      <vt:lpstr>LLMs are the Driving Engines</vt:lpstr>
      <vt:lpstr>Using LLM</vt:lpstr>
      <vt:lpstr>Parameters to Configure </vt:lpstr>
      <vt:lpstr>The Chat Model Interface </vt:lpstr>
      <vt:lpstr>Types of Messages</vt:lpstr>
      <vt:lpstr>Simple Example</vt:lpstr>
      <vt:lpstr>Prompts</vt:lpstr>
      <vt:lpstr>Building a Chat Application?</vt:lpstr>
      <vt:lpstr>ChatPromptTemplate</vt:lpstr>
      <vt:lpstr>A Complete Chatbot</vt:lpstr>
      <vt:lpstr>LanGrpah</vt:lpstr>
      <vt:lpstr>LanGraph</vt:lpstr>
      <vt:lpstr>Langraph Key Concepts</vt:lpstr>
      <vt:lpstr>A Very Simple Example</vt:lpstr>
      <vt:lpstr>Building an Agent Using LanGraph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5</cp:revision>
  <dcterms:created xsi:type="dcterms:W3CDTF">2025-09-29T06:53:35Z</dcterms:created>
  <dcterms:modified xsi:type="dcterms:W3CDTF">2026-01-27T04:59:57Z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