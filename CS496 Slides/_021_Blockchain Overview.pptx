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72" r:id="rId4"/>
    <p:sldId id="278" r:id="rId5"/>
    <p:sldId id="279" r:id="rId6"/>
    <p:sldId id="280" r:id="rId7"/>
    <p:sldId id="281" r:id="rId8"/>
    <p:sldId id="273" r:id="rId9"/>
    <p:sldId id="274" r:id="rId10"/>
    <p:sldId id="275" r:id="rId11"/>
    <p:sldId id="276" r:id="rId12"/>
    <p:sldId id="277" r:id="rId13"/>
    <p:sldId id="257" r:id="rId14"/>
    <p:sldId id="258" r:id="rId15"/>
    <p:sldId id="259" r:id="rId16"/>
    <p:sldId id="261" r:id="rId17"/>
    <p:sldId id="260" r:id="rId18"/>
    <p:sldId id="262" r:id="rId19"/>
    <p:sldId id="263" r:id="rId20"/>
    <p:sldId id="264" r:id="rId21"/>
    <p:sldId id="265" r:id="rId22"/>
    <p:sldId id="266" r:id="rId23"/>
    <p:sldId id="267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58" d="100"/>
          <a:sy n="58" d="100"/>
        </p:scale>
        <p:origin x="1546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1-1-Satoshi%20Paper%20-%20Bitcoin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Blockchain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69435"/>
            <a:ext cx="6831673" cy="10862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35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EDB88-F49F-4E14-B7AE-FBA34DC1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en-US" dirty="0"/>
              <a:t>How it all Came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CB82B-99F5-4CB6-AB94-FE8A09812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377128"/>
          </a:xfrm>
        </p:spPr>
        <p:txBody>
          <a:bodyPr>
            <a:normAutofit/>
          </a:bodyPr>
          <a:lstStyle/>
          <a:p>
            <a:r>
              <a:rPr lang="en-US" sz="2400" dirty="0"/>
              <a:t>It all started with a short paper (8 pages, 8 references)</a:t>
            </a:r>
          </a:p>
          <a:p>
            <a:pPr marL="0" indent="0">
              <a:buNone/>
            </a:pPr>
            <a:r>
              <a:rPr lang="en-US" sz="2400" dirty="0">
                <a:hlinkClick r:id="rId2" action="ppaction://hlinkfile"/>
              </a:rPr>
              <a:t>1-1-Satoshi Paper - Bitcoin.pdf</a:t>
            </a:r>
            <a:endParaRPr lang="en-US" sz="2400" dirty="0"/>
          </a:p>
          <a:p>
            <a:r>
              <a:rPr lang="en-US" sz="2400" dirty="0"/>
              <a:t>The paper was published by an anonymous person on an anonymous website in 2008</a:t>
            </a:r>
          </a:p>
          <a:p>
            <a:r>
              <a:rPr lang="en-US" sz="2400" dirty="0"/>
              <a:t>The title of the paper: “</a:t>
            </a:r>
            <a:r>
              <a:rPr lang="en-US" sz="2400" b="1" dirty="0"/>
              <a:t>Bitcoin: A Peer-to-Peer Electronic Cash System”</a:t>
            </a:r>
            <a:endParaRPr lang="en-US" sz="2400" dirty="0"/>
          </a:p>
          <a:p>
            <a:r>
              <a:rPr lang="en-US" sz="2400" dirty="0"/>
              <a:t>The peer to peer network became operational in 2009 </a:t>
            </a:r>
          </a:p>
          <a:p>
            <a:r>
              <a:rPr lang="en-US" sz="2400" dirty="0"/>
              <a:t>The technologies used in building the network is not new, but the innovation is in the way they have been put together: distributed protocols, cryptography, a decentralized distributed database (The ledger)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1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DC06-1193-44AB-81EB-3828ED13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6900"/>
            <a:ext cx="9601200" cy="1485900"/>
          </a:xfrm>
        </p:spPr>
        <p:txBody>
          <a:bodyPr/>
          <a:lstStyle/>
          <a:p>
            <a:r>
              <a:rPr lang="en-US"/>
              <a:t>Reading through the Paper:</a:t>
            </a:r>
            <a:br>
              <a:rPr lang="en-US"/>
            </a:br>
            <a:r>
              <a:rPr lang="en-US"/>
              <a:t>Motivations &amp;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F9D36-DC39-484C-AC85-EC3337A74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8311"/>
            <a:ext cx="9601200" cy="5131165"/>
          </a:xfrm>
        </p:spPr>
        <p:txBody>
          <a:bodyPr>
            <a:normAutofit/>
          </a:bodyPr>
          <a:lstStyle/>
          <a:p>
            <a:r>
              <a:rPr lang="en-US" sz="2400" dirty="0"/>
              <a:t>purely </a:t>
            </a:r>
            <a:r>
              <a:rPr lang="en-US" sz="2400" b="1" dirty="0">
                <a:solidFill>
                  <a:srgbClr val="7030A0"/>
                </a:solidFill>
              </a:rPr>
              <a:t>peer-to-peer</a:t>
            </a:r>
            <a:r>
              <a:rPr lang="en-US" sz="2400" dirty="0"/>
              <a:t> version of electronic cash that makes it possible to send payments directly from one party to another without going through a financial institution.</a:t>
            </a:r>
          </a:p>
          <a:p>
            <a:r>
              <a:rPr lang="en-US" sz="2400" dirty="0"/>
              <a:t>Use </a:t>
            </a:r>
            <a:r>
              <a:rPr lang="en-US" sz="2400" b="1" dirty="0">
                <a:solidFill>
                  <a:srgbClr val="7030A0"/>
                </a:solidFill>
              </a:rPr>
              <a:t>digital signatures</a:t>
            </a:r>
            <a:r>
              <a:rPr lang="en-US" sz="2400" dirty="0"/>
              <a:t> to authorize payments</a:t>
            </a:r>
          </a:p>
          <a:p>
            <a:r>
              <a:rPr lang="en-US" sz="2400" dirty="0"/>
              <a:t>Prevent </a:t>
            </a:r>
            <a:r>
              <a:rPr lang="en-US" sz="2400" b="1" dirty="0">
                <a:solidFill>
                  <a:srgbClr val="7030A0"/>
                </a:solidFill>
              </a:rPr>
              <a:t>double spending</a:t>
            </a:r>
            <a:r>
              <a:rPr lang="en-US" sz="2400" dirty="0"/>
              <a:t> – without the need for intermediate </a:t>
            </a:r>
            <a:r>
              <a:rPr lang="en-US" sz="2400" b="1" dirty="0">
                <a:solidFill>
                  <a:srgbClr val="7030A0"/>
                </a:solidFill>
              </a:rPr>
              <a:t>trust</a:t>
            </a:r>
            <a:r>
              <a:rPr lang="en-US" sz="2400" dirty="0"/>
              <a:t> entities or organizations.</a:t>
            </a:r>
          </a:p>
          <a:p>
            <a:r>
              <a:rPr lang="en-US" sz="2400" dirty="0"/>
              <a:t>A solution to the double spending problem by using  a peer-to-peer network</a:t>
            </a:r>
          </a:p>
          <a:p>
            <a:r>
              <a:rPr lang="en-US" sz="2400" dirty="0"/>
              <a:t>Timestamp </a:t>
            </a:r>
            <a:r>
              <a:rPr lang="en-US" sz="2400" b="1" dirty="0">
                <a:solidFill>
                  <a:srgbClr val="7030A0"/>
                </a:solidFill>
              </a:rPr>
              <a:t>transactions</a:t>
            </a:r>
            <a:r>
              <a:rPr lang="en-US" sz="2400" dirty="0"/>
              <a:t> by hashing them into an ongoing chain of </a:t>
            </a:r>
            <a:r>
              <a:rPr lang="en-US" sz="2400" b="1" dirty="0">
                <a:solidFill>
                  <a:srgbClr val="7030A0"/>
                </a:solidFill>
              </a:rPr>
              <a:t>hash-based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proof-of-work</a:t>
            </a:r>
            <a:r>
              <a:rPr lang="en-US" sz="2400" dirty="0"/>
              <a:t>,</a:t>
            </a:r>
          </a:p>
          <a:p>
            <a:r>
              <a:rPr lang="en-US" sz="2400" dirty="0"/>
              <a:t>forming a record that cannot be changed without redoing the </a:t>
            </a:r>
            <a:r>
              <a:rPr lang="en-US" sz="2400" b="1" dirty="0">
                <a:solidFill>
                  <a:srgbClr val="7030A0"/>
                </a:solidFill>
              </a:rPr>
              <a:t>proof-of-work</a:t>
            </a:r>
            <a:r>
              <a:rPr lang="en-US" sz="2400" dirty="0">
                <a:solidFill>
                  <a:srgbClr val="7030A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4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815C-53EA-414E-9777-216F85BB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Peer to Peer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F930-CF1F-4733-8A98-1CD944C6D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159770"/>
          </a:xfrm>
        </p:spPr>
        <p:txBody>
          <a:bodyPr>
            <a:normAutofit/>
          </a:bodyPr>
          <a:lstStyle/>
          <a:p>
            <a:r>
              <a:rPr lang="en-US" sz="2800" dirty="0"/>
              <a:t>A Peer to Peer (P2P) network is a network where groups of independent computers are interconnected, sharing data without the assistance of any centralized servers. </a:t>
            </a:r>
          </a:p>
          <a:p>
            <a:r>
              <a:rPr lang="en-US" sz="2800" dirty="0"/>
              <a:t>Usually deployed on top of the internet. </a:t>
            </a:r>
          </a:p>
          <a:p>
            <a:r>
              <a:rPr lang="en-US" sz="2800" dirty="0"/>
              <a:t>All nodes in this type of network are peers with equal responsibility within the network. </a:t>
            </a:r>
          </a:p>
          <a:p>
            <a:r>
              <a:rPr lang="en-US" sz="2800" dirty="0"/>
              <a:t>Since there are no special nodes in a P2P network, each peer is both a service provider and a consumer.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5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332F-3174-46C5-863C-4176674E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961" y="0"/>
            <a:ext cx="9601200" cy="938893"/>
          </a:xfrm>
        </p:spPr>
        <p:txBody>
          <a:bodyPr/>
          <a:lstStyle/>
          <a:p>
            <a:r>
              <a:rPr lang="en-US" dirty="0"/>
              <a:t>Block Structure in Bitcoin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841097-9263-4B6C-9A50-E614D7BAA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1208" y="824593"/>
            <a:ext cx="7400011" cy="603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7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D170B9C-85A5-4673-981C-DDDBAC51F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E6636-0FBC-4F95-9BB7-04F30B3E2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25" r="27337" b="-1"/>
          <a:stretch/>
        </p:blipFill>
        <p:spPr>
          <a:xfrm>
            <a:off x="20" y="10"/>
            <a:ext cx="4966232" cy="6857990"/>
          </a:xfrm>
          <a:prstGeom prst="rect">
            <a:avLst/>
          </a:prstGeom>
        </p:spPr>
      </p:pic>
      <p:sp>
        <p:nvSpPr>
          <p:cNvPr id="15" name="Freeform 6">
            <a:extLst>
              <a:ext uri="{FF2B5EF4-FFF2-40B4-BE49-F238E27FC236}">
                <a16:creationId xmlns:a16="http://schemas.microsoft.com/office/drawing/2014/main" id="{1C82216A-4221-434A-B11C-7E13B4A1F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412340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DDF8C-E98C-4FA0-932F-435B136B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004" y="442210"/>
            <a:ext cx="5607908" cy="63258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000" cap="all"/>
              <a:t>Block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F991A-7C1E-4077-AC80-90D2A190B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33" y="0"/>
            <a:ext cx="85088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63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A337-E409-4946-B573-E7690CE0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Hash Fields in the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D390-4AE2-4D9D-8348-7ED34B5D6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Hash of the header of the previous block –this is the link between blocks</a:t>
            </a:r>
          </a:p>
          <a:p>
            <a:r>
              <a:rPr lang="en-US" sz="2800" dirty="0"/>
              <a:t>Hash of all transactions in the block – if any transaction is modified the hash will change, and the block will be rejected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46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BE8C-98C6-468A-8ACB-02A62E43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to Peer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D3CBA-B524-48E0-A967-3F9A65248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All blockchain systems are deployed on a special type of virtual Peer to Peer network architectures on the Internet</a:t>
            </a:r>
          </a:p>
        </p:txBody>
      </p:sp>
    </p:spTree>
    <p:extLst>
      <p:ext uri="{BB962C8B-B14F-4D97-AF65-F5344CB8AC3E}">
        <p14:creationId xmlns:p14="http://schemas.microsoft.com/office/powerpoint/2010/main" val="42314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3C43-9C44-4BB0-9ADA-45C9616A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0712F-A7CD-490E-AEF9-D5223BB3E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Blockchain systems use public key cryptography to sign transactions and derive account addresses using user public keys</a:t>
            </a:r>
          </a:p>
        </p:txBody>
      </p:sp>
    </p:spTree>
    <p:extLst>
      <p:ext uri="{BB962C8B-B14F-4D97-AF65-F5344CB8AC3E}">
        <p14:creationId xmlns:p14="http://schemas.microsoft.com/office/powerpoint/2010/main" val="3316505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4D38-30A2-40C3-9BA5-5601C5F7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Spending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ACF6-62DB-43B5-AF24-9C7BC37A9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common problem in trading and commerce systems</a:t>
            </a:r>
          </a:p>
          <a:p>
            <a:r>
              <a:rPr lang="en-US" sz="2800" dirty="0"/>
              <a:t>Traditionally solved using clearances and guarantees provided by financial institutions (takes time and costs a lot)</a:t>
            </a:r>
          </a:p>
        </p:txBody>
      </p:sp>
    </p:spTree>
    <p:extLst>
      <p:ext uri="{BB962C8B-B14F-4D97-AF65-F5344CB8AC3E}">
        <p14:creationId xmlns:p14="http://schemas.microsoft.com/office/powerpoint/2010/main" val="329710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D72F-B01C-4677-9C8F-0847ED53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9A1FB-A1C2-49AA-9AFB-9663F97B4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Blockchain systems are distributed transactional systems</a:t>
            </a:r>
          </a:p>
          <a:p>
            <a:r>
              <a:rPr lang="en-US" sz="2800" dirty="0"/>
              <a:t>The transaction is the central entity in blockchain systems</a:t>
            </a:r>
          </a:p>
        </p:txBody>
      </p:sp>
    </p:spTree>
    <p:extLst>
      <p:ext uri="{BB962C8B-B14F-4D97-AF65-F5344CB8AC3E}">
        <p14:creationId xmlns:p14="http://schemas.microsoft.com/office/powerpoint/2010/main" val="367980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A1B1-EDD6-4DB8-8BAA-C15AACD0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Hash-Based Proof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15C10-9659-4F40-8BBF-8E1B05664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84559"/>
            <a:ext cx="10607698" cy="5366479"/>
          </a:xfrm>
        </p:spPr>
        <p:txBody>
          <a:bodyPr>
            <a:noAutofit/>
          </a:bodyPr>
          <a:lstStyle/>
          <a:p>
            <a:r>
              <a:rPr lang="en-US" sz="2800" dirty="0"/>
              <a:t>Refers to the consensus protocol used in blockchain systems</a:t>
            </a:r>
          </a:p>
          <a:p>
            <a:r>
              <a:rPr lang="en-US" sz="2800" dirty="0"/>
              <a:t>The Proof-of-Work consensus protocol is the major innovation in blockchain</a:t>
            </a:r>
          </a:p>
          <a:p>
            <a:r>
              <a:rPr lang="en-US" sz="2800" dirty="0"/>
              <a:t>Nodes compete to solve a hard problem (NP Complete) to confirm a block</a:t>
            </a:r>
          </a:p>
          <a:p>
            <a:r>
              <a:rPr lang="en-US" sz="2800" dirty="0"/>
              <a:t>All mining nodes compete to compute a special hash of all transactions in a block</a:t>
            </a:r>
          </a:p>
          <a:p>
            <a:r>
              <a:rPr lang="en-US" sz="2800" dirty="0"/>
              <a:t>The hash should satisfy a pre-specified format (the difficulty of the problem)</a:t>
            </a:r>
          </a:p>
        </p:txBody>
      </p:sp>
    </p:spTree>
    <p:extLst>
      <p:ext uri="{BB962C8B-B14F-4D97-AF65-F5344CB8AC3E}">
        <p14:creationId xmlns:p14="http://schemas.microsoft.com/office/powerpoint/2010/main" val="415079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is Blockchain?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3797" y="685801"/>
            <a:ext cx="6348333" cy="5175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“</a:t>
            </a:r>
            <a:r>
              <a:rPr lang="en-US" sz="2800" b="1" dirty="0"/>
              <a:t>Blockchain</a:t>
            </a:r>
            <a:r>
              <a:rPr lang="en-US" sz="2800" dirty="0"/>
              <a:t> at its core is a peer-to-peer distributed ledger that is cryptographically secure, append-only, immutable (extremely hard to change), and updateable only via consensus or agreement among peers.”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dirty="0"/>
              <a:t>Source: “ Mastering Blockchain”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0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other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3797" y="0"/>
            <a:ext cx="6618157" cy="6730584"/>
          </a:xfrm>
        </p:spPr>
        <p:txBody>
          <a:bodyPr>
            <a:noAutofit/>
          </a:bodyPr>
          <a:lstStyle/>
          <a:p>
            <a:r>
              <a:rPr lang="en-US" sz="2800" dirty="0"/>
              <a:t>Sometimes the term “Blockchain” is used to refer to the underlying  distributed secure “peer-to-peer” network </a:t>
            </a:r>
          </a:p>
          <a:p>
            <a:r>
              <a:rPr lang="en-US" sz="2800" dirty="0"/>
              <a:t>It is also used to refer to the consensus mechanism</a:t>
            </a:r>
          </a:p>
          <a:p>
            <a:r>
              <a:rPr lang="en-US" sz="2800" dirty="0"/>
              <a:t>However, the rising trend now is that the term Blockchain refers to the whole technology associated with cryptocurrency systems,  including algorithms, data structures,  underlying network …</a:t>
            </a:r>
            <a:r>
              <a:rPr lang="en-US" sz="2800" dirty="0" err="1"/>
              <a:t>etc</a:t>
            </a:r>
            <a:endParaRPr lang="en-US" sz="2800" dirty="0"/>
          </a:p>
          <a:p>
            <a:r>
              <a:rPr lang="en-US" sz="2800" dirty="0"/>
              <a:t>Accordingly, the term “Blockchain Technology Systems” may be more appropriate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The Blockchain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060" y="685800"/>
            <a:ext cx="5766040" cy="6085935"/>
          </a:xfrm>
        </p:spPr>
        <p:txBody>
          <a:bodyPr/>
          <a:lstStyle/>
          <a:p>
            <a:r>
              <a:rPr lang="en-US" dirty="0"/>
              <a:t>Linked Blocks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73" y="1993692"/>
            <a:ext cx="11210964" cy="361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020" y="71203"/>
            <a:ext cx="3855720" cy="2157884"/>
          </a:xfrm>
        </p:spPr>
        <p:txBody>
          <a:bodyPr/>
          <a:lstStyle/>
          <a:p>
            <a:r>
              <a:rPr lang="en-US" sz="4400" dirty="0"/>
              <a:t>Some Example Transactions from Bitcoin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768" y="685800"/>
            <a:ext cx="6961360" cy="499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0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861163"/>
              </p:ext>
            </p:extLst>
          </p:nvPr>
        </p:nvGraphicFramePr>
        <p:xfrm>
          <a:off x="5530789" y="124287"/>
          <a:ext cx="7004481" cy="51401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4827">
                  <a:extLst>
                    <a:ext uri="{9D8B030D-6E8A-4147-A177-3AD203B41FA5}">
                      <a16:colId xmlns:a16="http://schemas.microsoft.com/office/drawing/2014/main" val="2508548285"/>
                    </a:ext>
                  </a:extLst>
                </a:gridCol>
                <a:gridCol w="2334827">
                  <a:extLst>
                    <a:ext uri="{9D8B030D-6E8A-4147-A177-3AD203B41FA5}">
                      <a16:colId xmlns:a16="http://schemas.microsoft.com/office/drawing/2014/main" val="4152978116"/>
                    </a:ext>
                  </a:extLst>
                </a:gridCol>
                <a:gridCol w="2334827">
                  <a:extLst>
                    <a:ext uri="{9D8B030D-6E8A-4147-A177-3AD203B41FA5}">
                      <a16:colId xmlns:a16="http://schemas.microsoft.com/office/drawing/2014/main" val="3661583754"/>
                    </a:ext>
                  </a:extLst>
                </a:gridCol>
              </a:tblGrid>
              <a:tr h="613092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750"/>
                        </a:spcBef>
                        <a:spcAft>
                          <a:spcPts val="75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924764"/>
                  </a:ext>
                </a:extLst>
              </a:tr>
              <a:tr h="5424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Size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Field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extLst>
                  <a:ext uri="{0D108BD9-81ED-4DB2-BD59-A6C34878D82A}">
                    <a16:rowId xmlns:a16="http://schemas.microsoft.com/office/drawing/2014/main" val="1441485701"/>
                  </a:ext>
                </a:extLst>
              </a:tr>
              <a:tr h="1106852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 bytes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Block Size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The size of the block, in bytes, following this field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extLst>
                  <a:ext uri="{0D108BD9-81ED-4DB2-BD59-A6C34878D82A}">
                    <a16:rowId xmlns:a16="http://schemas.microsoft.com/office/drawing/2014/main" val="2338998376"/>
                  </a:ext>
                </a:extLst>
              </a:tr>
              <a:tr h="95925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80 bytes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Block Header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Several fields form the block header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extLst>
                  <a:ext uri="{0D108BD9-81ED-4DB2-BD59-A6C34878D82A}">
                    <a16:rowId xmlns:a16="http://schemas.microsoft.com/office/drawing/2014/main" val="2264148103"/>
                  </a:ext>
                </a:extLst>
              </a:tr>
              <a:tr h="95925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1–9 bytes (VarInt)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Transaction Counter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How many transactions follow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extLst>
                  <a:ext uri="{0D108BD9-81ED-4DB2-BD59-A6C34878D82A}">
                    <a16:rowId xmlns:a16="http://schemas.microsoft.com/office/drawing/2014/main" val="1325978152"/>
                  </a:ext>
                </a:extLst>
              </a:tr>
              <a:tr h="959257"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Variable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Transactions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The transactions recorded in this block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1704" marR="51704" marT="51704" marB="51704" anchor="ctr"/>
                </a:tc>
                <a:extLst>
                  <a:ext uri="{0D108BD9-81ED-4DB2-BD59-A6C34878D82A}">
                    <a16:rowId xmlns:a16="http://schemas.microsoft.com/office/drawing/2014/main" val="765197186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03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16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1390" y="0"/>
            <a:ext cx="6690610" cy="7082852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A user/sender generates  a transaction using a wallet software or some other interface.</a:t>
            </a:r>
          </a:p>
          <a:p>
            <a:pPr lvl="0"/>
            <a:r>
              <a:rPr lang="en-US" sz="2800" dirty="0"/>
              <a:t>The wallet software signs the transaction using the sender's private key.</a:t>
            </a:r>
          </a:p>
          <a:p>
            <a:pPr lvl="0"/>
            <a:r>
              <a:rPr lang="en-US" sz="2800" dirty="0"/>
              <a:t>The transaction is broadcasted to the blockchain network using a flooding algorithm.</a:t>
            </a:r>
          </a:p>
          <a:p>
            <a:pPr lvl="0"/>
            <a:r>
              <a:rPr lang="en-US" sz="2800" dirty="0"/>
              <a:t>Mining nodes include this transaction in the next (candidate) block to be mined.</a:t>
            </a:r>
          </a:p>
          <a:p>
            <a:pPr lvl="0"/>
            <a:r>
              <a:rPr lang="en-US" sz="2800" dirty="0"/>
              <a:t>Mining starts on a new block once the last (previous) has been broadcasted by a (winner) node that succeeded in solving the “Proof of 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9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8807" y="0"/>
            <a:ext cx="6505731" cy="6857999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The nodes verify the transaction and propagate the transaction further, and confirmation starts to generate.</a:t>
            </a:r>
          </a:p>
          <a:p>
            <a:pPr lvl="0"/>
            <a:r>
              <a:rPr lang="en-US" sz="2800" dirty="0"/>
              <a:t>Each mining node creates a block and add transactions to the block</a:t>
            </a:r>
          </a:p>
          <a:p>
            <a:pPr lvl="0"/>
            <a:r>
              <a:rPr lang="en-US" sz="2800" dirty="0"/>
              <a:t>Miner nodes compete to verify the block</a:t>
            </a:r>
          </a:p>
          <a:p>
            <a:pPr lvl="0"/>
            <a:r>
              <a:rPr lang="en-US" sz="2800" dirty="0"/>
              <a:t>The first node that confirms the block (through proof of work) broadcasts the confirmed block</a:t>
            </a:r>
          </a:p>
          <a:p>
            <a:pPr lvl="0"/>
            <a:r>
              <a:rPr lang="en-US" sz="2800" dirty="0"/>
              <a:t>All other nodes stop mining and focus on verifying the confirmed block</a:t>
            </a:r>
          </a:p>
          <a:p>
            <a:pPr lvl="0"/>
            <a:r>
              <a:rPr lang="en-US" sz="2800" dirty="0"/>
              <a:t>All transactions in the block are added to the ledger</a:t>
            </a:r>
          </a:p>
          <a:p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46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1653" y="-78698"/>
            <a:ext cx="6495409" cy="6936697"/>
          </a:xfrm>
        </p:spPr>
        <p:txBody>
          <a:bodyPr>
            <a:noAutofit/>
          </a:bodyPr>
          <a:lstStyle/>
          <a:p>
            <a:pPr lvl="0"/>
            <a:r>
              <a:rPr lang="en-US" sz="2400" dirty="0"/>
              <a:t>The Mining process is performed approximately, every 10 minutes in Bitcoin</a:t>
            </a:r>
          </a:p>
          <a:p>
            <a:pPr lvl="0"/>
            <a:r>
              <a:rPr lang="en-US" sz="2400" dirty="0"/>
              <a:t>All transactions generated during this period are packed into a “Block”, simultaneously on every mining node. (every node generates its version of the block – only the block of the winner node is propagated)</a:t>
            </a:r>
          </a:p>
          <a:p>
            <a:pPr lvl="0"/>
            <a:r>
              <a:rPr lang="en-US" sz="2400" dirty="0"/>
              <a:t>Miner nodes compete to mine that Block (every node tries to generate a cryptographic hash of the block header that matches a “target” solution  pre-specified by the system. </a:t>
            </a:r>
          </a:p>
          <a:p>
            <a:pPr lvl="0"/>
            <a:r>
              <a:rPr lang="en-US" sz="2400" dirty="0"/>
              <a:t>This is usually a difficult (hard)  problem that requires considerable time and computational resources. Solving this problem is the “Proof of Wok (POW)”, which strengthens the security of the network.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68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175" y="685801"/>
            <a:ext cx="6194048" cy="5175250"/>
          </a:xfrm>
        </p:spPr>
        <p:txBody>
          <a:bodyPr/>
          <a:lstStyle/>
          <a:p>
            <a:pPr lvl="0"/>
            <a:r>
              <a:rPr lang="en-US" sz="2800" dirty="0"/>
              <a:t>Although thousands of nodes will be working in parallel (every 10 minutes, on average) to mine the current block, eventually there is only one winner: the first node to propagate the mined block. </a:t>
            </a:r>
          </a:p>
          <a:p>
            <a:pPr lvl="0"/>
            <a:r>
              <a:rPr lang="en-US" sz="2800" dirty="0"/>
              <a:t>On receiving the winning block, all other nodes stop working on the current block, and immediately start working on the next block.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8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Emergent Consensus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8325" y="685801"/>
            <a:ext cx="6305909" cy="5954842"/>
          </a:xfrm>
        </p:spPr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sz="2400" dirty="0"/>
              <a:t>Consensus emerges as a result of four processes:</a:t>
            </a:r>
          </a:p>
          <a:p>
            <a:pPr lvl="0" fontAlgn="base"/>
            <a:r>
              <a:rPr lang="en-US" sz="2400" dirty="0"/>
              <a:t>Independent verification of each transaction, by every full node, based on a list of criteria</a:t>
            </a:r>
          </a:p>
          <a:p>
            <a:pPr lvl="0" fontAlgn="base"/>
            <a:r>
              <a:rPr lang="en-US" sz="2400" dirty="0"/>
              <a:t>Independent aggregation of those transactions into new blocks by mining nodes, coupled with demonstrated computation through a Proof-of-Work algorithm</a:t>
            </a:r>
          </a:p>
          <a:p>
            <a:pPr lvl="0" fontAlgn="base"/>
            <a:r>
              <a:rPr lang="en-US" sz="2400" dirty="0"/>
              <a:t>Independent verification of the new blocks by every node and assembly into a chain</a:t>
            </a:r>
          </a:p>
          <a:p>
            <a:pPr lvl="0" fontAlgn="base"/>
            <a:r>
              <a:rPr lang="en-US" sz="2400" dirty="0"/>
              <a:t>Acceptance by every node, of the chain with the most cumulative computation demonstrated through Proof-of-Work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93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C625-C1AB-67C9-7052-422CBFAF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F56F-64D9-34EA-8C95-600E86AA9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Decentralization</a:t>
            </a:r>
            <a:r>
              <a:rPr lang="en-US" sz="1800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In simple terms, this means that the application or service continues to be available and usable even if a server or a group of servers on a network crashes or is not available. The service or application is deployed on a network in a way that no server has absolute control over data and execution; rather, each server has a current copy of data and execution logic.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Distributed</a:t>
            </a:r>
            <a:r>
              <a:rPr lang="en-US" sz="1800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This means that any server or node on a network is connected to every other node on the network. Rather than having one-to-one or one-to-many connectivity between servers, servers have many-to-many connections with other servers.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Database</a:t>
            </a:r>
            <a:r>
              <a:rPr lang="en-US" sz="1800" dirty="0">
                <a:solidFill>
                  <a:srgbClr val="222222"/>
                </a:solidFill>
                <a:effectLst/>
                <a:latin typeface="Noto Serif" panose="02020600060500020200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This refers to the location for storing durable data that can be accessed at any point in time. A database allows the storage and retrieval of data as functionality and also provides management functionalities to manage data efficiently, such as exporting, importing, backup, and restoration.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95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B455-FCC8-8E5F-6150-7A3D9E7A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Architectutre</a:t>
            </a:r>
            <a:endParaRPr lang="en-US" dirty="0"/>
          </a:p>
        </p:txBody>
      </p:sp>
      <p:pic>
        <p:nvPicPr>
          <p:cNvPr id="4" name="Content Placeholder 3" descr="Figure 1.1 – A blockchain is essentially a chain of blocks&#10; &#10;">
            <a:extLst>
              <a:ext uri="{FF2B5EF4-FFF2-40B4-BE49-F238E27FC236}">
                <a16:creationId xmlns:a16="http://schemas.microsoft.com/office/drawing/2014/main" id="{4912935E-C5FF-37C3-BB6C-A5818C295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089" y="2038447"/>
            <a:ext cx="8503110" cy="3622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748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C925-D917-B7D2-DEBE-921EAFF8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4" name="Content Placeholder 3" descr="Figure 1.4 – The relationship between blockchain and mining&#10;">
            <a:extLst>
              <a:ext uri="{FF2B5EF4-FFF2-40B4-BE49-F238E27FC236}">
                <a16:creationId xmlns:a16="http://schemas.microsoft.com/office/drawing/2014/main" id="{EC54DF8A-5636-25CD-5270-C619CCB11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57" y="1768979"/>
            <a:ext cx="10672305" cy="4392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952013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23350</TotalTime>
  <Words>1269</Words>
  <Application>Microsoft Office PowerPoint</Application>
  <PresentationFormat>Widescreen</PresentationFormat>
  <Paragraphs>103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Calibri</vt:lpstr>
      <vt:lpstr>Franklin Gothic Book</vt:lpstr>
      <vt:lpstr>Noto Serif</vt:lpstr>
      <vt:lpstr>Symbol</vt:lpstr>
      <vt:lpstr>Crop</vt:lpstr>
      <vt:lpstr>Blockchain Overview</vt:lpstr>
      <vt:lpstr>How it all Came About</vt:lpstr>
      <vt:lpstr>Reading through the Paper: Motivations &amp; Objectives</vt:lpstr>
      <vt:lpstr>The Peer to Peer Network</vt:lpstr>
      <vt:lpstr>Block Structure in Bitcoin</vt:lpstr>
      <vt:lpstr>Block Header</vt:lpstr>
      <vt:lpstr>The Hash Fields in the Header</vt:lpstr>
      <vt:lpstr>Peer to Peer Network</vt:lpstr>
      <vt:lpstr>Digital Signatures</vt:lpstr>
      <vt:lpstr>Double Spending </vt:lpstr>
      <vt:lpstr>Transactions</vt:lpstr>
      <vt:lpstr>Hash-Based Proof of Work</vt:lpstr>
      <vt:lpstr>What is Blockchain?</vt:lpstr>
      <vt:lpstr>Many other Definitions</vt:lpstr>
      <vt:lpstr>The Blockchain Structure</vt:lpstr>
      <vt:lpstr>Some Example Transactions from Bitcoin</vt:lpstr>
      <vt:lpstr>Block Structure</vt:lpstr>
      <vt:lpstr>How it Works?</vt:lpstr>
      <vt:lpstr>Transaction Life Cycle</vt:lpstr>
      <vt:lpstr>Transaction Life Cycle</vt:lpstr>
      <vt:lpstr>The Mining Process</vt:lpstr>
      <vt:lpstr>The Mining Process</vt:lpstr>
      <vt:lpstr>Emergent Consensus</vt:lpstr>
      <vt:lpstr>Features</vt:lpstr>
      <vt:lpstr>Architectutre</vt:lpstr>
      <vt:lpstr>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Overview</dc:title>
  <dc:creator>Mohammed EL-Affendi</dc:creator>
  <cp:lastModifiedBy>Prof Mohammed ELAffendi</cp:lastModifiedBy>
  <cp:revision>15</cp:revision>
  <dcterms:created xsi:type="dcterms:W3CDTF">2019-09-29T07:22:01Z</dcterms:created>
  <dcterms:modified xsi:type="dcterms:W3CDTF">2026-04-01T08:31:33Z</dcterms:modified>
</cp:coreProperties>
</file>