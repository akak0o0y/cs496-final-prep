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84" r:id="rId3"/>
    <p:sldId id="285" r:id="rId4"/>
    <p:sldId id="286" r:id="rId5"/>
    <p:sldId id="287" r:id="rId6"/>
    <p:sldId id="257" r:id="rId7"/>
    <p:sldId id="258" r:id="rId8"/>
    <p:sldId id="259" r:id="rId9"/>
    <p:sldId id="260" r:id="rId10"/>
    <p:sldId id="264" r:id="rId11"/>
    <p:sldId id="261" r:id="rId12"/>
    <p:sldId id="263" r:id="rId13"/>
    <p:sldId id="262"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3" r:id="rId32"/>
    <p:sldId id="282"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4" d="100"/>
          <a:sy n="84" d="100"/>
        </p:scale>
        <p:origin x="658"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10/28/2025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10/28/2025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10/28/2025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10/28/2025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10/28/2025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10/28/2025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10/28/2025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10/28/2025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10/28/2025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investopedia.com/terms/b/blockchain.asp"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coinmarketcap.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ethereum.org/ph/upgrades/merge/" TargetMode="External"/><Relationship Id="rId2" Type="http://schemas.openxmlformats.org/officeDocument/2006/relationships/hyperlink" Target="https://ethereum.org/ph/developers/docs/consensus-mechanisms/pos/" TargetMode="External"/><Relationship Id="rId1" Type="http://schemas.openxmlformats.org/officeDocument/2006/relationships/slideLayout" Target="../slideLayouts/slideLayout2.xml"/><Relationship Id="rId4" Type="http://schemas.openxmlformats.org/officeDocument/2006/relationships/hyperlink" Target="https://ethereum.org/ph/stak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Ethereum: How It Works?</a:t>
            </a:r>
          </a:p>
        </p:txBody>
      </p:sp>
      <p:sp>
        <p:nvSpPr>
          <p:cNvPr id="3" name="Subtitle 2"/>
          <p:cNvSpPr>
            <a:spLocks noGrp="1"/>
          </p:cNvSpPr>
          <p:nvPr>
            <p:ph type="subTitle" idx="1"/>
          </p:nvPr>
        </p:nvSpPr>
        <p:spPr/>
        <p:txBody>
          <a:bodyPr/>
          <a:lstStyle/>
          <a:p>
            <a:r>
              <a:rPr lang="en-US" dirty="0"/>
              <a:t>Part 1</a:t>
            </a:r>
          </a:p>
        </p:txBody>
      </p:sp>
    </p:spTree>
    <p:extLst>
      <p:ext uri="{BB962C8B-B14F-4D97-AF65-F5344CB8AC3E}">
        <p14:creationId xmlns:p14="http://schemas.microsoft.com/office/powerpoint/2010/main" val="2964754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4AF25-23B3-6D4D-2EAD-5CB7873AC0EF}"/>
              </a:ext>
            </a:extLst>
          </p:cNvPr>
          <p:cNvSpPr>
            <a:spLocks noGrp="1"/>
          </p:cNvSpPr>
          <p:nvPr>
            <p:ph type="title"/>
          </p:nvPr>
        </p:nvSpPr>
        <p:spPr/>
        <p:txBody>
          <a:bodyPr/>
          <a:lstStyle/>
          <a:p>
            <a:r>
              <a:rPr lang="en-US" dirty="0"/>
              <a:t>What is Ethereum?</a:t>
            </a:r>
          </a:p>
        </p:txBody>
      </p:sp>
      <p:sp>
        <p:nvSpPr>
          <p:cNvPr id="3" name="Content Placeholder 2">
            <a:extLst>
              <a:ext uri="{FF2B5EF4-FFF2-40B4-BE49-F238E27FC236}">
                <a16:creationId xmlns:a16="http://schemas.microsoft.com/office/drawing/2014/main" id="{CB835C1D-AB05-153D-0377-EA0DCB6A271A}"/>
              </a:ext>
            </a:extLst>
          </p:cNvPr>
          <p:cNvSpPr>
            <a:spLocks noGrp="1"/>
          </p:cNvSpPr>
          <p:nvPr>
            <p:ph idx="1"/>
          </p:nvPr>
        </p:nvSpPr>
        <p:spPr/>
        <p:txBody>
          <a:bodyPr/>
          <a:lstStyle/>
          <a:p>
            <a:r>
              <a:rPr lang="en-US" dirty="0"/>
              <a:t>Ethereum is a revolutionary global software platform driven by </a:t>
            </a:r>
            <a:r>
              <a:rPr lang="en-US" u="sng" dirty="0">
                <a:hlinkClick r:id="rId2"/>
              </a:rPr>
              <a:t>blockchain technology</a:t>
            </a:r>
            <a:r>
              <a:rPr lang="en-US" dirty="0"/>
              <a:t>. Known for its native cryptocurrency, ether (ETH), </a:t>
            </a:r>
          </a:p>
          <a:p>
            <a:r>
              <a:rPr lang="en-US" dirty="0"/>
              <a:t>Ethereum is pivotal in the world of blockchain and decentralized finance. It is designed to be scalable, programmable, secure, and decentralized, allowing anyone to develop secure digital technologies. </a:t>
            </a:r>
          </a:p>
          <a:p>
            <a:r>
              <a:rPr lang="en-US" dirty="0"/>
              <a:t>Ether is utilized to power the blockchain and can also be used for payments across platforms that accept it.</a:t>
            </a:r>
          </a:p>
        </p:txBody>
      </p:sp>
    </p:spTree>
    <p:extLst>
      <p:ext uri="{BB962C8B-B14F-4D97-AF65-F5344CB8AC3E}">
        <p14:creationId xmlns:p14="http://schemas.microsoft.com/office/powerpoint/2010/main" val="3179225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19D42-4FDE-DD63-F310-6A68899A7C38}"/>
              </a:ext>
            </a:extLst>
          </p:cNvPr>
          <p:cNvSpPr>
            <a:spLocks noGrp="1"/>
          </p:cNvSpPr>
          <p:nvPr>
            <p:ph type="title"/>
          </p:nvPr>
        </p:nvSpPr>
        <p:spPr/>
        <p:txBody>
          <a:bodyPr/>
          <a:lstStyle/>
          <a:p>
            <a:r>
              <a:rPr lang="en-US" dirty="0"/>
              <a:t>What is Ethereum</a:t>
            </a:r>
          </a:p>
        </p:txBody>
      </p:sp>
      <p:pic>
        <p:nvPicPr>
          <p:cNvPr id="5" name="Content Placeholder 4">
            <a:extLst>
              <a:ext uri="{FF2B5EF4-FFF2-40B4-BE49-F238E27FC236}">
                <a16:creationId xmlns:a16="http://schemas.microsoft.com/office/drawing/2014/main" id="{DCD8B47E-4D84-B10D-F7B1-17695A3E074A}"/>
              </a:ext>
            </a:extLst>
          </p:cNvPr>
          <p:cNvPicPr>
            <a:picLocks noGrp="1" noChangeAspect="1"/>
          </p:cNvPicPr>
          <p:nvPr>
            <p:ph idx="1"/>
          </p:nvPr>
        </p:nvPicPr>
        <p:blipFill>
          <a:blip r:embed="rId2"/>
          <a:stretch>
            <a:fillRect/>
          </a:stretch>
        </p:blipFill>
        <p:spPr>
          <a:xfrm>
            <a:off x="2220685" y="1442357"/>
            <a:ext cx="8752115" cy="5285433"/>
          </a:xfrm>
          <a:prstGeom prst="rect">
            <a:avLst/>
          </a:prstGeom>
        </p:spPr>
      </p:pic>
    </p:spTree>
    <p:extLst>
      <p:ext uri="{BB962C8B-B14F-4D97-AF65-F5344CB8AC3E}">
        <p14:creationId xmlns:p14="http://schemas.microsoft.com/office/powerpoint/2010/main" val="757428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0792F-3727-71D6-81DB-2720F6AE7A7B}"/>
              </a:ext>
            </a:extLst>
          </p:cNvPr>
          <p:cNvSpPr>
            <a:spLocks noGrp="1"/>
          </p:cNvSpPr>
          <p:nvPr>
            <p:ph type="title"/>
          </p:nvPr>
        </p:nvSpPr>
        <p:spPr/>
        <p:txBody>
          <a:bodyPr/>
          <a:lstStyle/>
          <a:p>
            <a:r>
              <a:rPr lang="en-US" dirty="0"/>
              <a:t>A Bit of History</a:t>
            </a:r>
          </a:p>
        </p:txBody>
      </p:sp>
      <p:sp>
        <p:nvSpPr>
          <p:cNvPr id="3" name="Content Placeholder 2">
            <a:extLst>
              <a:ext uri="{FF2B5EF4-FFF2-40B4-BE49-F238E27FC236}">
                <a16:creationId xmlns:a16="http://schemas.microsoft.com/office/drawing/2014/main" id="{858DAFD3-0C2A-19D1-902B-8152C17839D0}"/>
              </a:ext>
            </a:extLst>
          </p:cNvPr>
          <p:cNvSpPr>
            <a:spLocks noGrp="1"/>
          </p:cNvSpPr>
          <p:nvPr>
            <p:ph idx="1"/>
          </p:nvPr>
        </p:nvSpPr>
        <p:spPr>
          <a:xfrm>
            <a:off x="1371600" y="1737360"/>
            <a:ext cx="9601200" cy="4130040"/>
          </a:xfrm>
        </p:spPr>
        <p:txBody>
          <a:bodyPr/>
          <a:lstStyle/>
          <a:p>
            <a:r>
              <a:rPr lang="en-US" dirty="0"/>
              <a:t>Vitalik Buterin, credited with conceiving Ethereum, published a white paper introducing it in 2014.1 Ethereum was launched in 2015 by Buterin and Joe Lubin, the founder of ConsenSys, a blockchain software company.</a:t>
            </a:r>
          </a:p>
          <a:p>
            <a:r>
              <a:rPr lang="en-US" dirty="0"/>
              <a:t>The founders of Ethereum were among the first to consider the full potential of blockchain technology beyond just enabling a secure virtual payment method.</a:t>
            </a:r>
          </a:p>
          <a:p>
            <a:pPr fontAlgn="base"/>
            <a:r>
              <a:rPr lang="en-US" dirty="0"/>
              <a:t>Since its launch, Ether has become the second-largest cryptocurrency by market value. It is outranked only by Bitcoin.</a:t>
            </a:r>
          </a:p>
          <a:p>
            <a:pPr fontAlgn="base"/>
            <a:r>
              <a:rPr lang="en-US" dirty="0" err="1"/>
              <a:t>CoinMarketCap</a:t>
            </a:r>
            <a:r>
              <a:rPr lang="en-US" dirty="0"/>
              <a:t>. "</a:t>
            </a:r>
            <a:r>
              <a:rPr lang="en-US" u="sng" dirty="0">
                <a:hlinkClick r:id="rId2"/>
              </a:rPr>
              <a:t>Today's Cryptocurrency Prices by Market Cap</a:t>
            </a:r>
            <a:r>
              <a:rPr lang="en-US" dirty="0"/>
              <a:t>."</a:t>
            </a:r>
          </a:p>
          <a:p>
            <a:endParaRPr lang="en-US" dirty="0"/>
          </a:p>
        </p:txBody>
      </p:sp>
    </p:spTree>
    <p:extLst>
      <p:ext uri="{BB962C8B-B14F-4D97-AF65-F5344CB8AC3E}">
        <p14:creationId xmlns:p14="http://schemas.microsoft.com/office/powerpoint/2010/main" val="2639848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7F454-1A99-A7B8-900F-1D7AE42CFE2D}"/>
              </a:ext>
            </a:extLst>
          </p:cNvPr>
          <p:cNvSpPr>
            <a:spLocks noGrp="1"/>
          </p:cNvSpPr>
          <p:nvPr>
            <p:ph type="title"/>
          </p:nvPr>
        </p:nvSpPr>
        <p:spPr>
          <a:xfrm>
            <a:off x="1295400" y="91440"/>
            <a:ext cx="9601200" cy="832104"/>
          </a:xfrm>
        </p:spPr>
        <p:txBody>
          <a:bodyPr/>
          <a:lstStyle/>
          <a:p>
            <a:r>
              <a:rPr lang="en-US" dirty="0"/>
              <a:t>How it Works: Overview</a:t>
            </a:r>
          </a:p>
        </p:txBody>
      </p:sp>
      <p:sp>
        <p:nvSpPr>
          <p:cNvPr id="3" name="Content Placeholder 2">
            <a:extLst>
              <a:ext uri="{FF2B5EF4-FFF2-40B4-BE49-F238E27FC236}">
                <a16:creationId xmlns:a16="http://schemas.microsoft.com/office/drawing/2014/main" id="{1AE5A093-18FA-429E-274A-A4F32AB82D1A}"/>
              </a:ext>
            </a:extLst>
          </p:cNvPr>
          <p:cNvSpPr>
            <a:spLocks noGrp="1"/>
          </p:cNvSpPr>
          <p:nvPr>
            <p:ph idx="1"/>
          </p:nvPr>
        </p:nvSpPr>
        <p:spPr>
          <a:xfrm>
            <a:off x="969264" y="804672"/>
            <a:ext cx="10808208" cy="5961888"/>
          </a:xfrm>
        </p:spPr>
        <p:txBody>
          <a:bodyPr>
            <a:normAutofit lnSpcReduction="10000"/>
          </a:bodyPr>
          <a:lstStyle/>
          <a:p>
            <a:r>
              <a:rPr lang="en-US" sz="2400" dirty="0"/>
              <a:t>Ethereum operates on a blockchain, a type of distributed ledger similar to a database. </a:t>
            </a:r>
          </a:p>
          <a:p>
            <a:r>
              <a:rPr lang="en-US" sz="2400" dirty="0"/>
              <a:t>Information is stored in blocks, each containing encoded data from the block before it (hash of previous block)  and the new information. </a:t>
            </a:r>
          </a:p>
          <a:p>
            <a:r>
              <a:rPr lang="en-US" sz="2400" dirty="0"/>
              <a:t>This creates an encoded chain of information that cannot be changed. Throughout the blockchain network, an identical copy of the blockchain is distributed.</a:t>
            </a:r>
          </a:p>
          <a:p>
            <a:r>
              <a:rPr lang="en-US" sz="2400" dirty="0"/>
              <a:t>Each cell, or block, is created with new ether tokens awarded to the validator for the work required to validate the information in one block and propose a new one. The ether is assigned to the validator's address.</a:t>
            </a:r>
          </a:p>
          <a:p>
            <a:r>
              <a:rPr lang="en-US" sz="2400" dirty="0"/>
              <a:t>The network's automated programs validate a new block by reaching a consensus on its transaction information. </a:t>
            </a:r>
          </a:p>
          <a:p>
            <a:r>
              <a:rPr lang="en-US" sz="2400" dirty="0"/>
              <a:t>On the Ethereum blockchain, consensus is reached after the data and hash are passed between the consensus layer and the execution layer. </a:t>
            </a:r>
          </a:p>
          <a:p>
            <a:r>
              <a:rPr lang="en-US" sz="2400" dirty="0"/>
              <a:t>Enough validators must demonstrate that they all had the same comparative results, and the block becomes finalized.</a:t>
            </a:r>
          </a:p>
          <a:p>
            <a:endParaRPr lang="en-US" dirty="0"/>
          </a:p>
        </p:txBody>
      </p:sp>
    </p:spTree>
    <p:extLst>
      <p:ext uri="{BB962C8B-B14F-4D97-AF65-F5344CB8AC3E}">
        <p14:creationId xmlns:p14="http://schemas.microsoft.com/office/powerpoint/2010/main" val="502024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Accounts</a:t>
            </a:r>
          </a:p>
        </p:txBody>
      </p:sp>
      <p:sp>
        <p:nvSpPr>
          <p:cNvPr id="3" name="Content Placeholder 2"/>
          <p:cNvSpPr>
            <a:spLocks noGrp="1"/>
          </p:cNvSpPr>
          <p:nvPr>
            <p:ph idx="1"/>
          </p:nvPr>
        </p:nvSpPr>
        <p:spPr/>
        <p:txBody>
          <a:bodyPr/>
          <a:lstStyle/>
          <a:p>
            <a:pPr marL="0" indent="0">
              <a:buNone/>
            </a:pPr>
            <a:r>
              <a:rPr lang="en-US" dirty="0"/>
              <a:t>Two Types of Accounts:</a:t>
            </a:r>
          </a:p>
          <a:p>
            <a:r>
              <a:rPr lang="en-US" dirty="0"/>
              <a:t>External Accounts, which are </a:t>
            </a:r>
            <a:r>
              <a:rPr lang="en-US" b="1" dirty="0"/>
              <a:t>controlled by private keys </a:t>
            </a:r>
            <a:r>
              <a:rPr lang="en-US" dirty="0"/>
              <a:t>and have </a:t>
            </a:r>
            <a:r>
              <a:rPr lang="en-US" b="1" dirty="0"/>
              <a:t>no code associated with them.</a:t>
            </a:r>
            <a:endParaRPr lang="en-US" dirty="0"/>
          </a:p>
          <a:p>
            <a:r>
              <a:rPr lang="en-US" dirty="0"/>
              <a:t>Contract Accounts, which are </a:t>
            </a:r>
            <a:r>
              <a:rPr lang="en-US" b="1" dirty="0"/>
              <a:t>controlled by their contract code </a:t>
            </a:r>
            <a:r>
              <a:rPr lang="en-US" dirty="0"/>
              <a:t>and </a:t>
            </a:r>
            <a:r>
              <a:rPr lang="en-US" b="1" dirty="0"/>
              <a:t>have code associated with them.</a:t>
            </a:r>
            <a:endParaRPr lang="en-US" dirty="0"/>
          </a:p>
          <a:p>
            <a:endParaRPr lang="en-US" dirty="0"/>
          </a:p>
        </p:txBody>
      </p:sp>
      <p:sp>
        <p:nvSpPr>
          <p:cNvPr id="4" name="Text Placeholder 3"/>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035110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Accounts</a:t>
            </a:r>
          </a:p>
        </p:txBody>
      </p:sp>
      <p:sp>
        <p:nvSpPr>
          <p:cNvPr id="3" name="Content Placeholder 2"/>
          <p:cNvSpPr>
            <a:spLocks noGrp="1"/>
          </p:cNvSpPr>
          <p:nvPr>
            <p:ph idx="1"/>
          </p:nvPr>
        </p:nvSpPr>
        <p:spPr/>
        <p:txBody>
          <a:bodyPr/>
          <a:lstStyle/>
          <a:p>
            <a:r>
              <a:rPr lang="en-US" b="1" dirty="0"/>
              <a:t>An external account can send messages to other externally owned accounts OR to other contract accounts by creating and signing a transaction using its private key.</a:t>
            </a:r>
          </a:p>
          <a:p>
            <a:r>
              <a:rPr lang="en-US" dirty="0"/>
              <a:t> A message between two external accounts   is usually a value transfer (like Bitcoin) </a:t>
            </a:r>
          </a:p>
          <a:p>
            <a:r>
              <a:rPr lang="en-US" dirty="0"/>
              <a:t>A message from an external account to a contract account activates the contract account’s code, allowing it to perform various actions </a:t>
            </a:r>
          </a:p>
        </p:txBody>
      </p:sp>
      <p:sp>
        <p:nvSpPr>
          <p:cNvPr id="4" name="Text Placeholder 3"/>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1394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Contract Accounts</a:t>
            </a:r>
          </a:p>
        </p:txBody>
      </p:sp>
      <p:sp>
        <p:nvSpPr>
          <p:cNvPr id="3" name="Content Placeholder 2"/>
          <p:cNvSpPr>
            <a:spLocks noGrp="1"/>
          </p:cNvSpPr>
          <p:nvPr>
            <p:ph idx="1"/>
          </p:nvPr>
        </p:nvSpPr>
        <p:spPr/>
        <p:txBody>
          <a:bodyPr/>
          <a:lstStyle/>
          <a:p>
            <a:r>
              <a:rPr lang="en-US" b="1" dirty="0"/>
              <a:t>Contract accounts  cannot initiate new transactions on their own.</a:t>
            </a:r>
            <a:r>
              <a:rPr lang="en-US" dirty="0"/>
              <a:t> </a:t>
            </a:r>
          </a:p>
          <a:p>
            <a:r>
              <a:rPr lang="en-US" dirty="0"/>
              <a:t>They can only fire transactions in response to other transactions they receive from external accounts. </a:t>
            </a:r>
          </a:p>
        </p:txBody>
      </p:sp>
      <p:sp>
        <p:nvSpPr>
          <p:cNvPr id="4" name="Text Placeholder 3"/>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580102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Account State</a:t>
            </a:r>
          </a:p>
        </p:txBody>
      </p:sp>
      <p:sp>
        <p:nvSpPr>
          <p:cNvPr id="3" name="Content Placeholder 2"/>
          <p:cNvSpPr>
            <a:spLocks noGrp="1"/>
          </p:cNvSpPr>
          <p:nvPr>
            <p:ph idx="1"/>
          </p:nvPr>
        </p:nvSpPr>
        <p:spPr>
          <a:xfrm>
            <a:off x="6016752" y="0"/>
            <a:ext cx="5998464" cy="6565391"/>
          </a:xfrm>
        </p:spPr>
        <p:txBody>
          <a:bodyPr>
            <a:normAutofit/>
          </a:bodyPr>
          <a:lstStyle/>
          <a:p>
            <a:pPr marL="0" indent="0">
              <a:buNone/>
            </a:pPr>
            <a:r>
              <a:rPr lang="en-US" b="1" dirty="0"/>
              <a:t>He State of  the Account Consists of Four Components</a:t>
            </a:r>
          </a:p>
          <a:p>
            <a:r>
              <a:rPr lang="en-US" b="1" dirty="0"/>
              <a:t>nonce</a:t>
            </a:r>
            <a:r>
              <a:rPr lang="en-US" dirty="0"/>
              <a:t>: for external accounts, this number represents the number of transactions sent from the account’s address. For contract accounts, the nonce is the number of contracts created by the account.</a:t>
            </a:r>
          </a:p>
          <a:p>
            <a:r>
              <a:rPr lang="en-US" b="1" dirty="0"/>
              <a:t>balance</a:t>
            </a:r>
            <a:r>
              <a:rPr lang="en-US" dirty="0"/>
              <a:t>: The number of Wei owned by this address. </a:t>
            </a:r>
          </a:p>
          <a:p>
            <a:r>
              <a:rPr lang="en-US" b="1" dirty="0" err="1"/>
              <a:t>storageRoot</a:t>
            </a:r>
            <a:r>
              <a:rPr lang="en-US" dirty="0"/>
              <a:t>: A hash of the root node of a Merkle  Tree that encodes the hash of the storage contents of this account (default: empty).</a:t>
            </a:r>
          </a:p>
          <a:p>
            <a:r>
              <a:rPr lang="en-US" b="1" dirty="0" err="1"/>
              <a:t>codeHash</a:t>
            </a:r>
            <a:r>
              <a:rPr lang="en-US" dirty="0"/>
              <a:t>: The hash of the EVM (Ethereum Virtual Machine ) code of this account. For contract accounts, this is the code that gets hashed and stored as the </a:t>
            </a:r>
            <a:r>
              <a:rPr lang="en-US" b="1" dirty="0" err="1"/>
              <a:t>codeHash</a:t>
            </a:r>
            <a:r>
              <a:rPr lang="en-US" dirty="0"/>
              <a:t>. For external accounts, the </a:t>
            </a:r>
            <a:r>
              <a:rPr lang="en-US" b="1" dirty="0" err="1"/>
              <a:t>codeHash</a:t>
            </a:r>
            <a:r>
              <a:rPr lang="en-US" dirty="0"/>
              <a:t> field is the hash of the empty string.</a:t>
            </a:r>
          </a:p>
          <a:p>
            <a:endParaRPr lang="en-US" dirty="0"/>
          </a:p>
        </p:txBody>
      </p:sp>
      <p:sp>
        <p:nvSpPr>
          <p:cNvPr id="4" name="Text Placeholder 3"/>
          <p:cNvSpPr>
            <a:spLocks noGrp="1"/>
          </p:cNvSpPr>
          <p:nvPr>
            <p:ph type="body" sz="half" idx="2"/>
          </p:nvPr>
        </p:nvSpPr>
        <p:spPr/>
        <p:txBody>
          <a:bodyPr/>
          <a:lstStyle/>
          <a:p>
            <a:endParaRPr lang="en-US" dirty="0"/>
          </a:p>
        </p:txBody>
      </p:sp>
    </p:spTree>
    <p:extLst>
      <p:ext uri="{BB962C8B-B14F-4D97-AF65-F5344CB8AC3E}">
        <p14:creationId xmlns:p14="http://schemas.microsoft.com/office/powerpoint/2010/main" val="3190527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Sate Tree</a:t>
            </a:r>
          </a:p>
        </p:txBody>
      </p:sp>
      <p:sp>
        <p:nvSpPr>
          <p:cNvPr id="3" name="Content Placeholder 2"/>
          <p:cNvSpPr>
            <a:spLocks noGrp="1"/>
          </p:cNvSpPr>
          <p:nvPr>
            <p:ph idx="1"/>
          </p:nvPr>
        </p:nvSpPr>
        <p:spPr/>
        <p:txBody>
          <a:bodyPr/>
          <a:lstStyle/>
          <a:p>
            <a:r>
              <a:rPr lang="en-US" dirty="0"/>
              <a:t>The state in Ethereum consists of a key-value map</a:t>
            </a:r>
          </a:p>
          <a:p>
            <a:r>
              <a:rPr lang="en-US" dirty="0"/>
              <a:t>The keys are addresses and the values are account declarations, listing the balance, nonce, code and storage for each account (AS we have seen,  the </a:t>
            </a:r>
            <a:r>
              <a:rPr lang="en-US" i="1" dirty="0"/>
              <a:t>storage is itself a tree</a:t>
            </a:r>
            <a:r>
              <a:rPr lang="en-US" dirty="0"/>
              <a:t>).</a:t>
            </a:r>
          </a:p>
        </p:txBody>
      </p:sp>
      <p:sp>
        <p:nvSpPr>
          <p:cNvPr id="4" name="Text Placeholder 3"/>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646657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Tree</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25312" y="905256"/>
            <a:ext cx="5788152" cy="4590287"/>
          </a:xfrm>
        </p:spPr>
      </p:pic>
      <p:sp>
        <p:nvSpPr>
          <p:cNvPr id="4" name="Text Placeholder 3"/>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500795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Merkle Trees</a:t>
            </a:r>
          </a:p>
        </p:txBody>
      </p:sp>
      <p:sp>
        <p:nvSpPr>
          <p:cNvPr id="3" name="Content Placeholder 2"/>
          <p:cNvSpPr>
            <a:spLocks noGrp="1"/>
          </p:cNvSpPr>
          <p:nvPr>
            <p:ph idx="1"/>
          </p:nvPr>
        </p:nvSpPr>
        <p:spPr/>
        <p:txBody>
          <a:bodyPr/>
          <a:lstStyle/>
          <a:p>
            <a:pPr marL="0" indent="0">
              <a:buNone/>
            </a:pPr>
            <a:r>
              <a:rPr lang="en-US" dirty="0"/>
              <a:t>a way of hashing a large number of “chunks” of data together which relies on splitting the chunks into buckets,</a:t>
            </a:r>
          </a:p>
          <a:p>
            <a:pPr marL="0" indent="0">
              <a:buNone/>
            </a:pPr>
            <a:r>
              <a:rPr lang="en-US" dirty="0"/>
              <a:t>Each bucket contains only a few chunks, </a:t>
            </a:r>
          </a:p>
          <a:p>
            <a:pPr marL="0" indent="0">
              <a:buNone/>
            </a:pPr>
            <a:r>
              <a:rPr lang="en-US" dirty="0"/>
              <a:t>then taking the hash of each bucket and repeating the same process, </a:t>
            </a:r>
          </a:p>
          <a:p>
            <a:pPr marL="0" indent="0">
              <a:buNone/>
            </a:pPr>
            <a:r>
              <a:rPr lang="en-US" dirty="0"/>
              <a:t>continuing to do so until the total number of hashes remaining becomes only one: the root hash.</a:t>
            </a:r>
          </a:p>
        </p:txBody>
      </p:sp>
      <p:sp>
        <p:nvSpPr>
          <p:cNvPr id="4" name="Text Placeholder 3"/>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427766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Merkle Trees</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56338" y="1655488"/>
            <a:ext cx="5211762" cy="3235874"/>
          </a:xfrm>
        </p:spPr>
      </p:pic>
      <p:sp>
        <p:nvSpPr>
          <p:cNvPr id="4" name="Text Placeholder 3"/>
          <p:cNvSpPr>
            <a:spLocks noGrp="1"/>
          </p:cNvSpPr>
          <p:nvPr>
            <p:ph type="body" sz="half" idx="2"/>
          </p:nvPr>
        </p:nvSpPr>
        <p:spPr/>
        <p:txBody>
          <a:bodyPr/>
          <a:lstStyle/>
          <a:p>
            <a:endParaRPr lang="en-US" dirty="0"/>
          </a:p>
        </p:txBody>
      </p:sp>
    </p:spTree>
    <p:extLst>
      <p:ext uri="{BB962C8B-B14F-4D97-AF65-F5344CB8AC3E}">
        <p14:creationId xmlns:p14="http://schemas.microsoft.com/office/powerpoint/2010/main" val="3362656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Merkle Trees</a:t>
            </a:r>
          </a:p>
        </p:txBody>
      </p:sp>
      <p:sp>
        <p:nvSpPr>
          <p:cNvPr id="3" name="Content Placeholder 2"/>
          <p:cNvSpPr>
            <a:spLocks noGrp="1"/>
          </p:cNvSpPr>
          <p:nvPr>
            <p:ph idx="1"/>
          </p:nvPr>
        </p:nvSpPr>
        <p:spPr/>
        <p:txBody>
          <a:bodyPr/>
          <a:lstStyle/>
          <a:p>
            <a:r>
              <a:rPr lang="en-US" dirty="0"/>
              <a:t>a Binary Merkle Tree is a data structure in which each node has at most two children. </a:t>
            </a:r>
          </a:p>
          <a:p>
            <a:r>
              <a:rPr lang="en-US" dirty="0"/>
              <a:t>This implies that  we combine two inputs together to obtain a single output</a:t>
            </a:r>
          </a:p>
        </p:txBody>
      </p:sp>
      <p:sp>
        <p:nvSpPr>
          <p:cNvPr id="4" name="Text Placeholder 3"/>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961971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4" name="Text Placeholder 3"/>
          <p:cNvSpPr>
            <a:spLocks noGrp="1"/>
          </p:cNvSpPr>
          <p:nvPr>
            <p:ph type="body" sz="half" idx="2"/>
          </p:nvPr>
        </p:nvSpPr>
        <p:spPr/>
        <p:txBody>
          <a:bodyPr/>
          <a:lstStyle/>
          <a:p>
            <a:endParaRPr lang="en-US"/>
          </a:p>
        </p:txBody>
      </p:sp>
      <p:pic>
        <p:nvPicPr>
          <p:cNvPr id="5" name="Content Placeholder 4" descr="https://cdn-images-1.medium.com/max/1000/1*94YWLQMW-iRHtsB62QjTRg.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56338" y="991439"/>
            <a:ext cx="5211762" cy="4563972"/>
          </a:xfrm>
          <a:prstGeom prst="rect">
            <a:avLst/>
          </a:prstGeom>
          <a:noFill/>
          <a:ln>
            <a:noFill/>
          </a:ln>
        </p:spPr>
      </p:pic>
    </p:spTree>
    <p:extLst>
      <p:ext uri="{BB962C8B-B14F-4D97-AF65-F5344CB8AC3E}">
        <p14:creationId xmlns:p14="http://schemas.microsoft.com/office/powerpoint/2010/main" val="2448852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Validation:</a:t>
            </a:r>
            <a:br>
              <a:rPr lang="en-US" dirty="0"/>
            </a:br>
            <a:r>
              <a:rPr lang="en-US" dirty="0"/>
              <a:t>Prove that “2” is included</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78368" y="2078966"/>
            <a:ext cx="6161980" cy="2536165"/>
          </a:xfrm>
        </p:spPr>
      </p:pic>
      <p:sp>
        <p:nvSpPr>
          <p:cNvPr id="4" name="Text Placeholder 3"/>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716397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B3B9B-0F5D-D6D6-564D-F88AAA6AC805}"/>
              </a:ext>
            </a:extLst>
          </p:cNvPr>
          <p:cNvSpPr>
            <a:spLocks noGrp="1"/>
          </p:cNvSpPr>
          <p:nvPr>
            <p:ph type="title"/>
          </p:nvPr>
        </p:nvSpPr>
        <p:spPr/>
        <p:txBody>
          <a:bodyPr/>
          <a:lstStyle/>
          <a:p>
            <a:r>
              <a:rPr lang="en-US" dirty="0"/>
              <a:t>Inside the Ethereum Node</a:t>
            </a:r>
          </a:p>
        </p:txBody>
      </p:sp>
      <p:sp>
        <p:nvSpPr>
          <p:cNvPr id="3" name="Content Placeholder 2">
            <a:extLst>
              <a:ext uri="{FF2B5EF4-FFF2-40B4-BE49-F238E27FC236}">
                <a16:creationId xmlns:a16="http://schemas.microsoft.com/office/drawing/2014/main" id="{2217FFF4-BA22-A0C8-DFD0-0344C541BFAD}"/>
              </a:ext>
            </a:extLst>
          </p:cNvPr>
          <p:cNvSpPr>
            <a:spLocks noGrp="1"/>
          </p:cNvSpPr>
          <p:nvPr>
            <p:ph idx="1"/>
          </p:nvPr>
        </p:nvSpPr>
        <p:spPr/>
        <p:txBody>
          <a:bodyPr/>
          <a:lstStyle/>
          <a:p>
            <a:pPr marL="0" indent="0">
              <a:buNone/>
            </a:pPr>
            <a:r>
              <a:rPr lang="en-US" i="0" dirty="0">
                <a:solidFill>
                  <a:srgbClr val="3D3B49"/>
                </a:solidFill>
                <a:effectLst/>
                <a:latin typeface="Noto Serif" panose="02020600060500020200" pitchFamily="18" charset="0"/>
              </a:rPr>
              <a:t>An Ethereum node includes an Ethereum client and a blockchain database.</a:t>
            </a:r>
          </a:p>
          <a:p>
            <a:pPr marL="0" indent="0">
              <a:buNone/>
            </a:pPr>
            <a:r>
              <a:rPr lang="en-US" i="0" dirty="0">
                <a:solidFill>
                  <a:srgbClr val="3D3B49"/>
                </a:solidFill>
                <a:effectLst/>
                <a:latin typeface="Noto Serif" panose="02020600060500020200" pitchFamily="18" charset="0"/>
              </a:rPr>
              <a:t>The client contains a client process, an Ethereum Virtual Machine, a memory pool, and a JSON-RPC API exposing the functionality of the node externally. </a:t>
            </a:r>
          </a:p>
          <a:p>
            <a:pPr marL="0" indent="0">
              <a:buNone/>
            </a:pPr>
            <a:r>
              <a:rPr lang="en-US" i="0" dirty="0">
                <a:solidFill>
                  <a:srgbClr val="3D3B49"/>
                </a:solidFill>
                <a:effectLst/>
                <a:latin typeface="Noto Serif" panose="02020600060500020200" pitchFamily="18" charset="0"/>
              </a:rPr>
              <a:t>There are two types of nodes: </a:t>
            </a:r>
            <a:r>
              <a:rPr lang="en-US" b="1" i="0" dirty="0">
                <a:solidFill>
                  <a:srgbClr val="3D3B49"/>
                </a:solidFill>
                <a:effectLst/>
                <a:latin typeface="Noto Serif" panose="02020600060500020200" pitchFamily="18" charset="0"/>
              </a:rPr>
              <a:t>full nodes</a:t>
            </a:r>
            <a:r>
              <a:rPr lang="en-US" i="0" dirty="0">
                <a:solidFill>
                  <a:srgbClr val="3D3B49"/>
                </a:solidFill>
                <a:effectLst/>
                <a:latin typeface="Noto Serif" panose="02020600060500020200" pitchFamily="18" charset="0"/>
              </a:rPr>
              <a:t> and </a:t>
            </a:r>
            <a:r>
              <a:rPr lang="en-US" b="1" i="0" dirty="0">
                <a:solidFill>
                  <a:srgbClr val="3D3B49"/>
                </a:solidFill>
                <a:effectLst/>
                <a:latin typeface="Noto Serif" panose="02020600060500020200" pitchFamily="18" charset="0"/>
              </a:rPr>
              <a:t>mining nodes</a:t>
            </a:r>
            <a:r>
              <a:rPr lang="en-US" i="0" dirty="0">
                <a:solidFill>
                  <a:srgbClr val="3D3B49"/>
                </a:solidFill>
                <a:effectLst/>
                <a:latin typeface="Noto Serif" panose="02020600060500020200" pitchFamily="18" charset="0"/>
              </a:rPr>
              <a:t>.</a:t>
            </a:r>
          </a:p>
          <a:p>
            <a:pPr marL="0" indent="0">
              <a:buNone/>
            </a:pPr>
            <a:endParaRPr lang="en-US" dirty="0"/>
          </a:p>
        </p:txBody>
      </p:sp>
    </p:spTree>
    <p:extLst>
      <p:ext uri="{BB962C8B-B14F-4D97-AF65-F5344CB8AC3E}">
        <p14:creationId xmlns:p14="http://schemas.microsoft.com/office/powerpoint/2010/main" val="3187510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31BAD-B97A-40A2-18FD-A52B3594831E}"/>
              </a:ext>
            </a:extLst>
          </p:cNvPr>
          <p:cNvSpPr>
            <a:spLocks noGrp="1"/>
          </p:cNvSpPr>
          <p:nvPr>
            <p:ph type="title"/>
          </p:nvPr>
        </p:nvSpPr>
        <p:spPr>
          <a:xfrm>
            <a:off x="1371600" y="685800"/>
            <a:ext cx="3282695" cy="1485900"/>
          </a:xfrm>
        </p:spPr>
        <p:txBody>
          <a:bodyPr>
            <a:normAutofit/>
          </a:bodyPr>
          <a:lstStyle/>
          <a:p>
            <a:r>
              <a:rPr lang="en-US" dirty="0"/>
              <a:t>The Full Node</a:t>
            </a:r>
          </a:p>
        </p:txBody>
      </p:sp>
      <p:sp>
        <p:nvSpPr>
          <p:cNvPr id="1030" name="Content Placeholder 1029">
            <a:extLst>
              <a:ext uri="{FF2B5EF4-FFF2-40B4-BE49-F238E27FC236}">
                <a16:creationId xmlns:a16="http://schemas.microsoft.com/office/drawing/2014/main" id="{A663F8D2-9926-A2B1-6FCE-E45C9DB66166}"/>
              </a:ext>
            </a:extLst>
          </p:cNvPr>
          <p:cNvSpPr>
            <a:spLocks noGrp="1"/>
          </p:cNvSpPr>
          <p:nvPr>
            <p:ph idx="1"/>
          </p:nvPr>
        </p:nvSpPr>
        <p:spPr>
          <a:xfrm>
            <a:off x="1371600" y="2286000"/>
            <a:ext cx="3282694" cy="3581400"/>
          </a:xfrm>
        </p:spPr>
        <p:txBody>
          <a:bodyPr>
            <a:normAutofit/>
          </a:bodyPr>
          <a:lstStyle/>
          <a:p>
            <a:endParaRPr lang="en-US"/>
          </a:p>
        </p:txBody>
      </p:sp>
      <p:pic>
        <p:nvPicPr>
          <p:cNvPr id="1026" name="Picture 2">
            <a:extLst>
              <a:ext uri="{FF2B5EF4-FFF2-40B4-BE49-F238E27FC236}">
                <a16:creationId xmlns:a16="http://schemas.microsoft.com/office/drawing/2014/main" id="{D507D9D7-4E9A-BF22-9EEC-89ED05AE014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05082" y="92558"/>
            <a:ext cx="5695355" cy="6765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0070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9D725-76E7-A4CE-0887-C58C19316DD9}"/>
              </a:ext>
            </a:extLst>
          </p:cNvPr>
          <p:cNvSpPr>
            <a:spLocks noGrp="1"/>
          </p:cNvSpPr>
          <p:nvPr>
            <p:ph type="title"/>
          </p:nvPr>
        </p:nvSpPr>
        <p:spPr/>
        <p:txBody>
          <a:bodyPr/>
          <a:lstStyle/>
          <a:p>
            <a:r>
              <a:rPr lang="en-US" dirty="0"/>
              <a:t>Components of the Full Node</a:t>
            </a:r>
          </a:p>
        </p:txBody>
      </p:sp>
      <p:sp>
        <p:nvSpPr>
          <p:cNvPr id="3" name="Content Placeholder 2">
            <a:extLst>
              <a:ext uri="{FF2B5EF4-FFF2-40B4-BE49-F238E27FC236}">
                <a16:creationId xmlns:a16="http://schemas.microsoft.com/office/drawing/2014/main" id="{6C4C439E-691E-4C30-FB2E-BF28E4CA501A}"/>
              </a:ext>
            </a:extLst>
          </p:cNvPr>
          <p:cNvSpPr>
            <a:spLocks noGrp="1"/>
          </p:cNvSpPr>
          <p:nvPr>
            <p:ph idx="1"/>
          </p:nvPr>
        </p:nvSpPr>
        <p:spPr>
          <a:xfrm>
            <a:off x="1078860" y="2285999"/>
            <a:ext cx="10867546" cy="4220055"/>
          </a:xfrm>
        </p:spPr>
        <p:txBody>
          <a:bodyPr>
            <a:normAutofit fontScale="92500" lnSpcReduction="10000"/>
          </a:bodyPr>
          <a:lstStyle/>
          <a:p>
            <a:pPr algn="l"/>
            <a:r>
              <a:rPr lang="en-US" b="0" i="1" dirty="0">
                <a:solidFill>
                  <a:srgbClr val="3D3B49"/>
                </a:solidFill>
                <a:effectLst/>
                <a:latin typeface="Noto serif" panose="02020600060500020200" pitchFamily="18" charset="0"/>
              </a:rPr>
              <a:t>An Ethereum client</a:t>
            </a:r>
            <a:r>
              <a:rPr lang="en-US" b="0" i="0" dirty="0">
                <a:solidFill>
                  <a:srgbClr val="3D3B49"/>
                </a:solidFill>
                <a:effectLst/>
                <a:latin typeface="Noto serif" panose="02020600060500020200" pitchFamily="18" charset="0"/>
              </a:rPr>
              <a:t>—This acts as a runtime and contains four elements:</a:t>
            </a:r>
          </a:p>
          <a:p>
            <a:pPr algn="l">
              <a:buFont typeface="Arial" panose="020B0604020202020204" pitchFamily="34" charset="0"/>
              <a:buChar char="•"/>
            </a:pPr>
            <a:r>
              <a:rPr lang="en-US" b="0" i="0" dirty="0">
                <a:solidFill>
                  <a:srgbClr val="3D3B49"/>
                </a:solidFill>
                <a:effectLst/>
                <a:latin typeface="Noto serif" panose="02020600060500020200" pitchFamily="18" charset="0"/>
              </a:rPr>
              <a:t>A virtual machine called </a:t>
            </a:r>
            <a:r>
              <a:rPr lang="en-US" b="0" i="1" dirty="0">
                <a:solidFill>
                  <a:srgbClr val="3D3B49"/>
                </a:solidFill>
                <a:effectLst/>
                <a:latin typeface="Noto serif" panose="02020600060500020200" pitchFamily="18" charset="0"/>
              </a:rPr>
              <a:t>Ethereum Virtual Machine (EVM)</a:t>
            </a:r>
            <a:r>
              <a:rPr lang="en-US" b="0" i="0" dirty="0">
                <a:solidFill>
                  <a:srgbClr val="3D3B49"/>
                </a:solidFill>
                <a:effectLst/>
                <a:latin typeface="Noto serif" panose="02020600060500020200" pitchFamily="18" charset="0"/>
              </a:rPr>
              <a:t>, capable of executing smart contract code generally written in a language called Solidity and compiled into EVM bytecode.</a:t>
            </a:r>
          </a:p>
          <a:p>
            <a:pPr algn="l">
              <a:buFont typeface="Arial" panose="020B0604020202020204" pitchFamily="34" charset="0"/>
              <a:buChar char="•"/>
            </a:pPr>
            <a:r>
              <a:rPr lang="en-US" b="0" i="0" dirty="0">
                <a:solidFill>
                  <a:srgbClr val="3D3B49"/>
                </a:solidFill>
                <a:effectLst/>
                <a:latin typeface="Noto serif" panose="02020600060500020200" pitchFamily="18" charset="0"/>
              </a:rPr>
              <a:t>A </a:t>
            </a:r>
            <a:r>
              <a:rPr lang="en-US" b="0" i="1" dirty="0">
                <a:solidFill>
                  <a:srgbClr val="3D3B49"/>
                </a:solidFill>
                <a:effectLst/>
                <a:latin typeface="Noto serif" panose="02020600060500020200" pitchFamily="18" charset="0"/>
              </a:rPr>
              <a:t>memory pool</a:t>
            </a:r>
            <a:r>
              <a:rPr lang="en-US" b="0" i="0" dirty="0">
                <a:solidFill>
                  <a:srgbClr val="3D3B49"/>
                </a:solidFill>
                <a:effectLst/>
                <a:latin typeface="Noto serif" panose="02020600060500020200" pitchFamily="18" charset="0"/>
              </a:rPr>
              <a:t>, where the node stores transactions that it receives, such as a vote submitted by a voter from the client side, before it propagates them further into the network.</a:t>
            </a:r>
          </a:p>
          <a:p>
            <a:pPr algn="l">
              <a:buFont typeface="Arial" panose="020B0604020202020204" pitchFamily="34" charset="0"/>
              <a:buChar char="•"/>
            </a:pPr>
            <a:r>
              <a:rPr lang="en-US" b="0" i="0" dirty="0">
                <a:solidFill>
                  <a:srgbClr val="3D3B49"/>
                </a:solidFill>
                <a:effectLst/>
                <a:latin typeface="Noto serif" panose="02020600060500020200" pitchFamily="18" charset="0"/>
              </a:rPr>
              <a:t>A </a:t>
            </a:r>
            <a:r>
              <a:rPr lang="en-US" b="0" i="1" dirty="0">
                <a:solidFill>
                  <a:srgbClr val="3D3B49"/>
                </a:solidFill>
                <a:effectLst/>
                <a:latin typeface="Noto serif" panose="02020600060500020200" pitchFamily="18" charset="0"/>
              </a:rPr>
              <a:t>client process</a:t>
            </a:r>
            <a:r>
              <a:rPr lang="en-US" b="0" i="0" dirty="0">
                <a:solidFill>
                  <a:srgbClr val="3D3B49"/>
                </a:solidFill>
                <a:effectLst/>
                <a:latin typeface="Noto serif" panose="02020600060500020200" pitchFamily="18" charset="0"/>
              </a:rPr>
              <a:t>, which coordinates the processing. It handles incoming messages and transactions, dispatches them to the EVM when appropriate, and stores transactions to, and retrieves them from, the memory pool. The client process also handles incoming blockchain blocks that the node receives from peer nodes and appends them to the local copy of the blockchain database.</a:t>
            </a:r>
          </a:p>
          <a:p>
            <a:pPr algn="l">
              <a:buFont typeface="Arial" panose="020B0604020202020204" pitchFamily="34" charset="0"/>
              <a:buChar char="•"/>
            </a:pPr>
            <a:r>
              <a:rPr lang="en-US" b="0" i="0" dirty="0">
                <a:solidFill>
                  <a:srgbClr val="3D3B49"/>
                </a:solidFill>
                <a:effectLst/>
                <a:latin typeface="Noto serif" panose="02020600060500020200" pitchFamily="18" charset="0"/>
              </a:rPr>
              <a:t>A </a:t>
            </a:r>
            <a:r>
              <a:rPr lang="en-US" b="0" i="1" dirty="0">
                <a:solidFill>
                  <a:srgbClr val="3D3B49"/>
                </a:solidFill>
                <a:effectLst/>
                <a:latin typeface="Noto serif" panose="02020600060500020200" pitchFamily="18" charset="0"/>
              </a:rPr>
              <a:t>JSON-RPC API</a:t>
            </a:r>
            <a:r>
              <a:rPr lang="en-US" b="0" i="0" dirty="0">
                <a:solidFill>
                  <a:srgbClr val="3D3B49"/>
                </a:solidFill>
                <a:effectLst/>
                <a:latin typeface="Noto serif" panose="02020600060500020200" pitchFamily="18" charset="0"/>
              </a:rPr>
              <a:t>, which exposes the functionality of the client to other nodes and external users.</a:t>
            </a:r>
          </a:p>
          <a:p>
            <a:pPr algn="l">
              <a:buFont typeface="Arial" panose="020B0604020202020204" pitchFamily="34" charset="0"/>
              <a:buChar char="•"/>
            </a:pPr>
            <a:endParaRPr lang="en-US" b="0" i="0" dirty="0">
              <a:solidFill>
                <a:srgbClr val="3D3B49"/>
              </a:solidFill>
              <a:effectLst/>
              <a:latin typeface="Noto serif" panose="02020600060500020200" pitchFamily="18" charset="0"/>
            </a:endParaRPr>
          </a:p>
          <a:p>
            <a:endParaRPr lang="en-US" dirty="0"/>
          </a:p>
        </p:txBody>
      </p:sp>
    </p:spTree>
    <p:extLst>
      <p:ext uri="{BB962C8B-B14F-4D97-AF65-F5344CB8AC3E}">
        <p14:creationId xmlns:p14="http://schemas.microsoft.com/office/powerpoint/2010/main" val="3550043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586FE-4279-F39E-3E01-90AA7A339994}"/>
              </a:ext>
            </a:extLst>
          </p:cNvPr>
          <p:cNvSpPr>
            <a:spLocks noGrp="1"/>
          </p:cNvSpPr>
          <p:nvPr>
            <p:ph type="title"/>
          </p:nvPr>
        </p:nvSpPr>
        <p:spPr/>
        <p:txBody>
          <a:bodyPr/>
          <a:lstStyle/>
          <a:p>
            <a:r>
              <a:rPr lang="en-US" dirty="0"/>
              <a:t>Components of the Full Node</a:t>
            </a:r>
          </a:p>
        </p:txBody>
      </p:sp>
      <p:sp>
        <p:nvSpPr>
          <p:cNvPr id="3" name="Content Placeholder 2">
            <a:extLst>
              <a:ext uri="{FF2B5EF4-FFF2-40B4-BE49-F238E27FC236}">
                <a16:creationId xmlns:a16="http://schemas.microsoft.com/office/drawing/2014/main" id="{8C7FC96F-79A2-DFCF-28B7-6F8B3C986899}"/>
              </a:ext>
            </a:extLst>
          </p:cNvPr>
          <p:cNvSpPr>
            <a:spLocks noGrp="1"/>
          </p:cNvSpPr>
          <p:nvPr>
            <p:ph idx="1"/>
          </p:nvPr>
        </p:nvSpPr>
        <p:spPr/>
        <p:txBody>
          <a:bodyPr/>
          <a:lstStyle/>
          <a:p>
            <a:r>
              <a:rPr lang="en-US" b="0" i="1" dirty="0">
                <a:solidFill>
                  <a:srgbClr val="3D3B49"/>
                </a:solidFill>
                <a:effectLst/>
                <a:latin typeface="Noto serif" panose="02020600060500020200" pitchFamily="18" charset="0"/>
              </a:rPr>
              <a:t>A blockchain database</a:t>
            </a:r>
            <a:r>
              <a:rPr lang="en-US" b="0" i="0" dirty="0">
                <a:solidFill>
                  <a:srgbClr val="3D3B49"/>
                </a:solidFill>
                <a:effectLst/>
                <a:latin typeface="Noto serif" panose="02020600060500020200" pitchFamily="18" charset="0"/>
              </a:rPr>
              <a:t>—Apart from transaction data, such as votes submitted by voters, the blockchain also keeps a copy of the EVM bytecode of all smart contracts deployed on the network and holds their state. Mining nodes append new blocks to the blockchain regularly, every 15 seconds.</a:t>
            </a:r>
          </a:p>
          <a:p>
            <a:endParaRPr lang="en-US" dirty="0"/>
          </a:p>
        </p:txBody>
      </p:sp>
    </p:spTree>
    <p:extLst>
      <p:ext uri="{BB962C8B-B14F-4D97-AF65-F5344CB8AC3E}">
        <p14:creationId xmlns:p14="http://schemas.microsoft.com/office/powerpoint/2010/main" val="4006946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23AA6-7B3D-4F1C-B48F-76EAAE565A5A}"/>
              </a:ext>
            </a:extLst>
          </p:cNvPr>
          <p:cNvSpPr>
            <a:spLocks noGrp="1"/>
          </p:cNvSpPr>
          <p:nvPr>
            <p:ph type="title"/>
          </p:nvPr>
        </p:nvSpPr>
        <p:spPr/>
        <p:txBody>
          <a:bodyPr/>
          <a:lstStyle/>
          <a:p>
            <a:r>
              <a:rPr lang="en-US" dirty="0"/>
              <a:t>The Journey of a Transaction (</a:t>
            </a:r>
            <a:r>
              <a:rPr lang="en-US" sz="2800" dirty="0"/>
              <a:t>see the Diagram in the next slide)</a:t>
            </a:r>
          </a:p>
        </p:txBody>
      </p:sp>
      <p:sp>
        <p:nvSpPr>
          <p:cNvPr id="3" name="Content Placeholder 2">
            <a:extLst>
              <a:ext uri="{FF2B5EF4-FFF2-40B4-BE49-F238E27FC236}">
                <a16:creationId xmlns:a16="http://schemas.microsoft.com/office/drawing/2014/main" id="{A9E9B31A-6B4B-26E9-EA9E-15DF8179C9FD}"/>
              </a:ext>
            </a:extLst>
          </p:cNvPr>
          <p:cNvSpPr>
            <a:spLocks noGrp="1"/>
          </p:cNvSpPr>
          <p:nvPr>
            <p:ph idx="1"/>
          </p:nvPr>
        </p:nvSpPr>
        <p:spPr>
          <a:xfrm>
            <a:off x="1371599" y="2285999"/>
            <a:ext cx="9936699" cy="4220055"/>
          </a:xfrm>
        </p:spPr>
        <p:txBody>
          <a:bodyPr/>
          <a:lstStyle/>
          <a:p>
            <a:pPr marL="457200" indent="-457200">
              <a:buFont typeface="+mj-lt"/>
              <a:buAutoNum type="arabicPeriod"/>
            </a:pPr>
            <a:r>
              <a:rPr lang="en-US" sz="2400" dirty="0">
                <a:latin typeface="+mj-lt"/>
              </a:rPr>
              <a:t>Assume that there is a voting DApp through which voters can cast their votes</a:t>
            </a:r>
          </a:p>
          <a:p>
            <a:pPr marL="457200" indent="-457200">
              <a:buFont typeface="+mj-lt"/>
              <a:buAutoNum type="arabicPeriod"/>
            </a:pPr>
            <a:r>
              <a:rPr lang="en-US" sz="2400" dirty="0">
                <a:latin typeface="+mj-lt"/>
              </a:rPr>
              <a:t>To cast a vote, the voter invokes the voting functions in the voting smart contract</a:t>
            </a:r>
          </a:p>
          <a:p>
            <a:pPr marL="457200" indent="-457200">
              <a:buFont typeface="+mj-lt"/>
              <a:buAutoNum type="arabicPeriod"/>
            </a:pPr>
            <a:r>
              <a:rPr lang="en-US" sz="2400" dirty="0">
                <a:latin typeface="+mj-lt"/>
              </a:rPr>
              <a:t>This generates a voting transaction </a:t>
            </a:r>
            <a:r>
              <a:rPr lang="en-US" sz="2400" i="0" dirty="0">
                <a:solidFill>
                  <a:srgbClr val="3D3B49"/>
                </a:solidFill>
                <a:effectLst/>
                <a:latin typeface="+mj-lt"/>
              </a:rPr>
              <a:t>through the JSON-RPC interface</a:t>
            </a:r>
          </a:p>
          <a:p>
            <a:pPr marL="457200" indent="-457200">
              <a:buFont typeface="+mj-lt"/>
              <a:buAutoNum type="arabicPeriod"/>
            </a:pPr>
            <a:r>
              <a:rPr lang="en-US" sz="2400" i="0" dirty="0">
                <a:solidFill>
                  <a:srgbClr val="3D3B49"/>
                </a:solidFill>
                <a:effectLst/>
                <a:latin typeface="+mj-lt"/>
              </a:rPr>
              <a:t>The node places the transaction in the memory pool and executes it on the EVM for validation. </a:t>
            </a:r>
          </a:p>
          <a:p>
            <a:pPr marL="457200" indent="-457200">
              <a:buFont typeface="+mj-lt"/>
              <a:buAutoNum type="arabicPeriod"/>
            </a:pPr>
            <a:r>
              <a:rPr lang="en-US" sz="2400" i="0" dirty="0">
                <a:solidFill>
                  <a:srgbClr val="3D3B49"/>
                </a:solidFill>
                <a:effectLst/>
                <a:latin typeface="+mj-lt"/>
              </a:rPr>
              <a:t>If the validation is successful, the transaction is broadcast to peer nodes until it reaches a mining node; otherwise, it dies out.</a:t>
            </a:r>
          </a:p>
          <a:p>
            <a:endParaRPr lang="en-US" sz="2400" i="0" dirty="0">
              <a:solidFill>
                <a:srgbClr val="3D3B49"/>
              </a:solidFill>
              <a:effectLst/>
              <a:latin typeface="+mj-lt"/>
            </a:endParaRPr>
          </a:p>
          <a:p>
            <a:endParaRPr lang="en-US" dirty="0"/>
          </a:p>
          <a:p>
            <a:endParaRPr lang="en-US" dirty="0"/>
          </a:p>
        </p:txBody>
      </p:sp>
    </p:spTree>
    <p:extLst>
      <p:ext uri="{BB962C8B-B14F-4D97-AF65-F5344CB8AC3E}">
        <p14:creationId xmlns:p14="http://schemas.microsoft.com/office/powerpoint/2010/main" val="899532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7E60-B484-A1E6-1F6B-B3CB89067E68}"/>
              </a:ext>
            </a:extLst>
          </p:cNvPr>
          <p:cNvSpPr>
            <a:spLocks noGrp="1"/>
          </p:cNvSpPr>
          <p:nvPr>
            <p:ph type="title"/>
          </p:nvPr>
        </p:nvSpPr>
        <p:spPr>
          <a:xfrm>
            <a:off x="1371600" y="685800"/>
            <a:ext cx="3282695" cy="1485900"/>
          </a:xfrm>
        </p:spPr>
        <p:txBody>
          <a:bodyPr>
            <a:normAutofit/>
          </a:bodyPr>
          <a:lstStyle/>
          <a:p>
            <a:r>
              <a:rPr lang="en-US" sz="3700"/>
              <a:t>The Journey of a Transaction</a:t>
            </a:r>
          </a:p>
        </p:txBody>
      </p:sp>
      <p:sp>
        <p:nvSpPr>
          <p:cNvPr id="2054" name="Content Placeholder 2053">
            <a:extLst>
              <a:ext uri="{FF2B5EF4-FFF2-40B4-BE49-F238E27FC236}">
                <a16:creationId xmlns:a16="http://schemas.microsoft.com/office/drawing/2014/main" id="{F581C546-A666-83F5-33EA-E2F22A1707BE}"/>
              </a:ext>
            </a:extLst>
          </p:cNvPr>
          <p:cNvSpPr>
            <a:spLocks noGrp="1"/>
          </p:cNvSpPr>
          <p:nvPr>
            <p:ph idx="1"/>
          </p:nvPr>
        </p:nvSpPr>
        <p:spPr>
          <a:xfrm>
            <a:off x="1371600" y="2286000"/>
            <a:ext cx="3282694" cy="3581400"/>
          </a:xfrm>
        </p:spPr>
        <p:txBody>
          <a:bodyPr>
            <a:normAutofit/>
          </a:bodyPr>
          <a:lstStyle/>
          <a:p>
            <a:endParaRPr lang="en-US"/>
          </a:p>
        </p:txBody>
      </p:sp>
      <p:pic>
        <p:nvPicPr>
          <p:cNvPr id="2050" name="Picture 2">
            <a:extLst>
              <a:ext uri="{FF2B5EF4-FFF2-40B4-BE49-F238E27FC236}">
                <a16:creationId xmlns:a16="http://schemas.microsoft.com/office/drawing/2014/main" id="{72A7AE14-970E-3120-1B62-CD562340026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33236" y="179278"/>
            <a:ext cx="7388212" cy="63409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819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1ED59-963B-9E6A-FBBC-C78533A5A453}"/>
              </a:ext>
            </a:extLst>
          </p:cNvPr>
          <p:cNvSpPr>
            <a:spLocks noGrp="1"/>
          </p:cNvSpPr>
          <p:nvPr>
            <p:ph type="title"/>
          </p:nvPr>
        </p:nvSpPr>
        <p:spPr/>
        <p:txBody>
          <a:bodyPr>
            <a:normAutofit/>
          </a:bodyPr>
          <a:lstStyle/>
          <a:p>
            <a:r>
              <a:rPr lang="en-US" dirty="0"/>
              <a:t>The Journey of a Transaction: The Mining Phase (</a:t>
            </a:r>
            <a:r>
              <a:rPr lang="en-US" sz="2400" dirty="0"/>
              <a:t>see the Diagram in the next slide</a:t>
            </a:r>
            <a:r>
              <a:rPr lang="en-US" sz="4400" dirty="0"/>
              <a:t>)</a:t>
            </a:r>
            <a:endParaRPr lang="en-US" dirty="0"/>
          </a:p>
        </p:txBody>
      </p:sp>
      <p:sp>
        <p:nvSpPr>
          <p:cNvPr id="3" name="Content Placeholder 2">
            <a:extLst>
              <a:ext uri="{FF2B5EF4-FFF2-40B4-BE49-F238E27FC236}">
                <a16:creationId xmlns:a16="http://schemas.microsoft.com/office/drawing/2014/main" id="{7EEC06A6-0519-EEA6-380C-2F7A4003C96E}"/>
              </a:ext>
            </a:extLst>
          </p:cNvPr>
          <p:cNvSpPr>
            <a:spLocks noGrp="1"/>
          </p:cNvSpPr>
          <p:nvPr>
            <p:ph idx="1"/>
          </p:nvPr>
        </p:nvSpPr>
        <p:spPr/>
        <p:txBody>
          <a:bodyPr/>
          <a:lstStyle/>
          <a:p>
            <a:pPr marL="0" indent="0">
              <a:buNone/>
            </a:pPr>
            <a:r>
              <a:rPr lang="en-US" dirty="0">
                <a:solidFill>
                  <a:srgbClr val="3D3B49"/>
                </a:solidFill>
                <a:latin typeface="Noto Serif" panose="02020600060500020200" pitchFamily="18" charset="0"/>
              </a:rPr>
              <a:t>6. </a:t>
            </a:r>
            <a:r>
              <a:rPr lang="en-US" i="0" dirty="0">
                <a:solidFill>
                  <a:srgbClr val="3D3B49"/>
                </a:solidFill>
                <a:effectLst/>
                <a:latin typeface="Noto Serif" panose="02020600060500020200" pitchFamily="18" charset="0"/>
              </a:rPr>
              <a:t>A mining node receives the transaction from a peer node and places it in its memory pool. </a:t>
            </a:r>
          </a:p>
          <a:p>
            <a:pPr marL="0" indent="0">
              <a:buNone/>
            </a:pPr>
            <a:r>
              <a:rPr lang="en-US" i="0" dirty="0">
                <a:solidFill>
                  <a:srgbClr val="3D3B49"/>
                </a:solidFill>
                <a:effectLst/>
                <a:latin typeface="Noto Serif" panose="02020600060500020200" pitchFamily="18" charset="0"/>
              </a:rPr>
              <a:t>7. The node later picks it and executes it on the EVM, among other transactions, to place it on a new block. </a:t>
            </a:r>
          </a:p>
          <a:p>
            <a:pPr marL="0" indent="0">
              <a:buNone/>
            </a:pPr>
            <a:r>
              <a:rPr lang="en-US" i="0" dirty="0">
                <a:solidFill>
                  <a:srgbClr val="3D3B49"/>
                </a:solidFill>
                <a:effectLst/>
                <a:latin typeface="Noto Serif" panose="02020600060500020200" pitchFamily="18" charset="0"/>
              </a:rPr>
              <a:t>8. If the block is appended on the blockchain, the transaction is removed from the memory pool and the block is broadcast to peer nodes.</a:t>
            </a:r>
          </a:p>
          <a:p>
            <a:endParaRPr lang="en-US" dirty="0"/>
          </a:p>
        </p:txBody>
      </p:sp>
    </p:spTree>
    <p:extLst>
      <p:ext uri="{BB962C8B-B14F-4D97-AF65-F5344CB8AC3E}">
        <p14:creationId xmlns:p14="http://schemas.microsoft.com/office/powerpoint/2010/main" val="3732958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E994C-708A-7C6E-60CE-F78598635566}"/>
              </a:ext>
            </a:extLst>
          </p:cNvPr>
          <p:cNvSpPr>
            <a:spLocks noGrp="1"/>
          </p:cNvSpPr>
          <p:nvPr>
            <p:ph type="title"/>
          </p:nvPr>
        </p:nvSpPr>
        <p:spPr>
          <a:xfrm>
            <a:off x="1371600" y="685800"/>
            <a:ext cx="3282695" cy="1485900"/>
          </a:xfrm>
        </p:spPr>
        <p:txBody>
          <a:bodyPr>
            <a:normAutofit/>
          </a:bodyPr>
          <a:lstStyle/>
          <a:p>
            <a:r>
              <a:rPr lang="en-US" sz="3400"/>
              <a:t>The Journey of a Transaction: The Mining Phase</a:t>
            </a:r>
          </a:p>
        </p:txBody>
      </p:sp>
      <p:sp>
        <p:nvSpPr>
          <p:cNvPr id="3078" name="Content Placeholder 3077">
            <a:extLst>
              <a:ext uri="{FF2B5EF4-FFF2-40B4-BE49-F238E27FC236}">
                <a16:creationId xmlns:a16="http://schemas.microsoft.com/office/drawing/2014/main" id="{ED04705F-EB82-E188-C279-B1531EF5F623}"/>
              </a:ext>
            </a:extLst>
          </p:cNvPr>
          <p:cNvSpPr>
            <a:spLocks noGrp="1"/>
          </p:cNvSpPr>
          <p:nvPr>
            <p:ph idx="1"/>
          </p:nvPr>
        </p:nvSpPr>
        <p:spPr>
          <a:xfrm>
            <a:off x="1371600" y="2286000"/>
            <a:ext cx="3282694" cy="3581400"/>
          </a:xfrm>
        </p:spPr>
        <p:txBody>
          <a:bodyPr>
            <a:normAutofit/>
          </a:bodyPr>
          <a:lstStyle/>
          <a:p>
            <a:endParaRPr lang="en-US"/>
          </a:p>
        </p:txBody>
      </p:sp>
      <p:pic>
        <p:nvPicPr>
          <p:cNvPr id="3074" name="Picture 2">
            <a:extLst>
              <a:ext uri="{FF2B5EF4-FFF2-40B4-BE49-F238E27FC236}">
                <a16:creationId xmlns:a16="http://schemas.microsoft.com/office/drawing/2014/main" id="{53437923-E685-D205-2171-6BB322B6901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4294" y="42728"/>
            <a:ext cx="7526240" cy="6815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4665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BF335-3961-EABA-6265-95030CD8276F}"/>
              </a:ext>
            </a:extLst>
          </p:cNvPr>
          <p:cNvSpPr>
            <a:spLocks noGrp="1"/>
          </p:cNvSpPr>
          <p:nvPr>
            <p:ph type="title"/>
          </p:nvPr>
        </p:nvSpPr>
        <p:spPr/>
        <p:txBody>
          <a:bodyPr/>
          <a:lstStyle/>
          <a:p>
            <a:r>
              <a:rPr lang="en-US" dirty="0"/>
              <a:t>The Journey of a Transaction: When a full node receives a new block</a:t>
            </a:r>
          </a:p>
        </p:txBody>
      </p:sp>
      <p:sp>
        <p:nvSpPr>
          <p:cNvPr id="3" name="Content Placeholder 2">
            <a:extLst>
              <a:ext uri="{FF2B5EF4-FFF2-40B4-BE49-F238E27FC236}">
                <a16:creationId xmlns:a16="http://schemas.microsoft.com/office/drawing/2014/main" id="{A5AF27B2-9A3F-563D-F265-1854A28932FB}"/>
              </a:ext>
            </a:extLst>
          </p:cNvPr>
          <p:cNvSpPr>
            <a:spLocks noGrp="1"/>
          </p:cNvSpPr>
          <p:nvPr>
            <p:ph idx="1"/>
          </p:nvPr>
        </p:nvSpPr>
        <p:spPr/>
        <p:txBody>
          <a:bodyPr/>
          <a:lstStyle/>
          <a:p>
            <a:pPr marL="0" indent="0">
              <a:buNone/>
            </a:pPr>
            <a:r>
              <a:rPr lang="en-US" sz="2400" dirty="0">
                <a:solidFill>
                  <a:srgbClr val="3D3B49"/>
                </a:solidFill>
                <a:latin typeface="Noto Serif" panose="02020600060500020200" pitchFamily="18" charset="0"/>
              </a:rPr>
              <a:t>9. When a</a:t>
            </a:r>
            <a:r>
              <a:rPr lang="en-US" sz="2400" b="1" dirty="0">
                <a:solidFill>
                  <a:srgbClr val="3D3B49"/>
                </a:solidFill>
                <a:latin typeface="Noto Serif" panose="02020600060500020200" pitchFamily="18" charset="0"/>
              </a:rPr>
              <a:t> </a:t>
            </a:r>
            <a:r>
              <a:rPr lang="en-US" sz="2400" i="0" dirty="0">
                <a:solidFill>
                  <a:srgbClr val="3D3B49"/>
                </a:solidFill>
                <a:effectLst/>
                <a:latin typeface="Noto Serif" panose="02020600060500020200" pitchFamily="18" charset="0"/>
              </a:rPr>
              <a:t>full node receives the new block it processes all  transactions included on  the EVM for validation </a:t>
            </a:r>
          </a:p>
          <a:p>
            <a:pPr marL="0" indent="0">
              <a:buNone/>
            </a:pPr>
            <a:r>
              <a:rPr lang="en-US" sz="2400" i="0" dirty="0">
                <a:solidFill>
                  <a:srgbClr val="3D3B49"/>
                </a:solidFill>
                <a:effectLst/>
                <a:latin typeface="Noto Serif" panose="02020600060500020200" pitchFamily="18" charset="0"/>
              </a:rPr>
              <a:t>10. if validation is successful, it removes the related transactions from the memory pool and propagates the block further into the network</a:t>
            </a:r>
          </a:p>
          <a:p>
            <a:endParaRPr lang="en-US" dirty="0"/>
          </a:p>
        </p:txBody>
      </p:sp>
    </p:spTree>
    <p:extLst>
      <p:ext uri="{BB962C8B-B14F-4D97-AF65-F5344CB8AC3E}">
        <p14:creationId xmlns:p14="http://schemas.microsoft.com/office/powerpoint/2010/main" val="2308790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69DD7-334B-6EAA-5C13-423F580632E8}"/>
              </a:ext>
            </a:extLst>
          </p:cNvPr>
          <p:cNvSpPr>
            <a:spLocks noGrp="1"/>
          </p:cNvSpPr>
          <p:nvPr>
            <p:ph type="title"/>
          </p:nvPr>
        </p:nvSpPr>
        <p:spPr>
          <a:xfrm>
            <a:off x="1371600" y="685800"/>
            <a:ext cx="3282695" cy="1485900"/>
          </a:xfrm>
        </p:spPr>
        <p:txBody>
          <a:bodyPr>
            <a:normAutofit/>
          </a:bodyPr>
          <a:lstStyle/>
          <a:p>
            <a:r>
              <a:rPr lang="en-US" sz="2400"/>
              <a:t>The Journey of a Transaction: When a full node receives a new block</a:t>
            </a:r>
          </a:p>
        </p:txBody>
      </p:sp>
      <p:sp>
        <p:nvSpPr>
          <p:cNvPr id="4102" name="Content Placeholder 4101">
            <a:extLst>
              <a:ext uri="{FF2B5EF4-FFF2-40B4-BE49-F238E27FC236}">
                <a16:creationId xmlns:a16="http://schemas.microsoft.com/office/drawing/2014/main" id="{C0234BBB-6ABA-3D99-F3D0-01E6B96E32CF}"/>
              </a:ext>
            </a:extLst>
          </p:cNvPr>
          <p:cNvSpPr>
            <a:spLocks noGrp="1"/>
          </p:cNvSpPr>
          <p:nvPr>
            <p:ph idx="1"/>
          </p:nvPr>
        </p:nvSpPr>
        <p:spPr>
          <a:xfrm>
            <a:off x="1371600" y="2286000"/>
            <a:ext cx="3282694" cy="3581400"/>
          </a:xfrm>
        </p:spPr>
        <p:txBody>
          <a:bodyPr>
            <a:normAutofit/>
          </a:bodyPr>
          <a:lstStyle/>
          <a:p>
            <a:endParaRPr lang="en-US"/>
          </a:p>
        </p:txBody>
      </p:sp>
      <p:pic>
        <p:nvPicPr>
          <p:cNvPr id="4098" name="Picture 2">
            <a:extLst>
              <a:ext uri="{FF2B5EF4-FFF2-40B4-BE49-F238E27FC236}">
                <a16:creationId xmlns:a16="http://schemas.microsoft.com/office/drawing/2014/main" id="{D79C5D3F-6FF1-BB04-EAAE-FD5594CA12E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51462" y="14871"/>
            <a:ext cx="7440538" cy="6855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33087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A8B11-39B7-BDE2-104E-055724BF5DDB}"/>
              </a:ext>
            </a:extLst>
          </p:cNvPr>
          <p:cNvSpPr>
            <a:spLocks noGrp="1"/>
          </p:cNvSpPr>
          <p:nvPr>
            <p:ph type="title"/>
          </p:nvPr>
        </p:nvSpPr>
        <p:spPr>
          <a:xfrm>
            <a:off x="1371600" y="685800"/>
            <a:ext cx="3282695" cy="1485900"/>
          </a:xfrm>
        </p:spPr>
        <p:txBody>
          <a:bodyPr>
            <a:normAutofit/>
          </a:bodyPr>
          <a:lstStyle/>
          <a:p>
            <a:r>
              <a:rPr lang="en-US" sz="3400"/>
              <a:t>The Development View</a:t>
            </a:r>
          </a:p>
        </p:txBody>
      </p:sp>
      <p:sp>
        <p:nvSpPr>
          <p:cNvPr id="5126" name="Content Placeholder 5125">
            <a:extLst>
              <a:ext uri="{FF2B5EF4-FFF2-40B4-BE49-F238E27FC236}">
                <a16:creationId xmlns:a16="http://schemas.microsoft.com/office/drawing/2014/main" id="{ED92D58D-27CC-A794-D9F0-024AA46662D4}"/>
              </a:ext>
            </a:extLst>
          </p:cNvPr>
          <p:cNvSpPr>
            <a:spLocks noGrp="1"/>
          </p:cNvSpPr>
          <p:nvPr>
            <p:ph idx="1"/>
          </p:nvPr>
        </p:nvSpPr>
        <p:spPr>
          <a:xfrm>
            <a:off x="1371600" y="2286000"/>
            <a:ext cx="3282694" cy="3581400"/>
          </a:xfrm>
        </p:spPr>
        <p:txBody>
          <a:bodyPr>
            <a:normAutofit/>
          </a:bodyPr>
          <a:lstStyle/>
          <a:p>
            <a:endParaRPr lang="en-US"/>
          </a:p>
        </p:txBody>
      </p:sp>
      <p:pic>
        <p:nvPicPr>
          <p:cNvPr id="5122" name="Picture 2">
            <a:extLst>
              <a:ext uri="{FF2B5EF4-FFF2-40B4-BE49-F238E27FC236}">
                <a16:creationId xmlns:a16="http://schemas.microsoft.com/office/drawing/2014/main" id="{4E03B082-E2F4-1C92-FE95-CDDE67B8FE8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435267" y="213645"/>
            <a:ext cx="7867080" cy="6546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7956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81BBC-D36C-0006-18D5-E4D5950E243C}"/>
              </a:ext>
            </a:extLst>
          </p:cNvPr>
          <p:cNvSpPr>
            <a:spLocks noGrp="1"/>
          </p:cNvSpPr>
          <p:nvPr>
            <p:ph type="title"/>
          </p:nvPr>
        </p:nvSpPr>
        <p:spPr/>
        <p:txBody>
          <a:bodyPr/>
          <a:lstStyle/>
          <a:p>
            <a:r>
              <a:rPr lang="en-US" dirty="0"/>
              <a:t>Ethereum Consensus Algorithms: The Proof of Work Version: </a:t>
            </a:r>
            <a:r>
              <a:rPr lang="en-US" dirty="0" err="1"/>
              <a:t>Ethash</a:t>
            </a:r>
            <a:endParaRPr lang="en-US" dirty="0"/>
          </a:p>
        </p:txBody>
      </p:sp>
      <p:sp>
        <p:nvSpPr>
          <p:cNvPr id="3" name="Content Placeholder 2">
            <a:extLst>
              <a:ext uri="{FF2B5EF4-FFF2-40B4-BE49-F238E27FC236}">
                <a16:creationId xmlns:a16="http://schemas.microsoft.com/office/drawing/2014/main" id="{8BFDCF20-A9FB-DF4E-6513-0C328884F6B6}"/>
              </a:ext>
            </a:extLst>
          </p:cNvPr>
          <p:cNvSpPr>
            <a:spLocks noGrp="1"/>
          </p:cNvSpPr>
          <p:nvPr>
            <p:ph idx="1"/>
          </p:nvPr>
        </p:nvSpPr>
        <p:spPr/>
        <p:txBody>
          <a:bodyPr/>
          <a:lstStyle/>
          <a:p>
            <a:r>
              <a:rPr lang="en-US" b="0" i="0" dirty="0" err="1">
                <a:solidFill>
                  <a:srgbClr val="3D3B49"/>
                </a:solidFill>
                <a:effectLst/>
                <a:latin typeface="Noto serif" panose="02020600060500020200" pitchFamily="18" charset="0"/>
              </a:rPr>
              <a:t>Ethash</a:t>
            </a:r>
            <a:r>
              <a:rPr lang="en-US" b="0" i="0" dirty="0">
                <a:solidFill>
                  <a:srgbClr val="3D3B49"/>
                </a:solidFill>
                <a:effectLst/>
                <a:latin typeface="Noto serif" panose="02020600060500020200" pitchFamily="18" charset="0"/>
              </a:rPr>
              <a:t> is the Ethereum PoW algorithm. It uses an evolution of the Dagger–Hashimoto algorithm, which is a combination of </a:t>
            </a:r>
            <a:r>
              <a:rPr lang="en-US" b="0" i="0" dirty="0" err="1">
                <a:solidFill>
                  <a:srgbClr val="3D3B49"/>
                </a:solidFill>
                <a:effectLst/>
                <a:latin typeface="Noto serif" panose="02020600060500020200" pitchFamily="18" charset="0"/>
              </a:rPr>
              <a:t>Vitalik</a:t>
            </a:r>
            <a:r>
              <a:rPr lang="en-US" b="0" i="0" dirty="0">
                <a:solidFill>
                  <a:srgbClr val="3D3B49"/>
                </a:solidFill>
                <a:effectLst/>
                <a:latin typeface="Noto serif" panose="02020600060500020200" pitchFamily="18" charset="0"/>
              </a:rPr>
              <a:t> </a:t>
            </a:r>
            <a:r>
              <a:rPr lang="en-US" b="0" i="0" dirty="0" err="1">
                <a:solidFill>
                  <a:srgbClr val="3D3B49"/>
                </a:solidFill>
                <a:effectLst/>
                <a:latin typeface="Noto serif" panose="02020600060500020200" pitchFamily="18" charset="0"/>
              </a:rPr>
              <a:t>Buterin’s</a:t>
            </a:r>
            <a:r>
              <a:rPr lang="en-US" b="0" i="0" dirty="0">
                <a:solidFill>
                  <a:srgbClr val="3D3B49"/>
                </a:solidFill>
                <a:effectLst/>
                <a:latin typeface="Noto serif" panose="02020600060500020200" pitchFamily="18" charset="0"/>
              </a:rPr>
              <a:t> Dagger algorithm and Thaddeus </a:t>
            </a:r>
            <a:r>
              <a:rPr lang="en-US" b="0" i="0" dirty="0" err="1">
                <a:solidFill>
                  <a:srgbClr val="3D3B49"/>
                </a:solidFill>
                <a:effectLst/>
                <a:latin typeface="Noto serif" panose="02020600060500020200" pitchFamily="18" charset="0"/>
              </a:rPr>
              <a:t>Dryja’s</a:t>
            </a:r>
            <a:r>
              <a:rPr lang="en-US" b="0" i="0" dirty="0">
                <a:solidFill>
                  <a:srgbClr val="3D3B49"/>
                </a:solidFill>
                <a:effectLst/>
                <a:latin typeface="Noto serif" panose="02020600060500020200" pitchFamily="18" charset="0"/>
              </a:rPr>
              <a:t> Hashimoto algorithm. </a:t>
            </a:r>
          </a:p>
          <a:p>
            <a:r>
              <a:rPr lang="en-US" b="0" i="0" dirty="0" err="1">
                <a:solidFill>
                  <a:srgbClr val="3D3B49"/>
                </a:solidFill>
                <a:effectLst/>
                <a:latin typeface="Noto serif" panose="02020600060500020200" pitchFamily="18" charset="0"/>
              </a:rPr>
              <a:t>Ethash</a:t>
            </a:r>
            <a:r>
              <a:rPr lang="en-US" b="0" i="0" dirty="0">
                <a:solidFill>
                  <a:srgbClr val="3D3B49"/>
                </a:solidFill>
                <a:effectLst/>
                <a:latin typeface="Noto serif" panose="02020600060500020200" pitchFamily="18" charset="0"/>
              </a:rPr>
              <a:t> is dependent on the generation and analysis of a large dataset, known as a </a:t>
            </a:r>
            <a:r>
              <a:rPr lang="en-US" b="0" i="1" dirty="0">
                <a:solidFill>
                  <a:srgbClr val="3D3B49"/>
                </a:solidFill>
                <a:effectLst/>
                <a:latin typeface="Noto serif" panose="02020600060500020200" pitchFamily="18" charset="0"/>
              </a:rPr>
              <a:t>directed acyclic graph</a:t>
            </a:r>
            <a:r>
              <a:rPr lang="en-US" b="0" i="0" dirty="0">
                <a:solidFill>
                  <a:srgbClr val="3D3B49"/>
                </a:solidFill>
                <a:effectLst/>
                <a:latin typeface="Noto serif" panose="02020600060500020200" pitchFamily="18" charset="0"/>
              </a:rPr>
              <a:t> (or, more simply, “the DAG”). </a:t>
            </a:r>
          </a:p>
          <a:p>
            <a:r>
              <a:rPr lang="en-US" b="0" i="0" dirty="0">
                <a:solidFill>
                  <a:srgbClr val="3D3B49"/>
                </a:solidFill>
                <a:effectLst/>
                <a:latin typeface="Noto serif" panose="02020600060500020200" pitchFamily="18" charset="0"/>
              </a:rPr>
              <a:t>The DAG had an initial size of about 1 GB and will continue to slowly and linearly grow in size, being updated once every epoch (30,000 blocks, or roughly 125 hours).</a:t>
            </a:r>
            <a:endParaRPr lang="en-US" dirty="0"/>
          </a:p>
        </p:txBody>
      </p:sp>
    </p:spTree>
    <p:extLst>
      <p:ext uri="{BB962C8B-B14F-4D97-AF65-F5344CB8AC3E}">
        <p14:creationId xmlns:p14="http://schemas.microsoft.com/office/powerpoint/2010/main" val="2992335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7056E-AB34-72F1-033D-774F8F59DB86}"/>
              </a:ext>
            </a:extLst>
          </p:cNvPr>
          <p:cNvSpPr>
            <a:spLocks noGrp="1"/>
          </p:cNvSpPr>
          <p:nvPr>
            <p:ph type="title"/>
          </p:nvPr>
        </p:nvSpPr>
        <p:spPr/>
        <p:txBody>
          <a:bodyPr/>
          <a:lstStyle/>
          <a:p>
            <a:r>
              <a:rPr lang="en-US" dirty="0" err="1"/>
              <a:t>Ethash</a:t>
            </a:r>
            <a:endParaRPr lang="en-US" dirty="0"/>
          </a:p>
        </p:txBody>
      </p:sp>
      <p:sp>
        <p:nvSpPr>
          <p:cNvPr id="3" name="Content Placeholder 2">
            <a:extLst>
              <a:ext uri="{FF2B5EF4-FFF2-40B4-BE49-F238E27FC236}">
                <a16:creationId xmlns:a16="http://schemas.microsoft.com/office/drawing/2014/main" id="{06980B92-7597-EABD-7F17-E7B66C992DF9}"/>
              </a:ext>
            </a:extLst>
          </p:cNvPr>
          <p:cNvSpPr>
            <a:spLocks noGrp="1"/>
          </p:cNvSpPr>
          <p:nvPr>
            <p:ph idx="1"/>
          </p:nvPr>
        </p:nvSpPr>
        <p:spPr/>
        <p:txBody>
          <a:bodyPr/>
          <a:lstStyle/>
          <a:p>
            <a:r>
              <a:rPr lang="en-US" b="0" i="0" dirty="0">
                <a:solidFill>
                  <a:srgbClr val="3D3B49"/>
                </a:solidFill>
                <a:effectLst/>
                <a:latin typeface="Noto serif" panose="02020600060500020200" pitchFamily="18" charset="0"/>
              </a:rPr>
              <a:t>The purpose of the DAG is to make the </a:t>
            </a:r>
            <a:r>
              <a:rPr lang="en-US" b="0" i="0" dirty="0" err="1">
                <a:solidFill>
                  <a:srgbClr val="3D3B49"/>
                </a:solidFill>
                <a:effectLst/>
                <a:latin typeface="Noto serif" panose="02020600060500020200" pitchFamily="18" charset="0"/>
              </a:rPr>
              <a:t>Ethash</a:t>
            </a:r>
            <a:r>
              <a:rPr lang="en-US" b="0" i="0" dirty="0">
                <a:solidFill>
                  <a:srgbClr val="3D3B49"/>
                </a:solidFill>
                <a:effectLst/>
                <a:latin typeface="Noto serif" panose="02020600060500020200" pitchFamily="18" charset="0"/>
              </a:rPr>
              <a:t> </a:t>
            </a:r>
            <a:r>
              <a:rPr lang="en-US" b="0" i="0" dirty="0" err="1">
                <a:solidFill>
                  <a:srgbClr val="3D3B49"/>
                </a:solidFill>
                <a:effectLst/>
                <a:latin typeface="Noto serif" panose="02020600060500020200" pitchFamily="18" charset="0"/>
              </a:rPr>
              <a:t>PoW</a:t>
            </a:r>
            <a:r>
              <a:rPr lang="en-US" b="0" i="0" dirty="0">
                <a:solidFill>
                  <a:srgbClr val="3D3B49"/>
                </a:solidFill>
                <a:effectLst/>
                <a:latin typeface="Noto serif" panose="02020600060500020200" pitchFamily="18" charset="0"/>
              </a:rPr>
              <a:t> algorithm dependent on maintaining a large, frequently accessed data structure. </a:t>
            </a:r>
          </a:p>
          <a:p>
            <a:r>
              <a:rPr lang="en-US" b="0" i="0" dirty="0">
                <a:solidFill>
                  <a:srgbClr val="3D3B49"/>
                </a:solidFill>
                <a:effectLst/>
                <a:latin typeface="Noto serif" panose="02020600060500020200" pitchFamily="18" charset="0"/>
              </a:rPr>
              <a:t>This in turn is intended to make </a:t>
            </a:r>
            <a:r>
              <a:rPr lang="en-US" b="0" i="0" dirty="0" err="1">
                <a:solidFill>
                  <a:srgbClr val="3D3B49"/>
                </a:solidFill>
                <a:effectLst/>
                <a:latin typeface="Noto serif" panose="02020600060500020200" pitchFamily="18" charset="0"/>
              </a:rPr>
              <a:t>Ethash</a:t>
            </a:r>
            <a:r>
              <a:rPr lang="en-US" b="0" i="0" dirty="0">
                <a:solidFill>
                  <a:srgbClr val="3D3B49"/>
                </a:solidFill>
                <a:effectLst/>
                <a:latin typeface="Noto serif" panose="02020600060500020200" pitchFamily="18" charset="0"/>
              </a:rPr>
              <a:t> “ASIC resistant,” which means that it is more difficult to make </a:t>
            </a:r>
            <a:r>
              <a:rPr lang="en-US" b="0" i="1" dirty="0">
                <a:solidFill>
                  <a:srgbClr val="3D3B49"/>
                </a:solidFill>
                <a:effectLst/>
                <a:latin typeface="Noto serif" panose="02020600060500020200" pitchFamily="18" charset="0"/>
              </a:rPr>
              <a:t>application-specific integrated circuits</a:t>
            </a:r>
            <a:r>
              <a:rPr lang="en-US" b="0" i="0" dirty="0">
                <a:solidFill>
                  <a:srgbClr val="3D3B49"/>
                </a:solidFill>
                <a:effectLst/>
                <a:latin typeface="Noto serif" panose="02020600060500020200" pitchFamily="18" charset="0"/>
              </a:rPr>
              <a:t> (ASIC) mining equipment that is orders of magnitude faster than a fast </a:t>
            </a:r>
            <a:r>
              <a:rPr lang="en-US" b="0" i="1" dirty="0">
                <a:solidFill>
                  <a:srgbClr val="3D3B49"/>
                </a:solidFill>
                <a:effectLst/>
                <a:latin typeface="Noto serif" panose="02020600060500020200" pitchFamily="18" charset="0"/>
              </a:rPr>
              <a:t>graphics processing unit</a:t>
            </a:r>
            <a:r>
              <a:rPr lang="en-US" b="0" i="0" dirty="0">
                <a:solidFill>
                  <a:srgbClr val="3D3B49"/>
                </a:solidFill>
                <a:effectLst/>
                <a:latin typeface="Noto serif" panose="02020600060500020200" pitchFamily="18" charset="0"/>
              </a:rPr>
              <a:t> (GPU). </a:t>
            </a:r>
          </a:p>
          <a:p>
            <a:r>
              <a:rPr lang="en-US" b="0" i="0" dirty="0">
                <a:solidFill>
                  <a:srgbClr val="3D3B49"/>
                </a:solidFill>
                <a:effectLst/>
                <a:latin typeface="Noto serif" panose="02020600060500020200" pitchFamily="18" charset="0"/>
              </a:rPr>
              <a:t>Ethereum’s founders wanted to avoid centralization in </a:t>
            </a:r>
            <a:r>
              <a:rPr lang="en-US" b="0" i="0" dirty="0" err="1">
                <a:solidFill>
                  <a:srgbClr val="3D3B49"/>
                </a:solidFill>
                <a:effectLst/>
                <a:latin typeface="Noto serif" panose="02020600060500020200" pitchFamily="18" charset="0"/>
              </a:rPr>
              <a:t>PoW</a:t>
            </a:r>
            <a:r>
              <a:rPr lang="en-US" b="0" i="0" dirty="0">
                <a:solidFill>
                  <a:srgbClr val="3D3B49"/>
                </a:solidFill>
                <a:effectLst/>
                <a:latin typeface="Noto serif" panose="02020600060500020200" pitchFamily="18" charset="0"/>
              </a:rPr>
              <a:t> mining, where those with access to specialized silicon fabrication factories and big budgets could dominate the mining infrastructure and undermine the security of the consensus algorithm.</a:t>
            </a:r>
            <a:endParaRPr lang="en-US" dirty="0"/>
          </a:p>
        </p:txBody>
      </p:sp>
    </p:spTree>
    <p:extLst>
      <p:ext uri="{BB962C8B-B14F-4D97-AF65-F5344CB8AC3E}">
        <p14:creationId xmlns:p14="http://schemas.microsoft.com/office/powerpoint/2010/main" val="1340012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246D9-26EB-EE96-02C2-8E3E3669EB81}"/>
              </a:ext>
            </a:extLst>
          </p:cNvPr>
          <p:cNvSpPr>
            <a:spLocks noGrp="1"/>
          </p:cNvSpPr>
          <p:nvPr>
            <p:ph type="title"/>
          </p:nvPr>
        </p:nvSpPr>
        <p:spPr/>
        <p:txBody>
          <a:bodyPr/>
          <a:lstStyle/>
          <a:p>
            <a:r>
              <a:rPr lang="en-US" dirty="0" err="1"/>
              <a:t>Ethash</a:t>
            </a:r>
            <a:endParaRPr lang="en-US" dirty="0"/>
          </a:p>
        </p:txBody>
      </p:sp>
      <p:sp>
        <p:nvSpPr>
          <p:cNvPr id="3" name="Content Placeholder 2">
            <a:extLst>
              <a:ext uri="{FF2B5EF4-FFF2-40B4-BE49-F238E27FC236}">
                <a16:creationId xmlns:a16="http://schemas.microsoft.com/office/drawing/2014/main" id="{A9656DF7-319B-A77D-157A-4A4C397ABDE7}"/>
              </a:ext>
            </a:extLst>
          </p:cNvPr>
          <p:cNvSpPr>
            <a:spLocks noGrp="1"/>
          </p:cNvSpPr>
          <p:nvPr>
            <p:ph idx="1"/>
          </p:nvPr>
        </p:nvSpPr>
        <p:spPr>
          <a:xfrm>
            <a:off x="1371600" y="2285999"/>
            <a:ext cx="9601200" cy="4095065"/>
          </a:xfrm>
        </p:spPr>
        <p:txBody>
          <a:bodyPr>
            <a:normAutofit fontScale="92500" lnSpcReduction="10000"/>
          </a:bodyPr>
          <a:lstStyle/>
          <a:p>
            <a:pPr marL="0" indent="0" algn="l">
              <a:buNone/>
            </a:pPr>
            <a:r>
              <a:rPr lang="en-US" b="0" i="0" dirty="0">
                <a:solidFill>
                  <a:srgbClr val="4C4C4C"/>
                </a:solidFill>
                <a:effectLst/>
                <a:latin typeface="system-ui"/>
              </a:rPr>
              <a:t>The algorithm </a:t>
            </a:r>
            <a:r>
              <a:rPr lang="en-US" dirty="0">
                <a:solidFill>
                  <a:srgbClr val="4C4C4C"/>
                </a:solidFill>
                <a:latin typeface="system-ui"/>
              </a:rPr>
              <a:t>works</a:t>
            </a:r>
            <a:r>
              <a:rPr lang="en-US" b="0" i="0" dirty="0">
                <a:solidFill>
                  <a:srgbClr val="4C4C4C"/>
                </a:solidFill>
                <a:effectLst/>
                <a:latin typeface="system-ui"/>
              </a:rPr>
              <a:t> is as follows:</a:t>
            </a:r>
          </a:p>
          <a:p>
            <a:pPr algn="l">
              <a:buFont typeface="+mj-lt"/>
              <a:buAutoNum type="arabicPeriod"/>
            </a:pPr>
            <a:r>
              <a:rPr lang="en-US" b="0" i="0" dirty="0">
                <a:solidFill>
                  <a:srgbClr val="4C4C4C"/>
                </a:solidFill>
                <a:effectLst/>
                <a:latin typeface="system-ui"/>
              </a:rPr>
              <a:t>There exists a </a:t>
            </a:r>
            <a:r>
              <a:rPr lang="en-US" b="1" i="0" dirty="0">
                <a:solidFill>
                  <a:srgbClr val="4C4C4C"/>
                </a:solidFill>
                <a:effectLst/>
                <a:latin typeface="system-ui"/>
              </a:rPr>
              <a:t>seed</a:t>
            </a:r>
            <a:r>
              <a:rPr lang="en-US" b="0" i="0" dirty="0">
                <a:solidFill>
                  <a:srgbClr val="4C4C4C"/>
                </a:solidFill>
                <a:effectLst/>
                <a:latin typeface="system-ui"/>
              </a:rPr>
              <a:t> which can be computed for each block by scanning through the block headers up until that point.</a:t>
            </a:r>
          </a:p>
          <a:p>
            <a:pPr algn="l">
              <a:buFont typeface="+mj-lt"/>
              <a:buAutoNum type="arabicPeriod"/>
            </a:pPr>
            <a:r>
              <a:rPr lang="en-US" b="0" i="0" dirty="0">
                <a:solidFill>
                  <a:srgbClr val="4C4C4C"/>
                </a:solidFill>
                <a:effectLst/>
                <a:latin typeface="system-ui"/>
              </a:rPr>
              <a:t>From the seed, one can compute a </a:t>
            </a:r>
            <a:r>
              <a:rPr lang="en-US" b="1" i="0" dirty="0">
                <a:solidFill>
                  <a:srgbClr val="4C4C4C"/>
                </a:solidFill>
                <a:effectLst/>
                <a:latin typeface="system-ui"/>
              </a:rPr>
              <a:t>16 MB pseudorandom cache</a:t>
            </a:r>
            <a:r>
              <a:rPr lang="en-US" b="0" i="0" dirty="0">
                <a:solidFill>
                  <a:srgbClr val="4C4C4C"/>
                </a:solidFill>
                <a:effectLst/>
                <a:latin typeface="system-ui"/>
              </a:rPr>
              <a:t>. Light clients store the cache.</a:t>
            </a:r>
          </a:p>
          <a:p>
            <a:pPr algn="l">
              <a:buFont typeface="+mj-lt"/>
              <a:buAutoNum type="arabicPeriod"/>
            </a:pPr>
            <a:r>
              <a:rPr lang="en-US" b="0" i="0" dirty="0">
                <a:solidFill>
                  <a:srgbClr val="4C4C4C"/>
                </a:solidFill>
                <a:effectLst/>
                <a:latin typeface="system-ui"/>
              </a:rPr>
              <a:t>From the cache, we can generate a </a:t>
            </a:r>
            <a:r>
              <a:rPr lang="en-US" b="1" i="0" dirty="0">
                <a:solidFill>
                  <a:srgbClr val="4C4C4C"/>
                </a:solidFill>
                <a:effectLst/>
                <a:latin typeface="system-ui"/>
              </a:rPr>
              <a:t>1 GB dataset</a:t>
            </a:r>
            <a:r>
              <a:rPr lang="en-US" b="0" i="0" dirty="0">
                <a:solidFill>
                  <a:srgbClr val="4C4C4C"/>
                </a:solidFill>
                <a:effectLst/>
                <a:latin typeface="system-ui"/>
              </a:rPr>
              <a:t>, with the property that each item in the dataset depends on only a small number of items from the cache. Full clients and miners store the dataset. The dataset grows linearly with time.</a:t>
            </a:r>
          </a:p>
          <a:p>
            <a:pPr algn="l">
              <a:buFont typeface="+mj-lt"/>
              <a:buAutoNum type="arabicPeriod"/>
            </a:pPr>
            <a:r>
              <a:rPr lang="en-US" b="0" i="0" dirty="0">
                <a:solidFill>
                  <a:srgbClr val="4C4C4C"/>
                </a:solidFill>
                <a:effectLst/>
                <a:latin typeface="system-ui"/>
              </a:rPr>
              <a:t>Mining involves grabbing random slices of the dataset and hashing them together. Verification can be done with low memory by using the cache to regenerate the specific pieces of the dataset that you need, so you only need to store the cache.</a:t>
            </a:r>
          </a:p>
          <a:p>
            <a:pPr marL="0" indent="0" algn="l">
              <a:buNone/>
            </a:pPr>
            <a:r>
              <a:rPr lang="en-US" b="0" i="0" dirty="0">
                <a:solidFill>
                  <a:srgbClr val="4C4C4C"/>
                </a:solidFill>
                <a:effectLst/>
                <a:latin typeface="system-ui"/>
              </a:rPr>
              <a:t>The large dataset is updated once every 30000 blocks, so the vast majority of a miner's effort will be reading the dataset, not making changes to it</a:t>
            </a:r>
          </a:p>
          <a:p>
            <a:endParaRPr lang="en-US" dirty="0"/>
          </a:p>
        </p:txBody>
      </p:sp>
    </p:spTree>
    <p:extLst>
      <p:ext uri="{BB962C8B-B14F-4D97-AF65-F5344CB8AC3E}">
        <p14:creationId xmlns:p14="http://schemas.microsoft.com/office/powerpoint/2010/main" val="37328912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60A43-7713-A228-D0F6-CC19F7DC7E67}"/>
              </a:ext>
            </a:extLst>
          </p:cNvPr>
          <p:cNvSpPr>
            <a:spLocks noGrp="1"/>
          </p:cNvSpPr>
          <p:nvPr>
            <p:ph type="title"/>
          </p:nvPr>
        </p:nvSpPr>
        <p:spPr/>
        <p:txBody>
          <a:bodyPr/>
          <a:lstStyle/>
          <a:p>
            <a:r>
              <a:rPr lang="en-US" dirty="0"/>
              <a:t>The Challenge in </a:t>
            </a:r>
            <a:r>
              <a:rPr lang="en-US" dirty="0" err="1"/>
              <a:t>Ethash</a:t>
            </a:r>
            <a:endParaRPr lang="en-US" dirty="0"/>
          </a:p>
        </p:txBody>
      </p:sp>
      <p:sp>
        <p:nvSpPr>
          <p:cNvPr id="3" name="Content Placeholder 2">
            <a:extLst>
              <a:ext uri="{FF2B5EF4-FFF2-40B4-BE49-F238E27FC236}">
                <a16:creationId xmlns:a16="http://schemas.microsoft.com/office/drawing/2014/main" id="{ACD63445-AC8D-A947-833C-B05617DA64C1}"/>
              </a:ext>
            </a:extLst>
          </p:cNvPr>
          <p:cNvSpPr>
            <a:spLocks noGrp="1"/>
          </p:cNvSpPr>
          <p:nvPr>
            <p:ph idx="1"/>
          </p:nvPr>
        </p:nvSpPr>
        <p:spPr>
          <a:xfrm>
            <a:off x="1371600" y="2286000"/>
            <a:ext cx="9601200" cy="4391094"/>
          </a:xfrm>
        </p:spPr>
        <p:txBody>
          <a:bodyPr>
            <a:normAutofit lnSpcReduction="10000"/>
          </a:bodyPr>
          <a:lstStyle/>
          <a:p>
            <a:pPr algn="l" fontAlgn="base"/>
            <a:r>
              <a:rPr lang="en-US" b="0" i="0" dirty="0">
                <a:solidFill>
                  <a:srgbClr val="525960"/>
                </a:solidFill>
                <a:effectLst/>
                <a:latin typeface="-apple-system"/>
              </a:rPr>
              <a:t>Similar to Bitcoin, the core idea behind mining is </a:t>
            </a:r>
            <a:r>
              <a:rPr lang="en-US" b="1" i="0" dirty="0">
                <a:solidFill>
                  <a:srgbClr val="525960"/>
                </a:solidFill>
                <a:effectLst/>
                <a:latin typeface="-apple-system"/>
              </a:rPr>
              <a:t>to find a nonce (a random arbitrary number), which, once concatenated with the block header and hashed, results in a number that is lower than the current network difficulty level</a:t>
            </a:r>
            <a:r>
              <a:rPr lang="en-US" b="0" i="0" dirty="0">
                <a:solidFill>
                  <a:srgbClr val="525960"/>
                </a:solidFill>
                <a:effectLst/>
                <a:latin typeface="-apple-system"/>
              </a:rPr>
              <a:t>. Initially, the difficulty was low when Ethereum was new, and even CPU and single GPU mining was profitable to a certain extent, but that is no longer the case. Now, only either pooled mining or large GPU mining farms are used for profitable mining purposes.</a:t>
            </a:r>
          </a:p>
          <a:p>
            <a:pPr algn="l" fontAlgn="base"/>
            <a:r>
              <a:rPr lang="en-US" b="0" i="0" dirty="0" err="1">
                <a:solidFill>
                  <a:srgbClr val="525960"/>
                </a:solidFill>
                <a:effectLst/>
                <a:latin typeface="-apple-system"/>
              </a:rPr>
              <a:t>Ethash</a:t>
            </a:r>
            <a:r>
              <a:rPr lang="en-US" b="0" i="0" dirty="0">
                <a:solidFill>
                  <a:srgbClr val="525960"/>
                </a:solidFill>
                <a:effectLst/>
                <a:latin typeface="-apple-system"/>
              </a:rPr>
              <a:t> is a memory-hard algorithm, which makes it difficult to be implemented on specialized hardware. As in Bitcoin, ASICs have been developed, which have resulted in mining centralization over the years, but memory-hard </a:t>
            </a:r>
            <a:r>
              <a:rPr lang="en-US" b="0" i="0" dirty="0" err="1">
                <a:solidFill>
                  <a:srgbClr val="525960"/>
                </a:solidFill>
                <a:effectLst/>
                <a:latin typeface="-apple-system"/>
              </a:rPr>
              <a:t>PoW</a:t>
            </a:r>
            <a:r>
              <a:rPr lang="en-US" b="0" i="0" dirty="0">
                <a:solidFill>
                  <a:srgbClr val="525960"/>
                </a:solidFill>
                <a:effectLst/>
                <a:latin typeface="-apple-system"/>
              </a:rPr>
              <a:t> algorithms are one way of thwarting this threat, and Ethereum implements </a:t>
            </a:r>
            <a:r>
              <a:rPr lang="en-US" b="0" i="0" dirty="0" err="1">
                <a:solidFill>
                  <a:srgbClr val="525960"/>
                </a:solidFill>
                <a:effectLst/>
                <a:latin typeface="-apple-system"/>
              </a:rPr>
              <a:t>Ethash</a:t>
            </a:r>
            <a:r>
              <a:rPr lang="en-US" b="0" i="0" dirty="0">
                <a:solidFill>
                  <a:srgbClr val="525960"/>
                </a:solidFill>
                <a:effectLst/>
                <a:latin typeface="-apple-system"/>
              </a:rPr>
              <a:t> to discourage ASIC development for mining. </a:t>
            </a:r>
          </a:p>
          <a:p>
            <a:pPr algn="l" fontAlgn="base"/>
            <a:r>
              <a:rPr lang="en-US" b="0" i="0" dirty="0" err="1">
                <a:solidFill>
                  <a:srgbClr val="525960"/>
                </a:solidFill>
                <a:effectLst/>
                <a:latin typeface="-apple-system"/>
              </a:rPr>
              <a:t>Ethash</a:t>
            </a:r>
            <a:r>
              <a:rPr lang="en-US" b="0" i="0" dirty="0">
                <a:solidFill>
                  <a:srgbClr val="525960"/>
                </a:solidFill>
                <a:effectLst/>
                <a:latin typeface="-apple-system"/>
              </a:rPr>
              <a:t> is a memory-hard algorithm and developing ASICs with large and fast memories is not feasible. This algorithm requires subsets of a fixed resource called Directed Acyclic Graph (DAG) to be chosen, depending on the nonce and block headers.</a:t>
            </a:r>
          </a:p>
          <a:p>
            <a:endParaRPr lang="en-US" dirty="0"/>
          </a:p>
        </p:txBody>
      </p:sp>
    </p:spTree>
    <p:extLst>
      <p:ext uri="{BB962C8B-B14F-4D97-AF65-F5344CB8AC3E}">
        <p14:creationId xmlns:p14="http://schemas.microsoft.com/office/powerpoint/2010/main" val="1227503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647B1-5448-6915-A320-2196346CFA94}"/>
              </a:ext>
            </a:extLst>
          </p:cNvPr>
          <p:cNvSpPr>
            <a:spLocks noGrp="1"/>
          </p:cNvSpPr>
          <p:nvPr>
            <p:ph type="title"/>
          </p:nvPr>
        </p:nvSpPr>
        <p:spPr/>
        <p:txBody>
          <a:bodyPr>
            <a:normAutofit fontScale="90000"/>
          </a:bodyPr>
          <a:lstStyle/>
          <a:p>
            <a:r>
              <a:rPr lang="en-US" dirty="0"/>
              <a:t>Ethereum now switched off Proof-of Work  (Dec 2022) – </a:t>
            </a:r>
            <a:r>
              <a:rPr lang="en-US"/>
              <a:t>Moved to proof of Stake</a:t>
            </a:r>
            <a:endParaRPr lang="en-US" dirty="0"/>
          </a:p>
        </p:txBody>
      </p:sp>
      <p:sp>
        <p:nvSpPr>
          <p:cNvPr id="3" name="Content Placeholder 2">
            <a:extLst>
              <a:ext uri="{FF2B5EF4-FFF2-40B4-BE49-F238E27FC236}">
                <a16:creationId xmlns:a16="http://schemas.microsoft.com/office/drawing/2014/main" id="{47142558-3628-3496-83FD-743E2DCE02BA}"/>
              </a:ext>
            </a:extLst>
          </p:cNvPr>
          <p:cNvSpPr>
            <a:spLocks noGrp="1"/>
          </p:cNvSpPr>
          <p:nvPr>
            <p:ph idx="1"/>
          </p:nvPr>
        </p:nvSpPr>
        <p:spPr/>
        <p:txBody>
          <a:bodyPr>
            <a:normAutofit/>
          </a:bodyPr>
          <a:lstStyle/>
          <a:p>
            <a:pPr marL="0" indent="0">
              <a:buNone/>
            </a:pPr>
            <a:r>
              <a:rPr lang="en-US" sz="2400" b="0" i="0" dirty="0" err="1">
                <a:solidFill>
                  <a:srgbClr val="333333"/>
                </a:solidFill>
                <a:effectLst/>
                <a:latin typeface="system-ui"/>
              </a:rPr>
              <a:t>Ethash</a:t>
            </a:r>
            <a:r>
              <a:rPr lang="en-US" sz="2400" b="0" i="0" dirty="0">
                <a:solidFill>
                  <a:srgbClr val="333333"/>
                </a:solidFill>
                <a:effectLst/>
                <a:latin typeface="system-ui"/>
              </a:rPr>
              <a:t> was Ethereum's proof-of-work mining algorithm. Proof-of-work has now been **switched off entirely** and Ethereum is now secured using </a:t>
            </a:r>
            <a:r>
              <a:rPr lang="en-US" sz="2400" b="0" i="0" u="sng" dirty="0">
                <a:effectLst/>
                <a:latin typeface="system-ui"/>
                <a:hlinkClick r:id="rId2"/>
              </a:rPr>
              <a:t>proof-of-stake</a:t>
            </a:r>
            <a:r>
              <a:rPr lang="en-US" sz="2400" b="0" i="0" dirty="0">
                <a:solidFill>
                  <a:srgbClr val="333333"/>
                </a:solidFill>
                <a:effectLst/>
                <a:latin typeface="system-ui"/>
              </a:rPr>
              <a:t> instead. Read more on </a:t>
            </a:r>
            <a:r>
              <a:rPr lang="en-US" sz="2400" b="0" i="0" u="sng" dirty="0">
                <a:effectLst/>
                <a:latin typeface="system-ui"/>
                <a:hlinkClick r:id="rId3"/>
              </a:rPr>
              <a:t>The Merge</a:t>
            </a:r>
            <a:r>
              <a:rPr lang="en-US" sz="2400" b="0" i="0" dirty="0">
                <a:solidFill>
                  <a:srgbClr val="333333"/>
                </a:solidFill>
                <a:effectLst/>
                <a:latin typeface="system-ui"/>
              </a:rPr>
              <a:t>, </a:t>
            </a:r>
            <a:r>
              <a:rPr lang="en-US" sz="2400" b="0" i="0" u="sng" dirty="0">
                <a:effectLst/>
                <a:latin typeface="system-ui"/>
                <a:hlinkClick r:id="rId2"/>
              </a:rPr>
              <a:t>proof-of-stake</a:t>
            </a:r>
            <a:r>
              <a:rPr lang="en-US" sz="2400" b="0" i="0" dirty="0">
                <a:solidFill>
                  <a:srgbClr val="333333"/>
                </a:solidFill>
                <a:effectLst/>
                <a:latin typeface="system-ui"/>
              </a:rPr>
              <a:t> and </a:t>
            </a:r>
            <a:r>
              <a:rPr lang="en-US" sz="2400" b="0" i="0" u="sng" dirty="0">
                <a:effectLst/>
                <a:latin typeface="system-ui"/>
                <a:hlinkClick r:id="rId4"/>
              </a:rPr>
              <a:t>staking</a:t>
            </a:r>
            <a:r>
              <a:rPr lang="en-US" sz="2400" b="0" i="0" dirty="0">
                <a:solidFill>
                  <a:srgbClr val="333333"/>
                </a:solidFill>
                <a:effectLst/>
                <a:latin typeface="system-ui"/>
              </a:rPr>
              <a:t>. This page is for historical interest!</a:t>
            </a:r>
          </a:p>
          <a:p>
            <a:pPr marL="0" indent="0">
              <a:buNone/>
            </a:pPr>
            <a:endParaRPr lang="en-US" sz="2400" dirty="0">
              <a:solidFill>
                <a:srgbClr val="333333"/>
              </a:solidFill>
              <a:latin typeface="system-ui"/>
            </a:endParaRPr>
          </a:p>
          <a:p>
            <a:pPr marL="0" indent="0">
              <a:buNone/>
            </a:pPr>
            <a:endParaRPr lang="en-US" sz="2400" dirty="0"/>
          </a:p>
        </p:txBody>
      </p:sp>
    </p:spTree>
    <p:extLst>
      <p:ext uri="{BB962C8B-B14F-4D97-AF65-F5344CB8AC3E}">
        <p14:creationId xmlns:p14="http://schemas.microsoft.com/office/powerpoint/2010/main" val="3658265978"/>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Crop</Template>
  <TotalTime>3260</TotalTime>
  <Words>1999</Words>
  <Application>Microsoft Office PowerPoint</Application>
  <PresentationFormat>Widescreen</PresentationFormat>
  <Paragraphs>104</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-apple-system</vt:lpstr>
      <vt:lpstr>Arial</vt:lpstr>
      <vt:lpstr>Franklin Gothic Book</vt:lpstr>
      <vt:lpstr>Noto Serif</vt:lpstr>
      <vt:lpstr>Noto Serif</vt:lpstr>
      <vt:lpstr>system-ui</vt:lpstr>
      <vt:lpstr>Crop</vt:lpstr>
      <vt:lpstr>Ethereum: How It Works?</vt:lpstr>
      <vt:lpstr>What is Ethereum?</vt:lpstr>
      <vt:lpstr>What is Ethereum</vt:lpstr>
      <vt:lpstr>A Bit of History</vt:lpstr>
      <vt:lpstr>How it Works: Overview</vt:lpstr>
      <vt:lpstr>Accounts</vt:lpstr>
      <vt:lpstr>External Accounts</vt:lpstr>
      <vt:lpstr>Contract Accounts</vt:lpstr>
      <vt:lpstr>The Account State</vt:lpstr>
      <vt:lpstr>Sate Tree</vt:lpstr>
      <vt:lpstr>State Tree</vt:lpstr>
      <vt:lpstr>Merkle Trees</vt:lpstr>
      <vt:lpstr>Merkle Trees</vt:lpstr>
      <vt:lpstr>Merkle Trees</vt:lpstr>
      <vt:lpstr>Example</vt:lpstr>
      <vt:lpstr>Validation: Prove that “2” is included</vt:lpstr>
      <vt:lpstr>Inside the Ethereum Node</vt:lpstr>
      <vt:lpstr>The Full Node</vt:lpstr>
      <vt:lpstr>Components of the Full Node</vt:lpstr>
      <vt:lpstr>Components of the Full Node</vt:lpstr>
      <vt:lpstr>The Journey of a Transaction (see the Diagram in the next slide)</vt:lpstr>
      <vt:lpstr>The Journey of a Transaction</vt:lpstr>
      <vt:lpstr>The Journey of a Transaction: The Mining Phase (see the Diagram in the next slide)</vt:lpstr>
      <vt:lpstr>The Journey of a Transaction: The Mining Phase</vt:lpstr>
      <vt:lpstr>The Journey of a Transaction: When a full node receives a new block</vt:lpstr>
      <vt:lpstr>The Journey of a Transaction: When a full node receives a new block</vt:lpstr>
      <vt:lpstr>The Development View</vt:lpstr>
      <vt:lpstr>Ethereum Consensus Algorithms: The Proof of Work Version: Ethash</vt:lpstr>
      <vt:lpstr>Ethash</vt:lpstr>
      <vt:lpstr>Ethash</vt:lpstr>
      <vt:lpstr>The Challenge in Ethash</vt:lpstr>
      <vt:lpstr>Ethereum now switched off Proof-of Work  (Dec 2022) – Moved to proof of Stake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Ethereum: How It Works?</dc:title>
  <dc:creator>Mohammed EL-Affendi</dc:creator>
  <cp:lastModifiedBy>Prof Mohammed ELAffendi</cp:lastModifiedBy>
  <cp:revision>33</cp:revision>
  <dcterms:created xsi:type="dcterms:W3CDTF">2018-03-04T07:26:38Z</dcterms:created>
  <dcterms:modified xsi:type="dcterms:W3CDTF">2025-10-28T09:58:31Z</dcterms:modified>
</cp:coreProperties>
</file>