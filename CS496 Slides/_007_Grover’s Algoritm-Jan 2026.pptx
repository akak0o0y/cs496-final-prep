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317" r:id="rId5"/>
    <p:sldId id="333" r:id="rId6"/>
    <p:sldId id="330" r:id="rId7"/>
    <p:sldId id="331" r:id="rId8"/>
    <p:sldId id="332" r:id="rId9"/>
    <p:sldId id="335" r:id="rId10"/>
    <p:sldId id="334" r:id="rId11"/>
    <p:sldId id="319" r:id="rId12"/>
    <p:sldId id="320" r:id="rId13"/>
    <p:sldId id="321" r:id="rId14"/>
    <p:sldId id="322" r:id="rId15"/>
    <p:sldId id="323" r:id="rId16"/>
    <p:sldId id="324" r:id="rId17"/>
    <p:sldId id="325" r:id="rId18"/>
    <p:sldId id="326" r:id="rId19"/>
    <p:sldId id="327" r:id="rId20"/>
    <p:sldId id="328" r:id="rId21"/>
    <p:sldId id="32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3" autoAdjust="0"/>
    <p:restoredTop sz="95405" autoAdjust="0"/>
  </p:normalViewPr>
  <p:slideViewPr>
    <p:cSldViewPr snapToGrid="0">
      <p:cViewPr>
        <p:scale>
          <a:sx n="67" d="100"/>
          <a:sy n="67" d="100"/>
        </p:scale>
        <p:origin x="1296" y="51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1/17/2026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1/17/2026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Grover’s Algorithm</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C159F-6503-41C8-5DA4-C8413B6093E1}"/>
              </a:ext>
            </a:extLst>
          </p:cNvPr>
          <p:cNvSpPr>
            <a:spLocks noGrp="1"/>
          </p:cNvSpPr>
          <p:nvPr>
            <p:ph type="title"/>
          </p:nvPr>
        </p:nvSpPr>
        <p:spPr/>
        <p:txBody>
          <a:bodyPr/>
          <a:lstStyle/>
          <a:p>
            <a:r>
              <a:rPr lang="en-US" dirty="0"/>
              <a:t>The Problem</a:t>
            </a:r>
          </a:p>
        </p:txBody>
      </p:sp>
      <p:sp>
        <p:nvSpPr>
          <p:cNvPr id="3" name="Content Placeholder 2">
            <a:extLst>
              <a:ext uri="{FF2B5EF4-FFF2-40B4-BE49-F238E27FC236}">
                <a16:creationId xmlns:a16="http://schemas.microsoft.com/office/drawing/2014/main" id="{138A61BC-A15A-9A5F-C4A3-A21FD8E2A125}"/>
              </a:ext>
            </a:extLst>
          </p:cNvPr>
          <p:cNvSpPr>
            <a:spLocks noGrp="1"/>
          </p:cNvSpPr>
          <p:nvPr>
            <p:ph sz="quarter" idx="10"/>
          </p:nvPr>
        </p:nvSpPr>
        <p:spPr>
          <a:xfrm>
            <a:off x="914400" y="2039112"/>
            <a:ext cx="10012680" cy="4533138"/>
          </a:xfrm>
        </p:spPr>
        <p:txBody>
          <a:bodyPr/>
          <a:lstStyle/>
          <a:p>
            <a:r>
              <a:rPr lang="en-US" sz="2400" dirty="0">
                <a:latin typeface="Abadi" panose="020B0604020104020204" pitchFamily="34" charset="0"/>
              </a:rPr>
              <a:t>imagine we have access to an </a:t>
            </a:r>
            <a:r>
              <a:rPr lang="en-US" sz="2400" b="1" i="1" dirty="0">
                <a:latin typeface="Abadi" panose="020B0604020104020204" pitchFamily="34" charset="0"/>
              </a:rPr>
              <a:t>unstructured database</a:t>
            </a:r>
            <a:r>
              <a:rPr lang="en-US" sz="2400" dirty="0">
                <a:latin typeface="Abadi" panose="020B0604020104020204" pitchFamily="34" charset="0"/>
              </a:rPr>
              <a:t>, or list, containing </a:t>
            </a:r>
            <a:r>
              <a:rPr lang="en-US" sz="2400" i="1" dirty="0">
                <a:latin typeface="Abadi" panose="020B0604020104020204" pitchFamily="34" charset="0"/>
              </a:rPr>
              <a:t>N </a:t>
            </a:r>
            <a:r>
              <a:rPr lang="en-US" sz="2400" b="1" i="1" dirty="0">
                <a:latin typeface="Abadi" panose="020B0604020104020204" pitchFamily="34" charset="0"/>
              </a:rPr>
              <a:t>elements</a:t>
            </a:r>
            <a:r>
              <a:rPr lang="en-US" sz="2400" dirty="0">
                <a:latin typeface="Abadi" panose="020B0604020104020204" pitchFamily="34" charset="0"/>
              </a:rPr>
              <a:t>, each of which is represented by a </a:t>
            </a:r>
            <a:r>
              <a:rPr lang="en-US" sz="2400" b="1" i="1" dirty="0">
                <a:latin typeface="Abadi" panose="020B0604020104020204" pitchFamily="34" charset="0"/>
              </a:rPr>
              <a:t>unique n-bit string ID denoted</a:t>
            </a:r>
            <a:r>
              <a:rPr lang="en-US" sz="2400" dirty="0">
                <a:latin typeface="Abadi" panose="020B0604020104020204" pitchFamily="34" charset="0"/>
              </a:rPr>
              <a:t> </a:t>
            </a:r>
            <a:r>
              <a:rPr lang="en-US" sz="2400" i="1" dirty="0">
                <a:latin typeface="Abadi" panose="020B0604020104020204" pitchFamily="34" charset="0"/>
              </a:rPr>
              <a:t>x</a:t>
            </a:r>
            <a:r>
              <a:rPr lang="en-US" sz="2400" dirty="0">
                <a:latin typeface="Abadi" panose="020B0604020104020204" pitchFamily="34" charset="0"/>
              </a:rPr>
              <a:t>. The list can thus contain at most </a:t>
            </a:r>
            <a:r>
              <a:rPr lang="en-US" sz="2400" i="1" dirty="0">
                <a:latin typeface="Abadi" panose="020B0604020104020204" pitchFamily="34" charset="0"/>
              </a:rPr>
              <a:t>N</a:t>
            </a:r>
            <a:r>
              <a:rPr lang="en-US" sz="2400" dirty="0">
                <a:latin typeface="Abadi" panose="020B0604020104020204" pitchFamily="34" charset="0"/>
              </a:rPr>
              <a:t> = 2</a:t>
            </a:r>
            <a:r>
              <a:rPr lang="en-US" sz="2400" i="1" dirty="0">
                <a:latin typeface="Abadi" panose="020B0604020104020204" pitchFamily="34" charset="0"/>
              </a:rPr>
              <a:t>ⁿ</a:t>
            </a:r>
            <a:r>
              <a:rPr lang="en-US" sz="2400" dirty="0">
                <a:latin typeface="Abadi" panose="020B0604020104020204" pitchFamily="34" charset="0"/>
              </a:rPr>
              <a:t> elements. We are tasked with finding a particular </a:t>
            </a:r>
            <a:r>
              <a:rPr lang="en-US" sz="2400" b="1" i="1" dirty="0">
                <a:latin typeface="Abadi" panose="020B0604020104020204" pitchFamily="34" charset="0"/>
              </a:rPr>
              <a:t>"marked"</a:t>
            </a:r>
            <a:r>
              <a:rPr lang="en-US" sz="2400" dirty="0">
                <a:latin typeface="Abadi" panose="020B0604020104020204" pitchFamily="34" charset="0"/>
              </a:rPr>
              <a:t> element from the database with a particular bit-string </a:t>
            </a:r>
            <a:r>
              <a:rPr lang="en-US" sz="2400" i="1" dirty="0">
                <a:latin typeface="Abadi" panose="020B0604020104020204" pitchFamily="34" charset="0"/>
              </a:rPr>
              <a:t>x₀.</a:t>
            </a:r>
          </a:p>
          <a:p>
            <a:endParaRPr lang="en-US" dirty="0"/>
          </a:p>
        </p:txBody>
      </p:sp>
      <p:sp>
        <p:nvSpPr>
          <p:cNvPr id="4" name="Slide Number Placeholder 3">
            <a:extLst>
              <a:ext uri="{FF2B5EF4-FFF2-40B4-BE49-F238E27FC236}">
                <a16:creationId xmlns:a16="http://schemas.microsoft.com/office/drawing/2014/main" id="{749D61C1-79C5-EAAC-8016-2F6D499A85D3}"/>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816802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893DC-4A33-D757-96FD-7DEBEC419173}"/>
              </a:ext>
            </a:extLst>
          </p:cNvPr>
          <p:cNvSpPr>
            <a:spLocks noGrp="1"/>
          </p:cNvSpPr>
          <p:nvPr>
            <p:ph type="title"/>
          </p:nvPr>
        </p:nvSpPr>
        <p:spPr>
          <a:xfrm>
            <a:off x="1005840" y="308610"/>
            <a:ext cx="8709660" cy="914400"/>
          </a:xfrm>
        </p:spPr>
        <p:txBody>
          <a:bodyPr/>
          <a:lstStyle/>
          <a:p>
            <a:r>
              <a:rPr lang="en-US" dirty="0"/>
              <a:t>In a Nutshell: Grover Algorithm</a:t>
            </a:r>
          </a:p>
        </p:txBody>
      </p:sp>
      <p:sp>
        <p:nvSpPr>
          <p:cNvPr id="3" name="Content Placeholder 2">
            <a:extLst>
              <a:ext uri="{FF2B5EF4-FFF2-40B4-BE49-F238E27FC236}">
                <a16:creationId xmlns:a16="http://schemas.microsoft.com/office/drawing/2014/main" id="{C4A7CE3C-765C-0625-EABD-B5171CE9CF88}"/>
              </a:ext>
            </a:extLst>
          </p:cNvPr>
          <p:cNvSpPr>
            <a:spLocks noGrp="1"/>
          </p:cNvSpPr>
          <p:nvPr>
            <p:ph sz="quarter" idx="10"/>
          </p:nvPr>
        </p:nvSpPr>
        <p:spPr>
          <a:xfrm>
            <a:off x="914400" y="2039111"/>
            <a:ext cx="10241280" cy="4736591"/>
          </a:xfrm>
        </p:spPr>
        <p:txBody>
          <a:bodyPr>
            <a:normAutofit/>
          </a:bodyPr>
          <a:lstStyle/>
          <a:p>
            <a:pPr marL="0" indent="0">
              <a:buNone/>
            </a:pPr>
            <a:r>
              <a:rPr lang="en-US" sz="2400" dirty="0">
                <a:latin typeface="Abadi" panose="020B0604020104020204" pitchFamily="34" charset="0"/>
              </a:rPr>
              <a:t>The figure below is a typical circuit for Grover’s algorithm</a:t>
            </a:r>
          </a:p>
          <a:p>
            <a:endParaRPr lang="en-US" sz="2400" dirty="0">
              <a:latin typeface="Abadi" panose="020B0604020104020204" pitchFamily="34" charset="0"/>
            </a:endParaRPr>
          </a:p>
        </p:txBody>
      </p:sp>
      <p:sp>
        <p:nvSpPr>
          <p:cNvPr id="4" name="Slide Number Placeholder 3">
            <a:extLst>
              <a:ext uri="{FF2B5EF4-FFF2-40B4-BE49-F238E27FC236}">
                <a16:creationId xmlns:a16="http://schemas.microsoft.com/office/drawing/2014/main" id="{9E5219FE-89D9-4AFF-9DBA-B9F80D8D2EEB}"/>
              </a:ext>
            </a:extLst>
          </p:cNvPr>
          <p:cNvSpPr>
            <a:spLocks noGrp="1"/>
          </p:cNvSpPr>
          <p:nvPr>
            <p:ph type="sldNum" sz="quarter" idx="4"/>
          </p:nvPr>
        </p:nvSpPr>
        <p:spPr/>
        <p:txBody>
          <a:bodyPr/>
          <a:lstStyle/>
          <a:p>
            <a:fld id="{58FB4751-880F-D840-AAA9-3A15815CC996}" type="slidenum">
              <a:rPr lang="en-US" smtClean="0"/>
              <a:pPr/>
              <a:t>3</a:t>
            </a:fld>
            <a:endParaRPr lang="en-US" dirty="0"/>
          </a:p>
        </p:txBody>
      </p:sp>
      <p:pic>
        <p:nvPicPr>
          <p:cNvPr id="2052" name="Picture 4" descr="The x register has n qubits, the y register one. After the algorithm, we measure the x qubits to obtain an n-bit bitstring.">
            <a:extLst>
              <a:ext uri="{FF2B5EF4-FFF2-40B4-BE49-F238E27FC236}">
                <a16:creationId xmlns:a16="http://schemas.microsoft.com/office/drawing/2014/main" id="{EADEE8A7-D3A0-450C-0519-EE37A08ED3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6657" y="2983230"/>
            <a:ext cx="8996407" cy="2079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230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0F7E9-F61C-7093-B37C-51985DAB13B3}"/>
              </a:ext>
            </a:extLst>
          </p:cNvPr>
          <p:cNvSpPr>
            <a:spLocks noGrp="1"/>
          </p:cNvSpPr>
          <p:nvPr>
            <p:ph type="title"/>
          </p:nvPr>
        </p:nvSpPr>
        <p:spPr/>
        <p:txBody>
          <a:bodyPr/>
          <a:lstStyle/>
          <a:p>
            <a:r>
              <a:rPr lang="en-US" dirty="0"/>
              <a:t>The main steps</a:t>
            </a:r>
          </a:p>
        </p:txBody>
      </p:sp>
      <p:sp>
        <p:nvSpPr>
          <p:cNvPr id="3" name="Content Placeholder 2">
            <a:extLst>
              <a:ext uri="{FF2B5EF4-FFF2-40B4-BE49-F238E27FC236}">
                <a16:creationId xmlns:a16="http://schemas.microsoft.com/office/drawing/2014/main" id="{3AE163B2-3D8E-7C4B-AF7D-34519CE28595}"/>
              </a:ext>
            </a:extLst>
          </p:cNvPr>
          <p:cNvSpPr>
            <a:spLocks noGrp="1"/>
          </p:cNvSpPr>
          <p:nvPr>
            <p:ph sz="quarter" idx="10"/>
          </p:nvPr>
        </p:nvSpPr>
        <p:spPr>
          <a:xfrm>
            <a:off x="914400" y="2039112"/>
            <a:ext cx="9932670" cy="3356576"/>
          </a:xfrm>
        </p:spPr>
        <p:txBody>
          <a:bodyPr>
            <a:normAutofit/>
          </a:bodyPr>
          <a:lstStyle/>
          <a:p>
            <a:r>
              <a:rPr lang="en-US" sz="2400" dirty="0">
                <a:latin typeface="Abadi" panose="020B0604020104020204" pitchFamily="34" charset="0"/>
              </a:rPr>
              <a:t>As the above diagram shows, the process  starts with a register </a:t>
            </a:r>
            <a:r>
              <a:rPr lang="en-US" sz="2400" i="1" dirty="0">
                <a:latin typeface="Abadi" panose="020B0604020104020204" pitchFamily="34" charset="0"/>
              </a:rPr>
              <a:t>x</a:t>
            </a:r>
            <a:r>
              <a:rPr lang="en-US" sz="2400" dirty="0">
                <a:latin typeface="Abadi" panose="020B0604020104020204" pitchFamily="34" charset="0"/>
              </a:rPr>
              <a:t> of multiple  (n) qubits all in the state |0⟩, and a register </a:t>
            </a:r>
            <a:r>
              <a:rPr lang="en-US" sz="2400" i="1" dirty="0">
                <a:latin typeface="Abadi" panose="020B0604020104020204" pitchFamily="34" charset="0"/>
              </a:rPr>
              <a:t>y</a:t>
            </a:r>
            <a:r>
              <a:rPr lang="en-US" sz="2400" dirty="0">
                <a:latin typeface="Abadi" panose="020B0604020104020204" pitchFamily="34" charset="0"/>
              </a:rPr>
              <a:t> containing a single qubit in the same state. </a:t>
            </a:r>
          </a:p>
          <a:p>
            <a:r>
              <a:rPr lang="en-US" sz="2400" dirty="0">
                <a:latin typeface="Abadi" panose="020B0604020104020204" pitchFamily="34" charset="0"/>
              </a:rPr>
              <a:t>Then an </a:t>
            </a:r>
            <a:r>
              <a:rPr lang="en-US" sz="2400" i="1" dirty="0">
                <a:latin typeface="Abadi" panose="020B0604020104020204" pitchFamily="34" charset="0"/>
              </a:rPr>
              <a:t>X</a:t>
            </a:r>
            <a:r>
              <a:rPr lang="en-US" sz="2400" dirty="0">
                <a:latin typeface="Abadi" panose="020B0604020104020204" pitchFamily="34" charset="0"/>
              </a:rPr>
              <a:t> gate is  applied to </a:t>
            </a:r>
            <a:r>
              <a:rPr lang="en-US" sz="2400" i="1" dirty="0">
                <a:latin typeface="Abadi" panose="020B0604020104020204" pitchFamily="34" charset="0"/>
              </a:rPr>
              <a:t>y</a:t>
            </a:r>
            <a:r>
              <a:rPr lang="en-US" sz="2400" dirty="0">
                <a:latin typeface="Abadi" panose="020B0604020104020204" pitchFamily="34" charset="0"/>
              </a:rPr>
              <a:t>, and all other n  qubits  are put into superpositions with </a:t>
            </a:r>
            <a:r>
              <a:rPr lang="en-US" sz="2400" i="1" dirty="0">
                <a:latin typeface="Abadi" panose="020B0604020104020204" pitchFamily="34" charset="0"/>
              </a:rPr>
              <a:t>H</a:t>
            </a:r>
            <a:r>
              <a:rPr lang="en-US" sz="2400" dirty="0">
                <a:latin typeface="Abadi" panose="020B0604020104020204" pitchFamily="34" charset="0"/>
              </a:rPr>
              <a:t> gates. </a:t>
            </a:r>
          </a:p>
          <a:p>
            <a:r>
              <a:rPr lang="en-US" sz="2400" dirty="0">
                <a:latin typeface="Abadi" panose="020B0604020104020204" pitchFamily="34" charset="0"/>
              </a:rPr>
              <a:t>Next, we repeatedly apply an oracle operator followed by Diffusion operator</a:t>
            </a:r>
          </a:p>
        </p:txBody>
      </p:sp>
      <p:sp>
        <p:nvSpPr>
          <p:cNvPr id="4" name="Slide Number Placeholder 3">
            <a:extLst>
              <a:ext uri="{FF2B5EF4-FFF2-40B4-BE49-F238E27FC236}">
                <a16:creationId xmlns:a16="http://schemas.microsoft.com/office/drawing/2014/main" id="{E645B768-8C26-9417-46F1-6A63C19ACA43}"/>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3828922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91ED6-B9A1-E09E-862D-3725B944DA39}"/>
              </a:ext>
            </a:extLst>
          </p:cNvPr>
          <p:cNvSpPr>
            <a:spLocks noGrp="1"/>
          </p:cNvSpPr>
          <p:nvPr>
            <p:ph type="title"/>
          </p:nvPr>
        </p:nvSpPr>
        <p:spPr/>
        <p:txBody>
          <a:bodyPr/>
          <a:lstStyle/>
          <a:p>
            <a:r>
              <a:rPr lang="en-US" dirty="0"/>
              <a:t>Main Steps</a:t>
            </a:r>
          </a:p>
        </p:txBody>
      </p:sp>
      <p:sp>
        <p:nvSpPr>
          <p:cNvPr id="3" name="Content Placeholder 2">
            <a:extLst>
              <a:ext uri="{FF2B5EF4-FFF2-40B4-BE49-F238E27FC236}">
                <a16:creationId xmlns:a16="http://schemas.microsoft.com/office/drawing/2014/main" id="{71676140-D9A2-A6B3-1EDF-C589674D8DA9}"/>
              </a:ext>
            </a:extLst>
          </p:cNvPr>
          <p:cNvSpPr>
            <a:spLocks noGrp="1"/>
          </p:cNvSpPr>
          <p:nvPr>
            <p:ph sz="quarter" idx="10"/>
          </p:nvPr>
        </p:nvSpPr>
        <p:spPr/>
        <p:txBody>
          <a:bodyPr>
            <a:normAutofit lnSpcReduction="10000"/>
          </a:bodyPr>
          <a:lstStyle/>
          <a:p>
            <a:r>
              <a:rPr lang="en-US" dirty="0">
                <a:latin typeface="Abadi" panose="020B0604020104020204" pitchFamily="34" charset="0"/>
              </a:rPr>
              <a:t>T</a:t>
            </a:r>
            <a:r>
              <a:rPr lang="en-US" sz="2400" dirty="0">
                <a:latin typeface="Abadi" panose="020B0604020104020204" pitchFamily="34" charset="0"/>
              </a:rPr>
              <a:t>he main steps may be summarized as follows:</a:t>
            </a:r>
          </a:p>
          <a:p>
            <a:r>
              <a:rPr lang="en-US" sz="2400" dirty="0">
                <a:latin typeface="Abadi" panose="020B0604020104020204" pitchFamily="34" charset="0"/>
              </a:rPr>
              <a:t>Start with a register on n qubits all in the |0&gt; state</a:t>
            </a:r>
          </a:p>
          <a:p>
            <a:r>
              <a:rPr lang="en-US" sz="2400" dirty="0">
                <a:latin typeface="Abadi" panose="020B0604020104020204" pitchFamily="34" charset="0"/>
              </a:rPr>
              <a:t>Apply a Hadamard gate  to each of the  n qubits</a:t>
            </a:r>
          </a:p>
          <a:p>
            <a:r>
              <a:rPr lang="en-US" sz="2400" dirty="0">
                <a:latin typeface="Abadi" panose="020B0604020104020204" pitchFamily="34" charset="0"/>
              </a:rPr>
              <a:t>Repeat:</a:t>
            </a:r>
          </a:p>
          <a:p>
            <a:pPr lvl="1"/>
            <a:r>
              <a:rPr lang="en-US" sz="2400" dirty="0">
                <a:latin typeface="Abadi" panose="020B0604020104020204" pitchFamily="34" charset="0"/>
              </a:rPr>
              <a:t>Apply an Oracle operator</a:t>
            </a:r>
          </a:p>
          <a:p>
            <a:pPr lvl="1"/>
            <a:r>
              <a:rPr lang="en-US" sz="2400" dirty="0">
                <a:latin typeface="Abadi" panose="020B0604020104020204" pitchFamily="34" charset="0"/>
              </a:rPr>
              <a:t>Appy a diffusion operator</a:t>
            </a:r>
          </a:p>
          <a:p>
            <a:r>
              <a:rPr lang="en-US" sz="2400" dirty="0">
                <a:latin typeface="Abadi" panose="020B0604020104020204" pitchFamily="34" charset="0"/>
              </a:rPr>
              <a:t>Measure all qubits</a:t>
            </a:r>
          </a:p>
        </p:txBody>
      </p:sp>
      <p:sp>
        <p:nvSpPr>
          <p:cNvPr id="4" name="Slide Number Placeholder 3">
            <a:extLst>
              <a:ext uri="{FF2B5EF4-FFF2-40B4-BE49-F238E27FC236}">
                <a16:creationId xmlns:a16="http://schemas.microsoft.com/office/drawing/2014/main" id="{0117FDB1-8FFA-1CBE-F104-9D7EA522D2F4}"/>
              </a:ext>
            </a:extLst>
          </p:cNvPr>
          <p:cNvSpPr>
            <a:spLocks noGrp="1"/>
          </p:cNvSpPr>
          <p:nvPr>
            <p:ph type="sldNum" sz="quarter" idx="4"/>
          </p:nvPr>
        </p:nvSpPr>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2940994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2235F-C0A0-54AD-A45C-54EC92EA7514}"/>
              </a:ext>
            </a:extLst>
          </p:cNvPr>
          <p:cNvSpPr>
            <a:spLocks noGrp="1"/>
          </p:cNvSpPr>
          <p:nvPr>
            <p:ph type="title"/>
          </p:nvPr>
        </p:nvSpPr>
        <p:spPr>
          <a:xfrm>
            <a:off x="788670" y="-23431"/>
            <a:ext cx="7534656" cy="914400"/>
          </a:xfrm>
        </p:spPr>
        <p:txBody>
          <a:bodyPr/>
          <a:lstStyle/>
          <a:p>
            <a:r>
              <a:rPr lang="en-US" dirty="0"/>
              <a:t>What are Quantum Oracles</a:t>
            </a:r>
          </a:p>
        </p:txBody>
      </p:sp>
      <p:sp>
        <p:nvSpPr>
          <p:cNvPr id="3" name="Content Placeholder 2">
            <a:extLst>
              <a:ext uri="{FF2B5EF4-FFF2-40B4-BE49-F238E27FC236}">
                <a16:creationId xmlns:a16="http://schemas.microsoft.com/office/drawing/2014/main" id="{2F42CCB1-4E8E-36FE-F04B-ADC996218C73}"/>
              </a:ext>
            </a:extLst>
          </p:cNvPr>
          <p:cNvSpPr>
            <a:spLocks noGrp="1"/>
          </p:cNvSpPr>
          <p:nvPr>
            <p:ph sz="quarter" idx="10"/>
          </p:nvPr>
        </p:nvSpPr>
        <p:spPr>
          <a:xfrm>
            <a:off x="0" y="1267587"/>
            <a:ext cx="11852910" cy="4991481"/>
          </a:xfrm>
        </p:spPr>
        <p:txBody>
          <a:bodyPr/>
          <a:lstStyle/>
          <a:p>
            <a:r>
              <a:rPr lang="en-US" sz="2400" dirty="0">
                <a:latin typeface="Abadi" panose="020B0604020104020204" pitchFamily="34" charset="0"/>
              </a:rPr>
              <a:t>Oracles are simply </a:t>
            </a:r>
            <a:r>
              <a:rPr lang="en-US" sz="2400" i="1" dirty="0">
                <a:latin typeface="Abadi" panose="020B0604020104020204" pitchFamily="34" charset="0"/>
              </a:rPr>
              <a:t>Boolean</a:t>
            </a:r>
            <a:r>
              <a:rPr lang="en-US" sz="2400" dirty="0">
                <a:latin typeface="Abadi" panose="020B0604020104020204" pitchFamily="34" charset="0"/>
              </a:rPr>
              <a:t> functions. We give an input to the function or oracle or black box, and it returns an output, without us knowing its inner workings.</a:t>
            </a:r>
          </a:p>
          <a:p>
            <a:r>
              <a:rPr lang="en-US" sz="2400" dirty="0">
                <a:latin typeface="Abadi" panose="020B0604020104020204" pitchFamily="34" charset="0"/>
              </a:rPr>
              <a:t>Quantum oracles are black-box functions used in quantum computing to encode specific problems or functions, , into a unitary transformation. These oracles primarily serve to recognize solutions to a problem in a way that allows quantum algorithms to leverage quantum mechanics to efficiently search for the solution.</a:t>
            </a:r>
          </a:p>
          <a:p>
            <a:r>
              <a:rPr lang="en-US" sz="2400" dirty="0">
                <a:latin typeface="Abadi" panose="020B0604020104020204" pitchFamily="34" charset="0"/>
              </a:rPr>
              <a:t>Quantum oracles play a key role in quantum algorithms, such as Shor’s and Grover’s algorithms.</a:t>
            </a:r>
          </a:p>
          <a:p>
            <a:r>
              <a:rPr lang="en-US" sz="2400" dirty="0">
                <a:latin typeface="Abadi" panose="020B0604020104020204" pitchFamily="34" charset="0"/>
              </a:rPr>
              <a:t>The gate  below is used to illustrate an oracle operation.</a:t>
            </a:r>
          </a:p>
          <a:p>
            <a:endParaRPr lang="en-US" sz="2400" dirty="0">
              <a:latin typeface="Abadi" panose="020B0604020104020204" pitchFamily="34" charset="0"/>
            </a:endParaRPr>
          </a:p>
          <a:p>
            <a:endParaRPr lang="en-US" dirty="0"/>
          </a:p>
          <a:p>
            <a:endParaRPr lang="en-US" dirty="0"/>
          </a:p>
        </p:txBody>
      </p:sp>
      <p:sp>
        <p:nvSpPr>
          <p:cNvPr id="4" name="Slide Number Placeholder 3">
            <a:extLst>
              <a:ext uri="{FF2B5EF4-FFF2-40B4-BE49-F238E27FC236}">
                <a16:creationId xmlns:a16="http://schemas.microsoft.com/office/drawing/2014/main" id="{F3AFF7E7-882D-69C7-C848-117AD721D0E0}"/>
              </a:ext>
            </a:extLst>
          </p:cNvPr>
          <p:cNvSpPr>
            <a:spLocks noGrp="1"/>
          </p:cNvSpPr>
          <p:nvPr>
            <p:ph type="sldNum" sz="quarter" idx="4"/>
          </p:nvPr>
        </p:nvSpPr>
        <p:spPr/>
        <p:txBody>
          <a:bodyPr/>
          <a:lstStyle/>
          <a:p>
            <a:fld id="{58FB4751-880F-D840-AAA9-3A15815CC996}" type="slidenum">
              <a:rPr lang="en-US" smtClean="0"/>
              <a:pPr/>
              <a:t>6</a:t>
            </a:fld>
            <a:endParaRPr lang="en-US" dirty="0"/>
          </a:p>
        </p:txBody>
      </p:sp>
      <p:pic>
        <p:nvPicPr>
          <p:cNvPr id="4098" name="Picture 2" descr="c7e27d455ccd4856b40bb289ebabaec0">
            <a:extLst>
              <a:ext uri="{FF2B5EF4-FFF2-40B4-BE49-F238E27FC236}">
                <a16:creationId xmlns:a16="http://schemas.microsoft.com/office/drawing/2014/main" id="{D9F74A4C-BD54-659C-5A1C-D4D5CC7D8F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6655" y="4908254"/>
            <a:ext cx="3067050" cy="971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3034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35974-7A4B-D474-D6E1-F8C5D80B65CE}"/>
              </a:ext>
            </a:extLst>
          </p:cNvPr>
          <p:cNvSpPr>
            <a:spLocks noGrp="1"/>
          </p:cNvSpPr>
          <p:nvPr>
            <p:ph type="title"/>
          </p:nvPr>
        </p:nvSpPr>
        <p:spPr/>
        <p:txBody>
          <a:bodyPr/>
          <a:lstStyle/>
          <a:p>
            <a:r>
              <a:rPr lang="en-US" dirty="0"/>
              <a:t>The Performance of the Algorithm</a:t>
            </a:r>
          </a:p>
        </p:txBody>
      </p:sp>
      <p:sp>
        <p:nvSpPr>
          <p:cNvPr id="4" name="Slide Number Placeholder 3">
            <a:extLst>
              <a:ext uri="{FF2B5EF4-FFF2-40B4-BE49-F238E27FC236}">
                <a16:creationId xmlns:a16="http://schemas.microsoft.com/office/drawing/2014/main" id="{A5FFBFC1-DCDA-6949-451B-E3310E485556}"/>
              </a:ext>
            </a:extLst>
          </p:cNvPr>
          <p:cNvSpPr>
            <a:spLocks noGrp="1"/>
          </p:cNvSpPr>
          <p:nvPr>
            <p:ph type="sldNum" sz="quarter" idx="4"/>
          </p:nvPr>
        </p:nvSpPr>
        <p:spPr/>
        <p:txBody>
          <a:bodyPr/>
          <a:lstStyle/>
          <a:p>
            <a:fld id="{58FB4751-880F-D840-AAA9-3A15815CC996}" type="slidenum">
              <a:rPr lang="en-US" smtClean="0"/>
              <a:pPr/>
              <a:t>7</a:t>
            </a:fld>
            <a:endParaRPr lang="en-US" dirty="0"/>
          </a:p>
        </p:txBody>
      </p:sp>
      <p:pic>
        <p:nvPicPr>
          <p:cNvPr id="3074" name="Picture 2" descr="Classical query complexity vs. quantum query complexity, with the point of quantum advantage indicated in yellow. Image by author.">
            <a:extLst>
              <a:ext uri="{FF2B5EF4-FFF2-40B4-BE49-F238E27FC236}">
                <a16:creationId xmlns:a16="http://schemas.microsoft.com/office/drawing/2014/main" id="{1A7DEA42-F6B9-F71D-4355-C317EE9ACF34}"/>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1504950" y="2038350"/>
            <a:ext cx="7534656" cy="4238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9778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0563D-644D-2A52-52BD-BB280913DCF4}"/>
              </a:ext>
            </a:extLst>
          </p:cNvPr>
          <p:cNvSpPr>
            <a:spLocks noGrp="1"/>
          </p:cNvSpPr>
          <p:nvPr>
            <p:ph type="title"/>
          </p:nvPr>
        </p:nvSpPr>
        <p:spPr/>
        <p:txBody>
          <a:bodyPr/>
          <a:lstStyle/>
          <a:p>
            <a:r>
              <a:rPr lang="en-US" dirty="0"/>
              <a:t>The Importance of the Oracle in Speedup</a:t>
            </a:r>
          </a:p>
        </p:txBody>
      </p:sp>
      <p:sp>
        <p:nvSpPr>
          <p:cNvPr id="3" name="Content Placeholder 2">
            <a:extLst>
              <a:ext uri="{FF2B5EF4-FFF2-40B4-BE49-F238E27FC236}">
                <a16:creationId xmlns:a16="http://schemas.microsoft.com/office/drawing/2014/main" id="{099CAEFA-6E8E-4A08-E518-38522A4DE43E}"/>
              </a:ext>
            </a:extLst>
          </p:cNvPr>
          <p:cNvSpPr>
            <a:spLocks noGrp="1"/>
          </p:cNvSpPr>
          <p:nvPr>
            <p:ph sz="quarter" idx="10"/>
          </p:nvPr>
        </p:nvSpPr>
        <p:spPr>
          <a:xfrm>
            <a:off x="914400" y="2039111"/>
            <a:ext cx="10344150" cy="4736591"/>
          </a:xfrm>
        </p:spPr>
        <p:txBody>
          <a:bodyPr/>
          <a:lstStyle/>
          <a:p>
            <a:r>
              <a:rPr lang="en-US" sz="2400" dirty="0">
                <a:latin typeface="Abadi" panose="020B0604020104020204" pitchFamily="34" charset="0"/>
              </a:rPr>
              <a:t>The oracle encapsulates the computational complexity of the problem into a quantum operation. </a:t>
            </a:r>
          </a:p>
          <a:p>
            <a:r>
              <a:rPr lang="en-US" sz="2400" dirty="0">
                <a:latin typeface="Abadi" panose="020B0604020104020204" pitchFamily="34" charset="0"/>
              </a:rPr>
              <a:t>While it does not solve the problem directly, it bridges the problem definition and the quantum algorithm. </a:t>
            </a:r>
          </a:p>
          <a:p>
            <a:r>
              <a:rPr lang="en-US" sz="2400" dirty="0">
                <a:latin typeface="Abadi" panose="020B0604020104020204" pitchFamily="34" charset="0"/>
              </a:rPr>
              <a:t>Its ability to efficiently encode and manipulate problem-specific information is the key reason Grover’s algorithm achieves its quadratic speedup over classical search methods.</a:t>
            </a:r>
          </a:p>
          <a:p>
            <a:r>
              <a:rPr lang="en-US" sz="2400" dirty="0">
                <a:latin typeface="Abadi" panose="020B0604020104020204" pitchFamily="34" charset="0"/>
              </a:rPr>
              <a:t>Without the oracle, Grover's algorithm cannot function, making it an indispensable element of the quantum computational framework.</a:t>
            </a:r>
          </a:p>
          <a:p>
            <a:pPr marL="0" indent="0">
              <a:buNone/>
            </a:pPr>
            <a:endParaRPr lang="en-US" dirty="0"/>
          </a:p>
        </p:txBody>
      </p:sp>
      <p:sp>
        <p:nvSpPr>
          <p:cNvPr id="4" name="Slide Number Placeholder 3">
            <a:extLst>
              <a:ext uri="{FF2B5EF4-FFF2-40B4-BE49-F238E27FC236}">
                <a16:creationId xmlns:a16="http://schemas.microsoft.com/office/drawing/2014/main" id="{99877659-CBDE-3050-9FF0-6772300125A0}"/>
              </a:ext>
            </a:extLst>
          </p:cNvPr>
          <p:cNvSpPr>
            <a:spLocks noGrp="1"/>
          </p:cNvSpPr>
          <p:nvPr>
            <p:ph type="sldNum" sz="quarter" idx="4"/>
          </p:nvPr>
        </p:nvSpPr>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3886530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C707E-E3CE-BAE0-7D42-69DA4E4B74D2}"/>
              </a:ext>
            </a:extLst>
          </p:cNvPr>
          <p:cNvSpPr>
            <a:spLocks noGrp="1"/>
          </p:cNvSpPr>
          <p:nvPr>
            <p:ph type="title"/>
          </p:nvPr>
        </p:nvSpPr>
        <p:spPr/>
        <p:txBody>
          <a:bodyPr/>
          <a:lstStyle/>
          <a:p>
            <a:r>
              <a:rPr lang="en-US" dirty="0"/>
              <a:t>Oracle Operations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1E351DF-493F-EE7B-456B-C06EB8A277A2}"/>
                  </a:ext>
                </a:extLst>
              </p:cNvPr>
              <p:cNvSpPr>
                <a:spLocks noGrp="1"/>
              </p:cNvSpPr>
              <p:nvPr>
                <p:ph sz="quarter" idx="10"/>
              </p:nvPr>
            </p:nvSpPr>
            <p:spPr>
              <a:xfrm>
                <a:off x="445770" y="2039112"/>
                <a:ext cx="10412730" cy="4533138"/>
              </a:xfrm>
            </p:spPr>
            <p:txBody>
              <a:bodyPr/>
              <a:lstStyle/>
              <a:p>
                <a:pPr marL="0" indent="0">
                  <a:buNone/>
                </a:pPr>
                <a:r>
                  <a:rPr lang="en-US" sz="2400" b="1" dirty="0">
                    <a:latin typeface="Abadi" panose="020B0604020104020204" pitchFamily="34" charset="0"/>
                  </a:rPr>
                  <a:t>Mathematical Representation of the Oracle</a:t>
                </a:r>
              </a:p>
              <a:p>
                <a:r>
                  <a:rPr lang="en-US" sz="2400" dirty="0">
                    <a:latin typeface="Abadi" panose="020B0604020104020204" pitchFamily="34" charset="0"/>
                  </a:rPr>
                  <a:t>Let ∣x⟩ be any quantum state in the computational basis, and let ∣</a:t>
                </a:r>
                <a:r>
                  <a:rPr lang="en-US" sz="2400" dirty="0" err="1">
                    <a:latin typeface="Abadi" panose="020B0604020104020204" pitchFamily="34" charset="0"/>
                  </a:rPr>
                  <a:t>xs</a:t>
                </a:r>
                <a:r>
                  <a:rPr lang="en-US" sz="2400" dirty="0">
                    <a:latin typeface="Abadi" panose="020B0604020104020204" pitchFamily="34" charset="0"/>
                  </a:rPr>
                  <a:t>​⟩ denote the marked (solution) state. The Oracle O operates as follows:</a:t>
                </a:r>
              </a:p>
              <a:p>
                <a:endParaRPr lang="en-US" sz="2400" dirty="0">
                  <a:latin typeface="Abadi" panose="020B0604020104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𝒪</m:t>
                      </m:r>
                      <m:r>
                        <a:rPr lang="en-US" sz="2400" i="0" smtClean="0">
                          <a:latin typeface="Cambria Math" panose="02040503050406030204" pitchFamily="18" charset="0"/>
                        </a:rPr>
                        <m:t>|</m:t>
                      </m:r>
                      <m:r>
                        <a:rPr lang="en-US" sz="2400" i="1" smtClean="0">
                          <a:latin typeface="Cambria Math" panose="02040503050406030204" pitchFamily="18" charset="0"/>
                        </a:rPr>
                        <m:t>𝑥</m:t>
                      </m:r>
                      <m:r>
                        <a:rPr lang="en-US" sz="2400" i="0" smtClean="0">
                          <a:latin typeface="Cambria Math" panose="02040503050406030204" pitchFamily="18" charset="0"/>
                        </a:rPr>
                        <m:t>⟩=</m:t>
                      </m:r>
                      <m:d>
                        <m:dPr>
                          <m:begChr m:val="{"/>
                          <m:endChr m:val=""/>
                          <m:ctrlPr>
                            <a:rPr lang="en-US" sz="2400" i="1" smtClean="0">
                              <a:latin typeface="Cambria Math" panose="02040503050406030204" pitchFamily="18" charset="0"/>
                            </a:rPr>
                          </m:ctrlPr>
                        </m:dPr>
                        <m:e>
                          <m:m>
                            <m:mPr>
                              <m:plcHide m:val="on"/>
                              <m:mcs>
                                <m:mc>
                                  <m:mcPr>
                                    <m:count m:val="2"/>
                                    <m:mcJc m:val="center"/>
                                  </m:mcPr>
                                </m:mc>
                              </m:mcs>
                              <m:ctrlPr>
                                <a:rPr lang="en-US" sz="2400" i="1" smtClean="0">
                                  <a:latin typeface="Cambria Math" panose="02040503050406030204" pitchFamily="18" charset="0"/>
                                </a:rPr>
                              </m:ctrlPr>
                            </m:mPr>
                            <m:mr>
                              <m:e>
                                <m:r>
                                  <a:rPr lang="en-US" sz="2400" i="0" smtClean="0">
                                    <a:latin typeface="Cambria Math" panose="02040503050406030204" pitchFamily="18" charset="0"/>
                                  </a:rPr>
                                  <m:t>−|</m:t>
                                </m:r>
                                <m:r>
                                  <a:rPr lang="en-US" sz="2400" i="1" smtClean="0">
                                    <a:latin typeface="Cambria Math" panose="02040503050406030204" pitchFamily="18" charset="0"/>
                                  </a:rPr>
                                  <m:t>𝑥</m:t>
                                </m:r>
                                <m:r>
                                  <a:rPr lang="en-US" sz="2400" i="0" smtClean="0">
                                    <a:latin typeface="Cambria Math" panose="02040503050406030204" pitchFamily="18" charset="0"/>
                                  </a:rPr>
                                  <m:t>⟩</m:t>
                                </m:r>
                              </m:e>
                              <m:e>
                                <m:r>
                                  <m:rPr>
                                    <m:sty m:val="p"/>
                                  </m:rPr>
                                  <a:rPr lang="en-US" sz="2400" b="0" i="1" smtClean="0">
                                    <a:latin typeface="Cambria Math" panose="02040503050406030204" pitchFamily="18" charset="0"/>
                                  </a:rPr>
                                  <m:t>if</m:t>
                                </m:r>
                                <m:r>
                                  <a:rPr lang="en-US" sz="2400" b="0" i="1" smtClean="0">
                                    <a:latin typeface="Cambria Math" panose="02040503050406030204" pitchFamily="18" charset="0"/>
                                  </a:rPr>
                                  <m:t> </m:t>
                                </m:r>
                                <m:r>
                                  <a:rPr lang="en-US" sz="2400" b="0" i="1" smtClean="0">
                                    <a:latin typeface="Cambria Math" panose="02040503050406030204" pitchFamily="18" charset="0"/>
                                  </a:rPr>
                                  <m:t>𝑥</m:t>
                                </m:r>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𝑠</m:t>
                                    </m:r>
                                  </m:sub>
                                </m:sSub>
                              </m:e>
                            </m:mr>
                            <m:mr>
                              <m:e>
                                <m:r>
                                  <a:rPr lang="en-US" sz="2400" b="0" i="0" smtClean="0">
                                    <a:latin typeface="Cambria Math" panose="02040503050406030204" pitchFamily="18" charset="0"/>
                                  </a:rPr>
                                  <m:t>|</m:t>
                                </m:r>
                                <m:r>
                                  <a:rPr lang="en-US" sz="2400" b="0" i="1" smtClean="0">
                                    <a:latin typeface="Cambria Math" panose="02040503050406030204" pitchFamily="18" charset="0"/>
                                  </a:rPr>
                                  <m:t>𝑥</m:t>
                                </m:r>
                                <m:r>
                                  <a:rPr lang="en-US" sz="2400" b="0" i="0" smtClean="0">
                                    <a:latin typeface="Cambria Math" panose="02040503050406030204" pitchFamily="18" charset="0"/>
                                  </a:rPr>
                                  <m:t>⟩</m:t>
                                </m:r>
                              </m:e>
                              <m:e>
                                <m:r>
                                  <m:rPr>
                                    <m:sty m:val="p"/>
                                  </m:rPr>
                                  <a:rPr lang="en-US" sz="2400" b="0" i="1" smtClean="0">
                                    <a:latin typeface="Cambria Math" panose="02040503050406030204" pitchFamily="18" charset="0"/>
                                  </a:rPr>
                                  <m:t>otherwise</m:t>
                                </m:r>
                              </m:e>
                            </m:mr>
                          </m:m>
                        </m:e>
                      </m:d>
                    </m:oMath>
                  </m:oMathPara>
                </a14:m>
                <a:endParaRPr lang="en-US" sz="2400" dirty="0">
                  <a:latin typeface="Abadi" panose="020B0604020104020204" pitchFamily="34" charset="0"/>
                </a:endParaRPr>
              </a:p>
              <a:p>
                <a:endParaRPr lang="en-US" dirty="0"/>
              </a:p>
              <a:p>
                <a:pPr marL="0" indent="0">
                  <a:buNone/>
                </a:pPr>
                <a:r>
                  <a:rPr lang="en-US" sz="2400" b="1" dirty="0">
                    <a:latin typeface="Abadi" panose="020B0604020104020204" pitchFamily="34" charset="0"/>
                  </a:rPr>
                  <a:t>In Quantum Terms:</a:t>
                </a:r>
              </a:p>
              <a:p>
                <a:r>
                  <a:rPr lang="en-US" sz="2400" b="1" dirty="0">
                    <a:latin typeface="Abadi" panose="020B0604020104020204" pitchFamily="34" charset="0"/>
                  </a:rPr>
                  <a:t>Marked State:</a:t>
                </a:r>
                <a:r>
                  <a:rPr lang="en-US" sz="2400" dirty="0">
                    <a:latin typeface="Abadi" panose="020B0604020104020204" pitchFamily="34" charset="0"/>
                  </a:rPr>
                  <a:t> For the state ∣</a:t>
                </a:r>
                <a:r>
                  <a:rPr lang="en-US" sz="2400" dirty="0" err="1">
                    <a:latin typeface="Abadi" panose="020B0604020104020204" pitchFamily="34" charset="0"/>
                  </a:rPr>
                  <a:t>xs</a:t>
                </a:r>
                <a:r>
                  <a:rPr lang="en-US" sz="2400" dirty="0">
                    <a:latin typeface="Abadi" panose="020B0604020104020204" pitchFamily="34" charset="0"/>
                  </a:rPr>
                  <a:t>​⟩, the oracle applies a −1 phase shift, flipping its amplitude from +A to −A.</a:t>
                </a:r>
              </a:p>
              <a:p>
                <a:r>
                  <a:rPr lang="en-US" sz="2400" b="1" dirty="0">
                    <a:latin typeface="Abadi" panose="020B0604020104020204" pitchFamily="34" charset="0"/>
                  </a:rPr>
                  <a:t>Unmarked States:</a:t>
                </a:r>
                <a:r>
                  <a:rPr lang="en-US" sz="2400" dirty="0">
                    <a:latin typeface="Abadi" panose="020B0604020104020204" pitchFamily="34" charset="0"/>
                  </a:rPr>
                  <a:t> For all other states ∣x⟩, the amplitude remains unchanged</a:t>
                </a:r>
                <a:r>
                  <a:rPr lang="en-US" dirty="0"/>
                  <a:t>.</a:t>
                </a:r>
              </a:p>
              <a:p>
                <a:endParaRPr lang="en-US" dirty="0"/>
              </a:p>
            </p:txBody>
          </p:sp>
        </mc:Choice>
        <mc:Fallback>
          <p:sp>
            <p:nvSpPr>
              <p:cNvPr id="3" name="Content Placeholder 2">
                <a:extLst>
                  <a:ext uri="{FF2B5EF4-FFF2-40B4-BE49-F238E27FC236}">
                    <a16:creationId xmlns:a16="http://schemas.microsoft.com/office/drawing/2014/main" id="{21E351DF-493F-EE7B-456B-C06EB8A277A2}"/>
                  </a:ext>
                </a:extLst>
              </p:cNvPr>
              <p:cNvSpPr>
                <a:spLocks noGrp="1" noRot="1" noChangeAspect="1" noMove="1" noResize="1" noEditPoints="1" noAdjustHandles="1" noChangeArrowheads="1" noChangeShapeType="1" noTextEdit="1"/>
              </p:cNvSpPr>
              <p:nvPr>
                <p:ph sz="quarter" idx="10"/>
              </p:nvPr>
            </p:nvSpPr>
            <p:spPr>
              <a:xfrm>
                <a:off x="445770" y="2039112"/>
                <a:ext cx="10412730" cy="4533138"/>
              </a:xfrm>
              <a:blipFill>
                <a:blip r:embed="rId2"/>
                <a:stretch>
                  <a:fillRect l="-878" t="-2019" r="-820" b="-215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3A133BC-4FBF-48DD-A6C5-0904FD193B18}"/>
              </a:ext>
            </a:extLst>
          </p:cNvPr>
          <p:cNvSpPr>
            <a:spLocks noGrp="1"/>
          </p:cNvSpPr>
          <p:nvPr>
            <p:ph type="sldNum" sz="quarter" idx="4"/>
          </p:nvPr>
        </p:nvSpPr>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97243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1D592-9DA7-12B8-2544-A3F2677DD7EB}"/>
              </a:ext>
            </a:extLst>
          </p:cNvPr>
          <p:cNvSpPr>
            <a:spLocks noGrp="1"/>
          </p:cNvSpPr>
          <p:nvPr>
            <p:ph type="title"/>
          </p:nvPr>
        </p:nvSpPr>
        <p:spPr>
          <a:xfrm>
            <a:off x="925830" y="0"/>
            <a:ext cx="7534656" cy="914400"/>
          </a:xfrm>
        </p:spPr>
        <p:txBody>
          <a:bodyPr/>
          <a:lstStyle/>
          <a:p>
            <a:r>
              <a:rPr lang="en-US" dirty="0"/>
              <a:t>How it Works: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14416DA-FDDF-D9ED-01B4-C2749231B878}"/>
                  </a:ext>
                </a:extLst>
              </p:cNvPr>
              <p:cNvSpPr>
                <a:spLocks noGrp="1"/>
              </p:cNvSpPr>
              <p:nvPr>
                <p:ph sz="quarter" idx="10"/>
              </p:nvPr>
            </p:nvSpPr>
            <p:spPr>
              <a:xfrm>
                <a:off x="411480" y="914401"/>
                <a:ext cx="11338560" cy="5804152"/>
              </a:xfrm>
            </p:spPr>
            <p:txBody>
              <a:bodyPr>
                <a:noAutofit/>
              </a:bodyPr>
              <a:lstStyle/>
              <a:p>
                <a:pPr marL="0" indent="0">
                  <a:buNone/>
                </a:pPr>
                <a:r>
                  <a:rPr lang="en-US" sz="2400" dirty="0">
                    <a:latin typeface="Abadi" panose="020B0604020104020204" pitchFamily="34" charset="0"/>
                  </a:rPr>
                  <a:t>The oracle's action depends on encoding the condition that identifies the marked state. Let’s explore how this works in practice.</a:t>
                </a:r>
              </a:p>
              <a:p>
                <a:pPr marL="0" indent="0">
                  <a:buNone/>
                </a:pPr>
                <a:r>
                  <a:rPr lang="en-US" sz="2400" b="1" dirty="0">
                    <a:latin typeface="Abadi" panose="020B0604020104020204" pitchFamily="34" charset="0"/>
                  </a:rPr>
                  <a:t>1. Encoding the Problem Condition</a:t>
                </a:r>
              </a:p>
              <a:p>
                <a:r>
                  <a:rPr lang="en-US" sz="2400" dirty="0">
                    <a:latin typeface="Abadi" panose="020B0604020104020204" pitchFamily="34" charset="0"/>
                  </a:rPr>
                  <a:t>To implement the oracle, a quantum circuit is designed to:</a:t>
                </a:r>
              </a:p>
              <a:p>
                <a:r>
                  <a:rPr lang="en-US" sz="2400" dirty="0">
                    <a:latin typeface="Abadi" panose="020B0604020104020204" pitchFamily="34" charset="0"/>
                  </a:rPr>
                  <a:t>Evaluate a </a:t>
                </a:r>
                <a:r>
                  <a:rPr lang="en-US" sz="2400" b="1" dirty="0">
                    <a:latin typeface="Abadi" panose="020B0604020104020204" pitchFamily="34" charset="0"/>
                  </a:rPr>
                  <a:t>Boolean function</a:t>
                </a:r>
                <a:r>
                  <a:rPr lang="en-US" sz="2400" dirty="0">
                    <a:latin typeface="Abadi" panose="020B0604020104020204" pitchFamily="34" charset="0"/>
                  </a:rPr>
                  <a:t> f(x), where:</a:t>
                </a:r>
              </a:p>
              <a:p>
                <a:endParaRPr lang="en-US" sz="2400" dirty="0">
                  <a:latin typeface="Abadi" panose="020B0604020104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1</m:t>
                                </m:r>
                              </m:e>
                              <m:e>
                                <m:r>
                                  <m:rPr>
                                    <m:sty m:val="p"/>
                                  </m:rPr>
                                  <a:rPr lang="en-US" sz="2400" b="0" i="1">
                                    <a:latin typeface="Cambria Math" panose="02040503050406030204" pitchFamily="18" charset="0"/>
                                  </a:rPr>
                                  <m:t>if</m:t>
                                </m:r>
                                <m:r>
                                  <a:rPr lang="en-US" sz="2400" b="0" i="1">
                                    <a:latin typeface="Cambria Math" panose="02040503050406030204" pitchFamily="18" charset="0"/>
                                  </a:rPr>
                                  <m:t> </m:t>
                                </m:r>
                                <m:r>
                                  <a:rPr lang="en-US" sz="2400" b="0" i="1">
                                    <a:latin typeface="Cambria Math" panose="02040503050406030204" pitchFamily="18" charset="0"/>
                                  </a:rPr>
                                  <m:t>𝑥</m:t>
                                </m:r>
                                <m:r>
                                  <a:rPr lang="en-US" sz="2400" b="0" i="0">
                                    <a:latin typeface="Cambria Math" panose="02040503050406030204" pitchFamily="18" charset="0"/>
                                  </a:rPr>
                                  <m:t>=</m:t>
                                </m:r>
                                <m:sSub>
                                  <m:sSubPr>
                                    <m:ctrlPr>
                                      <a:rPr lang="en-US" sz="2400" b="0" i="1">
                                        <a:latin typeface="Cambria Math" panose="02040503050406030204" pitchFamily="18" charset="0"/>
                                      </a:rPr>
                                    </m:ctrlPr>
                                  </m:sSubPr>
                                  <m:e>
                                    <m:r>
                                      <a:rPr lang="en-US" sz="2400" b="0" i="1">
                                        <a:latin typeface="Cambria Math" panose="02040503050406030204" pitchFamily="18" charset="0"/>
                                      </a:rPr>
                                      <m:t>𝑥</m:t>
                                    </m:r>
                                  </m:e>
                                  <m:sub>
                                    <m:r>
                                      <a:rPr lang="en-US" sz="2400" b="0" i="1">
                                        <a:latin typeface="Cambria Math" panose="02040503050406030204" pitchFamily="18" charset="0"/>
                                      </a:rPr>
                                      <m:t>𝑠</m:t>
                                    </m:r>
                                  </m:sub>
                                </m:sSub>
                              </m:e>
                            </m:mr>
                            <m:mr>
                              <m:e>
                                <m:r>
                                  <a:rPr lang="en-US" sz="2400" b="0" i="0">
                                    <a:latin typeface="Cambria Math" panose="02040503050406030204" pitchFamily="18" charset="0"/>
                                  </a:rPr>
                                  <m:t>0</m:t>
                                </m:r>
                              </m:e>
                              <m:e>
                                <m:r>
                                  <m:rPr>
                                    <m:sty m:val="p"/>
                                  </m:rPr>
                                  <a:rPr lang="en-US" sz="2400" b="0" i="1">
                                    <a:latin typeface="Cambria Math" panose="02040503050406030204" pitchFamily="18" charset="0"/>
                                  </a:rPr>
                                  <m:t>otherwise</m:t>
                                </m:r>
                              </m:e>
                            </m:mr>
                          </m:m>
                        </m:e>
                      </m:d>
                    </m:oMath>
                  </m:oMathPara>
                </a14:m>
                <a:endParaRPr lang="en-US" sz="2400" dirty="0">
                  <a:latin typeface="Abadi" panose="020B0604020104020204" pitchFamily="34" charset="0"/>
                </a:endParaRPr>
              </a:p>
              <a:p>
                <a:pPr marL="0" indent="0">
                  <a:buNone/>
                </a:pPr>
                <a:r>
                  <a:rPr lang="en-US" sz="2400" dirty="0">
                    <a:latin typeface="Abadi" panose="020B0604020104020204" pitchFamily="34" charset="0"/>
                  </a:rPr>
                  <a:t>If f(x)=1, the oracle flips the phase of ∣x⟩.</a:t>
                </a:r>
              </a:p>
              <a:p>
                <a:pPr marL="0" indent="0">
                  <a:buNone/>
                </a:pPr>
                <a:r>
                  <a:rPr lang="en-US" sz="2400" b="1" dirty="0">
                    <a:latin typeface="Abadi" panose="020B0604020104020204" pitchFamily="34" charset="0"/>
                  </a:rPr>
                  <a:t>2. Phase Flip Operation</a:t>
                </a:r>
              </a:p>
              <a:p>
                <a:r>
                  <a:rPr lang="en-US" sz="2400" dirty="0">
                    <a:latin typeface="Abadi" panose="020B0604020104020204" pitchFamily="34" charset="0"/>
                  </a:rPr>
                  <a:t>The oracle achieves the phase flip by using a </a:t>
                </a:r>
                <a:r>
                  <a:rPr lang="en-US" sz="2400" b="1" dirty="0">
                    <a:latin typeface="Abadi" panose="020B0604020104020204" pitchFamily="34" charset="0"/>
                  </a:rPr>
                  <a:t>controlled operation</a:t>
                </a:r>
                <a:r>
                  <a:rPr lang="en-US" sz="2400" dirty="0">
                    <a:latin typeface="Abadi" panose="020B0604020104020204" pitchFamily="34" charset="0"/>
                  </a:rPr>
                  <a:t> that applies a Z-gate (phase shift of π) to the marked state. Mathematically:</a:t>
                </a:r>
              </a:p>
              <a:p>
                <a:pPr marL="0" indent="0">
                  <a:buNone/>
                </a:pPr>
                <a14:m>
                  <m:oMathPara xmlns:m="http://schemas.openxmlformats.org/officeDocument/2006/math">
                    <m:oMathParaPr>
                      <m:jc m:val="centerGroup"/>
                    </m:oMathParaPr>
                    <m:oMath xmlns:m="http://schemas.openxmlformats.org/officeDocument/2006/math">
                      <m:r>
                        <a:rPr lang="en-US" sz="2400" dirty="0" smtClean="0">
                          <a:latin typeface="Cambria Math" panose="02040503050406030204" pitchFamily="18" charset="0"/>
                        </a:rPr>
                        <m:t>𝒪</m:t>
                      </m:r>
                      <m:r>
                        <a:rPr lang="en-US" sz="2400" i="0"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𝑈</m:t>
                          </m:r>
                        </m:e>
                        <m:sub>
                          <m:r>
                            <a:rPr lang="en-US" sz="2400" i="1" dirty="0">
                              <a:latin typeface="Cambria Math" panose="02040503050406030204" pitchFamily="18" charset="0"/>
                            </a:rPr>
                            <m:t>𝑓</m:t>
                          </m:r>
                        </m:sub>
                      </m:sSub>
                      <m:r>
                        <a:rPr lang="en-US" sz="2400" i="0" dirty="0">
                          <a:latin typeface="Cambria Math" panose="02040503050406030204" pitchFamily="18" charset="0"/>
                        </a:rPr>
                        <m:t>⋅</m:t>
                      </m:r>
                      <m:d>
                        <m:dPr>
                          <m:ctrlPr>
                            <a:rPr lang="en-US" sz="2400" i="1" dirty="0">
                              <a:latin typeface="Cambria Math" panose="02040503050406030204" pitchFamily="18" charset="0"/>
                            </a:rPr>
                          </m:ctrlPr>
                        </m:dPr>
                        <m:e>
                          <m:r>
                            <a:rPr lang="en-US" sz="2400" i="1" dirty="0">
                              <a:latin typeface="Cambria Math" panose="02040503050406030204" pitchFamily="18" charset="0"/>
                            </a:rPr>
                            <m:t>𝐼</m:t>
                          </m:r>
                          <m:r>
                            <a:rPr lang="en-US" sz="2400" i="0" dirty="0">
                              <a:latin typeface="Cambria Math" panose="02040503050406030204" pitchFamily="18" charset="0"/>
                            </a:rPr>
                            <m:t>⊗</m:t>
                          </m:r>
                          <m:r>
                            <a:rPr lang="en-US" sz="2400" i="1" dirty="0">
                              <a:latin typeface="Cambria Math" panose="02040503050406030204" pitchFamily="18" charset="0"/>
                            </a:rPr>
                            <m:t>𝑍</m:t>
                          </m:r>
                        </m:e>
                      </m:d>
                      <m:r>
                        <a:rPr lang="en-US" sz="2400" i="0" dirty="0">
                          <a:latin typeface="Cambria Math" panose="02040503050406030204" pitchFamily="18" charset="0"/>
                        </a:rPr>
                        <m:t>⋅</m:t>
                      </m:r>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𝑈</m:t>
                          </m:r>
                        </m:e>
                        <m:sub>
                          <m:r>
                            <a:rPr lang="en-US" sz="2400" i="1" dirty="0">
                              <a:latin typeface="Cambria Math" panose="02040503050406030204" pitchFamily="18" charset="0"/>
                            </a:rPr>
                            <m:t>𝑓</m:t>
                          </m:r>
                        </m:sub>
                        <m:sup>
                          <m:r>
                            <a:rPr lang="en-US" sz="2400" i="0" dirty="0">
                              <a:latin typeface="Cambria Math" panose="02040503050406030204" pitchFamily="18" charset="0"/>
                            </a:rPr>
                            <m:t>†</m:t>
                          </m:r>
                        </m:sup>
                      </m:sSubSup>
                    </m:oMath>
                  </m:oMathPara>
                </a14:m>
                <a:endParaRPr lang="en-US" sz="2400" dirty="0">
                  <a:latin typeface="Abadi" panose="020B0604020104020204" pitchFamily="34" charset="0"/>
                </a:endParaRPr>
              </a:p>
              <a:p>
                <a:br>
                  <a:rPr lang="en-US" sz="2400" dirty="0">
                    <a:latin typeface="Abadi" panose="020B0604020104020204" pitchFamily="34" charset="0"/>
                  </a:rPr>
                </a:br>
                <a:endParaRPr lang="en-US" sz="2400" dirty="0">
                  <a:latin typeface="Abadi" panose="020B0604020104020204" pitchFamily="34" charset="0"/>
                </a:endParaRPr>
              </a:p>
            </p:txBody>
          </p:sp>
        </mc:Choice>
        <mc:Fallback>
          <p:sp>
            <p:nvSpPr>
              <p:cNvPr id="3" name="Content Placeholder 2">
                <a:extLst>
                  <a:ext uri="{FF2B5EF4-FFF2-40B4-BE49-F238E27FC236}">
                    <a16:creationId xmlns:a16="http://schemas.microsoft.com/office/drawing/2014/main" id="{A14416DA-FDDF-D9ED-01B4-C2749231B878}"/>
                  </a:ext>
                </a:extLst>
              </p:cNvPr>
              <p:cNvSpPr>
                <a:spLocks noGrp="1" noRot="1" noChangeAspect="1" noMove="1" noResize="1" noEditPoints="1" noAdjustHandles="1" noChangeArrowheads="1" noChangeShapeType="1" noTextEdit="1"/>
              </p:cNvSpPr>
              <p:nvPr>
                <p:ph sz="quarter" idx="10"/>
              </p:nvPr>
            </p:nvSpPr>
            <p:spPr>
              <a:xfrm>
                <a:off x="411480" y="914401"/>
                <a:ext cx="11338560" cy="5804152"/>
              </a:xfrm>
              <a:blipFill>
                <a:blip r:embed="rId2"/>
                <a:stretch>
                  <a:fillRect l="-860" t="-1576" b="-357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69883E9-EB4F-842D-8D34-FD49145A4C91}"/>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2910971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0A92D-E2F0-40F0-94A9-DAB33B14B5D5}"/>
              </a:ext>
            </a:extLst>
          </p:cNvPr>
          <p:cNvSpPr>
            <a:spLocks noGrp="1"/>
          </p:cNvSpPr>
          <p:nvPr>
            <p:ph type="title"/>
          </p:nvPr>
        </p:nvSpPr>
        <p:spPr/>
        <p:txBody>
          <a:bodyPr/>
          <a:lstStyle/>
          <a:p>
            <a:r>
              <a:rPr lang="en-US" dirty="0"/>
              <a:t>Use of the Oracle in Search</a:t>
            </a:r>
          </a:p>
        </p:txBody>
      </p:sp>
      <p:sp>
        <p:nvSpPr>
          <p:cNvPr id="3" name="Content Placeholder 2">
            <a:extLst>
              <a:ext uri="{FF2B5EF4-FFF2-40B4-BE49-F238E27FC236}">
                <a16:creationId xmlns:a16="http://schemas.microsoft.com/office/drawing/2014/main" id="{AF9987E1-0BEA-70F2-7023-69F2D506E20A}"/>
              </a:ext>
            </a:extLst>
          </p:cNvPr>
          <p:cNvSpPr>
            <a:spLocks noGrp="1"/>
          </p:cNvSpPr>
          <p:nvPr>
            <p:ph sz="quarter" idx="10"/>
          </p:nvPr>
        </p:nvSpPr>
        <p:spPr>
          <a:xfrm>
            <a:off x="914400" y="2039111"/>
            <a:ext cx="9589770" cy="4736591"/>
          </a:xfrm>
        </p:spPr>
        <p:txBody>
          <a:bodyPr/>
          <a:lstStyle/>
          <a:p>
            <a:pPr marL="0" indent="0">
              <a:buNone/>
            </a:pPr>
            <a:r>
              <a:rPr lang="en-US" sz="2400" b="1" dirty="0">
                <a:latin typeface="Abadi" panose="020B0604020104020204" pitchFamily="34" charset="0"/>
              </a:rPr>
              <a:t>THE Objective HERE  IS :</a:t>
            </a:r>
            <a:r>
              <a:rPr lang="en-US" sz="2400" dirty="0">
                <a:latin typeface="Abadi" panose="020B0604020104020204" pitchFamily="34" charset="0"/>
              </a:rPr>
              <a:t> Find the marked state ∣</a:t>
            </a:r>
            <a:r>
              <a:rPr lang="en-US" sz="2400" dirty="0" err="1">
                <a:latin typeface="Abadi" panose="020B0604020104020204" pitchFamily="34" charset="0"/>
              </a:rPr>
              <a:t>xs</a:t>
            </a:r>
            <a:r>
              <a:rPr lang="en-US" sz="2400" dirty="0">
                <a:latin typeface="Abadi" panose="020B0604020104020204" pitchFamily="34" charset="0"/>
              </a:rPr>
              <a:t>​⟩ from a database of N items.</a:t>
            </a:r>
          </a:p>
          <a:p>
            <a:r>
              <a:rPr lang="en-US" sz="2400" b="1" dirty="0">
                <a:latin typeface="Abadi" panose="020B0604020104020204" pitchFamily="34" charset="0"/>
              </a:rPr>
              <a:t>Implementation Steps:</a:t>
            </a:r>
            <a:endParaRPr lang="en-US" sz="2400" dirty="0">
              <a:latin typeface="Abadi" panose="020B0604020104020204" pitchFamily="34" charset="0"/>
            </a:endParaRPr>
          </a:p>
          <a:p>
            <a:pPr lvl="1"/>
            <a:r>
              <a:rPr lang="en-US" sz="2400" dirty="0">
                <a:latin typeface="Abadi" panose="020B0604020104020204" pitchFamily="34" charset="0"/>
              </a:rPr>
              <a:t>Use </a:t>
            </a:r>
            <a:r>
              <a:rPr lang="en-US" sz="2400" b="1" dirty="0">
                <a:latin typeface="Abadi" panose="020B0604020104020204" pitchFamily="34" charset="0"/>
              </a:rPr>
              <a:t>auxiliary qubits</a:t>
            </a:r>
            <a:r>
              <a:rPr lang="en-US" sz="2400" dirty="0">
                <a:latin typeface="Abadi" panose="020B0604020104020204" pitchFamily="34" charset="0"/>
              </a:rPr>
              <a:t> to evaluate f(x).</a:t>
            </a:r>
          </a:p>
          <a:p>
            <a:pPr lvl="1"/>
            <a:r>
              <a:rPr lang="en-US" sz="2400" dirty="0">
                <a:latin typeface="Abadi" panose="020B0604020104020204" pitchFamily="34" charset="0"/>
              </a:rPr>
              <a:t>Apply a </a:t>
            </a:r>
            <a:r>
              <a:rPr lang="en-US" sz="2400" b="1" dirty="0">
                <a:latin typeface="Abadi" panose="020B0604020104020204" pitchFamily="34" charset="0"/>
              </a:rPr>
              <a:t>controlled-Z gate</a:t>
            </a:r>
            <a:r>
              <a:rPr lang="en-US" sz="2400" dirty="0">
                <a:latin typeface="Abadi" panose="020B0604020104020204" pitchFamily="34" charset="0"/>
              </a:rPr>
              <a:t> to flip the phase of ∣x⟩ if f(x)=1.</a:t>
            </a:r>
          </a:p>
          <a:p>
            <a:pPr lvl="1"/>
            <a:r>
              <a:rPr lang="en-US" sz="2400" dirty="0">
                <a:latin typeface="Abadi" panose="020B0604020104020204" pitchFamily="34" charset="0"/>
              </a:rPr>
              <a:t>Clean up auxiliary qubits to restore the quantum state.</a:t>
            </a:r>
          </a:p>
          <a:p>
            <a:endParaRPr lang="en-US" dirty="0"/>
          </a:p>
        </p:txBody>
      </p:sp>
      <p:sp>
        <p:nvSpPr>
          <p:cNvPr id="4" name="Slide Number Placeholder 3">
            <a:extLst>
              <a:ext uri="{FF2B5EF4-FFF2-40B4-BE49-F238E27FC236}">
                <a16:creationId xmlns:a16="http://schemas.microsoft.com/office/drawing/2014/main" id="{E46A483E-E7DD-1A09-2664-4A42EEE636DB}"/>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1966331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23807-DD01-A7B9-3455-419376B715D8}"/>
              </a:ext>
            </a:extLst>
          </p:cNvPr>
          <p:cNvSpPr>
            <a:spLocks noGrp="1"/>
          </p:cNvSpPr>
          <p:nvPr>
            <p:ph type="title"/>
          </p:nvPr>
        </p:nvSpPr>
        <p:spPr>
          <a:xfrm>
            <a:off x="914400" y="274320"/>
            <a:ext cx="7534656" cy="914400"/>
          </a:xfrm>
        </p:spPr>
        <p:txBody>
          <a:bodyPr/>
          <a:lstStyle/>
          <a:p>
            <a:r>
              <a:rPr lang="en-US" dirty="0"/>
              <a:t>How the Oracle fits in the Solution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6256F77-4383-307F-5943-6BCA25B467C8}"/>
                  </a:ext>
                </a:extLst>
              </p:cNvPr>
              <p:cNvSpPr>
                <a:spLocks noGrp="1"/>
              </p:cNvSpPr>
              <p:nvPr>
                <p:ph sz="quarter" idx="10"/>
              </p:nvPr>
            </p:nvSpPr>
            <p:spPr>
              <a:xfrm>
                <a:off x="388620" y="1657350"/>
                <a:ext cx="11269980" cy="4777740"/>
              </a:xfrm>
            </p:spPr>
            <p:txBody>
              <a:bodyPr>
                <a:normAutofit/>
              </a:bodyPr>
              <a:lstStyle/>
              <a:p>
                <a:r>
                  <a:rPr lang="en-US" sz="2400" dirty="0"/>
                  <a:t>The algorithm begins by preparing a uniform superposition of all possible states ∣x⟩ using the Hadamard gate.</a:t>
                </a:r>
              </a:p>
              <a:p>
                <a:pPr marL="0" indent="0">
                  <a:buNone/>
                </a:pPr>
                <a:r>
                  <a:rPr lang="en-US" sz="2400" dirty="0"/>
                  <a:t>       </a:t>
                </a:r>
                <a14:m>
                  <m:oMath xmlns:m="http://schemas.openxmlformats.org/officeDocument/2006/math">
                    <m:r>
                      <a:rPr lang="en-US" sz="2400" dirty="0" smtClean="0">
                        <a:latin typeface="Cambria Math" panose="02040503050406030204" pitchFamily="18" charset="0"/>
                      </a:rPr>
                      <m:t>|</m:t>
                    </m:r>
                    <m:r>
                      <a:rPr lang="en-US" sz="2400" i="1" dirty="0">
                        <a:latin typeface="Cambria Math" panose="02040503050406030204" pitchFamily="18" charset="0"/>
                      </a:rPr>
                      <m:t>𝜓</m:t>
                    </m:r>
                    <m:r>
                      <a:rPr lang="en-US" sz="2400" i="0" dirty="0">
                        <a:latin typeface="Cambria Math" panose="02040503050406030204" pitchFamily="18" charset="0"/>
                      </a:rPr>
                      <m:t>⟩=</m:t>
                    </m:r>
                    <m:f>
                      <m:fPr>
                        <m:ctrlPr>
                          <a:rPr lang="en-US" sz="2400" i="1" dirty="0">
                            <a:latin typeface="Cambria Math" panose="02040503050406030204" pitchFamily="18" charset="0"/>
                          </a:rPr>
                        </m:ctrlPr>
                      </m:fPr>
                      <m:num>
                        <m:r>
                          <a:rPr lang="en-US" sz="2400" i="0" dirty="0">
                            <a:latin typeface="Cambria Math" panose="02040503050406030204" pitchFamily="18" charset="0"/>
                          </a:rPr>
                          <m:t>1</m:t>
                        </m:r>
                      </m:num>
                      <m:den>
                        <m:r>
                          <a:rPr lang="en-US" sz="2400" i="1" dirty="0">
                            <a:latin typeface="Cambria Math" panose="02040503050406030204" pitchFamily="18" charset="0"/>
                          </a:rPr>
                          <m:t>𝑁</m:t>
                        </m:r>
                      </m:den>
                    </m:f>
                    <m:nary>
                      <m:naryPr>
                        <m:chr m:val="∑"/>
                        <m:limLoc m:val="undOvr"/>
                        <m:grow m:val="on"/>
                        <m:ctrlPr>
                          <a:rPr lang="en-US" sz="2400" i="1" dirty="0">
                            <a:latin typeface="Cambria Math" panose="02040503050406030204" pitchFamily="18" charset="0"/>
                          </a:rPr>
                        </m:ctrlPr>
                      </m:naryPr>
                      <m:sub>
                        <m:r>
                          <a:rPr lang="en-US" sz="2400" i="1" dirty="0">
                            <a:latin typeface="Cambria Math" panose="02040503050406030204" pitchFamily="18" charset="0"/>
                          </a:rPr>
                          <m:t>𝑥</m:t>
                        </m:r>
                        <m:r>
                          <a:rPr lang="en-US" sz="2400" i="0" dirty="0">
                            <a:latin typeface="Cambria Math" panose="02040503050406030204" pitchFamily="18" charset="0"/>
                          </a:rPr>
                          <m:t>=0</m:t>
                        </m:r>
                      </m:sub>
                      <m:sup>
                        <m:r>
                          <a:rPr lang="en-US" sz="2400" i="1" dirty="0">
                            <a:latin typeface="Cambria Math" panose="02040503050406030204" pitchFamily="18" charset="0"/>
                          </a:rPr>
                          <m:t>𝑁</m:t>
                        </m:r>
                        <m:r>
                          <a:rPr lang="en-US" sz="2400" i="0" dirty="0">
                            <a:latin typeface="Cambria Math" panose="02040503050406030204" pitchFamily="18" charset="0"/>
                          </a:rPr>
                          <m:t>−1</m:t>
                        </m:r>
                      </m:sup>
                      <m:e>
                        <m:r>
                          <a:rPr lang="en-US" sz="2400" i="0" dirty="0">
                            <a:latin typeface="Cambria Math" panose="02040503050406030204" pitchFamily="18" charset="0"/>
                          </a:rPr>
                          <m:t>|</m:t>
                        </m:r>
                      </m:e>
                    </m:nary>
                    <m:r>
                      <a:rPr lang="en-US" sz="2400" i="1" dirty="0">
                        <a:latin typeface="Cambria Math" panose="02040503050406030204" pitchFamily="18" charset="0"/>
                      </a:rPr>
                      <m:t>𝑥</m:t>
                    </m:r>
                    <m:r>
                      <a:rPr lang="en-US" sz="2400" i="0" dirty="0">
                        <a:latin typeface="Cambria Math" panose="02040503050406030204" pitchFamily="18" charset="0"/>
                      </a:rPr>
                      <m:t>⟩</m:t>
                    </m:r>
                  </m:oMath>
                </a14:m>
                <a:endParaRPr lang="en-US" sz="2400" dirty="0"/>
              </a:p>
              <a:p>
                <a:r>
                  <a:rPr lang="en-US" sz="2400" b="1" dirty="0"/>
                  <a:t>Oracle Application:</a:t>
                </a:r>
                <a:endParaRPr lang="en-US" sz="2400" dirty="0"/>
              </a:p>
              <a:p>
                <a:r>
                  <a:rPr lang="en-US" sz="2400" dirty="0"/>
                  <a:t>The oracle flips the phase of the marked state ∣</a:t>
                </a:r>
                <a:r>
                  <a:rPr lang="en-US" sz="2400" dirty="0" err="1"/>
                  <a:t>xs</a:t>
                </a:r>
                <a:r>
                  <a:rPr lang="en-US" sz="2400" dirty="0"/>
                  <a:t>⟩, creating a distinction between the marked and unmarked states.</a:t>
                </a:r>
              </a:p>
              <a:p>
                <a:pPr marL="0" indent="0">
                  <a:buNone/>
                </a:pPr>
                <a:r>
                  <a:rPr lang="en-US" sz="2400" dirty="0"/>
                  <a:t>    </a:t>
                </a:r>
              </a:p>
              <a:p>
                <a:r>
                  <a:rPr lang="en-US" sz="2400" b="1" dirty="0"/>
                  <a:t>Amplitude Amplification:</a:t>
                </a:r>
                <a:endParaRPr lang="en-US" sz="2400" dirty="0"/>
              </a:p>
              <a:p>
                <a:r>
                  <a:rPr lang="en-US" sz="2400" dirty="0"/>
                  <a:t>The Grover diffusion operator amplifies the probability amplitude of ∣</a:t>
                </a:r>
                <a:r>
                  <a:rPr lang="en-US" sz="2400" dirty="0" err="1"/>
                  <a:t>xs</a:t>
                </a:r>
                <a:r>
                  <a:rPr lang="en-US" sz="2400" dirty="0"/>
                  <a:t>​⟩, leveraging the phase difference introduced by the oracle.</a:t>
                </a:r>
              </a:p>
              <a:p>
                <a:endParaRPr lang="en-US" sz="2400" dirty="0"/>
              </a:p>
            </p:txBody>
          </p:sp>
        </mc:Choice>
        <mc:Fallback>
          <p:sp>
            <p:nvSpPr>
              <p:cNvPr id="3" name="Content Placeholder 2">
                <a:extLst>
                  <a:ext uri="{FF2B5EF4-FFF2-40B4-BE49-F238E27FC236}">
                    <a16:creationId xmlns:a16="http://schemas.microsoft.com/office/drawing/2014/main" id="{16256F77-4383-307F-5943-6BCA25B467C8}"/>
                  </a:ext>
                </a:extLst>
              </p:cNvPr>
              <p:cNvSpPr>
                <a:spLocks noGrp="1" noRot="1" noChangeAspect="1" noMove="1" noResize="1" noEditPoints="1" noAdjustHandles="1" noChangeArrowheads="1" noChangeShapeType="1" noTextEdit="1"/>
              </p:cNvSpPr>
              <p:nvPr>
                <p:ph sz="quarter" idx="10"/>
              </p:nvPr>
            </p:nvSpPr>
            <p:spPr>
              <a:xfrm>
                <a:off x="388620" y="1657350"/>
                <a:ext cx="11269980" cy="4777740"/>
              </a:xfrm>
              <a:blipFill>
                <a:blip r:embed="rId2"/>
                <a:stretch>
                  <a:fillRect l="-757" t="-204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1BC86FB-F5FE-96D8-F3F5-A55DD749FEBC}"/>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Tree>
    <p:extLst>
      <p:ext uri="{BB962C8B-B14F-4D97-AF65-F5344CB8AC3E}">
        <p14:creationId xmlns:p14="http://schemas.microsoft.com/office/powerpoint/2010/main" val="3542765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45BC9-02A3-CC9B-8AC3-BA196314C8D4}"/>
              </a:ext>
            </a:extLst>
          </p:cNvPr>
          <p:cNvSpPr>
            <a:spLocks noGrp="1"/>
          </p:cNvSpPr>
          <p:nvPr>
            <p:ph type="title"/>
          </p:nvPr>
        </p:nvSpPr>
        <p:spPr>
          <a:xfrm>
            <a:off x="914400" y="285750"/>
            <a:ext cx="7534656" cy="914400"/>
          </a:xfrm>
        </p:spPr>
        <p:txBody>
          <a:bodyPr/>
          <a:lstStyle/>
          <a:p>
            <a:r>
              <a:rPr lang="en-US" dirty="0"/>
              <a:t>Amplitude Amplification</a:t>
            </a:r>
          </a:p>
        </p:txBody>
      </p:sp>
      <p:sp>
        <p:nvSpPr>
          <p:cNvPr id="3" name="Content Placeholder 2">
            <a:extLst>
              <a:ext uri="{FF2B5EF4-FFF2-40B4-BE49-F238E27FC236}">
                <a16:creationId xmlns:a16="http://schemas.microsoft.com/office/drawing/2014/main" id="{B40B782F-603D-B633-2822-9000F6A4F945}"/>
              </a:ext>
            </a:extLst>
          </p:cNvPr>
          <p:cNvSpPr>
            <a:spLocks noGrp="1"/>
          </p:cNvSpPr>
          <p:nvPr>
            <p:ph sz="quarter" idx="10"/>
          </p:nvPr>
        </p:nvSpPr>
        <p:spPr>
          <a:xfrm>
            <a:off x="422910" y="1325880"/>
            <a:ext cx="10930890" cy="5246370"/>
          </a:xfrm>
        </p:spPr>
        <p:txBody>
          <a:bodyPr>
            <a:normAutofit lnSpcReduction="10000"/>
          </a:bodyPr>
          <a:lstStyle/>
          <a:p>
            <a:r>
              <a:rPr lang="en-US" sz="2400" dirty="0">
                <a:latin typeface="Abadi" panose="020B0604020104020204" pitchFamily="34" charset="0"/>
              </a:rPr>
              <a:t>In Grover’s algorithm, the objective is to </a:t>
            </a:r>
            <a:r>
              <a:rPr lang="en-US" sz="2400" b="1" dirty="0">
                <a:latin typeface="Abadi" panose="020B0604020104020204" pitchFamily="34" charset="0"/>
              </a:rPr>
              <a:t>find a specific marked state</a:t>
            </a:r>
            <a:r>
              <a:rPr lang="en-US" sz="2400" dirty="0">
                <a:latin typeface="Abadi" panose="020B0604020104020204" pitchFamily="34" charset="0"/>
              </a:rPr>
              <a:t> ∣</a:t>
            </a:r>
            <a:r>
              <a:rPr lang="en-US" sz="2400" dirty="0" err="1">
                <a:latin typeface="Abadi" panose="020B0604020104020204" pitchFamily="34" charset="0"/>
              </a:rPr>
              <a:t>xs</a:t>
            </a:r>
            <a:r>
              <a:rPr lang="en-US" sz="2400" dirty="0">
                <a:latin typeface="Abadi" panose="020B0604020104020204" pitchFamily="34" charset="0"/>
              </a:rPr>
              <a:t>⟩ among N possible states. </a:t>
            </a:r>
          </a:p>
          <a:p>
            <a:r>
              <a:rPr lang="en-US" sz="2400" dirty="0">
                <a:latin typeface="Abadi" panose="020B0604020104020204" pitchFamily="34" charset="0"/>
              </a:rPr>
              <a:t>The challenge lies in the fact that a classical search would take O(N) steps, but Grover’s algorithm uses quantum mechanics to solve the problem in sqrt(O(N​)) time.</a:t>
            </a:r>
          </a:p>
          <a:p>
            <a:r>
              <a:rPr lang="en-US" sz="2400" dirty="0">
                <a:latin typeface="Abadi" panose="020B0604020104020204" pitchFamily="34" charset="0"/>
              </a:rPr>
              <a:t>Amplitude amplification is the core process that amplifies the amplitude of the marked state and suppresses others, thus making the marked state more likely to be measured. The process consists of two key operations:</a:t>
            </a:r>
          </a:p>
          <a:p>
            <a:r>
              <a:rPr lang="en-US" sz="2400" b="1" dirty="0">
                <a:latin typeface="Abadi" panose="020B0604020104020204" pitchFamily="34" charset="0"/>
              </a:rPr>
              <a:t>Oracle Application</a:t>
            </a:r>
            <a:r>
              <a:rPr lang="en-US" sz="2400" dirty="0">
                <a:latin typeface="Abadi" panose="020B0604020104020204" pitchFamily="34" charset="0"/>
              </a:rPr>
              <a:t>: Marks the correct solution by flipping the sign (phase flip) of the marked state’s amplitude.</a:t>
            </a:r>
          </a:p>
          <a:p>
            <a:r>
              <a:rPr lang="en-US" sz="2400" b="1" dirty="0">
                <a:latin typeface="Abadi" panose="020B0604020104020204" pitchFamily="34" charset="0"/>
              </a:rPr>
              <a:t>Grover Diffusion Operator</a:t>
            </a:r>
            <a:r>
              <a:rPr lang="en-US" sz="2400" dirty="0">
                <a:latin typeface="Abadi" panose="020B0604020104020204" pitchFamily="34" charset="0"/>
              </a:rPr>
              <a:t>: Reflects the quantum state around the average amplitude of all states, enhancing the amplitude of the marked state.</a:t>
            </a:r>
          </a:p>
          <a:p>
            <a:r>
              <a:rPr lang="en-US" sz="2400" dirty="0">
                <a:latin typeface="Abadi" panose="020B0604020104020204" pitchFamily="34" charset="0"/>
              </a:rPr>
              <a:t>Each iteration of applying the oracle and diffusion operator boosts the probability of finding the marked state by increasing its amplitude relative to the other states.</a:t>
            </a:r>
          </a:p>
          <a:p>
            <a:endParaRPr lang="en-US" dirty="0"/>
          </a:p>
        </p:txBody>
      </p:sp>
      <p:sp>
        <p:nvSpPr>
          <p:cNvPr id="4" name="Slide Number Placeholder 3">
            <a:extLst>
              <a:ext uri="{FF2B5EF4-FFF2-40B4-BE49-F238E27FC236}">
                <a16:creationId xmlns:a16="http://schemas.microsoft.com/office/drawing/2014/main" id="{0ABE3951-7F80-6FFB-B661-CB63488372FF}"/>
              </a:ext>
            </a:extLst>
          </p:cNvPr>
          <p:cNvSpPr>
            <a:spLocks noGrp="1"/>
          </p:cNvSpPr>
          <p:nvPr>
            <p:ph type="sldNum" sz="quarter" idx="4"/>
          </p:nvPr>
        </p:nvSpPr>
        <p:spPr/>
        <p:txBody>
          <a:bodyPr/>
          <a:lstStyle/>
          <a:p>
            <a:fld id="{58FB4751-880F-D840-AAA9-3A15815CC996}" type="slidenum">
              <a:rPr lang="en-US" smtClean="0"/>
              <a:pPr/>
              <a:t>13</a:t>
            </a:fld>
            <a:endParaRPr lang="en-US" dirty="0"/>
          </a:p>
        </p:txBody>
      </p:sp>
    </p:spTree>
    <p:extLst>
      <p:ext uri="{BB962C8B-B14F-4D97-AF65-F5344CB8AC3E}">
        <p14:creationId xmlns:p14="http://schemas.microsoft.com/office/powerpoint/2010/main" val="2091151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4B431-CC54-D59A-488A-590061E962FB}"/>
              </a:ext>
            </a:extLst>
          </p:cNvPr>
          <p:cNvSpPr>
            <a:spLocks noGrp="1"/>
          </p:cNvSpPr>
          <p:nvPr>
            <p:ph type="title"/>
          </p:nvPr>
        </p:nvSpPr>
        <p:spPr>
          <a:xfrm>
            <a:off x="914400" y="182880"/>
            <a:ext cx="7534656" cy="914400"/>
          </a:xfrm>
        </p:spPr>
        <p:txBody>
          <a:bodyPr/>
          <a:lstStyle/>
          <a:p>
            <a:r>
              <a:rPr lang="en-US" dirty="0"/>
              <a:t>The Diffusion Operator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C3B81EC-7C4F-EF92-5405-7515B2A72756}"/>
                  </a:ext>
                </a:extLst>
              </p:cNvPr>
              <p:cNvSpPr>
                <a:spLocks noGrp="1"/>
              </p:cNvSpPr>
              <p:nvPr>
                <p:ph sz="quarter" idx="10"/>
              </p:nvPr>
            </p:nvSpPr>
            <p:spPr>
              <a:xfrm>
                <a:off x="457200" y="1245870"/>
                <a:ext cx="11441430" cy="5429250"/>
              </a:xfrm>
            </p:spPr>
            <p:txBody>
              <a:bodyPr>
                <a:normAutofit/>
              </a:bodyPr>
              <a:lstStyle/>
              <a:p>
                <a:r>
                  <a:rPr lang="en-US" sz="2400" dirty="0"/>
                  <a:t>The </a:t>
                </a:r>
                <a:r>
                  <a:rPr lang="en-US" sz="2400" b="1" dirty="0"/>
                  <a:t>Grover Diffusion Operator</a:t>
                </a:r>
                <a:r>
                  <a:rPr lang="en-US" sz="2400" dirty="0"/>
                  <a:t> is the transformation responsible for amplifying the amplitude of the marked state. It is also called the </a:t>
                </a:r>
                <a:r>
                  <a:rPr lang="en-US" sz="2400" b="1" dirty="0"/>
                  <a:t>reflection operator</a:t>
                </a:r>
                <a:r>
                  <a:rPr lang="en-US" sz="2400" dirty="0"/>
                  <a:t> because it reflects the state across the average amplitude of all possible states.</a:t>
                </a:r>
              </a:p>
              <a:p>
                <a:r>
                  <a:rPr lang="en-US" sz="2400" b="1" dirty="0"/>
                  <a:t>Mathematical Definition:</a:t>
                </a:r>
              </a:p>
              <a:p>
                <a:r>
                  <a:rPr lang="en-US" sz="2400" dirty="0"/>
                  <a:t>The Grover Diffusion Operator is mathematically expressed as:</a:t>
                </a:r>
              </a:p>
              <a:p>
                <a:pPr marL="0" indent="0">
                  <a:buNone/>
                </a:pPr>
                <a:endParaRPr lang="en-US" sz="2400" dirty="0"/>
              </a:p>
              <a:p>
                <a:pPr marL="0" indent="0">
                  <a:buNone/>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𝐷</m:t>
                      </m:r>
                      <m:r>
                        <a:rPr lang="en-US" sz="2400" i="0">
                          <a:latin typeface="Cambria Math" panose="02040503050406030204" pitchFamily="18" charset="0"/>
                        </a:rPr>
                        <m:t>=2|</m:t>
                      </m:r>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0">
                              <a:latin typeface="Cambria Math" panose="02040503050406030204" pitchFamily="18" charset="0"/>
                            </a:rPr>
                            <m:t>0</m:t>
                          </m:r>
                        </m:sub>
                      </m:sSub>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0">
                              <a:latin typeface="Cambria Math" panose="02040503050406030204" pitchFamily="18" charset="0"/>
                            </a:rPr>
                            <m:t>0</m:t>
                          </m:r>
                        </m:sub>
                      </m:sSub>
                      <m:r>
                        <a:rPr lang="en-US" sz="2400" i="0">
                          <a:latin typeface="Cambria Math" panose="02040503050406030204" pitchFamily="18" charset="0"/>
                        </a:rPr>
                        <m:t>|−</m:t>
                      </m:r>
                      <m:r>
                        <a:rPr lang="en-US" sz="2400" i="1">
                          <a:latin typeface="Cambria Math" panose="02040503050406030204" pitchFamily="18" charset="0"/>
                        </a:rPr>
                        <m:t>𝐼</m:t>
                      </m:r>
                    </m:oMath>
                  </m:oMathPara>
                </a14:m>
                <a:endParaRPr lang="en-US" sz="2400" dirty="0"/>
              </a:p>
              <a:p>
                <a:pPr marL="0" indent="0">
                  <a:buNone/>
                </a:pPr>
                <a:r>
                  <a:rPr lang="en-US" sz="2400" dirty="0"/>
                  <a:t>     Where:</a:t>
                </a:r>
              </a:p>
              <a:p>
                <a:r>
                  <a:rPr lang="en-US" sz="2400" dirty="0"/>
                  <a:t>∣ψ0​⟩ is the initial quantum state after applying the Hadamard transform to all qubits. It represents the </a:t>
                </a:r>
                <a:r>
                  <a:rPr lang="en-US" sz="2400" b="1" dirty="0"/>
                  <a:t>uniform superposition</a:t>
                </a:r>
                <a:r>
                  <a:rPr lang="en-US" sz="2400" dirty="0"/>
                  <a:t> of all possible states,</a:t>
                </a:r>
              </a:p>
              <a:p>
                <a:r>
                  <a:rPr lang="en-US" sz="2400" dirty="0"/>
                  <a:t>I is the </a:t>
                </a:r>
                <a:r>
                  <a:rPr lang="en-US" sz="2400" b="1" dirty="0"/>
                  <a:t>identity operator</a:t>
                </a:r>
                <a:r>
                  <a:rPr lang="en-US" sz="2400" dirty="0"/>
                  <a:t>, which leaves all states unchanged.</a:t>
                </a:r>
              </a:p>
              <a:p>
                <a:r>
                  <a:rPr lang="en-US" sz="2400" dirty="0"/>
                  <a:t>∣ψ0​⟩⟨ψ0​∣ is the </a:t>
                </a:r>
                <a:r>
                  <a:rPr lang="en-US" sz="2400" b="1" dirty="0"/>
                  <a:t>projection operator</a:t>
                </a:r>
                <a:r>
                  <a:rPr lang="en-US" sz="2400" dirty="0"/>
                  <a:t> onto the state ψ0​⟩, effectively projecting the quantum state onto the subspace of the uniform superposition.</a:t>
                </a:r>
              </a:p>
              <a:p>
                <a:endParaRPr lang="en-US" sz="2400" dirty="0"/>
              </a:p>
            </p:txBody>
          </p:sp>
        </mc:Choice>
        <mc:Fallback>
          <p:sp>
            <p:nvSpPr>
              <p:cNvPr id="3" name="Content Placeholder 2">
                <a:extLst>
                  <a:ext uri="{FF2B5EF4-FFF2-40B4-BE49-F238E27FC236}">
                    <a16:creationId xmlns:a16="http://schemas.microsoft.com/office/drawing/2014/main" id="{6C3B81EC-7C4F-EF92-5405-7515B2A72756}"/>
                  </a:ext>
                </a:extLst>
              </p:cNvPr>
              <p:cNvSpPr>
                <a:spLocks noGrp="1" noRot="1" noChangeAspect="1" noMove="1" noResize="1" noEditPoints="1" noAdjustHandles="1" noChangeArrowheads="1" noChangeShapeType="1" noTextEdit="1"/>
              </p:cNvSpPr>
              <p:nvPr>
                <p:ph sz="quarter" idx="10"/>
              </p:nvPr>
            </p:nvSpPr>
            <p:spPr>
              <a:xfrm>
                <a:off x="457200" y="1245870"/>
                <a:ext cx="11441430" cy="5429250"/>
              </a:xfrm>
              <a:blipFill>
                <a:blip r:embed="rId2"/>
                <a:stretch>
                  <a:fillRect l="-693" t="-14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9C2E47D-6B80-7700-70C3-CD8E31172313}"/>
              </a:ext>
            </a:extLst>
          </p:cNvPr>
          <p:cNvSpPr>
            <a:spLocks noGrp="1"/>
          </p:cNvSpPr>
          <p:nvPr>
            <p:ph type="sldNum" sz="quarter" idx="4"/>
          </p:nvPr>
        </p:nvSpPr>
        <p:spPr/>
        <p:txBody>
          <a:bodyPr/>
          <a:lstStyle/>
          <a:p>
            <a:fld id="{58FB4751-880F-D840-AAA9-3A15815CC996}" type="slidenum">
              <a:rPr lang="en-US" smtClean="0"/>
              <a:pPr/>
              <a:t>14</a:t>
            </a:fld>
            <a:endParaRPr lang="en-US" dirty="0"/>
          </a:p>
        </p:txBody>
      </p:sp>
    </p:spTree>
    <p:extLst>
      <p:ext uri="{BB962C8B-B14F-4D97-AF65-F5344CB8AC3E}">
        <p14:creationId xmlns:p14="http://schemas.microsoft.com/office/powerpoint/2010/main" val="989260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EA2E6-C466-7413-12DB-5716FF8563D4}"/>
              </a:ext>
            </a:extLst>
          </p:cNvPr>
          <p:cNvSpPr>
            <a:spLocks noGrp="1"/>
          </p:cNvSpPr>
          <p:nvPr>
            <p:ph type="title"/>
          </p:nvPr>
        </p:nvSpPr>
        <p:spPr>
          <a:xfrm>
            <a:off x="731520" y="182880"/>
            <a:ext cx="7534656" cy="914400"/>
          </a:xfrm>
        </p:spPr>
        <p:txBody>
          <a:bodyPr/>
          <a:lstStyle/>
          <a:p>
            <a:r>
              <a:rPr lang="en-US" dirty="0"/>
              <a:t>Step-by-Step Reflection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AEBE1B6-F863-5BD4-3E5B-F0B492AD0704}"/>
                  </a:ext>
                </a:extLst>
              </p:cNvPr>
              <p:cNvSpPr>
                <a:spLocks noGrp="1"/>
              </p:cNvSpPr>
              <p:nvPr>
                <p:ph sz="quarter" idx="10"/>
              </p:nvPr>
            </p:nvSpPr>
            <p:spPr>
              <a:xfrm>
                <a:off x="176784" y="1268730"/>
                <a:ext cx="11838432" cy="5406390"/>
              </a:xfrm>
            </p:spPr>
            <p:txBody>
              <a:bodyPr>
                <a:normAutofit lnSpcReduction="10000"/>
              </a:bodyPr>
              <a:lstStyle/>
              <a:p>
                <a:r>
                  <a:rPr lang="en-US" sz="2400" b="1" dirty="0"/>
                  <a:t>Before the Diffusion Operator:</a:t>
                </a:r>
                <a:r>
                  <a:rPr lang="en-US" sz="2400" dirty="0"/>
                  <a:t> Initially, the quantum state ∣ψ⟩ is a superposition of all states, and the amplitudes are the same for each state (if the oracle has not been applied yet). Let’s denote the state after the oracle application as:</a:t>
                </a:r>
              </a:p>
              <a:p>
                <a:pPr marL="0" indent="0">
                  <a:buNone/>
                </a:pPr>
                <a14:m>
                  <m:oMathPara xmlns:m="http://schemas.openxmlformats.org/officeDocument/2006/math">
                    <m:oMathParaPr>
                      <m:jc m:val="centerGroup"/>
                    </m:oMathParaPr>
                    <m:oMath xmlns:m="http://schemas.openxmlformats.org/officeDocument/2006/math">
                      <m:r>
                        <a:rPr lang="en-US" sz="2400" dirty="0" smtClean="0">
                          <a:latin typeface="Cambria Math" panose="02040503050406030204" pitchFamily="18" charset="0"/>
                        </a:rPr>
                        <m:t>|</m:t>
                      </m:r>
                      <m:r>
                        <a:rPr lang="en-US" sz="2400" i="1" dirty="0">
                          <a:latin typeface="Cambria Math" panose="02040503050406030204" pitchFamily="18" charset="0"/>
                        </a:rPr>
                        <m:t>𝜓</m:t>
                      </m:r>
                      <m:r>
                        <a:rPr lang="en-US" sz="2400" i="0" dirty="0">
                          <a:latin typeface="Cambria Math" panose="02040503050406030204" pitchFamily="18" charset="0"/>
                        </a:rPr>
                        <m:t>⟩=</m:t>
                      </m:r>
                      <m:r>
                        <a:rPr lang="en-US" sz="2400" i="1" dirty="0">
                          <a:latin typeface="Cambria Math" panose="02040503050406030204" pitchFamily="18" charset="0"/>
                        </a:rPr>
                        <m:t>𝛼</m:t>
                      </m:r>
                      <m:r>
                        <a:rPr lang="en-US" sz="2400" i="0"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𝑥</m:t>
                          </m:r>
                        </m:e>
                        <m:sub>
                          <m:r>
                            <a:rPr lang="en-US" sz="2400" i="1" dirty="0">
                              <a:latin typeface="Cambria Math" panose="02040503050406030204" pitchFamily="18" charset="0"/>
                            </a:rPr>
                            <m:t>𝑠</m:t>
                          </m:r>
                        </m:sub>
                      </m:sSub>
                      <m:r>
                        <a:rPr lang="en-US" sz="2400" i="0" dirty="0">
                          <a:latin typeface="Cambria Math" panose="02040503050406030204" pitchFamily="18" charset="0"/>
                        </a:rPr>
                        <m:t>⟩+</m:t>
                      </m:r>
                      <m:nary>
                        <m:naryPr>
                          <m:chr m:val="∑"/>
                          <m:limLoc m:val="undOvr"/>
                          <m:grow m:val="on"/>
                          <m:supHide m:val="on"/>
                          <m:ctrlPr>
                            <a:rPr lang="en-US" sz="2400" i="1" dirty="0">
                              <a:latin typeface="Cambria Math" panose="02040503050406030204" pitchFamily="18" charset="0"/>
                            </a:rPr>
                          </m:ctrlPr>
                        </m:naryPr>
                        <m:sub>
                          <m:r>
                            <a:rPr lang="en-US" sz="2400" i="1" dirty="0">
                              <a:latin typeface="Cambria Math" panose="02040503050406030204" pitchFamily="18" charset="0"/>
                            </a:rPr>
                            <m:t>𝑥</m:t>
                          </m:r>
                          <m:r>
                            <a:rPr lang="en-US" sz="2400" i="0"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𝑥</m:t>
                              </m:r>
                            </m:e>
                            <m:sub>
                              <m:r>
                                <a:rPr lang="en-US" sz="2400" i="1" dirty="0">
                                  <a:latin typeface="Cambria Math" panose="02040503050406030204" pitchFamily="18" charset="0"/>
                                </a:rPr>
                                <m:t>𝑠</m:t>
                              </m:r>
                            </m:sub>
                          </m:sSub>
                        </m:sub>
                        <m:sup/>
                        <m:e>
                          <m:r>
                            <a:rPr lang="en-US" sz="2400" i="1" dirty="0">
                              <a:latin typeface="Cambria Math" panose="02040503050406030204" pitchFamily="18" charset="0"/>
                            </a:rPr>
                            <m:t>𝛽</m:t>
                          </m:r>
                        </m:e>
                      </m:nary>
                      <m:r>
                        <a:rPr lang="en-US" sz="2400" i="0" dirty="0">
                          <a:latin typeface="Cambria Math" panose="02040503050406030204" pitchFamily="18" charset="0"/>
                        </a:rPr>
                        <m:t>|</m:t>
                      </m:r>
                      <m:r>
                        <a:rPr lang="en-US" sz="2400" i="1" dirty="0">
                          <a:latin typeface="Cambria Math" panose="02040503050406030204" pitchFamily="18" charset="0"/>
                        </a:rPr>
                        <m:t>𝑥</m:t>
                      </m:r>
                      <m:r>
                        <a:rPr lang="en-US" sz="2400" i="0" dirty="0">
                          <a:latin typeface="Cambria Math" panose="02040503050406030204" pitchFamily="18" charset="0"/>
                        </a:rPr>
                        <m:t>⟩</m:t>
                      </m:r>
                    </m:oMath>
                  </m:oMathPara>
                </a14:m>
                <a:endParaRPr lang="en-US" sz="2400" dirty="0"/>
              </a:p>
              <a:p>
                <a:r>
                  <a:rPr lang="en-US" sz="2400" dirty="0"/>
                  <a:t>Where:</a:t>
                </a:r>
              </a:p>
              <a:p>
                <a:pPr lvl="1"/>
                <a:r>
                  <a:rPr lang="en-US" sz="2400" dirty="0"/>
                  <a:t>α is the amplitude of the marked state ∣</a:t>
                </a:r>
                <a:r>
                  <a:rPr lang="en-US" sz="2400" dirty="0" err="1"/>
                  <a:t>xs</a:t>
                </a:r>
                <a:r>
                  <a:rPr lang="en-US" sz="2400" dirty="0"/>
                  <a:t>​⟩,</a:t>
                </a:r>
              </a:p>
              <a:p>
                <a:pPr lvl="1"/>
                <a:r>
                  <a:rPr lang="en-US" sz="2400" dirty="0"/>
                  <a:t>β is the amplitude of the unmarked states.</a:t>
                </a:r>
              </a:p>
              <a:p>
                <a:r>
                  <a:rPr lang="en-US" sz="2400" b="1" dirty="0"/>
                  <a:t>Average Amplitude:</a:t>
                </a:r>
                <a:r>
                  <a:rPr lang="en-US" sz="2400" dirty="0"/>
                  <a:t> The average amplitude ⟨ψ0​⟩ of all states in the superposition is the mean of the amplitudes. Initially, when no oracle is applied, all states have the same amplitude, and the average amplitude is:</a:t>
                </a:r>
              </a:p>
              <a:p>
                <a:pPr marL="0" indent="0">
                  <a:buNone/>
                </a:pPr>
                <a14:m>
                  <m:oMathPara xmlns:m="http://schemas.openxmlformats.org/officeDocument/2006/math">
                    <m:oMathParaPr>
                      <m:jc m:val="centerGroup"/>
                    </m:oMathParaPr>
                    <m:oMath xmlns:m="http://schemas.openxmlformats.org/officeDocument/2006/math">
                      <m:r>
                        <a:rPr lang="en-US" sz="2400" dirty="0" smtClean="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𝜓</m:t>
                          </m:r>
                        </m:e>
                        <m:sub>
                          <m:r>
                            <a:rPr lang="en-US" sz="2400" i="0" dirty="0">
                              <a:latin typeface="Cambria Math" panose="02040503050406030204" pitchFamily="18" charset="0"/>
                            </a:rPr>
                            <m:t>0</m:t>
                          </m:r>
                        </m:sub>
                      </m:sSub>
                      <m:r>
                        <a:rPr lang="en-US" sz="2400" i="0" dirty="0">
                          <a:latin typeface="Cambria Math" panose="02040503050406030204" pitchFamily="18" charset="0"/>
                        </a:rPr>
                        <m:t>⟩=</m:t>
                      </m:r>
                      <m:f>
                        <m:fPr>
                          <m:ctrlPr>
                            <a:rPr lang="en-US" sz="2400" i="1" dirty="0">
                              <a:latin typeface="Cambria Math" panose="02040503050406030204" pitchFamily="18" charset="0"/>
                            </a:rPr>
                          </m:ctrlPr>
                        </m:fPr>
                        <m:num>
                          <m:r>
                            <a:rPr lang="en-US" sz="2400" i="0" dirty="0">
                              <a:latin typeface="Cambria Math" panose="02040503050406030204" pitchFamily="18" charset="0"/>
                            </a:rPr>
                            <m:t>1</m:t>
                          </m:r>
                        </m:num>
                        <m:den>
                          <m:rad>
                            <m:radPr>
                              <m:degHide m:val="on"/>
                              <m:ctrlPr>
                                <a:rPr lang="en-US" sz="2400" i="1" dirty="0">
                                  <a:latin typeface="Cambria Math" panose="02040503050406030204" pitchFamily="18" charset="0"/>
                                </a:rPr>
                              </m:ctrlPr>
                            </m:radPr>
                            <m:deg/>
                            <m:e>
                              <m:r>
                                <a:rPr lang="en-US" sz="2400" i="1" dirty="0">
                                  <a:latin typeface="Cambria Math" panose="02040503050406030204" pitchFamily="18" charset="0"/>
                                </a:rPr>
                                <m:t>𝑁</m:t>
                              </m:r>
                            </m:e>
                          </m:rad>
                        </m:den>
                      </m:f>
                    </m:oMath>
                  </m:oMathPara>
                </a14:m>
                <a:endParaRPr lang="en-US" sz="2400" dirty="0"/>
              </a:p>
              <a:p>
                <a:r>
                  <a:rPr lang="en-US" sz="2400" dirty="0"/>
                  <a:t>After the oracle is applied, the average amplitude changes, but it still reflects the uniformity of the quantum state before amplification.</a:t>
                </a:r>
              </a:p>
              <a:p>
                <a:endParaRPr lang="en-US" dirty="0"/>
              </a:p>
            </p:txBody>
          </p:sp>
        </mc:Choice>
        <mc:Fallback>
          <p:sp>
            <p:nvSpPr>
              <p:cNvPr id="3" name="Content Placeholder 2">
                <a:extLst>
                  <a:ext uri="{FF2B5EF4-FFF2-40B4-BE49-F238E27FC236}">
                    <a16:creationId xmlns:a16="http://schemas.microsoft.com/office/drawing/2014/main" id="{FAEBE1B6-F863-5BD4-3E5B-F0B492AD0704}"/>
                  </a:ext>
                </a:extLst>
              </p:cNvPr>
              <p:cNvSpPr>
                <a:spLocks noGrp="1" noRot="1" noChangeAspect="1" noMove="1" noResize="1" noEditPoints="1" noAdjustHandles="1" noChangeArrowheads="1" noChangeShapeType="1" noTextEdit="1"/>
              </p:cNvSpPr>
              <p:nvPr>
                <p:ph sz="quarter" idx="10"/>
              </p:nvPr>
            </p:nvSpPr>
            <p:spPr>
              <a:xfrm>
                <a:off x="176784" y="1268730"/>
                <a:ext cx="11838432" cy="5406390"/>
              </a:xfrm>
              <a:blipFill>
                <a:blip r:embed="rId2"/>
                <a:stretch>
                  <a:fillRect l="-669" t="-2368" r="-1030" b="-157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E0F25CE-B98A-7D88-1417-CCD24376425E}"/>
              </a:ext>
            </a:extLst>
          </p:cNvPr>
          <p:cNvSpPr>
            <a:spLocks noGrp="1"/>
          </p:cNvSpPr>
          <p:nvPr>
            <p:ph type="sldNum" sz="quarter" idx="4"/>
          </p:nvPr>
        </p:nvSpPr>
        <p:spPr/>
        <p:txBody>
          <a:bodyPr/>
          <a:lstStyle/>
          <a:p>
            <a:fld id="{58FB4751-880F-D840-AAA9-3A15815CC996}" type="slidenum">
              <a:rPr lang="en-US" smtClean="0"/>
              <a:pPr/>
              <a:t>15</a:t>
            </a:fld>
            <a:endParaRPr lang="en-US" dirty="0"/>
          </a:p>
        </p:txBody>
      </p:sp>
    </p:spTree>
    <p:extLst>
      <p:ext uri="{BB962C8B-B14F-4D97-AF65-F5344CB8AC3E}">
        <p14:creationId xmlns:p14="http://schemas.microsoft.com/office/powerpoint/2010/main" val="2454230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16A33-952D-8536-16BF-1760949781EB}"/>
              </a:ext>
            </a:extLst>
          </p:cNvPr>
          <p:cNvSpPr>
            <a:spLocks noGrp="1"/>
          </p:cNvSpPr>
          <p:nvPr>
            <p:ph type="title"/>
          </p:nvPr>
        </p:nvSpPr>
        <p:spPr>
          <a:xfrm>
            <a:off x="960120" y="0"/>
            <a:ext cx="7534656" cy="720090"/>
          </a:xfrm>
        </p:spPr>
        <p:txBody>
          <a:bodyPr/>
          <a:lstStyle/>
          <a:p>
            <a:r>
              <a:rPr lang="en-US" dirty="0"/>
              <a:t>Reflection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5DE8043-9594-CD5D-40F7-83C1C2B13D19}"/>
                  </a:ext>
                </a:extLst>
              </p:cNvPr>
              <p:cNvSpPr>
                <a:spLocks noGrp="1"/>
              </p:cNvSpPr>
              <p:nvPr>
                <p:ph sz="quarter" idx="10"/>
              </p:nvPr>
            </p:nvSpPr>
            <p:spPr>
              <a:xfrm>
                <a:off x="176784" y="811530"/>
                <a:ext cx="11838432" cy="5840730"/>
              </a:xfrm>
            </p:spPr>
            <p:txBody>
              <a:bodyPr>
                <a:normAutofit lnSpcReduction="10000"/>
              </a:bodyPr>
              <a:lstStyle/>
              <a:p>
                <a:r>
                  <a:rPr lang="en-US" sz="2400" b="1" dirty="0">
                    <a:latin typeface="Abadi" panose="020B0604020104020204" pitchFamily="34" charset="0"/>
                  </a:rPr>
                  <a:t>Reflection:</a:t>
                </a:r>
                <a:r>
                  <a:rPr lang="en-US" sz="2400" dirty="0">
                    <a:latin typeface="Abadi" panose="020B0604020104020204" pitchFamily="34" charset="0"/>
                  </a:rPr>
                  <a:t> The operator D reflects the quantum state about this average. This reflection operates on all states ∣x⟩, including the marked and unmarked states. Mathematically, it can be viewed as the following:</a:t>
                </a:r>
              </a:p>
              <a:p>
                <a:endParaRPr lang="en-US" sz="2400" dirty="0">
                  <a:latin typeface="Abadi" panose="020B0604020104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𝐷</m:t>
                      </m:r>
                      <m:r>
                        <a:rPr lang="en-US" sz="2400" i="0" dirty="0">
                          <a:latin typeface="Cambria Math" panose="02040503050406030204" pitchFamily="18" charset="0"/>
                        </a:rPr>
                        <m:t>|</m:t>
                      </m:r>
                      <m:r>
                        <a:rPr lang="en-US" sz="2400" i="1" dirty="0">
                          <a:latin typeface="Cambria Math" panose="02040503050406030204" pitchFamily="18" charset="0"/>
                        </a:rPr>
                        <m:t>𝜓</m:t>
                      </m:r>
                      <m:r>
                        <a:rPr lang="en-US" sz="2400" i="0" dirty="0">
                          <a:latin typeface="Cambria Math" panose="02040503050406030204" pitchFamily="18" charset="0"/>
                        </a:rPr>
                        <m:t>⟩=2|</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𝜓</m:t>
                          </m:r>
                        </m:e>
                        <m:sub>
                          <m:r>
                            <a:rPr lang="en-US" sz="2400" i="0" dirty="0">
                              <a:latin typeface="Cambria Math" panose="02040503050406030204" pitchFamily="18" charset="0"/>
                            </a:rPr>
                            <m:t>0</m:t>
                          </m:r>
                        </m:sub>
                      </m:sSub>
                      <m:r>
                        <a:rPr lang="en-US" sz="2400" i="0"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𝜓</m:t>
                          </m:r>
                        </m:e>
                        <m:sub>
                          <m:r>
                            <a:rPr lang="en-US" sz="2400" i="0" dirty="0">
                              <a:latin typeface="Cambria Math" panose="02040503050406030204" pitchFamily="18" charset="0"/>
                            </a:rPr>
                            <m:t>0</m:t>
                          </m:r>
                        </m:sub>
                      </m:sSub>
                      <m:r>
                        <a:rPr lang="en-US" sz="2400" i="0" dirty="0">
                          <a:latin typeface="Cambria Math" panose="02040503050406030204" pitchFamily="18" charset="0"/>
                        </a:rPr>
                        <m:t>||</m:t>
                      </m:r>
                      <m:r>
                        <a:rPr lang="en-US" sz="2400" i="1" dirty="0">
                          <a:latin typeface="Cambria Math" panose="02040503050406030204" pitchFamily="18" charset="0"/>
                        </a:rPr>
                        <m:t>𝜓</m:t>
                      </m:r>
                      <m:r>
                        <a:rPr lang="en-US" sz="2400" i="0" dirty="0">
                          <a:latin typeface="Cambria Math" panose="02040503050406030204" pitchFamily="18" charset="0"/>
                        </a:rPr>
                        <m:t>⟩−</m:t>
                      </m:r>
                      <m:r>
                        <a:rPr lang="en-US" sz="2400" i="1" dirty="0">
                          <a:latin typeface="Cambria Math" panose="02040503050406030204" pitchFamily="18" charset="0"/>
                        </a:rPr>
                        <m:t>𝐼</m:t>
                      </m:r>
                      <m:r>
                        <a:rPr lang="en-US" sz="2400" i="0" dirty="0">
                          <a:latin typeface="Cambria Math" panose="02040503050406030204" pitchFamily="18" charset="0"/>
                        </a:rPr>
                        <m:t>|</m:t>
                      </m:r>
                      <m:r>
                        <a:rPr lang="en-US" sz="2400" i="1" dirty="0">
                          <a:latin typeface="Cambria Math" panose="02040503050406030204" pitchFamily="18" charset="0"/>
                        </a:rPr>
                        <m:t>𝜓</m:t>
                      </m:r>
                      <m:r>
                        <a:rPr lang="en-US" sz="2400" i="0" dirty="0">
                          <a:latin typeface="Cambria Math" panose="02040503050406030204" pitchFamily="18" charset="0"/>
                        </a:rPr>
                        <m:t>⟩</m:t>
                      </m:r>
                    </m:oMath>
                  </m:oMathPara>
                </a14:m>
                <a:endParaRPr lang="en-US" sz="2400" dirty="0">
                  <a:latin typeface="Abadi" panose="020B0604020104020204" pitchFamily="34" charset="0"/>
                </a:endParaRPr>
              </a:p>
              <a:p>
                <a:endParaRPr lang="en-US" sz="2400" dirty="0">
                  <a:latin typeface="Abadi" panose="020B0604020104020204" pitchFamily="34" charset="0"/>
                </a:endParaRPr>
              </a:p>
              <a:p>
                <a:r>
                  <a:rPr lang="en-US" sz="2400" dirty="0">
                    <a:latin typeface="Abadi" panose="020B0604020104020204" pitchFamily="34" charset="0"/>
                  </a:rPr>
                  <a:t>The first part, ψ0​⟩⟨ψ0​∣, projects the state onto ∣ψ0​⟩ and then multiplies by 2, effectively flipping the amplitudes of all states concerning the average.</a:t>
                </a:r>
              </a:p>
              <a:p>
                <a:r>
                  <a:rPr lang="en-US" sz="2400" dirty="0">
                    <a:latin typeface="Abadi" panose="020B0604020104020204" pitchFamily="34" charset="0"/>
                  </a:rPr>
                  <a:t>The second part, −</a:t>
                </a:r>
                <a:r>
                  <a:rPr lang="en-US" sz="2400" dirty="0" err="1">
                    <a:latin typeface="Abadi" panose="020B0604020104020204" pitchFamily="34" charset="0"/>
                  </a:rPr>
                  <a:t>I∣ψ</a:t>
                </a:r>
                <a:r>
                  <a:rPr lang="en-US" sz="2400" dirty="0">
                    <a:latin typeface="Abadi" panose="020B0604020104020204" pitchFamily="34" charset="0"/>
                  </a:rPr>
                  <a:t>⟩, subtracts the identity operator from the previous term, ensuring that the state is reflected in the average amplitude.</a:t>
                </a:r>
              </a:p>
              <a:p>
                <a:r>
                  <a:rPr lang="en-US" sz="2400" b="1" dirty="0">
                    <a:latin typeface="Abadi" panose="020B0604020104020204" pitchFamily="34" charset="0"/>
                  </a:rPr>
                  <a:t>Effect on the Marked State:</a:t>
                </a:r>
                <a:endParaRPr lang="en-US" sz="2400" dirty="0">
                  <a:latin typeface="Abadi" panose="020B0604020104020204" pitchFamily="34" charset="0"/>
                </a:endParaRPr>
              </a:p>
              <a:p>
                <a:r>
                  <a:rPr lang="en-US" sz="2400" dirty="0">
                    <a:latin typeface="Abadi" panose="020B0604020104020204" pitchFamily="34" charset="0"/>
                  </a:rPr>
                  <a:t>For the marked state ∣</a:t>
                </a:r>
                <a:r>
                  <a:rPr lang="en-US" sz="2400" dirty="0" err="1">
                    <a:latin typeface="Abadi" panose="020B0604020104020204" pitchFamily="34" charset="0"/>
                  </a:rPr>
                  <a:t>xs</a:t>
                </a:r>
                <a:r>
                  <a:rPr lang="en-US" sz="2400" dirty="0">
                    <a:latin typeface="Abadi" panose="020B0604020104020204" pitchFamily="34" charset="0"/>
                  </a:rPr>
                  <a:t>​⟩, the reflection amplifies its amplitude. Since it was flipped in phase by the oracle, this reflection boosts the amplitude of the marked state while reducing the amplitudes of the unmarked states.</a:t>
                </a:r>
              </a:p>
              <a:p>
                <a:r>
                  <a:rPr lang="en-US" sz="2400" dirty="0">
                    <a:latin typeface="Abadi" panose="020B0604020104020204" pitchFamily="34" charset="0"/>
                  </a:rPr>
                  <a:t>For unmarked states, the reflection operator suppresses their amplitudes.</a:t>
                </a:r>
              </a:p>
              <a:p>
                <a:endParaRPr lang="en-US" sz="2400" dirty="0">
                  <a:latin typeface="Abadi" panose="020B0604020104020204" pitchFamily="34" charset="0"/>
                </a:endParaRPr>
              </a:p>
            </p:txBody>
          </p:sp>
        </mc:Choice>
        <mc:Fallback>
          <p:sp>
            <p:nvSpPr>
              <p:cNvPr id="3" name="Content Placeholder 2">
                <a:extLst>
                  <a:ext uri="{FF2B5EF4-FFF2-40B4-BE49-F238E27FC236}">
                    <a16:creationId xmlns:a16="http://schemas.microsoft.com/office/drawing/2014/main" id="{25DE8043-9594-CD5D-40F7-83C1C2B13D19}"/>
                  </a:ext>
                </a:extLst>
              </p:cNvPr>
              <p:cNvSpPr>
                <a:spLocks noGrp="1" noRot="1" noChangeAspect="1" noMove="1" noResize="1" noEditPoints="1" noAdjustHandles="1" noChangeArrowheads="1" noChangeShapeType="1" noTextEdit="1"/>
              </p:cNvSpPr>
              <p:nvPr>
                <p:ph sz="quarter" idx="10"/>
              </p:nvPr>
            </p:nvSpPr>
            <p:spPr>
              <a:xfrm>
                <a:off x="176784" y="811530"/>
                <a:ext cx="11838432" cy="5840730"/>
              </a:xfrm>
              <a:blipFill>
                <a:blip r:embed="rId2"/>
                <a:stretch>
                  <a:fillRect l="-669" t="-208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1010E00-5BF4-9F8D-C6DD-7B8776C6634E}"/>
              </a:ext>
            </a:extLst>
          </p:cNvPr>
          <p:cNvSpPr>
            <a:spLocks noGrp="1"/>
          </p:cNvSpPr>
          <p:nvPr>
            <p:ph type="sldNum" sz="quarter" idx="4"/>
          </p:nvPr>
        </p:nvSpPr>
        <p:spPr/>
        <p:txBody>
          <a:bodyPr/>
          <a:lstStyle/>
          <a:p>
            <a:fld id="{58FB4751-880F-D840-AAA9-3A15815CC996}" type="slidenum">
              <a:rPr lang="en-US" smtClean="0"/>
              <a:pPr/>
              <a:t>16</a:t>
            </a:fld>
            <a:endParaRPr lang="en-US" dirty="0"/>
          </a:p>
        </p:txBody>
      </p:sp>
    </p:spTree>
    <p:extLst>
      <p:ext uri="{BB962C8B-B14F-4D97-AF65-F5344CB8AC3E}">
        <p14:creationId xmlns:p14="http://schemas.microsoft.com/office/powerpoint/2010/main" val="368461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86782-121B-840D-0405-CF65225F6C96}"/>
              </a:ext>
            </a:extLst>
          </p:cNvPr>
          <p:cNvSpPr>
            <a:spLocks noGrp="1"/>
          </p:cNvSpPr>
          <p:nvPr>
            <p:ph type="title"/>
          </p:nvPr>
        </p:nvSpPr>
        <p:spPr>
          <a:xfrm>
            <a:off x="914400" y="411480"/>
            <a:ext cx="7534656" cy="582930"/>
          </a:xfrm>
        </p:spPr>
        <p:txBody>
          <a:bodyPr/>
          <a:lstStyle/>
          <a:p>
            <a:r>
              <a:rPr lang="en-US" dirty="0"/>
              <a:t>Why Amplitude  Amplification</a:t>
            </a:r>
          </a:p>
        </p:txBody>
      </p:sp>
      <p:sp>
        <p:nvSpPr>
          <p:cNvPr id="3" name="Content Placeholder 2">
            <a:extLst>
              <a:ext uri="{FF2B5EF4-FFF2-40B4-BE49-F238E27FC236}">
                <a16:creationId xmlns:a16="http://schemas.microsoft.com/office/drawing/2014/main" id="{01547C79-1C49-AB40-E609-175D2EDF602C}"/>
              </a:ext>
            </a:extLst>
          </p:cNvPr>
          <p:cNvSpPr>
            <a:spLocks noGrp="1"/>
          </p:cNvSpPr>
          <p:nvPr>
            <p:ph sz="quarter" idx="10"/>
          </p:nvPr>
        </p:nvSpPr>
        <p:spPr>
          <a:xfrm>
            <a:off x="914400" y="1325880"/>
            <a:ext cx="10149840" cy="5223510"/>
          </a:xfrm>
        </p:spPr>
        <p:txBody>
          <a:bodyPr/>
          <a:lstStyle/>
          <a:p>
            <a:r>
              <a:rPr lang="en-US" sz="2400" dirty="0">
                <a:latin typeface="Abadi" panose="020B0604020104020204" pitchFamily="34" charset="0"/>
              </a:rPr>
              <a:t>The core reason amplitude amplification works is based on the principles of </a:t>
            </a:r>
            <a:r>
              <a:rPr lang="en-US" sz="2400" b="1" dirty="0">
                <a:latin typeface="Abadi" panose="020B0604020104020204" pitchFamily="34" charset="0"/>
              </a:rPr>
              <a:t>quantum interference</a:t>
            </a:r>
            <a:r>
              <a:rPr lang="en-US" sz="2400" dirty="0">
                <a:latin typeface="Abadi" panose="020B0604020104020204" pitchFamily="34" charset="0"/>
              </a:rPr>
              <a:t>. </a:t>
            </a:r>
          </a:p>
          <a:p>
            <a:r>
              <a:rPr lang="en-US" sz="2400" dirty="0">
                <a:latin typeface="Abadi" panose="020B0604020104020204" pitchFamily="34" charset="0"/>
              </a:rPr>
              <a:t>The oracle creates a phase shift that discriminates the marked state from the others. </a:t>
            </a:r>
          </a:p>
          <a:p>
            <a:r>
              <a:rPr lang="en-US" sz="2400" dirty="0">
                <a:latin typeface="Abadi" panose="020B0604020104020204" pitchFamily="34" charset="0"/>
              </a:rPr>
              <a:t>The diffusion operator then reinforces this difference by amplifying the marked state’s amplitude through constructive interference, while suppressing the unmarked states via destructive interference.</a:t>
            </a:r>
          </a:p>
          <a:p>
            <a:r>
              <a:rPr lang="en-US" sz="2400" dirty="0">
                <a:latin typeface="Abadi" panose="020B0604020104020204" pitchFamily="34" charset="0"/>
              </a:rPr>
              <a:t>This </a:t>
            </a:r>
            <a:r>
              <a:rPr lang="en-US" sz="2400" b="1" dirty="0">
                <a:latin typeface="Abadi" panose="020B0604020104020204" pitchFamily="34" charset="0"/>
              </a:rPr>
              <a:t>constructive interference</a:t>
            </a:r>
            <a:r>
              <a:rPr lang="en-US" sz="2400" dirty="0">
                <a:latin typeface="Abadi" panose="020B0604020104020204" pitchFamily="34" charset="0"/>
              </a:rPr>
              <a:t> for the marked state and </a:t>
            </a:r>
            <a:r>
              <a:rPr lang="en-US" sz="2400" b="1" dirty="0">
                <a:latin typeface="Abadi" panose="020B0604020104020204" pitchFamily="34" charset="0"/>
              </a:rPr>
              <a:t>destructive interference</a:t>
            </a:r>
            <a:r>
              <a:rPr lang="en-US" sz="2400" dirty="0">
                <a:latin typeface="Abadi" panose="020B0604020104020204" pitchFamily="34" charset="0"/>
              </a:rPr>
              <a:t> for the unmarked states results in an exponential increase in the probability of measuring the correct state after several iterations.</a:t>
            </a:r>
          </a:p>
          <a:p>
            <a:endParaRPr lang="en-US" dirty="0">
              <a:latin typeface="Abadi" panose="020B0604020104020204" pitchFamily="34" charset="0"/>
            </a:endParaRPr>
          </a:p>
        </p:txBody>
      </p:sp>
      <p:sp>
        <p:nvSpPr>
          <p:cNvPr id="4" name="Slide Number Placeholder 3">
            <a:extLst>
              <a:ext uri="{FF2B5EF4-FFF2-40B4-BE49-F238E27FC236}">
                <a16:creationId xmlns:a16="http://schemas.microsoft.com/office/drawing/2014/main" id="{3BA15E4D-D4EC-EA41-7EE2-FC626522CA45}"/>
              </a:ext>
            </a:extLst>
          </p:cNvPr>
          <p:cNvSpPr>
            <a:spLocks noGrp="1"/>
          </p:cNvSpPr>
          <p:nvPr>
            <p:ph type="sldNum" sz="quarter" idx="4"/>
          </p:nvPr>
        </p:nvSpPr>
        <p:spPr/>
        <p:txBody>
          <a:bodyPr/>
          <a:lstStyle/>
          <a:p>
            <a:fld id="{58FB4751-880F-D840-AAA9-3A15815CC996}" type="slidenum">
              <a:rPr lang="en-US" smtClean="0"/>
              <a:pPr/>
              <a:t>17</a:t>
            </a:fld>
            <a:endParaRPr lang="en-US" dirty="0"/>
          </a:p>
        </p:txBody>
      </p:sp>
    </p:spTree>
    <p:extLst>
      <p:ext uri="{BB962C8B-B14F-4D97-AF65-F5344CB8AC3E}">
        <p14:creationId xmlns:p14="http://schemas.microsoft.com/office/powerpoint/2010/main" val="1161596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FB321-5B7E-2C16-9C41-C4C367EE56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526313-7537-99DE-2D32-F875A92AEB9A}"/>
              </a:ext>
            </a:extLst>
          </p:cNvPr>
          <p:cNvSpPr>
            <a:spLocks noGrp="1"/>
          </p:cNvSpPr>
          <p:nvPr>
            <p:ph sz="quarter" idx="10"/>
          </p:nvPr>
        </p:nvSpPr>
        <p:spPr/>
        <p:txBody>
          <a:bodyPr/>
          <a:lstStyle/>
          <a:p>
            <a:endParaRPr lang="en-US"/>
          </a:p>
        </p:txBody>
      </p:sp>
      <p:sp>
        <p:nvSpPr>
          <p:cNvPr id="4" name="Slide Number Placeholder 3">
            <a:extLst>
              <a:ext uri="{FF2B5EF4-FFF2-40B4-BE49-F238E27FC236}">
                <a16:creationId xmlns:a16="http://schemas.microsoft.com/office/drawing/2014/main" id="{5A4B0DDC-BB93-C8BB-BBD4-229DBDB95AD4}"/>
              </a:ext>
            </a:extLst>
          </p:cNvPr>
          <p:cNvSpPr>
            <a:spLocks noGrp="1"/>
          </p:cNvSpPr>
          <p:nvPr>
            <p:ph type="sldNum" sz="quarter" idx="4"/>
          </p:nvPr>
        </p:nvSpPr>
        <p:spPr/>
        <p:txBody>
          <a:bodyPr/>
          <a:lstStyle/>
          <a:p>
            <a:fld id="{58FB4751-880F-D840-AAA9-3A15815CC996}" type="slidenum">
              <a:rPr lang="en-US" smtClean="0"/>
              <a:pPr/>
              <a:t>18</a:t>
            </a:fld>
            <a:endParaRPr lang="en-US" dirty="0"/>
          </a:p>
        </p:txBody>
      </p:sp>
    </p:spTree>
    <p:extLst>
      <p:ext uri="{BB962C8B-B14F-4D97-AF65-F5344CB8AC3E}">
        <p14:creationId xmlns:p14="http://schemas.microsoft.com/office/powerpoint/2010/main" val="4229946514"/>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{0073B422-1617-4E2E-9459-78B0276D11A3}TF1ed9553b-00c4-4092-846a-c8f7f2908f3beecd942f_win32-8e33096c3cfc</Template>
  <TotalTime>2307</TotalTime>
  <Words>1522</Words>
  <Application>Microsoft Office PowerPoint</Application>
  <PresentationFormat>Widescreen</PresentationFormat>
  <Paragraphs>123</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Abadi</vt:lpstr>
      <vt:lpstr>Arial</vt:lpstr>
      <vt:lpstr>Calibri</vt:lpstr>
      <vt:lpstr>Cambria Math</vt:lpstr>
      <vt:lpstr>Courier New</vt:lpstr>
      <vt:lpstr>Gill Sans Nova Light</vt:lpstr>
      <vt:lpstr>Sagona Book</vt:lpstr>
      <vt:lpstr>Custom</vt:lpstr>
      <vt:lpstr>Grover’s Algorithm</vt:lpstr>
      <vt:lpstr>The Problem</vt:lpstr>
      <vt:lpstr>In a Nutshell: Grover Algorithm</vt:lpstr>
      <vt:lpstr>The main steps</vt:lpstr>
      <vt:lpstr>Main Steps</vt:lpstr>
      <vt:lpstr>What are Quantum Oracles</vt:lpstr>
      <vt:lpstr>The Performance of the Algorithm</vt:lpstr>
      <vt:lpstr>The Importance of the Oracle in Speedup</vt:lpstr>
      <vt:lpstr>Oracle Operations</vt:lpstr>
      <vt:lpstr>How it Works:</vt:lpstr>
      <vt:lpstr>Use of the Oracle in Search</vt:lpstr>
      <vt:lpstr>How the Oracle fits in the Solution</vt:lpstr>
      <vt:lpstr>Amplitude Amplification</vt:lpstr>
      <vt:lpstr>The Diffusion Operator</vt:lpstr>
      <vt:lpstr>Step-by-Step Reflection</vt:lpstr>
      <vt:lpstr>Reflection</vt:lpstr>
      <vt:lpstr>Why Amplitude  Amplification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Prof Mohammed ELAffendi</dc:creator>
  <cp:lastModifiedBy>Prof Mohammed ELAffendi</cp:lastModifiedBy>
  <cp:revision>9</cp:revision>
  <dcterms:created xsi:type="dcterms:W3CDTF">2026-01-17T14:07:03Z</dcterms:created>
  <dcterms:modified xsi:type="dcterms:W3CDTF">2026-01-19T04:34:50Z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